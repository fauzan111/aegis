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64" r:id="rId7"/>
    <p:sldId id="263" r:id="rId8"/>
    <p:sldId id="265" r:id="rId9"/>
    <p:sldId id="261" r:id="rId10"/>
    <p:sldId id="266" r:id="rId11"/>
    <p:sldId id="260" r:id="rId12"/>
    <p:sldId id="570" r:id="rId13"/>
  </p:sldIdLst>
  <p:sldSz cx="10688638" cy="756285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ULIA GRIECO" initials="GG" lastIdx="1" clrIdx="0">
    <p:extLst>
      <p:ext uri="{19B8F6BF-5375-455C-9EA6-DF929625EA0E}">
        <p15:presenceInfo xmlns:p15="http://schemas.microsoft.com/office/powerpoint/2012/main" userId="S::giulia.grieco@studenti.unina.it::5b354c5b-8914-4630-8986-cc9dd4bd34e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07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lagami  Tedi" userId="20ef48d9-6a35-495c-88fc-ccc566c819a3" providerId="ADAL" clId="{25EE7F72-420A-4401-B1E4-84A3C2BC54B5}"/>
    <pc:docChg chg="modSld">
      <pc:chgData name="Llagami  Tedi" userId="20ef48d9-6a35-495c-88fc-ccc566c819a3" providerId="ADAL" clId="{25EE7F72-420A-4401-B1E4-84A3C2BC54B5}" dt="2026-09-25T11:06:19.436" v="1" actId="1036"/>
      <pc:docMkLst>
        <pc:docMk/>
      </pc:docMkLst>
      <pc:sldChg chg="modSp mod">
        <pc:chgData name="Llagami  Tedi" userId="20ef48d9-6a35-495c-88fc-ccc566c819a3" providerId="ADAL" clId="{25EE7F72-420A-4401-B1E4-84A3C2BC54B5}" dt="2026-09-25T11:06:19.436" v="1" actId="1036"/>
        <pc:sldMkLst>
          <pc:docMk/>
          <pc:sldMk cId="1722896570" sldId="256"/>
        </pc:sldMkLst>
        <pc:spChg chg="mod">
          <ac:chgData name="Llagami  Tedi" userId="20ef48d9-6a35-495c-88fc-ccc566c819a3" providerId="ADAL" clId="{25EE7F72-420A-4401-B1E4-84A3C2BC54B5}" dt="2026-09-25T11:06:19.436" v="1" actId="1036"/>
          <ac:spMkLst>
            <pc:docMk/>
            <pc:sldMk cId="172289657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48" y="1237717"/>
            <a:ext cx="9085342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080" y="3972247"/>
            <a:ext cx="8016479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9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0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278" y="1885463"/>
            <a:ext cx="9218950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278" y="5061159"/>
            <a:ext cx="9218950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/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75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4844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1123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402654"/>
            <a:ext cx="9218950" cy="14618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237" y="1853949"/>
            <a:ext cx="4521794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237" y="2762541"/>
            <a:ext cx="4521794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1124" y="1853949"/>
            <a:ext cx="4544063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1124" y="2762541"/>
            <a:ext cx="4544063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5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5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1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063" y="1088912"/>
            <a:ext cx="5411123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96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4063" y="1088912"/>
            <a:ext cx="5411123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92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5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49057" y="402652"/>
            <a:ext cx="2304738" cy="64091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4844" y="402652"/>
            <a:ext cx="6780605" cy="64091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392" y="1752"/>
          <a:ext cx="1391" cy="1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Object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2" y="1752"/>
                        <a:ext cx="1391" cy="1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56" y="0"/>
            <a:ext cx="4861963" cy="1218790"/>
          </a:xfrm>
        </p:spPr>
        <p:txBody>
          <a:bodyPr vert="horz" lIns="0" tIns="180000" rIns="0" bIns="0" rtlCol="0" anchor="t">
            <a:noAutofit/>
          </a:bodyPr>
          <a:lstStyle>
            <a:lvl1pPr>
              <a:defRPr lang="en-GB" dirty="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FC167F68-3FC3-4701-BAEB-9C33CAC70A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297" y="-282930"/>
            <a:ext cx="1265341" cy="159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549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4844" y="402654"/>
            <a:ext cx="9218950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844" y="2013259"/>
            <a:ext cx="9218950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4844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0612" y="7009643"/>
            <a:ext cx="36074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8850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86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2845754"/>
            <a:ext cx="3177540" cy="233044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7168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2845754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44753" y="3452433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921819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50165" y="3955279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66940" y="286378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</a:t>
            </a:r>
            <a:r>
              <a:rPr lang="en-US" err="1"/>
              <a:t>Introduzione</a:t>
            </a:r>
            <a:r>
              <a:rPr lang="en-US"/>
              <a:t>                                                         20/30 secondi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1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8F8FC0D-7B23-751F-2595-A77D31F735AA}"/>
              </a:ext>
            </a:extLst>
          </p:cNvPr>
          <p:cNvSpPr txBox="1"/>
          <p:nvPr/>
        </p:nvSpPr>
        <p:spPr>
          <a:xfrm>
            <a:off x="3318933" y="2868288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3AE17033-5112-FC9A-3A60-BA0912840F22}"/>
              </a:ext>
            </a:extLst>
          </p:cNvPr>
          <p:cNvSpPr txBox="1"/>
          <p:nvPr/>
        </p:nvSpPr>
        <p:spPr>
          <a:xfrm>
            <a:off x="111052" y="2704803"/>
            <a:ext cx="34012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endParaRPr lang="it-IT" dirty="0">
              <a:ea typeface="Calibri"/>
              <a:cs typeface="Calibr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Close-up: ID badge scan at an office door, green 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 stolen ID badge still opens the door."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(badge scan)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Door opens, person walks through - ordinary, unremarkable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 badge is valid."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(same shot, continued)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Match-cut: laptop screen, 5G network diagram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"But is the person behind it really who they claim to be?"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AI/automation agent icon connects into the 5G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AI agents and automations now call the network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(right panel, "THE NETWORK")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Green checkmark overlay: "credential: valid"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stolen or misused credential still passes every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(checkmark line)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Cut to red alert icon / question mark, AEGIS title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"AEGIS" title card reveal.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3 (hook slide)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083712" y="818673"/>
            <a:ext cx="1490655" cy="2070100"/>
          </a:xfrm>
          <a:prstGeom prst="rect">
            <a:avLst/>
          </a:prstGeom>
        </p:spPr>
      </p:pic>
      <p:pic>
        <p:nvPicPr>
          <p:cNvPr id="72" name="Picture 71" descr="aegis_hook_ana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" y="4619083"/>
            <a:ext cx="3023553" cy="72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9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b="1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2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 settles center frame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"This is AEGIS."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(cover)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Quick architecture teaser: 4 icons in a row (no labels yet)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zero-trust identity gate for AI agents on the network.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 (cropped/teased)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Team members at laptops / workstation B-roll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Built by Team 4, 5G Academy 2026.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(team working)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logos, brief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 wipe to network operations center visual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Bridge into the problem.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 / section break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572162" y="805819"/>
            <a:ext cx="1490655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1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0665" y="2888821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3622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55549" y="291425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111586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141453" y="696595"/>
            <a:ext cx="919237" cy="218008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141453" y="696594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Promo – 5g Academy – Project Vision 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/ e business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3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Graphic: orchestration tool calling AMF/SMF/UDM APIs directly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Orchestration and automation tools now call 5G Network Functions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(pipeline cards)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Split screen: valid credential vs. abnormal behavior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Authentication proves you have the right key.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(full graphic)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overlay, large: "It never asks if you're still you."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It never asks whether you're still behaving like yourself.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("THE GAP" panel text)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NOC/SOC operator looking concerned at a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compromised or stolen credential can sit undetected for weeks.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(operator at screen)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Business-impact graphic: cost/risk of an undetected breach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business cost of a one-time-only identity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pull from Gate 1 deck's economic/business analysis if available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Transition: question mark resolves into AEGIS logo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"There's a better way."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  <p:pic>
        <p:nvPicPr>
          <p:cNvPr id="71" name="Picture 70" descr="aegis_hook_ana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990" y="1369717"/>
            <a:ext cx="3187700" cy="72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99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 Promo – 5g Academy – Project Vision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soluzione</a:t>
            </a:r>
            <a:r>
              <a:rPr lang="en-US" dirty="0"/>
              <a:t> </a:t>
            </a:r>
            <a:r>
              <a:rPr lang="en-US" dirty="0" err="1"/>
              <a:t>futura</a:t>
            </a:r>
            <a:endParaRPr lang="en-US" dirty="0"/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4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architecture diagram, full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builds a behavioural fingerprint for every agent.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OBSERVE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OBSERVE - every request is captured: who, what, when, how.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(OBSERVE card)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FINGERPRINT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FINGERPRINT - that stream becomes a behavioural profile.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(FINGERPRINT card)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SCORE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SCORE - live behaviour is compared to that profile, in real time.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8 (Scoring: Rules+ML Fused)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DECIDE stage highlighted, PASS/STEP-UP/BLOCK gate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DECIDE - pass it, challenge it, or shut it down, instantly.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(PASS/STEP-UP/BLOCK pills)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Zero-trust tagline overlay (NIST SP 800-207 callout)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Never trust. Always verify. Continuously.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 (quote README's zero-trust framing)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929149" y="886241"/>
            <a:ext cx="1405605" cy="195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</a:t>
            </a:r>
            <a:r>
              <a:rPr lang="en-US" err="1"/>
              <a:t>parte</a:t>
            </a:r>
            <a:r>
              <a:rPr lang="en-US"/>
              <a:t>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5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 capture: AEGIS live dashboard home / topology view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Here it is, live - not a mockup.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of aegis5gacademy.streamlit.app, OR slides/GATE-2/AEGIS_Live_Demo.mp4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Click "Launch Live Attack" on the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Watch what happens when an agent starts behaving like an attacker.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(attack-injection segment)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Risk score climbing in real time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Probing endpoints it's never touched, at a rate it's never used.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(same segment, continued)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panel: plain-language explanation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explains exactly why, in language a security analyst can act 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Decision badge flips to BLOCK, red highlight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shuts it down before real damage is done.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(decision moment)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Before/After AEGIS comparison view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This is the difference AEGIS makes.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(before/after segment)</a:t>
            </a:r>
          </a:p>
        </p:txBody>
      </p:sp>
      <p:pic>
        <p:nvPicPr>
          <p:cNvPr id="71" name="Picture 70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614" y="1083640"/>
            <a:ext cx="2388751" cy="1658855"/>
          </a:xfrm>
          <a:prstGeom prst="rect">
            <a:avLst/>
          </a:prstGeom>
        </p:spPr>
      </p:pic>
      <p:pic>
        <p:nvPicPr>
          <p:cNvPr id="72" name="Picture 71" descr="aegis_e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5190" y="4361584"/>
            <a:ext cx="3187700" cy="1217121"/>
          </a:xfrm>
          <a:prstGeom prst="rect">
            <a:avLst/>
          </a:prstGeom>
        </p:spPr>
      </p:pic>
      <p:pic>
        <p:nvPicPr>
          <p:cNvPr id="73" name="Picture 72" descr="dash_live_at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9990" y="835104"/>
            <a:ext cx="3187700" cy="1793081"/>
          </a:xfrm>
          <a:prstGeom prst="rect">
            <a:avLst/>
          </a:prstGeom>
        </p:spPr>
      </p:pic>
      <p:pic>
        <p:nvPicPr>
          <p:cNvPr id="74" name="Picture 73" descr="dash_topolog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5190" y="835104"/>
            <a:ext cx="3187700" cy="1793081"/>
          </a:xfrm>
          <a:prstGeom prst="rect">
            <a:avLst/>
          </a:prstGeom>
        </p:spPr>
      </p:pic>
      <p:pic>
        <p:nvPicPr>
          <p:cNvPr id="75" name="Picture 74" descr="dash_incident_inspec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490" y="4073604"/>
            <a:ext cx="3187700" cy="179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7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6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Terminal footage: Docker containers starting up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didn't stop at simulation.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compose up on open5gs-testbed)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5G core topology diagram (Open5GS: AMF/SMF/UDM/etc.)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built a real 5G core.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17 (Real M2M/API-gateway diagram)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Screen: a real device registering onto the real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Connected a real device to it.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logs nr_ue - real UE registration)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captured network traffic on screen (terminal/Wireshark-style)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tested AEGIS against real network traffic.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reports/GATE-3/real_sbi_capture.csv (screenshot/graphic)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flags the real attack: BLOCK decision, real data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exact same detection code. No changes. It worked.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from validate_real_traffic_detection.py output (2/2 BLOCK result)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Stat card overlay: ROC-AUC 0.98, recall 91%, FPR 1.1%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Benchmarked, not just claimed.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reports/aegis_eval.png, updated with Gate 3 numbers</a:t>
            </a:r>
          </a:p>
        </p:txBody>
      </p:sp>
      <p:pic>
        <p:nvPicPr>
          <p:cNvPr id="71" name="Picture 70" descr="aegis_e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190" y="4361584"/>
            <a:ext cx="3187700" cy="1217121"/>
          </a:xfrm>
          <a:prstGeom prst="rect">
            <a:avLst/>
          </a:prstGeom>
        </p:spPr>
      </p:pic>
      <p:pic>
        <p:nvPicPr>
          <p:cNvPr id="72" name="Picture 71" descr="open5gs_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934720"/>
            <a:ext cx="3187700" cy="159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946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2872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n-US" sz="120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stacco</a:t>
            </a: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</a:t>
            </a:r>
            <a:r>
              <a:rPr lang="en-US" err="1"/>
              <a:t>Filosofia</a:t>
            </a:r>
            <a:r>
              <a:rPr lang="en-US"/>
              <a:t> E regulation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7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1" name="object 21">
            <a:extLst>
              <a:ext uri="{FF2B5EF4-FFF2-40B4-BE49-F238E27FC236}">
                <a16:creationId xmlns:a16="http://schemas.microsoft.com/office/drawing/2014/main" id="{35C15BA1-02F8-4728-8F3F-E46A867076FD}"/>
              </a:ext>
            </a:extLst>
          </p:cNvPr>
          <p:cNvSpPr/>
          <p:nvPr/>
        </p:nvSpPr>
        <p:spPr>
          <a:xfrm>
            <a:off x="3754887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card: "Explainable, not a black box"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Every decision AEGIS makes comes with a plain-language reason.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close-up: reasoning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No guessing at why an alert fired.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 (reuse from scene 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Privacy/GDPR visual: subscriber ID being hashed/anonymised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Subscriber identifiers are protected, never stored raw.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(privacy section)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[STACCO - hard cut]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Production vision: AEGIS gate sitting at the network edge (FASTedge)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production, AEGIS runs at the network edge - close to the core, low latency.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(production section)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Closing philosophy line,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Security that explains itself, built to be trusted, not just deployed.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</p:spTree>
    <p:extLst>
      <p:ext uri="{BB962C8B-B14F-4D97-AF65-F5344CB8AC3E}">
        <p14:creationId xmlns:p14="http://schemas.microsoft.com/office/powerpoint/2010/main" val="41714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finale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8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Fast montage: badge scan, dashboard, real core, BLOCK decision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Recap montage - the whole story in five seconds.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re-cut of scenes 1, 5, 6 above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card, large text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"Trust can't be a one-time check."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continues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"It has to be continuous."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logo, GitHub + live dashboard links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aegis5gacademy.streamlit.app - see it live.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19 (Thank You, has GitHub/dashboard links)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branding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5G Academy 2026, 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black, thank you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Thank you.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</p:spTree>
    <p:extLst>
      <p:ext uri="{BB962C8B-B14F-4D97-AF65-F5344CB8AC3E}">
        <p14:creationId xmlns:p14="http://schemas.microsoft.com/office/powerpoint/2010/main" val="277125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749;p69">
            <a:extLst>
              <a:ext uri="{FF2B5EF4-FFF2-40B4-BE49-F238E27FC236}">
                <a16:creationId xmlns:a16="http://schemas.microsoft.com/office/drawing/2014/main" id="{CBD30F07-6871-4503-B70C-03DD4C50FDD9}"/>
              </a:ext>
            </a:extLst>
          </p:cNvPr>
          <p:cNvSpPr/>
          <p:nvPr/>
        </p:nvSpPr>
        <p:spPr>
          <a:xfrm>
            <a:off x="5344319" y="2194328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7" name="Google Shape;749;p69">
            <a:extLst>
              <a:ext uri="{FF2B5EF4-FFF2-40B4-BE49-F238E27FC236}">
                <a16:creationId xmlns:a16="http://schemas.microsoft.com/office/drawing/2014/main" id="{BCB06B9F-0035-4EAD-B976-4A1DE9730F61}"/>
              </a:ext>
            </a:extLst>
          </p:cNvPr>
          <p:cNvSpPr/>
          <p:nvPr/>
        </p:nvSpPr>
        <p:spPr>
          <a:xfrm>
            <a:off x="1196569" y="2122577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 dirty="0"/>
          </a:p>
        </p:txBody>
      </p:sp>
      <p:sp>
        <p:nvSpPr>
          <p:cNvPr id="24" name="Title 2">
            <a:extLst>
              <a:ext uri="{FF2B5EF4-FFF2-40B4-BE49-F238E27FC236}">
                <a16:creationId xmlns:a16="http://schemas.microsoft.com/office/drawing/2014/main" id="{3DB09636-2D95-462E-A483-C16A14C6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963" y="658858"/>
            <a:ext cx="4861381" cy="968658"/>
          </a:xfrm>
        </p:spPr>
        <p:txBody>
          <a:bodyPr/>
          <a:lstStyle/>
          <a:p>
            <a:r>
              <a:rPr lang="en-US"/>
              <a:t>Team 4 - AEGIS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DE9E673-3DDC-4839-8B8C-31223D9D32A1}"/>
              </a:ext>
            </a:extLst>
          </p:cNvPr>
          <p:cNvSpPr txBox="1">
            <a:spLocks/>
          </p:cNvSpPr>
          <p:nvPr/>
        </p:nvSpPr>
        <p:spPr>
          <a:xfrm>
            <a:off x="482357" y="1412922"/>
            <a:ext cx="9723925" cy="4419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kern="1200" spc="-110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29" dirty="0"/>
              <a:t>Meet the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6568" y="3112699"/>
            <a:ext cx="2384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solidFill>
                  <a:srgbClr val="020C31"/>
                </a:solidFill>
                <a:latin typeface="Calibri"/>
              </a:rPr>
              <a:t>Fauzan Ejaz (Captain)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607F4C-6C97-4729-0B02-CAFD6CD56FDC}"/>
              </a:ext>
            </a:extLst>
          </p:cNvPr>
          <p:cNvSpPr txBox="1"/>
          <p:nvPr/>
        </p:nvSpPr>
        <p:spPr>
          <a:xfrm>
            <a:off x="5682343" y="3099727"/>
            <a:ext cx="2649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 err="1">
                <a:solidFill>
                  <a:srgbClr val="020C31"/>
                </a:solidFill>
              </a:rPr>
              <a:t>Llagami</a:t>
            </a:r>
            <a:r>
              <a:rPr lang="en-IN" sz="2400" dirty="0">
                <a:solidFill>
                  <a:srgbClr val="020C31"/>
                </a:solidFill>
              </a:rPr>
              <a:t> Tedi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3681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AFE32100-327A-46D5-A299-81E97F5FBF5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AA5AF62-29D7-49C4-96C6-35C102D42BE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06C687-16CC-4945-AB09-B890B7CBD535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17320c4f-b4d7-4a2f-a568-c234bef093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df1bf422-076b-4923-a343-86f92e681c13"/>
  </ds:schemaRefs>
</ds:datastoreItem>
</file>

<file path=docMetadata/LabelInfo.xml><?xml version="1.0" encoding="utf-8"?>
<clbl:labelList xmlns:clbl="http://schemas.microsoft.com/office/2020/mipLabelMetadata">
  <clbl:label id="{2ad0b24d-6422-44b0-b3de-abb3a9e8c81a}" enabled="1" method="Standard" siteId="{2fcfe26a-bb62-46b0-b1e3-28f9da0c45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1959</Words>
  <Application>Microsoft Office PowerPoint</Application>
  <PresentationFormat>Custom</PresentationFormat>
  <Paragraphs>270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Team 4 - AEGIS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ahsan ali</dc:creator>
  <cp:lastModifiedBy>FAUZAN EJAZ</cp:lastModifiedBy>
  <cp:revision>123</cp:revision>
  <dcterms:created xsi:type="dcterms:W3CDTF">2018-03-22T01:38:38Z</dcterms:created>
  <dcterms:modified xsi:type="dcterms:W3CDTF">2026-09-25T18:14:50Z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0x010100942D7E2E766E274BA85FFEF303FE3B84</vt:lpwstr>
  </property>
  <property fmtid="{D5CDD505-2E9C-101B-9397-08002B2CF9AE}" pid="3" name="MSIP_Label_2ad0b24d-6422-44b0-b3de-abb3a9e8c81a_Enabled">
    <vt:lpwstr>true</vt:lpwstr>
  </property>
  <property fmtid="{D5CDD505-2E9C-101B-9397-08002B2CF9AE}" pid="4" name="MSIP_Label_2ad0b24d-6422-44b0-b3de-abb3a9e8c81a_SetDate">
    <vt:lpwstr>2025-10-16T08:20:11Z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iteId">
    <vt:lpwstr>2fcfe26a-bb62-46b0-b1e3-28f9da0c45fd</vt:lpwstr>
  </property>
  <property fmtid="{D5CDD505-2E9C-101B-9397-08002B2CF9AE}" pid="8" name="MSIP_Label_2ad0b24d-6422-44b0-b3de-abb3a9e8c81a_ActionId">
    <vt:lpwstr>77718467-a7b7-4c95-a3ab-bcb31f36da42</vt:lpwstr>
  </property>
  <property fmtid="{D5CDD505-2E9C-101B-9397-08002B2CF9AE}" pid="9" name="MSIP_Label_2ad0b24d-6422-44b0-b3de-abb3a9e8c81a_ContentBits">
    <vt:lpwstr>0</vt:lpwstr>
  </property>
  <property fmtid="{D5CDD505-2E9C-101B-9397-08002B2CF9AE}" pid="10" name="MSIP_Label_2ad0b24d-6422-44b0-b3de-abb3a9e8c81a_Tag">
    <vt:lpwstr>10, 3, 0, 1</vt:lpwstr>
  </property>
  <property fmtid="{D5CDD505-2E9C-101B-9397-08002B2CF9AE}" pid="11" name="MediaServiceImageTags">
    <vt:lpwstr/>
  </property>
</Properties>
</file>