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66" r:id="rId5"/>
  </p:sldMasterIdLst>
  <p:notesMasterIdLst>
    <p:notesMasterId r:id="rId27"/>
  </p:notesMasterIdLst>
  <p:sldIdLst>
    <p:sldId id="348" r:id="rId6"/>
    <p:sldId id="257" r:id="rId7"/>
    <p:sldId id="28985" r:id="rId8"/>
    <p:sldId id="28996" r:id="rId9"/>
    <p:sldId id="28986" r:id="rId10"/>
    <p:sldId id="28987" r:id="rId11"/>
    <p:sldId id="28988" r:id="rId12"/>
    <p:sldId id="28989" r:id="rId13"/>
    <p:sldId id="28990" r:id="rId14"/>
    <p:sldId id="28997" r:id="rId15"/>
    <p:sldId id="28991" r:id="rId16"/>
    <p:sldId id="28992" r:id="rId17"/>
    <p:sldId id="28993" r:id="rId18"/>
    <p:sldId id="28994" r:id="rId19"/>
    <p:sldId id="28995" r:id="rId20"/>
    <p:sldId id="28984" r:id="rId21"/>
    <p:sldId id="28998" r:id="rId22"/>
    <p:sldId id="28999" r:id="rId23"/>
    <p:sldId id="29000" r:id="rId24"/>
    <p:sldId id="29001" r:id="rId25"/>
    <p:sldId id="29002" r:id="rId2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438" userDrawn="1">
          <p15:clr>
            <a:srgbClr val="A4A3A4"/>
          </p15:clr>
        </p15:guide>
        <p15:guide id="4" pos="7355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F22336D-85CD-99C1-0006-2E9EDD339502}" name="FAUZAN EJAZ" initials="FE" userId="S::fa.ejaz@studenti.unina.it::8742967f-f964-4b93-910e-ce6f8ae6eaa7" providerId="AD"/>
  <p188:author id="{11686C97-ADD3-5CDE-B4D7-06A81A6EAA4F}" name="LUISA ANNA DAVINO-5G" initials="LD" userId="S::luisaanna.davino-5g@unina.it::e0d4f5f9-4e2d-474f-b739-88d264a4be6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17428B"/>
    <a:srgbClr val="50E517"/>
    <a:srgbClr val="3399FF"/>
    <a:srgbClr val="FC3FB2"/>
    <a:srgbClr val="0164F2"/>
    <a:srgbClr val="F18700"/>
    <a:srgbClr val="00FFFF"/>
    <a:srgbClr val="8E1473"/>
    <a:srgbClr val="DBF11E"/>
    <a:srgbClr val="00AB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6868B8-0BE0-A46D-D361-D3B1D0A8EC3B}" v="1" dt="2026-09-03T10:52:47.5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5726" autoAdjust="0"/>
  </p:normalViewPr>
  <p:slideViewPr>
    <p:cSldViewPr snapToGrid="0">
      <p:cViewPr varScale="1">
        <p:scale>
          <a:sx n="89" d="100"/>
          <a:sy n="89" d="100"/>
        </p:scale>
        <p:origin x="302" y="86"/>
      </p:cViewPr>
      <p:guideLst>
        <p:guide orient="horz" pos="2183"/>
        <p:guide pos="3840"/>
        <p:guide pos="438"/>
        <p:guide pos="735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microsoft.com/office/2018/10/relationships/authors" Target="author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ZISH PERVAIZ GILL" userId="S::n.gill@studenti.unina.it::eb6a05ed-dbe0-4e40-a68a-bb10a52ec5a2" providerId="AD" clId="Web-{B46868B8-0BE0-A46D-D361-D3B1D0A8EC3B}"/>
    <pc:docChg chg="modSld">
      <pc:chgData name="NAZISH PERVAIZ GILL" userId="S::n.gill@studenti.unina.it::eb6a05ed-dbe0-4e40-a68a-bb10a52ec5a2" providerId="AD" clId="Web-{B46868B8-0BE0-A46D-D361-D3B1D0A8EC3B}" dt="2026-09-03T10:52:47.542" v="0" actId="1076"/>
      <pc:docMkLst>
        <pc:docMk/>
      </pc:docMkLst>
      <pc:sldChg chg="modSp">
        <pc:chgData name="NAZISH PERVAIZ GILL" userId="S::n.gill@studenti.unina.it::eb6a05ed-dbe0-4e40-a68a-bb10a52ec5a2" providerId="AD" clId="Web-{B46868B8-0BE0-A46D-D361-D3B1D0A8EC3B}" dt="2026-09-03T10:52:47.542" v="0" actId="1076"/>
        <pc:sldMkLst>
          <pc:docMk/>
          <pc:sldMk cId="3484281282" sldId="28981"/>
        </pc:sldMkLst>
        <pc:picChg chg="mod">
          <ac:chgData name="NAZISH PERVAIZ GILL" userId="S::n.gill@studenti.unina.it::eb6a05ed-dbe0-4e40-a68a-bb10a52ec5a2" providerId="AD" clId="Web-{B46868B8-0BE0-A46D-D361-D3B1D0A8EC3B}" dt="2026-09-03T10:52:47.542" v="0" actId="1076"/>
          <ac:picMkLst>
            <pc:docMk/>
            <pc:sldMk cId="3484281282" sldId="28981"/>
            <ac:picMk id="5" creationId="{32AB6F17-92B7-DD4E-AE30-7A720CBE6EB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316BA8-1C26-E241-87A3-7E6D47DF2B15}" type="datetimeFigureOut">
              <a:rPr lang="it-IT" smtClean="0"/>
              <a:t>20/09/2026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8E622D-138F-DD46-A48B-F8C674FCEA9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02160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36">
            <a:extLst>
              <a:ext uri="{FF2B5EF4-FFF2-40B4-BE49-F238E27FC236}">
                <a16:creationId xmlns:a16="http://schemas.microsoft.com/office/drawing/2014/main" id="{1DE15293-BBE7-C8E1-2DF8-30CAECC22826}"/>
              </a:ext>
            </a:extLst>
          </p:cNvPr>
          <p:cNvSpPr txBox="1"/>
          <p:nvPr userDrawn="1"/>
        </p:nvSpPr>
        <p:spPr>
          <a:xfrm>
            <a:off x="182210" y="78645"/>
            <a:ext cx="7959435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>
                <a:solidFill>
                  <a:srgbClr val="0033A1"/>
                </a:solidFill>
                <a:latin typeface="Montserrat" panose="00000500000000000000" pitchFamily="2" charset="0"/>
                <a:ea typeface="Arimo Bold"/>
                <a:cs typeface="Arimo Bold"/>
                <a:sym typeface="Arimo Bold"/>
              </a:rPr>
              <a:t>5G Academy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33A1"/>
              </a:solidFill>
              <a:effectLst/>
              <a:uLnTx/>
              <a:uFillTx/>
              <a:latin typeface="Montserrat" panose="00000500000000000000" pitchFamily="2" charset="0"/>
              <a:ea typeface="Arimo"/>
              <a:cs typeface="Arimo"/>
              <a:sym typeface="Arimo"/>
            </a:endParaRPr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C86583FA-552E-6B94-F508-9154D86402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087" b="93913" l="9878" r="89948">
                        <a14:foregroundMark x1="41608" y1="9043" x2="56556" y2="6087"/>
                        <a14:foregroundMark x1="56556" y1="6087" x2="59091" y2="8870"/>
                        <a14:foregroundMark x1="57255" y1="8870" x2="50787" y2="8348"/>
                        <a14:foregroundMark x1="30944" y1="90609" x2="39423" y2="88522"/>
                        <a14:foregroundMark x1="64073" y1="89913" x2="69668" y2="89913"/>
                        <a14:foregroundMark x1="66608" y1="93913" x2="68269" y2="93565"/>
                        <a14:foregroundMark x1="65035" y1="93739" x2="68619" y2="93217"/>
                        <a14:foregroundMark x1="40035" y1="93043" x2="52185" y2="92696"/>
                        <a14:foregroundMark x1="52185" y1="92696" x2="52273" y2="9269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43269" y="0"/>
            <a:ext cx="2148731" cy="1080000"/>
          </a:xfrm>
          <a:prstGeom prst="rect">
            <a:avLst/>
          </a:prstGeom>
        </p:spPr>
      </p:pic>
      <p:pic>
        <p:nvPicPr>
          <p:cNvPr id="17" name="Immagine 16">
            <a:extLst>
              <a:ext uri="{FF2B5EF4-FFF2-40B4-BE49-F238E27FC236}">
                <a16:creationId xmlns:a16="http://schemas.microsoft.com/office/drawing/2014/main" id="{00DE8E5E-6283-0987-D10B-B434F14E498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82210" y="5699355"/>
            <a:ext cx="1713047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326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827652F9-EFE9-44A5-8988-DD8A57D594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5891851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1F00401-1613-4904-9E88-3300247588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183" r="20122"/>
          <a:stretch/>
        </p:blipFill>
        <p:spPr>
          <a:xfrm>
            <a:off x="5891851" y="0"/>
            <a:ext cx="6310344" cy="6161903"/>
          </a:xfrm>
          <a:prstGeom prst="rect">
            <a:avLst/>
          </a:prstGeom>
        </p:spPr>
      </p:pic>
      <p:sp>
        <p:nvSpPr>
          <p:cNvPr id="9" name="Rettangolo 8">
            <a:extLst>
              <a:ext uri="{FF2B5EF4-FFF2-40B4-BE49-F238E27FC236}">
                <a16:creationId xmlns:a16="http://schemas.microsoft.com/office/drawing/2014/main" id="{A6F41FCF-E5DC-4DFC-9EC4-9A2DB9ACD48B}"/>
              </a:ext>
            </a:extLst>
          </p:cNvPr>
          <p:cNvSpPr/>
          <p:nvPr userDrawn="1"/>
        </p:nvSpPr>
        <p:spPr>
          <a:xfrm>
            <a:off x="0" y="6161903"/>
            <a:ext cx="12192000" cy="696097"/>
          </a:xfrm>
          <a:prstGeom prst="rect">
            <a:avLst/>
          </a:prstGeom>
          <a:solidFill>
            <a:srgbClr val="0033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Segnaposto data 7">
            <a:extLst>
              <a:ext uri="{FF2B5EF4-FFF2-40B4-BE49-F238E27FC236}">
                <a16:creationId xmlns:a16="http://schemas.microsoft.com/office/drawing/2014/main" id="{28FC1009-BB95-4A95-B0B4-F62D9482D448}"/>
              </a:ext>
            </a:extLst>
          </p:cNvPr>
          <p:cNvSpPr txBox="1">
            <a:spLocks/>
          </p:cNvSpPr>
          <p:nvPr userDrawn="1"/>
        </p:nvSpPr>
        <p:spPr>
          <a:xfrm>
            <a:off x="5882236" y="6323015"/>
            <a:ext cx="5689600" cy="211137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 b="1">
                <a:solidFill>
                  <a:schemeClr val="bg1"/>
                </a:solidFill>
                <a:latin typeface="TIM Sans" panose="02020503040602060503" pitchFamily="18" charset="77"/>
              </a:rPr>
              <a:t>5G Academy</a:t>
            </a:r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40801821-83B6-4071-904F-3FF70C150930}"/>
              </a:ext>
            </a:extLst>
          </p:cNvPr>
          <p:cNvSpPr txBox="1"/>
          <p:nvPr userDrawn="1"/>
        </p:nvSpPr>
        <p:spPr>
          <a:xfrm>
            <a:off x="11718524" y="6514635"/>
            <a:ext cx="229953" cy="12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bg1"/>
                </a:solidFill>
                <a:latin typeface="TIM Sans" panose="02020503040602060503" pitchFamily="18" charset="77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bg1"/>
              </a:solidFill>
              <a:latin typeface="TIM Sans" panose="02020503040602060503" pitchFamily="18" charset="77"/>
              <a:ea typeface="Arial"/>
              <a:cs typeface="Arial"/>
              <a:sym typeface="Arial"/>
            </a:endParaRPr>
          </a:p>
        </p:txBody>
      </p:sp>
      <p:cxnSp>
        <p:nvCxnSpPr>
          <p:cNvPr id="20" name="Shape 13">
            <a:extLst>
              <a:ext uri="{FF2B5EF4-FFF2-40B4-BE49-F238E27FC236}">
                <a16:creationId xmlns:a16="http://schemas.microsoft.com/office/drawing/2014/main" id="{02A19192-2819-48DA-BE5F-DDDAFE72CBEB}"/>
              </a:ext>
            </a:extLst>
          </p:cNvPr>
          <p:cNvCxnSpPr/>
          <p:nvPr userDrawn="1"/>
        </p:nvCxnSpPr>
        <p:spPr>
          <a:xfrm>
            <a:off x="11650345" y="6345848"/>
            <a:ext cx="0" cy="260350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" name="Segnaposto piè di pagina 8">
            <a:extLst>
              <a:ext uri="{FF2B5EF4-FFF2-40B4-BE49-F238E27FC236}">
                <a16:creationId xmlns:a16="http://schemas.microsoft.com/office/drawing/2014/main" id="{B9628792-1808-40FB-81A8-B4A1607E2439}"/>
              </a:ext>
            </a:extLst>
          </p:cNvPr>
          <p:cNvSpPr txBox="1">
            <a:spLocks/>
          </p:cNvSpPr>
          <p:nvPr userDrawn="1"/>
        </p:nvSpPr>
        <p:spPr>
          <a:xfrm>
            <a:off x="8615082" y="6481767"/>
            <a:ext cx="2956754" cy="220663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schemeClr val="bg1"/>
                </a:solidFill>
                <a:latin typeface="TIM Sans" panose="02020503040602060503" pitchFamily="18" charset="77"/>
              </a:rPr>
              <a:t>Nome del Relatore, Nome Struttura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BB677C4A-9D55-8A4E-A6E3-A13696593F7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233" y="6232146"/>
            <a:ext cx="1979470" cy="597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7765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CA75DD54-AA16-4D96-BA18-46F0B18EC3E2}"/>
              </a:ext>
            </a:extLst>
          </p:cNvPr>
          <p:cNvSpPr/>
          <p:nvPr userDrawn="1"/>
        </p:nvSpPr>
        <p:spPr>
          <a:xfrm>
            <a:off x="0" y="6161903"/>
            <a:ext cx="12192000" cy="696097"/>
          </a:xfrm>
          <a:prstGeom prst="rect">
            <a:avLst/>
          </a:prstGeom>
          <a:solidFill>
            <a:srgbClr val="0033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Segnaposto data 7">
            <a:extLst>
              <a:ext uri="{FF2B5EF4-FFF2-40B4-BE49-F238E27FC236}">
                <a16:creationId xmlns:a16="http://schemas.microsoft.com/office/drawing/2014/main" id="{9D7EBFE4-05D3-41B4-83CD-A8E0A8380DF0}"/>
              </a:ext>
            </a:extLst>
          </p:cNvPr>
          <p:cNvSpPr txBox="1">
            <a:spLocks/>
          </p:cNvSpPr>
          <p:nvPr userDrawn="1"/>
        </p:nvSpPr>
        <p:spPr>
          <a:xfrm>
            <a:off x="5882236" y="6323015"/>
            <a:ext cx="5689600" cy="211137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 b="1">
                <a:solidFill>
                  <a:schemeClr val="bg1"/>
                </a:solidFill>
                <a:latin typeface="TIM Sans" panose="02020503040602060503" pitchFamily="18" charset="77"/>
              </a:rPr>
              <a:t>5G Academy</a:t>
            </a:r>
          </a:p>
        </p:txBody>
      </p:sp>
      <p:sp>
        <p:nvSpPr>
          <p:cNvPr id="6" name="Segnaposto piè di pagina 8">
            <a:extLst>
              <a:ext uri="{FF2B5EF4-FFF2-40B4-BE49-F238E27FC236}">
                <a16:creationId xmlns:a16="http://schemas.microsoft.com/office/drawing/2014/main" id="{0E4C0DEB-D89B-46C1-A686-9BEAB456F5BD}"/>
              </a:ext>
            </a:extLst>
          </p:cNvPr>
          <p:cNvSpPr txBox="1">
            <a:spLocks/>
          </p:cNvSpPr>
          <p:nvPr userDrawn="1"/>
        </p:nvSpPr>
        <p:spPr>
          <a:xfrm>
            <a:off x="8615082" y="6481767"/>
            <a:ext cx="2956754" cy="220663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schemeClr val="bg1"/>
                </a:solidFill>
                <a:latin typeface="TIM Sans" panose="02020503040602060503" pitchFamily="18" charset="77"/>
              </a:rPr>
              <a:t>Nome del Relatore, Nome Struttura</a:t>
            </a:r>
          </a:p>
        </p:txBody>
      </p:sp>
      <p:sp>
        <p:nvSpPr>
          <p:cNvPr id="7" name="Shape 12">
            <a:extLst>
              <a:ext uri="{FF2B5EF4-FFF2-40B4-BE49-F238E27FC236}">
                <a16:creationId xmlns:a16="http://schemas.microsoft.com/office/drawing/2014/main" id="{32DA9C46-95C1-48D2-8E74-90EAB517A255}"/>
              </a:ext>
            </a:extLst>
          </p:cNvPr>
          <p:cNvSpPr txBox="1"/>
          <p:nvPr userDrawn="1"/>
        </p:nvSpPr>
        <p:spPr>
          <a:xfrm>
            <a:off x="11718524" y="6514635"/>
            <a:ext cx="229953" cy="12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bg1"/>
                </a:solidFill>
                <a:latin typeface="TIM Sans" panose="02020503040602060503" pitchFamily="18" charset="77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bg1"/>
              </a:solidFill>
              <a:latin typeface="TIM Sans" panose="02020503040602060503" pitchFamily="18" charset="77"/>
              <a:ea typeface="Arial"/>
              <a:cs typeface="Arial"/>
              <a:sym typeface="Arial"/>
            </a:endParaRPr>
          </a:p>
        </p:txBody>
      </p:sp>
      <p:cxnSp>
        <p:nvCxnSpPr>
          <p:cNvPr id="8" name="Shape 13">
            <a:extLst>
              <a:ext uri="{FF2B5EF4-FFF2-40B4-BE49-F238E27FC236}">
                <a16:creationId xmlns:a16="http://schemas.microsoft.com/office/drawing/2014/main" id="{F9B0D099-433E-47D6-85BF-04A95EB2594A}"/>
              </a:ext>
            </a:extLst>
          </p:cNvPr>
          <p:cNvCxnSpPr/>
          <p:nvPr userDrawn="1"/>
        </p:nvCxnSpPr>
        <p:spPr>
          <a:xfrm>
            <a:off x="11650345" y="6345848"/>
            <a:ext cx="0" cy="260350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3" name="Picture 2">
            <a:extLst>
              <a:ext uri="{FF2B5EF4-FFF2-40B4-BE49-F238E27FC236}">
                <a16:creationId xmlns:a16="http://schemas.microsoft.com/office/drawing/2014/main" id="{3B1CA809-7FB2-A647-8C49-995400A9485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233" y="6232146"/>
            <a:ext cx="1979470" cy="597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510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data 7">
            <a:extLst>
              <a:ext uri="{FF2B5EF4-FFF2-40B4-BE49-F238E27FC236}">
                <a16:creationId xmlns:a16="http://schemas.microsoft.com/office/drawing/2014/main" id="{9D7EBFE4-05D3-41B4-83CD-A8E0A8380DF0}"/>
              </a:ext>
            </a:extLst>
          </p:cNvPr>
          <p:cNvSpPr txBox="1">
            <a:spLocks/>
          </p:cNvSpPr>
          <p:nvPr userDrawn="1"/>
        </p:nvSpPr>
        <p:spPr>
          <a:xfrm>
            <a:off x="5882236" y="6323015"/>
            <a:ext cx="5689600" cy="211137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 b="1">
                <a:solidFill>
                  <a:schemeClr val="bg1"/>
                </a:solidFill>
                <a:latin typeface="TIM Sans" panose="02020503040602060503" pitchFamily="18" charset="77"/>
              </a:rPr>
              <a:t>5G Academy</a:t>
            </a:r>
          </a:p>
        </p:txBody>
      </p:sp>
      <p:sp>
        <p:nvSpPr>
          <p:cNvPr id="6" name="Segnaposto piè di pagina 8">
            <a:extLst>
              <a:ext uri="{FF2B5EF4-FFF2-40B4-BE49-F238E27FC236}">
                <a16:creationId xmlns:a16="http://schemas.microsoft.com/office/drawing/2014/main" id="{0E4C0DEB-D89B-46C1-A686-9BEAB456F5BD}"/>
              </a:ext>
            </a:extLst>
          </p:cNvPr>
          <p:cNvSpPr txBox="1">
            <a:spLocks/>
          </p:cNvSpPr>
          <p:nvPr userDrawn="1"/>
        </p:nvSpPr>
        <p:spPr>
          <a:xfrm>
            <a:off x="8615082" y="6481767"/>
            <a:ext cx="2956754" cy="220663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schemeClr val="bg1"/>
                </a:solidFill>
                <a:latin typeface="TIM Sans" panose="02020503040602060503" pitchFamily="18" charset="77"/>
              </a:rPr>
              <a:t>Nome del Relatore, Nome Struttura</a:t>
            </a:r>
          </a:p>
        </p:txBody>
      </p:sp>
      <p:sp>
        <p:nvSpPr>
          <p:cNvPr id="7" name="Shape 12">
            <a:extLst>
              <a:ext uri="{FF2B5EF4-FFF2-40B4-BE49-F238E27FC236}">
                <a16:creationId xmlns:a16="http://schemas.microsoft.com/office/drawing/2014/main" id="{32DA9C46-95C1-48D2-8E74-90EAB517A255}"/>
              </a:ext>
            </a:extLst>
          </p:cNvPr>
          <p:cNvSpPr txBox="1"/>
          <p:nvPr userDrawn="1"/>
        </p:nvSpPr>
        <p:spPr>
          <a:xfrm>
            <a:off x="11718524" y="6514635"/>
            <a:ext cx="229953" cy="12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bg1"/>
                </a:solidFill>
                <a:latin typeface="TIM Sans" panose="02020503040602060503" pitchFamily="18" charset="77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bg1"/>
              </a:solidFill>
              <a:latin typeface="TIM Sans" panose="02020503040602060503" pitchFamily="18" charset="77"/>
              <a:ea typeface="Arial"/>
              <a:cs typeface="Arial"/>
              <a:sym typeface="Arial"/>
            </a:endParaRPr>
          </a:p>
        </p:txBody>
      </p:sp>
      <p:cxnSp>
        <p:nvCxnSpPr>
          <p:cNvPr id="8" name="Shape 13">
            <a:extLst>
              <a:ext uri="{FF2B5EF4-FFF2-40B4-BE49-F238E27FC236}">
                <a16:creationId xmlns:a16="http://schemas.microsoft.com/office/drawing/2014/main" id="{F9B0D099-433E-47D6-85BF-04A95EB2594A}"/>
              </a:ext>
            </a:extLst>
          </p:cNvPr>
          <p:cNvCxnSpPr/>
          <p:nvPr userDrawn="1"/>
        </p:nvCxnSpPr>
        <p:spPr>
          <a:xfrm>
            <a:off x="11650345" y="6345848"/>
            <a:ext cx="0" cy="260350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5122" name="Picture 2">
            <a:extLst>
              <a:ext uri="{FF2B5EF4-FFF2-40B4-BE49-F238E27FC236}">
                <a16:creationId xmlns:a16="http://schemas.microsoft.com/office/drawing/2014/main" id="{209BFF25-38BB-9B48-B869-084262A4D1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523" y="6215062"/>
            <a:ext cx="1812818" cy="548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Segnaposto data 7">
            <a:extLst>
              <a:ext uri="{FF2B5EF4-FFF2-40B4-BE49-F238E27FC236}">
                <a16:creationId xmlns:a16="http://schemas.microsoft.com/office/drawing/2014/main" id="{E46776ED-56DD-CD48-95A3-4A00B81FDB6F}"/>
              </a:ext>
            </a:extLst>
          </p:cNvPr>
          <p:cNvSpPr txBox="1">
            <a:spLocks/>
          </p:cNvSpPr>
          <p:nvPr userDrawn="1"/>
        </p:nvSpPr>
        <p:spPr>
          <a:xfrm>
            <a:off x="6034636" y="6475415"/>
            <a:ext cx="5689600" cy="211137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 b="1">
                <a:solidFill>
                  <a:srgbClr val="17428B"/>
                </a:solidFill>
                <a:latin typeface="TIM Sans" panose="02020503040602060503" pitchFamily="18" charset="77"/>
              </a:rPr>
              <a:t>5G Academy</a:t>
            </a:r>
          </a:p>
        </p:txBody>
      </p:sp>
      <p:sp>
        <p:nvSpPr>
          <p:cNvPr id="13" name="Segnaposto piè di pagina 8">
            <a:extLst>
              <a:ext uri="{FF2B5EF4-FFF2-40B4-BE49-F238E27FC236}">
                <a16:creationId xmlns:a16="http://schemas.microsoft.com/office/drawing/2014/main" id="{C8F8ED44-83FD-D141-B369-1B7D67D8C26A}"/>
              </a:ext>
            </a:extLst>
          </p:cNvPr>
          <p:cNvSpPr txBox="1">
            <a:spLocks/>
          </p:cNvSpPr>
          <p:nvPr userDrawn="1"/>
        </p:nvSpPr>
        <p:spPr>
          <a:xfrm>
            <a:off x="8767482" y="6634167"/>
            <a:ext cx="2956754" cy="220663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srgbClr val="17428B"/>
                </a:solidFill>
                <a:latin typeface="TIM Sans" panose="02020503040602060503" pitchFamily="18" charset="77"/>
              </a:rPr>
              <a:t>Nome del Relatore, Nome Struttura</a:t>
            </a:r>
          </a:p>
        </p:txBody>
      </p:sp>
      <p:cxnSp>
        <p:nvCxnSpPr>
          <p:cNvPr id="14" name="Shape 13">
            <a:extLst>
              <a:ext uri="{FF2B5EF4-FFF2-40B4-BE49-F238E27FC236}">
                <a16:creationId xmlns:a16="http://schemas.microsoft.com/office/drawing/2014/main" id="{724C64B5-2135-D44C-AAA0-6D642DB8801B}"/>
              </a:ext>
            </a:extLst>
          </p:cNvPr>
          <p:cNvCxnSpPr/>
          <p:nvPr userDrawn="1"/>
        </p:nvCxnSpPr>
        <p:spPr>
          <a:xfrm>
            <a:off x="11802745" y="6498248"/>
            <a:ext cx="0" cy="260350"/>
          </a:xfrm>
          <a:prstGeom prst="straightConnector1">
            <a:avLst/>
          </a:prstGeom>
          <a:noFill/>
          <a:ln w="9525" cap="flat" cmpd="sng">
            <a:solidFill>
              <a:srgbClr val="17428B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180853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magine 9">
            <a:extLst>
              <a:ext uri="{FF2B5EF4-FFF2-40B4-BE49-F238E27FC236}">
                <a16:creationId xmlns:a16="http://schemas.microsoft.com/office/drawing/2014/main" id="{7E2266D7-7A33-094B-B198-C964BD357B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73746" y="-120920"/>
            <a:ext cx="9301018" cy="6292603"/>
          </a:xfrm>
          <a:prstGeom prst="rect">
            <a:avLst/>
          </a:prstGeom>
        </p:spPr>
      </p:pic>
      <p:sp>
        <p:nvSpPr>
          <p:cNvPr id="13" name="Figura a mano libera 12">
            <a:extLst>
              <a:ext uri="{FF2B5EF4-FFF2-40B4-BE49-F238E27FC236}">
                <a16:creationId xmlns:a16="http://schemas.microsoft.com/office/drawing/2014/main" id="{02FE016D-82AA-144C-9BEB-6C7641E4C1DD}"/>
              </a:ext>
            </a:extLst>
          </p:cNvPr>
          <p:cNvSpPr/>
          <p:nvPr userDrawn="1"/>
        </p:nvSpPr>
        <p:spPr>
          <a:xfrm>
            <a:off x="299000" y="-10886"/>
            <a:ext cx="304800" cy="642257"/>
          </a:xfrm>
          <a:custGeom>
            <a:avLst/>
            <a:gdLst>
              <a:gd name="connsiteX0" fmla="*/ 0 w 304800"/>
              <a:gd name="connsiteY0" fmla="*/ 0 h 642257"/>
              <a:gd name="connsiteX1" fmla="*/ 0 w 304800"/>
              <a:gd name="connsiteY1" fmla="*/ 642257 h 642257"/>
              <a:gd name="connsiteX2" fmla="*/ 304800 w 304800"/>
              <a:gd name="connsiteY2" fmla="*/ 642257 h 642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4800" h="642257">
                <a:moveTo>
                  <a:pt x="0" y="0"/>
                </a:moveTo>
                <a:lnTo>
                  <a:pt x="0" y="642257"/>
                </a:lnTo>
                <a:lnTo>
                  <a:pt x="304800" y="642257"/>
                </a:lnTo>
              </a:path>
            </a:pathLst>
          </a:custGeom>
          <a:noFill/>
          <a:ln w="50800">
            <a:solidFill>
              <a:srgbClr val="DAF2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937DA939-308A-4597-9793-C9E9A974CE6E}"/>
              </a:ext>
            </a:extLst>
          </p:cNvPr>
          <p:cNvSpPr/>
          <p:nvPr userDrawn="1"/>
        </p:nvSpPr>
        <p:spPr>
          <a:xfrm>
            <a:off x="0" y="6161903"/>
            <a:ext cx="12192000" cy="696097"/>
          </a:xfrm>
          <a:prstGeom prst="rect">
            <a:avLst/>
          </a:prstGeom>
          <a:solidFill>
            <a:srgbClr val="0033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Segnaposto data 7">
            <a:extLst>
              <a:ext uri="{FF2B5EF4-FFF2-40B4-BE49-F238E27FC236}">
                <a16:creationId xmlns:a16="http://schemas.microsoft.com/office/drawing/2014/main" id="{FA6D9DE1-66BC-46BD-AA34-23617AA9C41F}"/>
              </a:ext>
            </a:extLst>
          </p:cNvPr>
          <p:cNvSpPr txBox="1">
            <a:spLocks/>
          </p:cNvSpPr>
          <p:nvPr userDrawn="1"/>
        </p:nvSpPr>
        <p:spPr>
          <a:xfrm>
            <a:off x="5882236" y="6323015"/>
            <a:ext cx="5689600" cy="211137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 b="1">
                <a:solidFill>
                  <a:schemeClr val="bg1"/>
                </a:solidFill>
                <a:latin typeface="TIM Sans" panose="02020503040602060503" pitchFamily="18" charset="77"/>
              </a:rPr>
              <a:t>5G Academy</a:t>
            </a:r>
          </a:p>
        </p:txBody>
      </p:sp>
      <p:sp>
        <p:nvSpPr>
          <p:cNvPr id="15" name="Segnaposto piè di pagina 8">
            <a:extLst>
              <a:ext uri="{FF2B5EF4-FFF2-40B4-BE49-F238E27FC236}">
                <a16:creationId xmlns:a16="http://schemas.microsoft.com/office/drawing/2014/main" id="{F89DCB51-4813-44E7-9DAE-DB8966014287}"/>
              </a:ext>
            </a:extLst>
          </p:cNvPr>
          <p:cNvSpPr txBox="1">
            <a:spLocks/>
          </p:cNvSpPr>
          <p:nvPr userDrawn="1"/>
        </p:nvSpPr>
        <p:spPr>
          <a:xfrm>
            <a:off x="8615082" y="6481767"/>
            <a:ext cx="2956754" cy="220663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schemeClr val="bg1"/>
                </a:solidFill>
                <a:latin typeface="TIM Sans" panose="02020503040602060503" pitchFamily="18" charset="77"/>
              </a:rPr>
              <a:t>Nome del Relatore, Nome Struttura</a:t>
            </a:r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3193EF4F-7929-48F5-9DCF-325B2B7685D9}"/>
              </a:ext>
            </a:extLst>
          </p:cNvPr>
          <p:cNvSpPr txBox="1"/>
          <p:nvPr userDrawn="1"/>
        </p:nvSpPr>
        <p:spPr>
          <a:xfrm>
            <a:off x="11718524" y="6514635"/>
            <a:ext cx="229953" cy="12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bg1"/>
                </a:solidFill>
                <a:latin typeface="TIM Sans" panose="02020503040602060503" pitchFamily="18" charset="77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bg1"/>
              </a:solidFill>
              <a:latin typeface="TIM Sans" panose="02020503040602060503" pitchFamily="18" charset="77"/>
              <a:ea typeface="Arial"/>
              <a:cs typeface="Arial"/>
              <a:sym typeface="Arial"/>
            </a:endParaRPr>
          </a:p>
        </p:txBody>
      </p:sp>
      <p:cxnSp>
        <p:nvCxnSpPr>
          <p:cNvPr id="17" name="Shape 13">
            <a:extLst>
              <a:ext uri="{FF2B5EF4-FFF2-40B4-BE49-F238E27FC236}">
                <a16:creationId xmlns:a16="http://schemas.microsoft.com/office/drawing/2014/main" id="{13145520-2C98-47BB-8396-5BC4190FF8D3}"/>
              </a:ext>
            </a:extLst>
          </p:cNvPr>
          <p:cNvCxnSpPr/>
          <p:nvPr userDrawn="1"/>
        </p:nvCxnSpPr>
        <p:spPr>
          <a:xfrm>
            <a:off x="11650345" y="6345848"/>
            <a:ext cx="0" cy="260350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6661FF91-1E64-408D-8467-B6CFC2BB78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67562" r="68923"/>
          <a:stretch/>
        </p:blipFill>
        <p:spPr>
          <a:xfrm>
            <a:off x="304810" y="6296025"/>
            <a:ext cx="1412865" cy="34155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8A8C316-4765-4C66-9C43-C643A1A9BD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42053" t="68030" r="36792"/>
          <a:stretch/>
        </p:blipFill>
        <p:spPr>
          <a:xfrm>
            <a:off x="2398168" y="6311949"/>
            <a:ext cx="855737" cy="39048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BE4EE4E-E94C-42B4-9C55-2181A704D1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1207" t="72041" b="-1"/>
          <a:stretch/>
        </p:blipFill>
        <p:spPr>
          <a:xfrm>
            <a:off x="3996700" y="6345847"/>
            <a:ext cx="854391" cy="29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036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no - Cia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ABD284CF-5A53-7E4C-A0FF-4F6F5FC5934D}"/>
              </a:ext>
            </a:extLst>
          </p:cNvPr>
          <p:cNvSpPr/>
          <p:nvPr userDrawn="1"/>
        </p:nvSpPr>
        <p:spPr>
          <a:xfrm>
            <a:off x="0" y="6167245"/>
            <a:ext cx="12192000" cy="696097"/>
          </a:xfrm>
          <a:prstGeom prst="rect">
            <a:avLst/>
          </a:prstGeom>
          <a:solidFill>
            <a:srgbClr val="0033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Segnaposto data 7">
            <a:extLst>
              <a:ext uri="{FF2B5EF4-FFF2-40B4-BE49-F238E27FC236}">
                <a16:creationId xmlns:a16="http://schemas.microsoft.com/office/drawing/2014/main" id="{6B8FA853-C8E7-C54C-8B6F-4E6BDB270CEA}"/>
              </a:ext>
            </a:extLst>
          </p:cNvPr>
          <p:cNvSpPr txBox="1">
            <a:spLocks/>
          </p:cNvSpPr>
          <p:nvPr userDrawn="1"/>
        </p:nvSpPr>
        <p:spPr>
          <a:xfrm>
            <a:off x="5882236" y="6323015"/>
            <a:ext cx="5689600" cy="211137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 b="1">
                <a:solidFill>
                  <a:schemeClr val="bg1"/>
                </a:solidFill>
                <a:latin typeface="TIM Sans" panose="02020503040602060503" pitchFamily="18" charset="77"/>
              </a:rPr>
              <a:t>5G Academy</a:t>
            </a:r>
          </a:p>
        </p:txBody>
      </p:sp>
      <p:sp>
        <p:nvSpPr>
          <p:cNvPr id="6" name="Segnaposto piè di pagina 8">
            <a:extLst>
              <a:ext uri="{FF2B5EF4-FFF2-40B4-BE49-F238E27FC236}">
                <a16:creationId xmlns:a16="http://schemas.microsoft.com/office/drawing/2014/main" id="{93BC1F67-F758-3842-BA3B-779704EBBAD3}"/>
              </a:ext>
            </a:extLst>
          </p:cNvPr>
          <p:cNvSpPr txBox="1">
            <a:spLocks/>
          </p:cNvSpPr>
          <p:nvPr userDrawn="1"/>
        </p:nvSpPr>
        <p:spPr>
          <a:xfrm>
            <a:off x="8615082" y="6481767"/>
            <a:ext cx="2956754" cy="220663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 err="1">
                <a:solidFill>
                  <a:schemeClr val="bg1"/>
                </a:solidFill>
                <a:latin typeface="TIM Sans" panose="02020503040602060503" pitchFamily="18" charset="77"/>
              </a:rPr>
              <a:t>Lecturer</a:t>
            </a:r>
            <a:r>
              <a:rPr lang="it-IT">
                <a:solidFill>
                  <a:schemeClr val="bg1"/>
                </a:solidFill>
                <a:latin typeface="TIM Sans" panose="02020503040602060503" pitchFamily="18" charset="77"/>
              </a:rPr>
              <a:t> </a:t>
            </a:r>
            <a:r>
              <a:rPr lang="it-IT" err="1">
                <a:solidFill>
                  <a:schemeClr val="bg1"/>
                </a:solidFill>
                <a:latin typeface="TIM Sans" panose="02020503040602060503" pitchFamily="18" charset="77"/>
              </a:rPr>
              <a:t>name</a:t>
            </a:r>
            <a:r>
              <a:rPr lang="it-IT">
                <a:solidFill>
                  <a:schemeClr val="bg1"/>
                </a:solidFill>
                <a:latin typeface="TIM Sans" panose="02020503040602060503" pitchFamily="18" charset="77"/>
              </a:rPr>
              <a:t>, Company/</a:t>
            </a:r>
            <a:r>
              <a:rPr lang="it-IT" err="1">
                <a:solidFill>
                  <a:schemeClr val="bg1"/>
                </a:solidFill>
                <a:latin typeface="TIM Sans" panose="02020503040602060503" pitchFamily="18" charset="77"/>
              </a:rPr>
              <a:t>Univerisity</a:t>
            </a:r>
            <a:r>
              <a:rPr lang="it-IT">
                <a:solidFill>
                  <a:schemeClr val="bg1"/>
                </a:solidFill>
                <a:latin typeface="TIM Sans" panose="02020503040602060503" pitchFamily="18" charset="77"/>
              </a:rPr>
              <a:t> </a:t>
            </a:r>
            <a:r>
              <a:rPr lang="it-IT" err="1">
                <a:solidFill>
                  <a:schemeClr val="bg1"/>
                </a:solidFill>
                <a:latin typeface="TIM Sans" panose="02020503040602060503" pitchFamily="18" charset="77"/>
              </a:rPr>
              <a:t>name</a:t>
            </a:r>
            <a:endParaRPr lang="it-IT">
              <a:solidFill>
                <a:schemeClr val="bg1"/>
              </a:solidFill>
              <a:latin typeface="TIM Sans" panose="02020503040602060503" pitchFamily="18" charset="77"/>
            </a:endParaRPr>
          </a:p>
        </p:txBody>
      </p:sp>
      <p:sp>
        <p:nvSpPr>
          <p:cNvPr id="7" name="Shape 12">
            <a:extLst>
              <a:ext uri="{FF2B5EF4-FFF2-40B4-BE49-F238E27FC236}">
                <a16:creationId xmlns:a16="http://schemas.microsoft.com/office/drawing/2014/main" id="{FC9D4B3B-DA08-D14A-A469-C98FFEDB75D5}"/>
              </a:ext>
            </a:extLst>
          </p:cNvPr>
          <p:cNvSpPr txBox="1"/>
          <p:nvPr userDrawn="1"/>
        </p:nvSpPr>
        <p:spPr>
          <a:xfrm>
            <a:off x="11718524" y="6514635"/>
            <a:ext cx="229953" cy="12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bg1"/>
                </a:solidFill>
                <a:latin typeface="TIM Sans" panose="02020503040602060503" pitchFamily="18" charset="77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bg1"/>
              </a:solidFill>
              <a:latin typeface="TIM Sans" panose="02020503040602060503" pitchFamily="18" charset="77"/>
              <a:ea typeface="Arial"/>
              <a:cs typeface="Arial"/>
              <a:sym typeface="Arial"/>
            </a:endParaRPr>
          </a:p>
        </p:txBody>
      </p:sp>
      <p:cxnSp>
        <p:nvCxnSpPr>
          <p:cNvPr id="8" name="Shape 13">
            <a:extLst>
              <a:ext uri="{FF2B5EF4-FFF2-40B4-BE49-F238E27FC236}">
                <a16:creationId xmlns:a16="http://schemas.microsoft.com/office/drawing/2014/main" id="{3E706A71-5D21-9B43-9D04-E97A62E6B13E}"/>
              </a:ext>
            </a:extLst>
          </p:cNvPr>
          <p:cNvCxnSpPr/>
          <p:nvPr userDrawn="1"/>
        </p:nvCxnSpPr>
        <p:spPr>
          <a:xfrm>
            <a:off x="11650345" y="6345848"/>
            <a:ext cx="0" cy="260350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Figura a mano libera 10">
            <a:extLst>
              <a:ext uri="{FF2B5EF4-FFF2-40B4-BE49-F238E27FC236}">
                <a16:creationId xmlns:a16="http://schemas.microsoft.com/office/drawing/2014/main" id="{DE9495C1-B9F7-CF46-8454-707638B66872}"/>
              </a:ext>
            </a:extLst>
          </p:cNvPr>
          <p:cNvSpPr/>
          <p:nvPr userDrawn="1"/>
        </p:nvSpPr>
        <p:spPr>
          <a:xfrm>
            <a:off x="299000" y="-10886"/>
            <a:ext cx="304800" cy="642257"/>
          </a:xfrm>
          <a:custGeom>
            <a:avLst/>
            <a:gdLst>
              <a:gd name="connsiteX0" fmla="*/ 0 w 304800"/>
              <a:gd name="connsiteY0" fmla="*/ 0 h 642257"/>
              <a:gd name="connsiteX1" fmla="*/ 0 w 304800"/>
              <a:gd name="connsiteY1" fmla="*/ 642257 h 642257"/>
              <a:gd name="connsiteX2" fmla="*/ 304800 w 304800"/>
              <a:gd name="connsiteY2" fmla="*/ 642257 h 642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4800" h="642257">
                <a:moveTo>
                  <a:pt x="0" y="0"/>
                </a:moveTo>
                <a:lnTo>
                  <a:pt x="0" y="642257"/>
                </a:lnTo>
                <a:lnTo>
                  <a:pt x="304800" y="642257"/>
                </a:lnTo>
              </a:path>
            </a:pathLst>
          </a:custGeom>
          <a:noFill/>
          <a:ln w="508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B8CC1A6A-2927-6145-A5C7-DC53DF46320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233" y="6232146"/>
            <a:ext cx="1979470" cy="597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55632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no - Magen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igura a mano libera 10">
            <a:extLst>
              <a:ext uri="{FF2B5EF4-FFF2-40B4-BE49-F238E27FC236}">
                <a16:creationId xmlns:a16="http://schemas.microsoft.com/office/drawing/2014/main" id="{DE9495C1-B9F7-CF46-8454-707638B66872}"/>
              </a:ext>
            </a:extLst>
          </p:cNvPr>
          <p:cNvSpPr/>
          <p:nvPr userDrawn="1"/>
        </p:nvSpPr>
        <p:spPr>
          <a:xfrm>
            <a:off x="299000" y="-10886"/>
            <a:ext cx="304800" cy="642257"/>
          </a:xfrm>
          <a:custGeom>
            <a:avLst/>
            <a:gdLst>
              <a:gd name="connsiteX0" fmla="*/ 0 w 304800"/>
              <a:gd name="connsiteY0" fmla="*/ 0 h 642257"/>
              <a:gd name="connsiteX1" fmla="*/ 0 w 304800"/>
              <a:gd name="connsiteY1" fmla="*/ 642257 h 642257"/>
              <a:gd name="connsiteX2" fmla="*/ 304800 w 304800"/>
              <a:gd name="connsiteY2" fmla="*/ 642257 h 642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4800" h="642257">
                <a:moveTo>
                  <a:pt x="0" y="0"/>
                </a:moveTo>
                <a:lnTo>
                  <a:pt x="0" y="642257"/>
                </a:lnTo>
                <a:lnTo>
                  <a:pt x="304800" y="642257"/>
                </a:lnTo>
              </a:path>
            </a:pathLst>
          </a:custGeom>
          <a:noFill/>
          <a:ln w="50800">
            <a:solidFill>
              <a:srgbClr val="FF40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72EE59C3-2158-4C5C-8F9C-12D4DC8173F3}"/>
              </a:ext>
            </a:extLst>
          </p:cNvPr>
          <p:cNvSpPr/>
          <p:nvPr userDrawn="1"/>
        </p:nvSpPr>
        <p:spPr>
          <a:xfrm>
            <a:off x="0" y="6161903"/>
            <a:ext cx="12192000" cy="696097"/>
          </a:xfrm>
          <a:prstGeom prst="rect">
            <a:avLst/>
          </a:prstGeom>
          <a:solidFill>
            <a:srgbClr val="0033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Segnaposto data 7">
            <a:extLst>
              <a:ext uri="{FF2B5EF4-FFF2-40B4-BE49-F238E27FC236}">
                <a16:creationId xmlns:a16="http://schemas.microsoft.com/office/drawing/2014/main" id="{F56FEBE0-8B4E-4769-9B06-8EC9FCB30F73}"/>
              </a:ext>
            </a:extLst>
          </p:cNvPr>
          <p:cNvSpPr txBox="1">
            <a:spLocks/>
          </p:cNvSpPr>
          <p:nvPr userDrawn="1"/>
        </p:nvSpPr>
        <p:spPr>
          <a:xfrm>
            <a:off x="5882236" y="6323015"/>
            <a:ext cx="5689600" cy="211137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 b="1">
                <a:solidFill>
                  <a:schemeClr val="bg1"/>
                </a:solidFill>
                <a:latin typeface="TIM Sans" panose="02020503040602060503" pitchFamily="18" charset="77"/>
              </a:rPr>
              <a:t>5G Academy</a:t>
            </a:r>
          </a:p>
        </p:txBody>
      </p:sp>
      <p:sp>
        <p:nvSpPr>
          <p:cNvPr id="13" name="Segnaposto piè di pagina 8">
            <a:extLst>
              <a:ext uri="{FF2B5EF4-FFF2-40B4-BE49-F238E27FC236}">
                <a16:creationId xmlns:a16="http://schemas.microsoft.com/office/drawing/2014/main" id="{F423495D-F89D-49C6-89F6-C7E044B3EBAE}"/>
              </a:ext>
            </a:extLst>
          </p:cNvPr>
          <p:cNvSpPr txBox="1">
            <a:spLocks/>
          </p:cNvSpPr>
          <p:nvPr userDrawn="1"/>
        </p:nvSpPr>
        <p:spPr>
          <a:xfrm>
            <a:off x="8615082" y="6481767"/>
            <a:ext cx="2956754" cy="220663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schemeClr val="bg1"/>
                </a:solidFill>
                <a:latin typeface="TIM Sans" panose="02020503040602060503" pitchFamily="18" charset="77"/>
              </a:rPr>
              <a:t>Nome del Relatore, Nome Struttura</a:t>
            </a: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747161C9-66BE-4806-91C1-9180C1A3A822}"/>
              </a:ext>
            </a:extLst>
          </p:cNvPr>
          <p:cNvSpPr txBox="1"/>
          <p:nvPr userDrawn="1"/>
        </p:nvSpPr>
        <p:spPr>
          <a:xfrm>
            <a:off x="11718524" y="6514635"/>
            <a:ext cx="229953" cy="12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bg1"/>
                </a:solidFill>
                <a:latin typeface="TIM Sans" panose="02020503040602060503" pitchFamily="18" charset="77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bg1"/>
              </a:solidFill>
              <a:latin typeface="TIM Sans" panose="02020503040602060503" pitchFamily="18" charset="77"/>
              <a:ea typeface="Arial"/>
              <a:cs typeface="Arial"/>
              <a:sym typeface="Arial"/>
            </a:endParaRPr>
          </a:p>
        </p:txBody>
      </p:sp>
      <p:cxnSp>
        <p:nvCxnSpPr>
          <p:cNvPr id="15" name="Shape 13">
            <a:extLst>
              <a:ext uri="{FF2B5EF4-FFF2-40B4-BE49-F238E27FC236}">
                <a16:creationId xmlns:a16="http://schemas.microsoft.com/office/drawing/2014/main" id="{40CF238A-1C41-4AC9-9070-8F54C8B7D93D}"/>
              </a:ext>
            </a:extLst>
          </p:cNvPr>
          <p:cNvCxnSpPr/>
          <p:nvPr userDrawn="1"/>
        </p:nvCxnSpPr>
        <p:spPr>
          <a:xfrm>
            <a:off x="11650345" y="6345848"/>
            <a:ext cx="0" cy="260350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6" name="Picture 2">
            <a:extLst>
              <a:ext uri="{FF2B5EF4-FFF2-40B4-BE49-F238E27FC236}">
                <a16:creationId xmlns:a16="http://schemas.microsoft.com/office/drawing/2014/main" id="{6AA263EC-FE94-FC48-A576-EB5DF4C8D54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233" y="6232146"/>
            <a:ext cx="1979470" cy="597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8312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no - Gial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igura a mano libera 10">
            <a:extLst>
              <a:ext uri="{FF2B5EF4-FFF2-40B4-BE49-F238E27FC236}">
                <a16:creationId xmlns:a16="http://schemas.microsoft.com/office/drawing/2014/main" id="{DE9495C1-B9F7-CF46-8454-707638B66872}"/>
              </a:ext>
            </a:extLst>
          </p:cNvPr>
          <p:cNvSpPr/>
          <p:nvPr userDrawn="1"/>
        </p:nvSpPr>
        <p:spPr>
          <a:xfrm>
            <a:off x="299000" y="0"/>
            <a:ext cx="304800" cy="642257"/>
          </a:xfrm>
          <a:custGeom>
            <a:avLst/>
            <a:gdLst>
              <a:gd name="connsiteX0" fmla="*/ 0 w 304800"/>
              <a:gd name="connsiteY0" fmla="*/ 0 h 642257"/>
              <a:gd name="connsiteX1" fmla="*/ 0 w 304800"/>
              <a:gd name="connsiteY1" fmla="*/ 642257 h 642257"/>
              <a:gd name="connsiteX2" fmla="*/ 304800 w 304800"/>
              <a:gd name="connsiteY2" fmla="*/ 642257 h 642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4800" h="642257">
                <a:moveTo>
                  <a:pt x="0" y="0"/>
                </a:moveTo>
                <a:lnTo>
                  <a:pt x="0" y="642257"/>
                </a:lnTo>
                <a:lnTo>
                  <a:pt x="304800" y="642257"/>
                </a:lnTo>
              </a:path>
            </a:pathLst>
          </a:custGeom>
          <a:noFill/>
          <a:ln w="50800">
            <a:solidFill>
              <a:srgbClr val="FFC00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18770C84-C4A1-4B18-8280-6D4B3C5A55E5}"/>
              </a:ext>
            </a:extLst>
          </p:cNvPr>
          <p:cNvSpPr/>
          <p:nvPr userDrawn="1"/>
        </p:nvSpPr>
        <p:spPr>
          <a:xfrm>
            <a:off x="0" y="6161903"/>
            <a:ext cx="12192000" cy="696097"/>
          </a:xfrm>
          <a:prstGeom prst="rect">
            <a:avLst/>
          </a:prstGeom>
          <a:solidFill>
            <a:srgbClr val="0033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Segnaposto data 7">
            <a:extLst>
              <a:ext uri="{FF2B5EF4-FFF2-40B4-BE49-F238E27FC236}">
                <a16:creationId xmlns:a16="http://schemas.microsoft.com/office/drawing/2014/main" id="{0AE3FDCE-918D-4007-BB01-464A9B573236}"/>
              </a:ext>
            </a:extLst>
          </p:cNvPr>
          <p:cNvSpPr txBox="1">
            <a:spLocks/>
          </p:cNvSpPr>
          <p:nvPr userDrawn="1"/>
        </p:nvSpPr>
        <p:spPr>
          <a:xfrm>
            <a:off x="5882236" y="6323015"/>
            <a:ext cx="5689600" cy="211137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 b="1">
                <a:solidFill>
                  <a:schemeClr val="bg1"/>
                </a:solidFill>
                <a:latin typeface="TIM Sans" panose="02020503040602060503" pitchFamily="18" charset="77"/>
              </a:rPr>
              <a:t>5G Academy</a:t>
            </a:r>
          </a:p>
        </p:txBody>
      </p:sp>
      <p:sp>
        <p:nvSpPr>
          <p:cNvPr id="13" name="Segnaposto piè di pagina 8">
            <a:extLst>
              <a:ext uri="{FF2B5EF4-FFF2-40B4-BE49-F238E27FC236}">
                <a16:creationId xmlns:a16="http://schemas.microsoft.com/office/drawing/2014/main" id="{A42F6AC0-CAEC-4C31-8598-6B0EB48D7D54}"/>
              </a:ext>
            </a:extLst>
          </p:cNvPr>
          <p:cNvSpPr txBox="1">
            <a:spLocks/>
          </p:cNvSpPr>
          <p:nvPr userDrawn="1"/>
        </p:nvSpPr>
        <p:spPr>
          <a:xfrm>
            <a:off x="8615082" y="6481767"/>
            <a:ext cx="2956754" cy="220663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schemeClr val="bg1"/>
                </a:solidFill>
                <a:latin typeface="TIM Sans" panose="02020503040602060503" pitchFamily="18" charset="77"/>
              </a:rPr>
              <a:t>Nome del Relatore, Nome Struttura</a:t>
            </a: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99DD902A-D84E-45EE-A0DF-B635D107DCA1}"/>
              </a:ext>
            </a:extLst>
          </p:cNvPr>
          <p:cNvSpPr txBox="1"/>
          <p:nvPr userDrawn="1"/>
        </p:nvSpPr>
        <p:spPr>
          <a:xfrm>
            <a:off x="11718524" y="6514635"/>
            <a:ext cx="229953" cy="12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bg1"/>
                </a:solidFill>
                <a:latin typeface="TIM Sans" panose="02020503040602060503" pitchFamily="18" charset="77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bg1"/>
              </a:solidFill>
              <a:latin typeface="TIM Sans" panose="02020503040602060503" pitchFamily="18" charset="77"/>
              <a:ea typeface="Arial"/>
              <a:cs typeface="Arial"/>
              <a:sym typeface="Arial"/>
            </a:endParaRPr>
          </a:p>
        </p:txBody>
      </p:sp>
      <p:cxnSp>
        <p:nvCxnSpPr>
          <p:cNvPr id="15" name="Shape 13">
            <a:extLst>
              <a:ext uri="{FF2B5EF4-FFF2-40B4-BE49-F238E27FC236}">
                <a16:creationId xmlns:a16="http://schemas.microsoft.com/office/drawing/2014/main" id="{7B47C9DD-7C78-465D-85EB-90802589E5EE}"/>
              </a:ext>
            </a:extLst>
          </p:cNvPr>
          <p:cNvCxnSpPr/>
          <p:nvPr userDrawn="1"/>
        </p:nvCxnSpPr>
        <p:spPr>
          <a:xfrm>
            <a:off x="11650345" y="6345848"/>
            <a:ext cx="0" cy="260350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6" name="Picture 2">
            <a:extLst>
              <a:ext uri="{FF2B5EF4-FFF2-40B4-BE49-F238E27FC236}">
                <a16:creationId xmlns:a16="http://schemas.microsoft.com/office/drawing/2014/main" id="{F77C323C-B55C-7848-8848-79B4755A45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233" y="6232146"/>
            <a:ext cx="1979470" cy="597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6178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no - Ros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igura a mano libera 10">
            <a:extLst>
              <a:ext uri="{FF2B5EF4-FFF2-40B4-BE49-F238E27FC236}">
                <a16:creationId xmlns:a16="http://schemas.microsoft.com/office/drawing/2014/main" id="{DE9495C1-B9F7-CF46-8454-707638B66872}"/>
              </a:ext>
            </a:extLst>
          </p:cNvPr>
          <p:cNvSpPr/>
          <p:nvPr userDrawn="1"/>
        </p:nvSpPr>
        <p:spPr>
          <a:xfrm>
            <a:off x="299000" y="-10886"/>
            <a:ext cx="304800" cy="642257"/>
          </a:xfrm>
          <a:custGeom>
            <a:avLst/>
            <a:gdLst>
              <a:gd name="connsiteX0" fmla="*/ 0 w 304800"/>
              <a:gd name="connsiteY0" fmla="*/ 0 h 642257"/>
              <a:gd name="connsiteX1" fmla="*/ 0 w 304800"/>
              <a:gd name="connsiteY1" fmla="*/ 642257 h 642257"/>
              <a:gd name="connsiteX2" fmla="*/ 304800 w 304800"/>
              <a:gd name="connsiteY2" fmla="*/ 642257 h 642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4800" h="642257">
                <a:moveTo>
                  <a:pt x="0" y="0"/>
                </a:moveTo>
                <a:lnTo>
                  <a:pt x="0" y="642257"/>
                </a:lnTo>
                <a:lnTo>
                  <a:pt x="304800" y="642257"/>
                </a:lnTo>
              </a:path>
            </a:pathLst>
          </a:cu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72A0C9D1-2396-410F-A920-FAD1C2A10AD5}"/>
              </a:ext>
            </a:extLst>
          </p:cNvPr>
          <p:cNvSpPr/>
          <p:nvPr userDrawn="1"/>
        </p:nvSpPr>
        <p:spPr>
          <a:xfrm>
            <a:off x="0" y="6161903"/>
            <a:ext cx="12192000" cy="696097"/>
          </a:xfrm>
          <a:prstGeom prst="rect">
            <a:avLst/>
          </a:prstGeom>
          <a:solidFill>
            <a:srgbClr val="0033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Segnaposto data 7">
            <a:extLst>
              <a:ext uri="{FF2B5EF4-FFF2-40B4-BE49-F238E27FC236}">
                <a16:creationId xmlns:a16="http://schemas.microsoft.com/office/drawing/2014/main" id="{457C81E1-3B0B-4493-B5F3-666F46D59EBF}"/>
              </a:ext>
            </a:extLst>
          </p:cNvPr>
          <p:cNvSpPr txBox="1">
            <a:spLocks/>
          </p:cNvSpPr>
          <p:nvPr userDrawn="1"/>
        </p:nvSpPr>
        <p:spPr>
          <a:xfrm>
            <a:off x="5882236" y="6323015"/>
            <a:ext cx="5689600" cy="211137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 b="1">
                <a:solidFill>
                  <a:schemeClr val="bg1"/>
                </a:solidFill>
                <a:latin typeface="TIM Sans" panose="02020503040602060503" pitchFamily="18" charset="77"/>
              </a:rPr>
              <a:t>5G Academy</a:t>
            </a:r>
          </a:p>
        </p:txBody>
      </p:sp>
      <p:sp>
        <p:nvSpPr>
          <p:cNvPr id="13" name="Segnaposto piè di pagina 8">
            <a:extLst>
              <a:ext uri="{FF2B5EF4-FFF2-40B4-BE49-F238E27FC236}">
                <a16:creationId xmlns:a16="http://schemas.microsoft.com/office/drawing/2014/main" id="{875599AE-43AD-4130-A3AD-F717FAF07DBD}"/>
              </a:ext>
            </a:extLst>
          </p:cNvPr>
          <p:cNvSpPr txBox="1">
            <a:spLocks/>
          </p:cNvSpPr>
          <p:nvPr userDrawn="1"/>
        </p:nvSpPr>
        <p:spPr>
          <a:xfrm>
            <a:off x="8615082" y="6481767"/>
            <a:ext cx="2956754" cy="220663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schemeClr val="bg1"/>
                </a:solidFill>
                <a:latin typeface="TIM Sans" panose="02020503040602060503" pitchFamily="18" charset="77"/>
              </a:rPr>
              <a:t>Nome del Relatore, Nome Struttura</a:t>
            </a: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F266FF8C-3CC0-4458-9CAB-9F073955C70C}"/>
              </a:ext>
            </a:extLst>
          </p:cNvPr>
          <p:cNvSpPr txBox="1"/>
          <p:nvPr userDrawn="1"/>
        </p:nvSpPr>
        <p:spPr>
          <a:xfrm>
            <a:off x="11718524" y="6514635"/>
            <a:ext cx="229953" cy="12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bg1"/>
                </a:solidFill>
                <a:latin typeface="TIM Sans" panose="02020503040602060503" pitchFamily="18" charset="77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bg1"/>
              </a:solidFill>
              <a:latin typeface="TIM Sans" panose="02020503040602060503" pitchFamily="18" charset="77"/>
              <a:ea typeface="Arial"/>
              <a:cs typeface="Arial"/>
              <a:sym typeface="Arial"/>
            </a:endParaRPr>
          </a:p>
        </p:txBody>
      </p:sp>
      <p:cxnSp>
        <p:nvCxnSpPr>
          <p:cNvPr id="15" name="Shape 13">
            <a:extLst>
              <a:ext uri="{FF2B5EF4-FFF2-40B4-BE49-F238E27FC236}">
                <a16:creationId xmlns:a16="http://schemas.microsoft.com/office/drawing/2014/main" id="{503FEE4B-E28F-4992-ABAD-13F0AFE7C052}"/>
              </a:ext>
            </a:extLst>
          </p:cNvPr>
          <p:cNvCxnSpPr/>
          <p:nvPr userDrawn="1"/>
        </p:nvCxnSpPr>
        <p:spPr>
          <a:xfrm>
            <a:off x="11650345" y="6345848"/>
            <a:ext cx="0" cy="260350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543962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no - Ver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igura a mano libera 10">
            <a:extLst>
              <a:ext uri="{FF2B5EF4-FFF2-40B4-BE49-F238E27FC236}">
                <a16:creationId xmlns:a16="http://schemas.microsoft.com/office/drawing/2014/main" id="{DE9495C1-B9F7-CF46-8454-707638B66872}"/>
              </a:ext>
            </a:extLst>
          </p:cNvPr>
          <p:cNvSpPr/>
          <p:nvPr userDrawn="1"/>
        </p:nvSpPr>
        <p:spPr>
          <a:xfrm>
            <a:off x="299000" y="-10886"/>
            <a:ext cx="304800" cy="642257"/>
          </a:xfrm>
          <a:custGeom>
            <a:avLst/>
            <a:gdLst>
              <a:gd name="connsiteX0" fmla="*/ 0 w 304800"/>
              <a:gd name="connsiteY0" fmla="*/ 0 h 642257"/>
              <a:gd name="connsiteX1" fmla="*/ 0 w 304800"/>
              <a:gd name="connsiteY1" fmla="*/ 642257 h 642257"/>
              <a:gd name="connsiteX2" fmla="*/ 304800 w 304800"/>
              <a:gd name="connsiteY2" fmla="*/ 642257 h 642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4800" h="642257">
                <a:moveTo>
                  <a:pt x="0" y="0"/>
                </a:moveTo>
                <a:lnTo>
                  <a:pt x="0" y="642257"/>
                </a:lnTo>
                <a:lnTo>
                  <a:pt x="304800" y="642257"/>
                </a:lnTo>
              </a:path>
            </a:pathLst>
          </a:custGeom>
          <a:noFill/>
          <a:ln w="50800">
            <a:solidFill>
              <a:srgbClr val="DAF2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7BB51B97-A265-4118-A8E7-67D36A07DC4C}"/>
              </a:ext>
            </a:extLst>
          </p:cNvPr>
          <p:cNvSpPr/>
          <p:nvPr userDrawn="1"/>
        </p:nvSpPr>
        <p:spPr>
          <a:xfrm>
            <a:off x="0" y="6161903"/>
            <a:ext cx="12192000" cy="696097"/>
          </a:xfrm>
          <a:prstGeom prst="rect">
            <a:avLst/>
          </a:prstGeom>
          <a:solidFill>
            <a:srgbClr val="0033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Segnaposto data 7">
            <a:extLst>
              <a:ext uri="{FF2B5EF4-FFF2-40B4-BE49-F238E27FC236}">
                <a16:creationId xmlns:a16="http://schemas.microsoft.com/office/drawing/2014/main" id="{0814D68B-BE4E-4C63-B73A-462911E6E294}"/>
              </a:ext>
            </a:extLst>
          </p:cNvPr>
          <p:cNvSpPr txBox="1">
            <a:spLocks/>
          </p:cNvSpPr>
          <p:nvPr userDrawn="1"/>
        </p:nvSpPr>
        <p:spPr>
          <a:xfrm>
            <a:off x="5882236" y="6323015"/>
            <a:ext cx="5689600" cy="211137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 b="1">
                <a:solidFill>
                  <a:schemeClr val="bg1"/>
                </a:solidFill>
                <a:latin typeface="TIM Sans" panose="02020503040602060503" pitchFamily="18" charset="77"/>
              </a:rPr>
              <a:t>5G Academy</a:t>
            </a:r>
          </a:p>
        </p:txBody>
      </p:sp>
      <p:sp>
        <p:nvSpPr>
          <p:cNvPr id="13" name="Segnaposto piè di pagina 8">
            <a:extLst>
              <a:ext uri="{FF2B5EF4-FFF2-40B4-BE49-F238E27FC236}">
                <a16:creationId xmlns:a16="http://schemas.microsoft.com/office/drawing/2014/main" id="{ACBBF35D-2BC3-45E0-83BB-E428F1B69D18}"/>
              </a:ext>
            </a:extLst>
          </p:cNvPr>
          <p:cNvSpPr txBox="1">
            <a:spLocks/>
          </p:cNvSpPr>
          <p:nvPr userDrawn="1"/>
        </p:nvSpPr>
        <p:spPr>
          <a:xfrm>
            <a:off x="8615082" y="6481767"/>
            <a:ext cx="2956754" cy="220663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schemeClr val="bg1"/>
                </a:solidFill>
                <a:latin typeface="TIM Sans" panose="02020503040602060503" pitchFamily="18" charset="77"/>
              </a:rPr>
              <a:t>Nome del Relatore, Nome Struttura</a:t>
            </a: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D53EB5D3-FB71-4345-A864-2458AB9D1F78}"/>
              </a:ext>
            </a:extLst>
          </p:cNvPr>
          <p:cNvSpPr txBox="1"/>
          <p:nvPr userDrawn="1"/>
        </p:nvSpPr>
        <p:spPr>
          <a:xfrm>
            <a:off x="11718524" y="6514635"/>
            <a:ext cx="229953" cy="12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bg1"/>
                </a:solidFill>
                <a:latin typeface="TIM Sans" panose="02020503040602060503" pitchFamily="18" charset="77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bg1"/>
              </a:solidFill>
              <a:latin typeface="TIM Sans" panose="02020503040602060503" pitchFamily="18" charset="77"/>
              <a:ea typeface="Arial"/>
              <a:cs typeface="Arial"/>
              <a:sym typeface="Arial"/>
            </a:endParaRPr>
          </a:p>
        </p:txBody>
      </p:sp>
      <p:cxnSp>
        <p:nvCxnSpPr>
          <p:cNvPr id="15" name="Shape 13">
            <a:extLst>
              <a:ext uri="{FF2B5EF4-FFF2-40B4-BE49-F238E27FC236}">
                <a16:creationId xmlns:a16="http://schemas.microsoft.com/office/drawing/2014/main" id="{17A154B9-8251-413C-AEFC-1632EC7E0943}"/>
              </a:ext>
            </a:extLst>
          </p:cNvPr>
          <p:cNvCxnSpPr/>
          <p:nvPr userDrawn="1"/>
        </p:nvCxnSpPr>
        <p:spPr>
          <a:xfrm>
            <a:off x="11650345" y="6345848"/>
            <a:ext cx="0" cy="260350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6" name="Picture 2">
            <a:extLst>
              <a:ext uri="{FF2B5EF4-FFF2-40B4-BE49-F238E27FC236}">
                <a16:creationId xmlns:a16="http://schemas.microsoft.com/office/drawing/2014/main" id="{6D4F2583-BB63-144F-92EC-264C680DA6B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233" y="6232146"/>
            <a:ext cx="1979470" cy="597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2229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37">
            <a:extLst>
              <a:ext uri="{FF2B5EF4-FFF2-40B4-BE49-F238E27FC236}">
                <a16:creationId xmlns:a16="http://schemas.microsoft.com/office/drawing/2014/main" id="{E79329A4-E11A-8A4B-6A05-6785ADF2D604}"/>
              </a:ext>
            </a:extLst>
          </p:cNvPr>
          <p:cNvSpPr txBox="1"/>
          <p:nvPr userDrawn="1"/>
        </p:nvSpPr>
        <p:spPr>
          <a:xfrm>
            <a:off x="11226800" y="6447040"/>
            <a:ext cx="678689" cy="1282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959"/>
              </a:lnSpc>
            </a:pPr>
            <a:fld id="{9D069B2F-4B80-4BD9-B833-B84155CAE399}" type="slidenum">
              <a:rPr lang="en-US" sz="933" smtClean="0">
                <a:solidFill>
                  <a:srgbClr val="122AC2"/>
                </a:solidFill>
                <a:latin typeface="TIM Sans" panose="02020503040602060503" pitchFamily="18" charset="0"/>
                <a:ea typeface="Arimo"/>
                <a:cs typeface="Arimo"/>
                <a:sym typeface="Arimo"/>
              </a:rPr>
              <a:pPr algn="r">
                <a:lnSpc>
                  <a:spcPts val="959"/>
                </a:lnSpc>
              </a:pPr>
              <a:t>‹#›</a:t>
            </a:fld>
            <a:endParaRPr lang="en-US" sz="933">
              <a:solidFill>
                <a:srgbClr val="122AC2"/>
              </a:solidFill>
              <a:latin typeface="TIM Sans" panose="02020503040602060503" pitchFamily="18" charset="0"/>
              <a:ea typeface="Arimo"/>
              <a:cs typeface="Arimo"/>
              <a:sym typeface="Arimo"/>
            </a:endParaRPr>
          </a:p>
        </p:txBody>
      </p:sp>
    </p:spTree>
    <p:extLst>
      <p:ext uri="{BB962C8B-B14F-4D97-AF65-F5344CB8AC3E}">
        <p14:creationId xmlns:p14="http://schemas.microsoft.com/office/powerpoint/2010/main" val="2030087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5649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6" r:id="rId2"/>
    <p:sldLayoutId id="2147483664" r:id="rId3"/>
    <p:sldLayoutId id="2147483665" r:id="rId4"/>
    <p:sldLayoutId id="2147483659" r:id="rId5"/>
    <p:sldLayoutId id="2147483650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388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0.png"/><Relationship Id="rId4" Type="http://schemas.openxmlformats.org/officeDocument/2006/relationships/image" Target="../media/image12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aegis5gacademy.streamlit.app/" TargetMode="External"/><Relationship Id="rId3" Type="http://schemas.openxmlformats.org/officeDocument/2006/relationships/image" Target="../media/image10.png"/><Relationship Id="rId7" Type="http://schemas.openxmlformats.org/officeDocument/2006/relationships/hyperlink" Target="https://fauzan111.github.io/AEGIS/#gate1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github.com/fauzan111/AEGIS" TargetMode="External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15">
            <a:extLst>
              <a:ext uri="{FF2B5EF4-FFF2-40B4-BE49-F238E27FC236}">
                <a16:creationId xmlns:a16="http://schemas.microsoft.com/office/drawing/2014/main" id="{077ABD21-9B4B-7E2B-21D5-64D10304170D}"/>
              </a:ext>
            </a:extLst>
          </p:cNvPr>
          <p:cNvSpPr/>
          <p:nvPr/>
        </p:nvSpPr>
        <p:spPr>
          <a:xfrm>
            <a:off x="327101" y="2190085"/>
            <a:ext cx="305673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09660"/>
            <a:r>
              <a:rPr lang="en-US" sz="2000" b="1" dirty="0">
                <a:solidFill>
                  <a:prstClr val="white"/>
                </a:solidFill>
                <a:latin typeface="Montserrat Bold" panose="00000800000000000000" pitchFamily="2" charset="0"/>
              </a:rPr>
              <a:t>Postgraduate Course</a:t>
            </a:r>
          </a:p>
          <a:p>
            <a:pPr algn="ctr" defTabSz="609660"/>
            <a:r>
              <a:rPr lang="en-US" sz="2000" b="1" dirty="0">
                <a:solidFill>
                  <a:prstClr val="white"/>
                </a:solidFill>
                <a:latin typeface="Montserrat Bold" panose="00000800000000000000" pitchFamily="2" charset="0"/>
              </a:rPr>
              <a:t>2026</a:t>
            </a:r>
          </a:p>
        </p:txBody>
      </p:sp>
      <p:sp>
        <p:nvSpPr>
          <p:cNvPr id="46" name="Rectangle 20">
            <a:extLst>
              <a:ext uri="{FF2B5EF4-FFF2-40B4-BE49-F238E27FC236}">
                <a16:creationId xmlns:a16="http://schemas.microsoft.com/office/drawing/2014/main" id="{0127B319-7C2D-D35C-CE0E-432ABF833040}"/>
              </a:ext>
            </a:extLst>
          </p:cNvPr>
          <p:cNvSpPr/>
          <p:nvPr/>
        </p:nvSpPr>
        <p:spPr>
          <a:xfrm>
            <a:off x="327101" y="2849201"/>
            <a:ext cx="3173534" cy="3957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60"/>
            <a:r>
              <a:rPr lang="it-IT" sz="1333" dirty="0">
                <a:solidFill>
                  <a:prstClr val="white"/>
                </a:solidFill>
                <a:latin typeface="Montserrat" panose="00000500000000000000" pitchFamily="2" charset="0"/>
              </a:rPr>
              <a:t>https://www.5gacademy.unina.it/</a:t>
            </a:r>
          </a:p>
        </p:txBody>
      </p:sp>
      <p:pic>
        <p:nvPicPr>
          <p:cNvPr id="2" name="Immagine 1" descr="Immagine che contiene testo, schermata, Elementi grafici, logo&#10;&#10;Il contenuto generato dall'IA potrebbe non essere corretto.">
            <a:extLst>
              <a:ext uri="{FF2B5EF4-FFF2-40B4-BE49-F238E27FC236}">
                <a16:creationId xmlns:a16="http://schemas.microsoft.com/office/drawing/2014/main" id="{35A9C664-06DD-1608-258F-211AAF7694B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38" t="5161" r="3525" b="8645"/>
          <a:stretch>
            <a:fillRect/>
          </a:stretch>
        </p:blipFill>
        <p:spPr>
          <a:xfrm>
            <a:off x="3950854" y="1060806"/>
            <a:ext cx="8113510" cy="5218669"/>
          </a:xfrm>
          <a:prstGeom prst="rect">
            <a:avLst/>
          </a:prstGeom>
        </p:spPr>
      </p:pic>
      <p:grpSp>
        <p:nvGrpSpPr>
          <p:cNvPr id="3" name="Gruppo 2">
            <a:extLst>
              <a:ext uri="{FF2B5EF4-FFF2-40B4-BE49-F238E27FC236}">
                <a16:creationId xmlns:a16="http://schemas.microsoft.com/office/drawing/2014/main" id="{63737ECD-B85F-080A-2E65-A69458C8BD7E}"/>
              </a:ext>
            </a:extLst>
          </p:cNvPr>
          <p:cNvGrpSpPr/>
          <p:nvPr/>
        </p:nvGrpSpPr>
        <p:grpSpPr>
          <a:xfrm>
            <a:off x="127559" y="400092"/>
            <a:ext cx="7434251" cy="1259234"/>
            <a:chOff x="371318" y="651646"/>
            <a:chExt cx="7434251" cy="1259234"/>
          </a:xfrm>
        </p:grpSpPr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5F5FE7BF-8429-A4C6-5E0A-D00043CF4562}"/>
                </a:ext>
              </a:extLst>
            </p:cNvPr>
            <p:cNvSpPr txBox="1"/>
            <p:nvPr/>
          </p:nvSpPr>
          <p:spPr>
            <a:xfrm>
              <a:off x="371318" y="651646"/>
              <a:ext cx="41024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09630"/>
              <a:r>
                <a:rPr lang="it-IT" spc="100">
                  <a:solidFill>
                    <a:srgbClr val="4F81BD">
                      <a:lumMod val="40000"/>
                      <a:lumOff val="60000"/>
                    </a:srgbClr>
                  </a:solidFill>
                  <a:latin typeface="Montserrat Medium" panose="00000600000000000000" pitchFamily="2" charset="0"/>
                </a:rPr>
                <a:t>ADVANCED STEM PROGRAM</a:t>
              </a:r>
            </a:p>
          </p:txBody>
        </p:sp>
        <p:sp>
          <p:nvSpPr>
            <p:cNvPr id="5" name="CasellaDiTesto 4">
              <a:extLst>
                <a:ext uri="{FF2B5EF4-FFF2-40B4-BE49-F238E27FC236}">
                  <a16:creationId xmlns:a16="http://schemas.microsoft.com/office/drawing/2014/main" id="{DDC659B1-68BC-1148-716E-CB9C8C05CD79}"/>
                </a:ext>
              </a:extLst>
            </p:cNvPr>
            <p:cNvSpPr txBox="1"/>
            <p:nvPr/>
          </p:nvSpPr>
          <p:spPr>
            <a:xfrm>
              <a:off x="371318" y="801819"/>
              <a:ext cx="6407523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09630"/>
              <a:r>
                <a:rPr lang="it-IT" sz="4800" b="1" spc="-100">
                  <a:solidFill>
                    <a:prstClr val="white"/>
                  </a:solidFill>
                  <a:latin typeface="Montserrat Bold" panose="00000800000000000000" pitchFamily="2" charset="0"/>
                </a:rPr>
                <a:t>AI-Native Networks:</a:t>
              </a:r>
            </a:p>
          </p:txBody>
        </p:sp>
        <p:sp>
          <p:nvSpPr>
            <p:cNvPr id="10" name="CasellaDiTesto 9">
              <a:extLst>
                <a:ext uri="{FF2B5EF4-FFF2-40B4-BE49-F238E27FC236}">
                  <a16:creationId xmlns:a16="http://schemas.microsoft.com/office/drawing/2014/main" id="{C84D910F-8A7B-6284-71D6-8EE7A6299D9D}"/>
                </a:ext>
              </a:extLst>
            </p:cNvPr>
            <p:cNvSpPr txBox="1"/>
            <p:nvPr/>
          </p:nvSpPr>
          <p:spPr>
            <a:xfrm>
              <a:off x="371318" y="1449215"/>
              <a:ext cx="74342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09630"/>
              <a:r>
                <a:rPr lang="it-IT" sz="2400" spc="110">
                  <a:solidFill>
                    <a:srgbClr val="E6F0FF"/>
                  </a:solidFill>
                  <a:latin typeface="Proxima Nova:"/>
                </a:rPr>
                <a:t>Engineering the </a:t>
              </a:r>
              <a:r>
                <a:rPr lang="it-IT" sz="2400" spc="110" err="1">
                  <a:solidFill>
                    <a:srgbClr val="E6F0FF"/>
                  </a:solidFill>
                  <a:latin typeface="Proxima Nova:"/>
                </a:rPr>
                <a:t>Infrastructure</a:t>
              </a:r>
              <a:r>
                <a:rPr lang="it-IT" sz="2400" spc="110">
                  <a:solidFill>
                    <a:srgbClr val="E6F0FF"/>
                  </a:solidFill>
                  <a:latin typeface="Proxima Nova:"/>
                </a:rPr>
                <a:t> of the AI Era</a:t>
              </a:r>
            </a:p>
          </p:txBody>
        </p:sp>
      </p:grpSp>
      <p:grpSp>
        <p:nvGrpSpPr>
          <p:cNvPr id="11" name="Gruppo 10">
            <a:extLst>
              <a:ext uri="{FF2B5EF4-FFF2-40B4-BE49-F238E27FC236}">
                <a16:creationId xmlns:a16="http://schemas.microsoft.com/office/drawing/2014/main" id="{89F89B84-1F31-4568-D686-A106A09A2EF6}"/>
              </a:ext>
            </a:extLst>
          </p:cNvPr>
          <p:cNvGrpSpPr/>
          <p:nvPr/>
        </p:nvGrpSpPr>
        <p:grpSpPr>
          <a:xfrm>
            <a:off x="553704" y="3810946"/>
            <a:ext cx="2628172" cy="1676493"/>
            <a:chOff x="1040621" y="3487333"/>
            <a:chExt cx="2628172" cy="1676493"/>
          </a:xfrm>
        </p:grpSpPr>
        <p:sp>
          <p:nvSpPr>
            <p:cNvPr id="15" name="CasellaDiTesto 14">
              <a:extLst>
                <a:ext uri="{FF2B5EF4-FFF2-40B4-BE49-F238E27FC236}">
                  <a16:creationId xmlns:a16="http://schemas.microsoft.com/office/drawing/2014/main" id="{A51FEE1D-1B7B-888D-38D9-93B0B9331932}"/>
                </a:ext>
              </a:extLst>
            </p:cNvPr>
            <p:cNvSpPr txBox="1"/>
            <p:nvPr/>
          </p:nvSpPr>
          <p:spPr>
            <a:xfrm>
              <a:off x="1040621" y="3487333"/>
              <a:ext cx="13372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09630"/>
              <a:r>
                <a:rPr lang="it-IT" sz="1200" b="1">
                  <a:solidFill>
                    <a:prstClr val="white"/>
                  </a:solidFill>
                  <a:latin typeface="Montserrat Medium" panose="00000600000000000000" pitchFamily="2" charset="0"/>
                </a:rPr>
                <a:t>CO-DESIGN BY</a:t>
              </a:r>
            </a:p>
          </p:txBody>
        </p:sp>
        <p:pic>
          <p:nvPicPr>
            <p:cNvPr id="19" name="Elemento grafico 18">
              <a:extLst>
                <a:ext uri="{FF2B5EF4-FFF2-40B4-BE49-F238E27FC236}">
                  <a16:creationId xmlns:a16="http://schemas.microsoft.com/office/drawing/2014/main" id="{23A574F8-B2CD-8089-BF51-F06DC77A464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11721" y="3811564"/>
              <a:ext cx="2461333" cy="763161"/>
            </a:xfrm>
            <a:prstGeom prst="rect">
              <a:avLst/>
            </a:prstGeom>
          </p:spPr>
        </p:pic>
        <p:pic>
          <p:nvPicPr>
            <p:cNvPr id="20" name="Elemento grafico 19">
              <a:extLst>
                <a:ext uri="{FF2B5EF4-FFF2-40B4-BE49-F238E27FC236}">
                  <a16:creationId xmlns:a16="http://schemas.microsoft.com/office/drawing/2014/main" id="{65DADA3A-0BE0-8E2A-FBCB-6B447C73696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46950" y="4669188"/>
              <a:ext cx="2521843" cy="4946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14032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6"/>
          <p:cNvSpPr txBox="1"/>
          <p:nvPr/>
        </p:nvSpPr>
        <p:spPr>
          <a:xfrm>
            <a:off x="351153" y="274909"/>
            <a:ext cx="1494425" cy="861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defRPr/>
            </a:pPr>
            <a:r>
              <a:rPr lang="en-US" sz="3600" b="1" dirty="0">
                <a:solidFill>
                  <a:srgbClr val="FFFFFF"/>
                </a:solidFill>
                <a:latin typeface="Montserrat" panose="00000500000000000000" pitchFamily="2" charset="0"/>
                <a:ea typeface="Arimo Bold"/>
                <a:cs typeface="Arimo Bold"/>
                <a:sym typeface="Arimo Bold"/>
              </a:rPr>
              <a:t>AEGIS </a:t>
            </a:r>
            <a:endParaRPr sz="3200" dirty="0"/>
          </a:p>
          <a:p>
            <a:r>
              <a:rPr lang="en-US" sz="2000" b="1" dirty="0"/>
              <a:t>    </a:t>
            </a:r>
            <a:r>
              <a:rPr sz="2000" b="1" dirty="0"/>
              <a:t>Gate 2 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098032" y="90960"/>
            <a:ext cx="2322777" cy="8208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/>
            <a:r>
              <a:rPr lang="en-US" sz="5334" dirty="0">
                <a:solidFill>
                  <a:srgbClr val="FFFFFF"/>
                </a:solidFill>
                <a:latin typeface="Montserrat Medium" panose="00000600000000000000" pitchFamily="2" charset="0"/>
                <a:ea typeface="Arimo"/>
                <a:cs typeface="Arimo"/>
                <a:sym typeface="Arimo"/>
              </a:rPr>
              <a:t>Index</a:t>
            </a:r>
          </a:p>
        </p:txBody>
      </p:sp>
      <p:sp>
        <p:nvSpPr>
          <p:cNvPr id="86" name="TextBox 37">
            <a:extLst>
              <a:ext uri="{FF2B5EF4-FFF2-40B4-BE49-F238E27FC236}">
                <a16:creationId xmlns:a16="http://schemas.microsoft.com/office/drawing/2014/main" id="{1CAF16B7-2FB4-86D0-1A34-76AB7585B548}"/>
              </a:ext>
            </a:extLst>
          </p:cNvPr>
          <p:cNvSpPr txBox="1"/>
          <p:nvPr/>
        </p:nvSpPr>
        <p:spPr>
          <a:xfrm>
            <a:off x="11226800" y="6447040"/>
            <a:ext cx="678689" cy="1282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defTabSz="609630">
              <a:lnSpc>
                <a:spcPts val="959"/>
              </a:lnSpc>
            </a:pPr>
            <a:fld id="{9D069B2F-4B80-4BD9-B833-B84155CAE399}" type="slidenum">
              <a:rPr lang="en-US" sz="933">
                <a:solidFill>
                  <a:prstClr val="white"/>
                </a:solidFill>
                <a:latin typeface="TIM Sans" panose="02020503040602060503" pitchFamily="18" charset="0"/>
                <a:ea typeface="Arimo"/>
                <a:cs typeface="Arimo"/>
                <a:sym typeface="Arimo"/>
              </a:rPr>
              <a:pPr algn="r" defTabSz="609630">
                <a:lnSpc>
                  <a:spcPts val="959"/>
                </a:lnSpc>
              </a:pPr>
              <a:t>2</a:t>
            </a:fld>
            <a:endParaRPr lang="en-US" sz="933">
              <a:solidFill>
                <a:prstClr val="white"/>
              </a:solidFill>
              <a:latin typeface="TIM Sans" panose="02020503040602060503" pitchFamily="18" charset="0"/>
              <a:ea typeface="Arimo"/>
              <a:cs typeface="Arimo"/>
              <a:sym typeface="Arimo"/>
            </a:endParaRPr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19BB1831-2052-6BA9-74AF-6612EF0ACDC6}"/>
              </a:ext>
            </a:extLst>
          </p:cNvPr>
          <p:cNvGrpSpPr/>
          <p:nvPr/>
        </p:nvGrpSpPr>
        <p:grpSpPr>
          <a:xfrm>
            <a:off x="225701" y="4977016"/>
            <a:ext cx="2628172" cy="1676493"/>
            <a:chOff x="1040621" y="3487333"/>
            <a:chExt cx="2628172" cy="1676493"/>
          </a:xfrm>
        </p:grpSpPr>
        <p:sp>
          <p:nvSpPr>
            <p:cNvPr id="3" name="CasellaDiTesto 2">
              <a:extLst>
                <a:ext uri="{FF2B5EF4-FFF2-40B4-BE49-F238E27FC236}">
                  <a16:creationId xmlns:a16="http://schemas.microsoft.com/office/drawing/2014/main" id="{EF9287E2-D914-EAB9-D091-E328BC7D5CE8}"/>
                </a:ext>
              </a:extLst>
            </p:cNvPr>
            <p:cNvSpPr txBox="1"/>
            <p:nvPr/>
          </p:nvSpPr>
          <p:spPr>
            <a:xfrm>
              <a:off x="1040621" y="3487333"/>
              <a:ext cx="13372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09630"/>
              <a:r>
                <a:rPr lang="it-IT" sz="1200" b="1">
                  <a:solidFill>
                    <a:prstClr val="white"/>
                  </a:solidFill>
                  <a:latin typeface="Montserrat Medium" panose="00000600000000000000" pitchFamily="2" charset="0"/>
                </a:rPr>
                <a:t>CO-DESIGN BY</a:t>
              </a:r>
            </a:p>
          </p:txBody>
        </p:sp>
        <p:pic>
          <p:nvPicPr>
            <p:cNvPr id="4" name="Elemento grafico 3">
              <a:extLst>
                <a:ext uri="{FF2B5EF4-FFF2-40B4-BE49-F238E27FC236}">
                  <a16:creationId xmlns:a16="http://schemas.microsoft.com/office/drawing/2014/main" id="{EA722B40-A099-F9DA-1BD5-5620CD7EC38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11721" y="3811564"/>
              <a:ext cx="2461333" cy="763161"/>
            </a:xfrm>
            <a:prstGeom prst="rect">
              <a:avLst/>
            </a:prstGeom>
          </p:spPr>
        </p:pic>
        <p:pic>
          <p:nvPicPr>
            <p:cNvPr id="5" name="Elemento grafico 4">
              <a:extLst>
                <a:ext uri="{FF2B5EF4-FFF2-40B4-BE49-F238E27FC236}">
                  <a16:creationId xmlns:a16="http://schemas.microsoft.com/office/drawing/2014/main" id="{A730C933-14BD-7923-1550-12D3D151CB3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46950" y="4669188"/>
              <a:ext cx="2521843" cy="494638"/>
            </a:xfrm>
            <a:prstGeom prst="rect">
              <a:avLst/>
            </a:prstGeom>
          </p:spPr>
        </p:pic>
      </p:grpSp>
      <p:pic>
        <p:nvPicPr>
          <p:cNvPr id="6" name="Immagine 5" descr="Immagine che contiene testo, schermata, Elementi grafici, logo&#10;&#10;Il contenuto generato dall'IA potrebbe non essere corretto.">
            <a:extLst>
              <a:ext uri="{FF2B5EF4-FFF2-40B4-BE49-F238E27FC236}">
                <a16:creationId xmlns:a16="http://schemas.microsoft.com/office/drawing/2014/main" id="{FD2FBD41-663B-6BDB-5566-7744D38AF507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9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38" t="5161" r="3525" b="8645"/>
          <a:stretch>
            <a:fillRect/>
          </a:stretch>
        </p:blipFill>
        <p:spPr>
          <a:xfrm>
            <a:off x="1459222" y="-63164"/>
            <a:ext cx="4032779" cy="25939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6F37A49-E925-BF82-2B95-00CF7E5B6002}"/>
              </a:ext>
            </a:extLst>
          </p:cNvPr>
          <p:cNvSpPr txBox="1"/>
          <p:nvPr/>
        </p:nvSpPr>
        <p:spPr>
          <a:xfrm>
            <a:off x="332030" y="2785145"/>
            <a:ext cx="470975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9A9CE6"/>
                </a:solidFill>
                <a:latin typeface="Segoe UI"/>
              </a:rPr>
              <a:t>Team 4 :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>
                <a:latin typeface="Segoe UI"/>
              </a:rPr>
              <a:t>Fauzan Ejaz </a:t>
            </a:r>
            <a:r>
              <a:rPr lang="en-IN" b="1" dirty="0">
                <a:solidFill>
                  <a:schemeClr val="bg1"/>
                </a:solidFill>
                <a:latin typeface="Segoe UI"/>
              </a:rPr>
              <a:t>(Captain)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>
                <a:latin typeface="Segoe UI"/>
              </a:rPr>
              <a:t>Adithya Zacharia Valavi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>
                <a:latin typeface="Segoe UI"/>
              </a:rPr>
              <a:t>Ghazanfar Anees Siddiqui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>
                <a:latin typeface="Segoe UI"/>
              </a:rPr>
              <a:t>Llagami Tedi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rgbClr val="C7CEDB"/>
              </a:solidFill>
              <a:latin typeface="Segoe UI"/>
            </a:endParaRPr>
          </a:p>
          <a:p>
            <a:endParaRPr lang="en-IN" dirty="0"/>
          </a:p>
        </p:txBody>
      </p:sp>
      <p:sp>
        <p:nvSpPr>
          <p:cNvPr id="87" name="TextBox 86"/>
          <p:cNvSpPr txBox="1"/>
          <p:nvPr/>
        </p:nvSpPr>
        <p:spPr>
          <a:xfrm>
            <a:off x="6130000" y="1150000"/>
            <a:ext cx="460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1ABDB"/>
                </a:solidFill>
                <a:latin typeface="Montserrat"/>
              </a:rPr>
              <a:t>01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627808" y="1020346"/>
            <a:ext cx="5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dirty="0">
                <a:solidFill>
                  <a:srgbClr val="020C31"/>
                </a:solidFill>
                <a:latin typeface="Montserrat"/>
              </a:rPr>
              <a:t>Proposed Technical Solution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130000" y="1750000"/>
            <a:ext cx="460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1ABDB"/>
                </a:solidFill>
                <a:latin typeface="Montserrat"/>
              </a:rPr>
              <a:t>02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700000" y="1639444"/>
            <a:ext cx="5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20C31"/>
                </a:solidFill>
                <a:latin typeface="Montserrat"/>
              </a:rPr>
              <a:t>Architecture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130000" y="2350000"/>
            <a:ext cx="460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1ABDB"/>
                </a:solidFill>
                <a:latin typeface="Montserrat"/>
              </a:rPr>
              <a:t>03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700000" y="2239444"/>
            <a:ext cx="5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dirty="0">
                <a:solidFill>
                  <a:srgbClr val="020C31"/>
                </a:solidFill>
                <a:latin typeface="Montserrat"/>
              </a:rPr>
              <a:t>Implementation Strategy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130000" y="2950000"/>
            <a:ext cx="460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1ABDB"/>
                </a:solidFill>
                <a:latin typeface="Montserrat"/>
              </a:rPr>
              <a:t>04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700000" y="2839444"/>
            <a:ext cx="5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dirty="0">
                <a:solidFill>
                  <a:srgbClr val="020C31"/>
                </a:solidFill>
                <a:latin typeface="Montserrat"/>
              </a:rPr>
              <a:t>Numerical Performance Analysis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130000" y="3550000"/>
            <a:ext cx="460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1ABDB"/>
                </a:solidFill>
                <a:latin typeface="Montserrat"/>
              </a:rPr>
              <a:t>05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700000" y="3467964"/>
            <a:ext cx="5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20C31"/>
                </a:solidFill>
                <a:latin typeface="Montserrat"/>
              </a:rPr>
              <a:t>Expected Proof of Concept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130000" y="4150000"/>
            <a:ext cx="460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1ABDB"/>
                </a:solidFill>
                <a:latin typeface="Montserrat"/>
              </a:rPr>
              <a:t>06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700000" y="4008844"/>
            <a:ext cx="5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20C31"/>
                </a:solidFill>
                <a:latin typeface="Montserrat"/>
              </a:rPr>
              <a:t>Path to Gate 3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91640" y="128016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dirty="0">
                <a:solidFill>
                  <a:srgbClr val="01ABDB"/>
                </a:solidFill>
                <a:latin typeface="Montserrat"/>
              </a:rPr>
              <a:t>PART 1 OF 6 - GATE 2: TECHNICAL SOLUTION &amp;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342900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dirty="0">
                <a:solidFill>
                  <a:srgbClr val="020C31"/>
                </a:solidFill>
                <a:latin typeface="Montserrat"/>
              </a:rPr>
              <a:t>Proposed Technical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14300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6B7688"/>
                </a:solidFill>
                <a:latin typeface="Montserrat"/>
              </a:rPr>
              <a:t>A stolen credential still passes authentication. AEGIS answers the question authentication never asks: is this really our agent, behaving the way it always does?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" y="1691640"/>
            <a:ext cx="10607040" cy="777240"/>
          </a:xfrm>
          <a:prstGeom prst="roundRect">
            <a:avLst>
              <a:gd name="adj" fmla="val 10000"/>
            </a:avLst>
          </a:prstGeom>
          <a:solidFill>
            <a:srgbClr val="020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Montserrat"/>
              </a:rPr>
              <a:t>“Credentials prove what you have, AEGIS verifies how you behave.”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69748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3D67B1"/>
                </a:solidFill>
                <a:latin typeface="Montserrat"/>
              </a:rPr>
              <a:t>OBSERVE  -&gt;  FINGERPRINT  -&gt;  SCORE  -&gt;  DECIDE   (zero-trust gate dashboard)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3246120"/>
            <a:ext cx="342900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58952" y="3246120"/>
            <a:ext cx="457200" cy="960120"/>
          </a:xfrm>
          <a:prstGeom prst="roundRect">
            <a:avLst/>
          </a:prstGeom>
          <a:solidFill>
            <a:srgbClr val="FD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3246120"/>
            <a:ext cx="4572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C0394B"/>
                </a:solidFill>
                <a:latin typeface="Montserrat"/>
              </a:rPr>
              <a:t>T1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3375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20C31"/>
                </a:solidFill>
                <a:latin typeface="Montserrat"/>
              </a:rPr>
              <a:t>Identity spoofing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657600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334155"/>
                </a:solidFill>
                <a:latin typeface="Montserrat"/>
              </a:rPr>
              <a:t>wrong endpoint mix, timing, sequence for that identity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3246120"/>
            <a:ext cx="342900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370832" y="3246120"/>
            <a:ext cx="457200" cy="960120"/>
          </a:xfrm>
          <a:prstGeom prst="roundRect">
            <a:avLst/>
          </a:prstGeom>
          <a:solidFill>
            <a:srgbClr val="FD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70832" y="3246120"/>
            <a:ext cx="4572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C0394B"/>
                </a:solidFill>
                <a:latin typeface="Montserrat"/>
              </a:rPr>
              <a:t>T2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3375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20C31"/>
                </a:solidFill>
                <a:latin typeface="Montserrat"/>
              </a:rPr>
              <a:t>Compromised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657600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334155"/>
                </a:solidFill>
                <a:latin typeface="Montserrat"/>
              </a:rPr>
              <a:t>drift from its own baseline: new endpoints, elevated errors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82712" y="3246120"/>
            <a:ext cx="342900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982712" y="3246120"/>
            <a:ext cx="457200" cy="960120"/>
          </a:xfrm>
          <a:prstGeom prst="roundRect">
            <a:avLst/>
          </a:prstGeom>
          <a:solidFill>
            <a:srgbClr val="FD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82712" y="3246120"/>
            <a:ext cx="4572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C0394B"/>
                </a:solidFill>
                <a:latin typeface="Montserrat"/>
              </a:rPr>
              <a:t>T3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33375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20C31"/>
                </a:solidFill>
                <a:latin typeface="Montserrat"/>
              </a:rPr>
              <a:t>Reconnaissance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3657600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334155"/>
                </a:solidFill>
                <a:latin typeface="Montserrat"/>
              </a:rPr>
              <a:t>high cardinality of endpoints/targets, many 403/404s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4568" y="4457700"/>
            <a:ext cx="342900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34707" y="4455622"/>
            <a:ext cx="457200" cy="960120"/>
          </a:xfrm>
          <a:prstGeom prst="roundRect">
            <a:avLst/>
          </a:prstGeom>
          <a:solidFill>
            <a:srgbClr val="FD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4568" y="4387042"/>
            <a:ext cx="4572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C0394B"/>
                </a:solidFill>
                <a:latin typeface="Montserrat"/>
              </a:rPr>
              <a:t>T4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4529731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dirty="0">
                <a:solidFill>
                  <a:srgbClr val="020C31"/>
                </a:solidFill>
                <a:latin typeface="Montserrat"/>
              </a:rPr>
              <a:t>Volumetric abuse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823459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334155"/>
                </a:solidFill>
                <a:latin typeface="Montserrat"/>
              </a:rPr>
              <a:t>request-rate spike far above the agent's normal envelope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1500" y="4411980"/>
            <a:ext cx="342900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381500" y="4400550"/>
            <a:ext cx="457200" cy="960120"/>
          </a:xfrm>
          <a:prstGeom prst="roundRect">
            <a:avLst/>
          </a:prstGeom>
          <a:solidFill>
            <a:srgbClr val="FD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70832" y="4366259"/>
            <a:ext cx="4572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C0394B"/>
                </a:solidFill>
                <a:latin typeface="Montserrat"/>
              </a:rPr>
              <a:t>T5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56632" y="44577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20C31"/>
                </a:solidFill>
                <a:latin typeface="Montserrat"/>
              </a:rPr>
              <a:t>Slow exfiltration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07375" y="4823459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dirty="0">
                <a:solidFill>
                  <a:srgbClr val="334155"/>
                </a:solidFill>
                <a:latin typeface="Montserrat"/>
              </a:rPr>
              <a:t>abnormal payload sizes, off-hours persistence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9175" y="4434840"/>
            <a:ext cx="342900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7979175" y="4434840"/>
            <a:ext cx="457200" cy="960120"/>
          </a:xfrm>
          <a:prstGeom prst="roundRect">
            <a:avLst/>
          </a:prstGeom>
          <a:solidFill>
            <a:srgbClr val="FD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979175" y="4343400"/>
            <a:ext cx="4572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C0394B"/>
                </a:solidFill>
                <a:latin typeface="Montserrat"/>
              </a:rPr>
              <a:t>T6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55247" y="44577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dirty="0">
                <a:solidFill>
                  <a:srgbClr val="020C31"/>
                </a:solidFill>
                <a:latin typeface="Montserrat"/>
              </a:rPr>
              <a:t>Sequence anomaly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49640" y="4754880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dirty="0">
                <a:solidFill>
                  <a:srgbClr val="334155"/>
                </a:solidFill>
                <a:latin typeface="Montserrat"/>
              </a:rPr>
              <a:t>broken call-sequence pattern vs the agent's normal graph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023360" y="5554980"/>
            <a:ext cx="342900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4023360" y="5554980"/>
            <a:ext cx="457200" cy="960120"/>
          </a:xfrm>
          <a:prstGeom prst="roundRect">
            <a:avLst/>
          </a:prstGeom>
          <a:solidFill>
            <a:srgbClr val="FD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023360" y="5554980"/>
            <a:ext cx="4572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C0394B"/>
                </a:solidFill>
                <a:latin typeface="Montserrat"/>
              </a:rPr>
              <a:t>T7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94860" y="568739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dirty="0">
                <a:solidFill>
                  <a:srgbClr val="020C31"/>
                </a:solidFill>
                <a:latin typeface="Montserrat"/>
              </a:rPr>
              <a:t>Scope creep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10215" y="5986948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dirty="0">
                <a:solidFill>
                  <a:srgbClr val="334155"/>
                </a:solidFill>
                <a:latin typeface="Montserrat"/>
              </a:rPr>
              <a:t>calls to NFs never in the agent's baseline scope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64792" y="128016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dirty="0">
                <a:solidFill>
                  <a:srgbClr val="01ABDB"/>
                </a:solidFill>
                <a:latin typeface="Montserrat"/>
              </a:rPr>
              <a:t>PART 1 OF 6 - GATE 2: TECHNICAL SOLUTION &amp;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452628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dirty="0">
                <a:solidFill>
                  <a:srgbClr val="020C31"/>
                </a:solidFill>
                <a:latin typeface="Montserrat"/>
              </a:rPr>
              <a:t>The Gap, Our Solution, and the State of the Art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" y="1691640"/>
            <a:ext cx="3456432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58952" y="1691640"/>
            <a:ext cx="3456432" cy="73152"/>
          </a:xfrm>
          <a:prstGeom prst="roundRect">
            <a:avLst/>
          </a:prstGeom>
          <a:solidFill>
            <a:srgbClr val="01A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" y="1920240"/>
            <a:ext cx="3090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20C31"/>
                </a:solidFill>
                <a:latin typeface="Montserrat"/>
              </a:rPr>
              <a:t>THE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286000"/>
            <a:ext cx="3090672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Montserrat"/>
              </a:rPr>
              <a:t>A credential check proves you have the right token, once, at the door. It never asks whether the traffic behind that token still behaves like the agent it claims to be - a stolen or misused identity passes every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2544" y="1691640"/>
            <a:ext cx="3456432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52544" y="1691640"/>
            <a:ext cx="3456432" cy="73152"/>
          </a:xfrm>
          <a:prstGeom prst="roundRect">
            <a:avLst/>
          </a:prstGeom>
          <a:solidFill>
            <a:srgbClr val="3D67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5424" y="1920240"/>
            <a:ext cx="3090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20C31"/>
                </a:solidFill>
                <a:latin typeface="Montserrat"/>
              </a:rPr>
              <a:t>OUR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2286000"/>
            <a:ext cx="3090672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Montserrat"/>
              </a:rPr>
              <a:t>A behavioural fingerprint per agent, scored continuously: observe, fingerprint, score, decide. Rules (fast, explainable) fused with an Isolation Forest (trained on legit traffic only) - gated PASS / STEP-UP / BLOCK.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46136" y="1691640"/>
            <a:ext cx="3456432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946136" y="1691640"/>
            <a:ext cx="3456432" cy="73152"/>
          </a:xfrm>
          <a:prstGeom prst="roundRect">
            <a:avLst/>
          </a:prstGeom>
          <a:solidFill>
            <a:srgbClr val="0E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29015" y="1920240"/>
            <a:ext cx="3090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20C31"/>
                </a:solidFill>
                <a:latin typeface="Montserrat"/>
              </a:rPr>
              <a:t>VS. STATE OF THE 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9015" y="2286000"/>
            <a:ext cx="3090672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Montserrat"/>
              </a:rPr>
              <a:t>Named, reimplemented, and run on our own data - not cited: a Statistical Process Control z-score baseline scores 0.944 ROC-AUC / 63.4% recall. AEGIS scores 0.965 / 90.7% - a statistically significant gap (paired bootstrap, p=0.015).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" y="4114800"/>
            <a:ext cx="3520440" cy="914400"/>
          </a:xfrm>
          <a:prstGeom prst="roundRect">
            <a:avLst>
              <a:gd name="adj" fmla="val 10000"/>
            </a:avLst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58952" y="4114800"/>
            <a:ext cx="82296" cy="914400"/>
          </a:xfrm>
          <a:prstGeom prst="roundRect">
            <a:avLst/>
          </a:prstGeom>
          <a:solidFill>
            <a:srgbClr val="0E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87552" y="425196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E9384"/>
                </a:solidFill>
                <a:latin typeface="Montserrat"/>
              </a:rPr>
              <a:t>PASS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45720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34155"/>
                </a:solidFill>
                <a:latin typeface="Montserrat"/>
              </a:rPr>
              <a:t>Behaves like its known-good self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16552" y="4114800"/>
            <a:ext cx="3520440" cy="914400"/>
          </a:xfrm>
          <a:prstGeom prst="roundRect">
            <a:avLst>
              <a:gd name="adj" fmla="val 10000"/>
            </a:avLst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416552" y="4114800"/>
            <a:ext cx="82296" cy="914400"/>
          </a:xfrm>
          <a:prstGeom prst="roundRect">
            <a:avLst/>
          </a:prstGeom>
          <a:solidFill>
            <a:srgbClr val="E0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45152" y="425196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E0A100"/>
                </a:solidFill>
                <a:latin typeface="Montserrat"/>
              </a:rPr>
              <a:t>STEP-UP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5152" y="45720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34155"/>
                </a:solidFill>
                <a:latin typeface="Montserrat"/>
              </a:rPr>
              <a:t>Challenge: re-authenticate, approve, throttle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74152" y="4114800"/>
            <a:ext cx="3520440" cy="914400"/>
          </a:xfrm>
          <a:prstGeom prst="roundRect">
            <a:avLst>
              <a:gd name="adj" fmla="val 10000"/>
            </a:avLst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074152" y="4114800"/>
            <a:ext cx="82296" cy="914400"/>
          </a:xfrm>
          <a:prstGeom prst="roundRect">
            <a:avLst/>
          </a:prstGeom>
          <a:solidFill>
            <a:srgbClr val="C03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02752" y="425196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C0394B"/>
                </a:solidFill>
                <a:latin typeface="Montserrat"/>
              </a:rPr>
              <a:t>BLOCK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752" y="45720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34155"/>
                </a:solidFill>
                <a:latin typeface="Montserrat"/>
              </a:rPr>
              <a:t>Quarantine the identity, alert the SOC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" y="525780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B7688"/>
                </a:solidFill>
                <a:latin typeface="Montserrat"/>
              </a:rPr>
              <a:t>One line: credentials prove what you have, AEGIS verifies how you behave - and we can show, not just claim, that this beats the classic baseline.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64791" y="128016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dirty="0">
                <a:solidFill>
                  <a:srgbClr val="01ABDB"/>
                </a:solidFill>
                <a:latin typeface="Montserrat"/>
              </a:rPr>
              <a:t>PART 2 OF 6 -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5824" y="493776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dirty="0">
                <a:solidFill>
                  <a:srgbClr val="020C31"/>
                </a:solidFill>
                <a:latin typeface="Montserrat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5824" y="978408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dirty="0">
                <a:solidFill>
                  <a:srgbClr val="6B7688"/>
                </a:solidFill>
                <a:latin typeface="Montserrat"/>
              </a:rPr>
              <a:t>A four-stage pipeline sitting in front of the network's control-plane APIs. Every request an agent sends to a Network Function is observed by the gate.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35535" y="1737360"/>
            <a:ext cx="5530456" cy="25338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dirty="0">
                <a:solidFill>
                  <a:srgbClr val="3D67B1"/>
                </a:solidFill>
                <a:latin typeface="Montserrat"/>
              </a:rPr>
              <a:t>OBSERVE</a:t>
            </a:r>
          </a:p>
          <a:p>
            <a:pPr algn="l">
              <a:lnSpc>
                <a:spcPct val="120000"/>
              </a:lnSpc>
            </a:pPr>
            <a:r>
              <a:rPr sz="1000" b="0" dirty="0">
                <a:solidFill>
                  <a:srgbClr val="334155"/>
                </a:solidFill>
                <a:latin typeface="Montserrat"/>
              </a:rPr>
              <a:t>Parse request + metadata; assemble a per-agent stream.</a:t>
            </a:r>
          </a:p>
          <a:p>
            <a:pPr algn="l">
              <a:lnSpc>
                <a:spcPct val="120000"/>
              </a:lnSpc>
            </a:pPr>
            <a:endParaRPr sz="1000" b="0" dirty="0">
              <a:solidFill>
                <a:srgbClr val="334155"/>
              </a:solidFill>
              <a:latin typeface="Montserrat"/>
            </a:endParaRPr>
          </a:p>
          <a:p>
            <a:pPr algn="l">
              <a:lnSpc>
                <a:spcPct val="120000"/>
              </a:lnSpc>
            </a:pPr>
            <a:r>
              <a:rPr sz="1200" b="1" dirty="0">
                <a:solidFill>
                  <a:srgbClr val="3D67B1"/>
                </a:solidFill>
                <a:latin typeface="Montserrat"/>
              </a:rPr>
              <a:t>FINGERPRINT</a:t>
            </a:r>
          </a:p>
          <a:p>
            <a:pPr algn="l">
              <a:lnSpc>
                <a:spcPct val="120000"/>
              </a:lnSpc>
            </a:pPr>
            <a:r>
              <a:rPr sz="1000" b="0" dirty="0">
                <a:solidFill>
                  <a:srgbClr val="334155"/>
                </a:solidFill>
                <a:latin typeface="Montserrat"/>
              </a:rPr>
              <a:t>Windowed feature vector: volume, surface, method mix, sequence, errors, payload, temporal, cross-window breadth.</a:t>
            </a:r>
          </a:p>
          <a:p>
            <a:pPr algn="l">
              <a:lnSpc>
                <a:spcPct val="120000"/>
              </a:lnSpc>
            </a:pPr>
            <a:endParaRPr sz="1000" b="0" dirty="0">
              <a:solidFill>
                <a:srgbClr val="334155"/>
              </a:solidFill>
              <a:latin typeface="Montserrat"/>
            </a:endParaRPr>
          </a:p>
          <a:p>
            <a:pPr algn="l">
              <a:lnSpc>
                <a:spcPct val="120000"/>
              </a:lnSpc>
            </a:pPr>
            <a:r>
              <a:rPr sz="1200" b="1" dirty="0">
                <a:solidFill>
                  <a:srgbClr val="3D67B1"/>
                </a:solidFill>
                <a:latin typeface="Montserrat"/>
              </a:rPr>
              <a:t>SCORE</a:t>
            </a:r>
          </a:p>
          <a:p>
            <a:pPr algn="l">
              <a:lnSpc>
                <a:spcPct val="120000"/>
              </a:lnSpc>
            </a:pPr>
            <a:r>
              <a:rPr sz="1000" b="0" dirty="0">
                <a:solidFill>
                  <a:srgbClr val="334155"/>
                </a:solidFill>
                <a:latin typeface="Montserrat"/>
              </a:rPr>
              <a:t>Rules (scope, session state, rolling accumulators) + an Isolation Forest, fused: risk = max(rule, ml).</a:t>
            </a:r>
          </a:p>
          <a:p>
            <a:pPr algn="l">
              <a:lnSpc>
                <a:spcPct val="120000"/>
              </a:lnSpc>
            </a:pPr>
            <a:endParaRPr sz="1000" b="0" dirty="0">
              <a:solidFill>
                <a:srgbClr val="334155"/>
              </a:solidFill>
              <a:latin typeface="Montserrat"/>
            </a:endParaRPr>
          </a:p>
          <a:p>
            <a:pPr algn="l">
              <a:lnSpc>
                <a:spcPct val="120000"/>
              </a:lnSpc>
            </a:pPr>
            <a:r>
              <a:rPr sz="1200" b="1" dirty="0">
                <a:solidFill>
                  <a:srgbClr val="3D67B1"/>
                </a:solidFill>
                <a:latin typeface="Montserrat"/>
              </a:rPr>
              <a:t>DECIDE</a:t>
            </a:r>
          </a:p>
          <a:p>
            <a:pPr algn="l">
              <a:lnSpc>
                <a:spcPct val="120000"/>
              </a:lnSpc>
            </a:pPr>
            <a:r>
              <a:rPr sz="1000" b="0" dirty="0">
                <a:solidFill>
                  <a:srgbClr val="334155"/>
                </a:solidFill>
                <a:latin typeface="Montserrat"/>
              </a:rPr>
              <a:t>Thresholds map risk to PASS / STEP-UP / BLOCK, automatically.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2F64F5-71D1-D919-B340-93C1E40E7E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5983" y="1435608"/>
            <a:ext cx="3683771" cy="45520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64792" y="128016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dirty="0">
                <a:solidFill>
                  <a:srgbClr val="01ABDB"/>
                </a:solidFill>
                <a:latin typeface="Montserrat"/>
              </a:rPr>
              <a:t>PART 2 OF 6 -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452628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dirty="0">
                <a:solidFill>
                  <a:srgbClr val="020C31"/>
                </a:solidFill>
                <a:latin typeface="Montserrat"/>
              </a:rPr>
              <a:t>Scoring: Rules + ML, Fused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" y="1691640"/>
            <a:ext cx="3456432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58952" y="1691640"/>
            <a:ext cx="3456432" cy="73152"/>
          </a:xfrm>
          <a:prstGeom prst="roundRect">
            <a:avLst/>
          </a:prstGeom>
          <a:solidFill>
            <a:srgbClr val="01A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" y="1920240"/>
            <a:ext cx="3090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20C31"/>
                </a:solidFill>
                <a:latin typeface="Montserrat"/>
              </a:rPr>
              <a:t>RULES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286000"/>
            <a:ext cx="3090672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Montserrat"/>
              </a:rPr>
              <a:t>Fast, explainable. Hard caps and forbidden transitions: an out-of-scope NF call is flagged immediately. Includes a session-state machine and rolling 5-minute accumulators for breadth, errors, and peak payload.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2544" y="1691640"/>
            <a:ext cx="3456432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52544" y="1691640"/>
            <a:ext cx="3456432" cy="73152"/>
          </a:xfrm>
          <a:prstGeom prst="roundRect">
            <a:avLst/>
          </a:prstGeom>
          <a:solidFill>
            <a:srgbClr val="3D67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5424" y="1920240"/>
            <a:ext cx="3090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20C31"/>
                </a:solidFill>
                <a:latin typeface="Montserrat"/>
              </a:rPr>
              <a:t>ML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2286000"/>
            <a:ext cx="3090672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Montserrat"/>
              </a:rPr>
              <a:t>An Isolation Forest, trained only on legitimate traffic - no labelled attacks needed. Engages once an agent has at least 10 requests in the trailing 5 minutes.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46136" y="1691640"/>
            <a:ext cx="3456432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946136" y="1691640"/>
            <a:ext cx="3456432" cy="73152"/>
          </a:xfrm>
          <a:prstGeom prst="roundRect">
            <a:avLst/>
          </a:prstGeom>
          <a:solidFill>
            <a:srgbClr val="0E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29015" y="1920240"/>
            <a:ext cx="3090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20C31"/>
                </a:solidFill>
                <a:latin typeface="Montserrat"/>
              </a:rPr>
              <a:t>FUSION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9015" y="2286000"/>
            <a:ext cx="3090672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Montserrat"/>
              </a:rPr>
              <a:t>risk = max(rule_score, ml_score). The rules layer has veto power on hard violations; the ML layer catches subtler drift the rules never anticipated.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" y="4114800"/>
            <a:ext cx="3520440" cy="914400"/>
          </a:xfrm>
          <a:prstGeom prst="roundRect">
            <a:avLst>
              <a:gd name="adj" fmla="val 10000"/>
            </a:avLst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58952" y="4114800"/>
            <a:ext cx="82296" cy="914400"/>
          </a:xfrm>
          <a:prstGeom prst="roundRect">
            <a:avLst/>
          </a:prstGeom>
          <a:solidFill>
            <a:srgbClr val="0E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87552" y="425196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E9384"/>
                </a:solidFill>
                <a:latin typeface="Montserrat"/>
              </a:rPr>
              <a:t>PASS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45720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34155"/>
                </a:solidFill>
                <a:latin typeface="Montserrat"/>
              </a:rPr>
              <a:t>Behaves like its known-good self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16552" y="4114800"/>
            <a:ext cx="3520440" cy="914400"/>
          </a:xfrm>
          <a:prstGeom prst="roundRect">
            <a:avLst>
              <a:gd name="adj" fmla="val 10000"/>
            </a:avLst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416552" y="4114800"/>
            <a:ext cx="82296" cy="914400"/>
          </a:xfrm>
          <a:prstGeom prst="roundRect">
            <a:avLst/>
          </a:prstGeom>
          <a:solidFill>
            <a:srgbClr val="E0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45152" y="425196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E0A100"/>
                </a:solidFill>
                <a:latin typeface="Montserrat"/>
              </a:rPr>
              <a:t>STEP-UP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5152" y="45720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34155"/>
                </a:solidFill>
                <a:latin typeface="Montserrat"/>
              </a:rPr>
              <a:t>Challenge: re-authenticate, approve, throttle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74152" y="4114800"/>
            <a:ext cx="3520440" cy="914400"/>
          </a:xfrm>
          <a:prstGeom prst="roundRect">
            <a:avLst>
              <a:gd name="adj" fmla="val 10000"/>
            </a:avLst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074152" y="4114800"/>
            <a:ext cx="82296" cy="914400"/>
          </a:xfrm>
          <a:prstGeom prst="roundRect">
            <a:avLst/>
          </a:prstGeom>
          <a:solidFill>
            <a:srgbClr val="C03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02752" y="425196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C0394B"/>
                </a:solidFill>
                <a:latin typeface="Montserrat"/>
              </a:rPr>
              <a:t>BLOCK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752" y="45720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34155"/>
                </a:solidFill>
                <a:latin typeface="Montserrat"/>
              </a:rPr>
              <a:t>Quarantine the identity, alert the SOC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" y="525780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B7688"/>
                </a:solidFill>
                <a:latin typeface="Montserrat"/>
              </a:rPr>
              <a:t>Operating point: thresholds are tuned for a realistic ~1.5% false-positive budget rather than maximum sensitivity, so detection is intentionally not uniform across threats (see Part 4).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73352" y="120950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dirty="0">
                <a:solidFill>
                  <a:srgbClr val="01ABDB"/>
                </a:solidFill>
                <a:latin typeface="Montserrat"/>
              </a:rPr>
              <a:t>PART 3 OF 6 - IMPLEMENTATION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1134" y="502920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dirty="0">
                <a:solidFill>
                  <a:srgbClr val="020C31"/>
                </a:solidFill>
                <a:latin typeface="Montserrat"/>
              </a:rPr>
              <a:t>Tools, Platforms &amp; Build Phases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98298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6B7688"/>
                </a:solidFill>
                <a:latin typeface="Montserrat"/>
              </a:rPr>
              <a:t>Built bottom-up, PoC-first, and evaluation-driven: the ML/security equivalent of test-driven development.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69164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3D67B1"/>
                </a:solidFill>
                <a:latin typeface="Montserrat"/>
              </a:rPr>
              <a:t>TOOLS &amp; PLATFORMS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" y="2057400"/>
            <a:ext cx="512064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58952" y="2057400"/>
            <a:ext cx="73152" cy="658368"/>
          </a:xfrm>
          <a:prstGeom prst="roundRect">
            <a:avLst/>
          </a:prstGeom>
          <a:solidFill>
            <a:srgbClr val="3D67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121408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020C31"/>
                </a:solidFill>
                <a:latin typeface="Montserrat"/>
              </a:rPr>
              <a:t>Python 3.12 + pandas/NumPy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95728"/>
            <a:ext cx="4663440" cy="1903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dirty="0">
                <a:solidFill>
                  <a:srgbClr val="334155"/>
                </a:solidFill>
                <a:latin typeface="Montserrat"/>
              </a:rPr>
              <a:t>Traffic generation, windowing, feature engineering.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" y="2807208"/>
            <a:ext cx="512064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58952" y="2807208"/>
            <a:ext cx="73152" cy="658368"/>
          </a:xfrm>
          <a:prstGeom prst="roundRect">
            <a:avLst/>
          </a:prstGeom>
          <a:solidFill>
            <a:srgbClr val="3D67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871215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020C31"/>
                </a:solidFill>
                <a:latin typeface="Montserrat"/>
              </a:rPr>
              <a:t>scikit-learn (Isolation Forest)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145536"/>
            <a:ext cx="4663440" cy="1903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dirty="0">
                <a:solidFill>
                  <a:srgbClr val="334155"/>
                </a:solidFill>
                <a:latin typeface="Montserrat"/>
              </a:rPr>
              <a:t>Unsupervised ML layer, trained on legit traffic only.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3557015"/>
            <a:ext cx="512064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58952" y="3557015"/>
            <a:ext cx="73152" cy="658368"/>
          </a:xfrm>
          <a:prstGeom prst="roundRect">
            <a:avLst/>
          </a:prstGeom>
          <a:solidFill>
            <a:srgbClr val="3D67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3621023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020C31"/>
                </a:solidFill>
                <a:latin typeface="Montserrat"/>
              </a:rPr>
              <a:t>Streamlit + Matplotlib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895344"/>
            <a:ext cx="4663440" cy="1903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dirty="0">
                <a:solidFill>
                  <a:srgbClr val="334155"/>
                </a:solidFill>
                <a:latin typeface="Montserrat"/>
              </a:rPr>
              <a:t>The live zero-trust gate dashboard and evaluation charts.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" y="4306824"/>
            <a:ext cx="512064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58952" y="4306824"/>
            <a:ext cx="73152" cy="658368"/>
          </a:xfrm>
          <a:prstGeom prst="roundRect">
            <a:avLst/>
          </a:prstGeom>
          <a:solidFill>
            <a:srgbClr val="3D67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4370832"/>
            <a:ext cx="46634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150" b="1" dirty="0">
                <a:solidFill>
                  <a:srgbClr val="020C31"/>
                </a:solidFill>
                <a:latin typeface="Montserrat"/>
              </a:rPr>
              <a:t>p</a:t>
            </a:r>
            <a:r>
              <a:rPr sz="1150" b="1" dirty="0">
                <a:solidFill>
                  <a:srgbClr val="020C31"/>
                </a:solidFill>
                <a:latin typeface="Montserrat"/>
              </a:rPr>
              <a:t>ython-docx / python-pptx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645152"/>
            <a:ext cx="4663440" cy="1903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dirty="0">
                <a:solidFill>
                  <a:srgbClr val="334155"/>
                </a:solidFill>
                <a:latin typeface="Montserrat"/>
              </a:rPr>
              <a:t>Reproducible generation of every Gate report and deck.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1691640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01ABDB"/>
                </a:solidFill>
                <a:latin typeface="Montserrat"/>
              </a:rPr>
              <a:t>SEVEN BUILD PHASES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057400"/>
            <a:ext cx="5212080" cy="39563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dirty="0">
                <a:solidFill>
                  <a:srgbClr val="334155"/>
                </a:solidFill>
                <a:latin typeface="Montserrat"/>
              </a:rPr>
              <a:t>1. Synthetic environment </a:t>
            </a:r>
            <a:r>
              <a:rPr sz="1600" b="0" dirty="0">
                <a:solidFill>
                  <a:srgbClr val="334155"/>
                </a:solidFill>
                <a:latin typeface="Montserrat"/>
              </a:rPr>
              <a:t>- 210,000 labelled requests, 5 agents, T1-T7.</a:t>
            </a:r>
          </a:p>
          <a:p>
            <a:pPr algn="l">
              <a:lnSpc>
                <a:spcPct val="135000"/>
              </a:lnSpc>
            </a:pPr>
            <a:r>
              <a:rPr sz="1600" b="1" dirty="0">
                <a:solidFill>
                  <a:srgbClr val="334155"/>
                </a:solidFill>
                <a:latin typeface="Montserrat"/>
              </a:rPr>
              <a:t>2. Fingerprinting </a:t>
            </a:r>
            <a:r>
              <a:rPr sz="1600" b="0" dirty="0">
                <a:solidFill>
                  <a:srgbClr val="334155"/>
                </a:solidFill>
                <a:latin typeface="Montserrat"/>
              </a:rPr>
              <a:t>- windowed behavioral feature vectors.</a:t>
            </a:r>
          </a:p>
          <a:p>
            <a:pPr algn="l">
              <a:lnSpc>
                <a:spcPct val="135000"/>
              </a:lnSpc>
            </a:pPr>
            <a:r>
              <a:rPr sz="1600" b="1" dirty="0">
                <a:solidFill>
                  <a:srgbClr val="334155"/>
                </a:solidFill>
                <a:latin typeface="Montserrat"/>
              </a:rPr>
              <a:t>3. Rules layer </a:t>
            </a:r>
            <a:r>
              <a:rPr sz="1600" b="0" dirty="0">
                <a:solidFill>
                  <a:srgbClr val="334155"/>
                </a:solidFill>
                <a:latin typeface="Montserrat"/>
              </a:rPr>
              <a:t>- deterministic scope/session/rolling checks.</a:t>
            </a:r>
          </a:p>
          <a:p>
            <a:pPr algn="l">
              <a:lnSpc>
                <a:spcPct val="135000"/>
              </a:lnSpc>
            </a:pPr>
            <a:r>
              <a:rPr sz="1600" b="1" dirty="0">
                <a:solidFill>
                  <a:srgbClr val="334155"/>
                </a:solidFill>
                <a:latin typeface="Montserrat"/>
              </a:rPr>
              <a:t>4. ML layer </a:t>
            </a:r>
            <a:r>
              <a:rPr sz="1600" b="0" dirty="0">
                <a:solidFill>
                  <a:srgbClr val="334155"/>
                </a:solidFill>
                <a:latin typeface="Montserrat"/>
              </a:rPr>
              <a:t>- Isolation Forest fit on legit-only traffic.</a:t>
            </a:r>
          </a:p>
          <a:p>
            <a:pPr algn="l">
              <a:lnSpc>
                <a:spcPct val="135000"/>
              </a:lnSpc>
            </a:pPr>
            <a:r>
              <a:rPr sz="1600" b="1" dirty="0">
                <a:solidFill>
                  <a:srgbClr val="334155"/>
                </a:solidFill>
                <a:latin typeface="Montserrat"/>
              </a:rPr>
              <a:t>5. Fusion &amp; decision policy </a:t>
            </a:r>
            <a:r>
              <a:rPr sz="1600" b="0" dirty="0">
                <a:solidFill>
                  <a:srgbClr val="334155"/>
                </a:solidFill>
                <a:latin typeface="Montserrat"/>
              </a:rPr>
              <a:t>- PASS / STEP-UP / BLOCK.</a:t>
            </a:r>
          </a:p>
          <a:p>
            <a:pPr algn="l">
              <a:lnSpc>
                <a:spcPct val="135000"/>
              </a:lnSpc>
            </a:pPr>
            <a:r>
              <a:rPr sz="1600" b="1" dirty="0">
                <a:solidFill>
                  <a:srgbClr val="334155"/>
                </a:solidFill>
                <a:latin typeface="Montserrat"/>
              </a:rPr>
              <a:t>6. Dashboard </a:t>
            </a:r>
            <a:r>
              <a:rPr sz="1600" b="0" dirty="0">
                <a:solidFill>
                  <a:srgbClr val="334155"/>
                </a:solidFill>
                <a:latin typeface="Montserrat"/>
              </a:rPr>
              <a:t>- live zero-trust gate UI.</a:t>
            </a:r>
          </a:p>
          <a:p>
            <a:pPr algn="l">
              <a:lnSpc>
                <a:spcPct val="135000"/>
              </a:lnSpc>
            </a:pPr>
            <a:r>
              <a:rPr sz="1600" b="1" dirty="0">
                <a:solidFill>
                  <a:srgbClr val="334155"/>
                </a:solidFill>
                <a:latin typeface="Montserrat"/>
              </a:rPr>
              <a:t>7. Evaluation &amp; iteration </a:t>
            </a:r>
            <a:r>
              <a:rPr sz="1600" b="0" dirty="0">
                <a:solidFill>
                  <a:srgbClr val="334155"/>
                </a:solidFill>
                <a:latin typeface="Montserrat"/>
              </a:rPr>
              <a:t>- re-score after every change.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56727" y="109728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dirty="0">
                <a:solidFill>
                  <a:srgbClr val="01ABDB"/>
                </a:solidFill>
                <a:latin typeface="Montserrat"/>
              </a:rPr>
              <a:t>PART 3 OF 6 - IMPLEMENTATION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4261" y="521208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020C31"/>
                </a:solidFill>
                <a:latin typeface="Montserrat"/>
              </a:rPr>
              <a:t>What The Evaluation Loop Found &amp; Fixed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14300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6B7688"/>
                </a:solidFill>
                <a:latin typeface="Montserrat"/>
              </a:rPr>
              <a:t>Real engineering evidence, not just tuning cosmetics - two concrete bugs were found and fixed by re-scoring after every change.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" y="1828800"/>
            <a:ext cx="106070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58952" y="1828800"/>
            <a:ext cx="82296" cy="1828800"/>
          </a:xfrm>
          <a:prstGeom prst="roundRect">
            <a:avLst/>
          </a:prstGeom>
          <a:solidFill>
            <a:srgbClr val="C03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993392"/>
            <a:ext cx="9875520" cy="2537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dirty="0">
                <a:solidFill>
                  <a:srgbClr val="020C31"/>
                </a:solidFill>
                <a:latin typeface="Montserrat"/>
              </a:rPr>
              <a:t>Bug 1: T6 window-count heuristic false-fired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423160"/>
            <a:ext cx="9875520" cy="6630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0" dirty="0">
                <a:solidFill>
                  <a:srgbClr val="334155"/>
                </a:solidFill>
                <a:latin typeface="Montserrat"/>
              </a:rPr>
              <a:t>An earlier heuristic flagged legitimate bursty traffic as sequence anomalies. Replaced with a proper session-ID state machine that tracks PDU-session lifecycle.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" y="3840480"/>
            <a:ext cx="106070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58952" y="3840480"/>
            <a:ext cx="82296" cy="1828800"/>
          </a:xfrm>
          <a:prstGeom prst="roundRect">
            <a:avLst/>
          </a:prstGeom>
          <a:solidFill>
            <a:srgbClr val="E0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4005072"/>
            <a:ext cx="9875520" cy="2537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dirty="0">
                <a:solidFill>
                  <a:srgbClr val="020C31"/>
                </a:solidFill>
                <a:latin typeface="Montserrat"/>
              </a:rPr>
              <a:t>Bug 2: T2 and T5 attacks were trivially caught by the wrong rule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434840"/>
            <a:ext cx="9875520" cy="897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dirty="0">
                <a:solidFill>
                  <a:srgbClr val="334155"/>
                </a:solidFill>
                <a:latin typeface="Montserrat"/>
              </a:rPr>
              <a:t>Both initially had the agent call a Network Function outside its own scope - indistinguishable from T7 to the rules layer. Redesigned both to stay within the agent's own scope, a more realistic model, which forced detection to rely on the intended statistical signal.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38122" y="5833872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6B7688"/>
                </a:solidFill>
                <a:latin typeface="Montserrat"/>
              </a:rPr>
              <a:t>This is the origin of the non-uniform per-threat detection numbers in Part 4 - a feature, not a flaw.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40101" y="137160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dirty="0">
                <a:solidFill>
                  <a:srgbClr val="01ABDB"/>
                </a:solidFill>
                <a:latin typeface="Montserrat"/>
              </a:rPr>
              <a:t>PART 4 OF 6 - NUMERICAL PERFORMANCE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2137" y="381476"/>
            <a:ext cx="96012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3200" b="1" dirty="0"/>
              <a:t>Numerical Analysis: State of the Art &amp; Headline Metrics</a:t>
            </a:r>
            <a:endParaRPr lang="en-IN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362137" y="942499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dirty="0">
                <a:solidFill>
                  <a:srgbClr val="6B7688"/>
                </a:solidFill>
                <a:latin typeface="Montserrat"/>
              </a:rPr>
              <a:t>A PoC that reports 100% detection on everything is a red flag, not a strength. We researched how comparable systems perform in practice.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4261" y="1582579"/>
            <a:ext cx="1060704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dirty="0">
                <a:solidFill>
                  <a:srgbClr val="01ABDB"/>
                </a:solidFill>
                <a:latin typeface="Montserrat"/>
              </a:rPr>
              <a:t>-  </a:t>
            </a:r>
            <a:r>
              <a:rPr sz="1400" b="0" dirty="0">
                <a:solidFill>
                  <a:srgbClr val="334155"/>
                </a:solidFill>
                <a:latin typeface="Montserrat"/>
              </a:rPr>
              <a:t>We named a specific state of the art and ran it ourselves: a Statistical Process Control (SPC) z-score control-chart detector, the classic baseline this kind of behavioural monitoring descends from - not a citation from a different dataset.</a:t>
            </a:r>
          </a:p>
          <a:p>
            <a:pPr algn="l">
              <a:lnSpc>
                <a:spcPct val="130000"/>
              </a:lnSpc>
            </a:pPr>
            <a:r>
              <a:rPr sz="1400" b="1" dirty="0">
                <a:solidFill>
                  <a:srgbClr val="01ABDB"/>
                </a:solidFill>
                <a:latin typeface="Montserrat"/>
              </a:rPr>
              <a:t>-  </a:t>
            </a:r>
            <a:r>
              <a:rPr sz="1400" b="0" dirty="0">
                <a:solidFill>
                  <a:srgbClr val="334155"/>
                </a:solidFill>
                <a:latin typeface="Montserrat"/>
              </a:rPr>
              <a:t>SPC on our own data: 0.944 ROC-AUC, 63.4% recall at a matched 1.43% FPR. AEGIS: 0.965 ROC-AUC, 90.7% recall at the same FPR - a real head-to-head, detailed on the next slide.</a:t>
            </a:r>
          </a:p>
          <a:p>
            <a:pPr algn="l">
              <a:lnSpc>
                <a:spcPct val="130000"/>
              </a:lnSpc>
            </a:pPr>
            <a:r>
              <a:rPr sz="1400" b="1" dirty="0">
                <a:solidFill>
                  <a:srgbClr val="01ABDB"/>
                </a:solidFill>
                <a:latin typeface="Montserrat"/>
              </a:rPr>
              <a:t>-  </a:t>
            </a:r>
            <a:r>
              <a:rPr sz="1400" b="0" dirty="0">
                <a:solidFill>
                  <a:srgbClr val="334155"/>
                </a:solidFill>
                <a:latin typeface="Montserrat"/>
              </a:rPr>
              <a:t>The improvement is statistically significant, not just a bigger number: a paired bootstrap on the AUC difference gives p=0.015, 95% CI [0.004, 0.040], excluding zero.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" y="3657600"/>
            <a:ext cx="2606040" cy="1188720"/>
          </a:xfrm>
          <a:prstGeom prst="roundRect">
            <a:avLst>
              <a:gd name="adj" fmla="val 12000"/>
            </a:avLst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3840480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1">
                <a:solidFill>
                  <a:srgbClr val="3D67B1"/>
                </a:solidFill>
                <a:latin typeface="Montserrat"/>
              </a:rPr>
              <a:t>0.965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4389120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6B7688"/>
                </a:solidFill>
                <a:latin typeface="Montserrat"/>
              </a:rPr>
              <a:t>ROC-AUC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02152" y="3657600"/>
            <a:ext cx="2606040" cy="1188720"/>
          </a:xfrm>
          <a:prstGeom prst="roundRect">
            <a:avLst>
              <a:gd name="adj" fmla="val 12000"/>
            </a:avLst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02152" y="3840480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1">
                <a:solidFill>
                  <a:srgbClr val="3D67B1"/>
                </a:solidFill>
                <a:latin typeface="Montserrat"/>
              </a:rPr>
              <a:t>90.7%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2152" y="4389120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6B7688"/>
                </a:solidFill>
                <a:latin typeface="Montserrat"/>
              </a:rPr>
              <a:t>RECALL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3657600"/>
            <a:ext cx="2606040" cy="1188720"/>
          </a:xfrm>
          <a:prstGeom prst="roundRect">
            <a:avLst>
              <a:gd name="adj" fmla="val 12000"/>
            </a:avLst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45352" y="3840480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1">
                <a:solidFill>
                  <a:srgbClr val="3D67B1"/>
                </a:solidFill>
                <a:latin typeface="Montserrat"/>
              </a:rPr>
              <a:t>1.4%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5352" y="4389120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6B7688"/>
                </a:solidFill>
                <a:latin typeface="Montserrat"/>
              </a:rPr>
              <a:t>FALSE POSITIVES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88552" y="3657600"/>
            <a:ext cx="2606040" cy="1188720"/>
          </a:xfrm>
          <a:prstGeom prst="roundRect">
            <a:avLst>
              <a:gd name="adj" fmla="val 12000"/>
            </a:avLst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88552" y="3840480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1">
                <a:solidFill>
                  <a:srgbClr val="3D67B1"/>
                </a:solidFill>
                <a:latin typeface="Montserrat"/>
              </a:rPr>
              <a:t>0.67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8552" y="4389120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6B7688"/>
                </a:solidFill>
                <a:latin typeface="Montserrat"/>
              </a:rPr>
              <a:t>PRECISION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5074920"/>
            <a:ext cx="10607040" cy="5156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dirty="0">
                <a:solidFill>
                  <a:srgbClr val="334155"/>
                </a:solidFill>
                <a:latin typeface="Montserrat"/>
              </a:rPr>
              <a:t>These headline numbers are AEGIS's own; the next slide shows the SPC baseline comparison that grounds them against a concrete alternative, not just literature ranges.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23475" y="128016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dirty="0">
                <a:solidFill>
                  <a:srgbClr val="01ABDB"/>
                </a:solidFill>
                <a:latin typeface="Montserrat"/>
              </a:rPr>
              <a:t>PART 4 OF 6 - NUMERICAL PERFORMANCE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3563" y="402336"/>
            <a:ext cx="9601200" cy="380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dirty="0">
                <a:solidFill>
                  <a:srgbClr val="020C31"/>
                </a:solidFill>
                <a:latin typeface="Montserrat"/>
              </a:rPr>
              <a:t>State of the Art, Head-to-Head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776" y="4793328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dirty="0">
                <a:solidFill>
                  <a:srgbClr val="334155"/>
                </a:solidFill>
                <a:latin typeface="Montserrat"/>
              </a:rPr>
              <a:t>Statistical Process Control (SPC), the classic control-chart baseline, implemented and evaluated on the identical train/test split as AEGIS. SPC detects loud, single-feature deviations effectively (T4 100%, T1 94%) but is structurally blind to threats without a single-feature signature - T2 compromise (21%), T3 recon (27%), T6 sequence (51%). This measured gap quantifies the value of </a:t>
            </a:r>
            <a:r>
              <a:rPr sz="1150" b="0" dirty="0" err="1">
                <a:solidFill>
                  <a:srgbClr val="334155"/>
                </a:solidFill>
                <a:latin typeface="Montserrat"/>
              </a:rPr>
              <a:t>behavioural</a:t>
            </a:r>
            <a:r>
              <a:rPr sz="1150" b="0" dirty="0">
                <a:solidFill>
                  <a:srgbClr val="334155"/>
                </a:solidFill>
                <a:latin typeface="Montserrat"/>
              </a:rPr>
              <a:t> fingerprinting combined with rule-based fusion.</a:t>
            </a:r>
          </a:p>
        </p:txBody>
      </p:sp>
      <p:pic>
        <p:nvPicPr>
          <p:cNvPr id="6" name="Picture 5" descr="aegis_baselin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776" y="902335"/>
            <a:ext cx="10169640" cy="389099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23475" y="128016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dirty="0">
                <a:solidFill>
                  <a:srgbClr val="01ABDB"/>
                </a:solidFill>
                <a:latin typeface="Montserrat"/>
              </a:rPr>
              <a:t>PART 4 OF 6 - NUMERICAL PERFORMANCE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3563" y="402336"/>
            <a:ext cx="9601200" cy="380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dirty="0">
                <a:solidFill>
                  <a:srgbClr val="020C31"/>
                </a:solidFill>
                <a:latin typeface="Montserrat"/>
              </a:rPr>
              <a:t>Detection Rate Per Threat - Deliberately Not Uniform</a:t>
            </a:r>
          </a:p>
        </p:txBody>
      </p:sp>
      <p:pic>
        <p:nvPicPr>
          <p:cNvPr id="4" name="Picture 3" descr="aegis_ev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818" y="902335"/>
            <a:ext cx="10607040" cy="40499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7635" y="4952296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34155"/>
                </a:solidFill>
                <a:latin typeface="Montserrat"/>
              </a:rPr>
              <a:t>T4 (volumetric) and T7 (scope creep) sit at 100% because they are deterministic policy/rate checks, not statistical inference. The other five span a genuine 76-96% range that tracks the strength of their underlying behavioural signal: loud beats subtle, and diffuse, low-and-slow attacks are always the hardest.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23476" y="128016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dirty="0">
                <a:solidFill>
                  <a:srgbClr val="01ABDB"/>
                </a:solidFill>
                <a:latin typeface="Montserrat"/>
              </a:rPr>
              <a:t>PART 4 OF 6 - NUMERICAL PERFORMANCE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9446" y="365760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dirty="0">
                <a:solidFill>
                  <a:srgbClr val="020C31"/>
                </a:solidFill>
                <a:latin typeface="Montserrat"/>
              </a:rPr>
              <a:t>ROC Operating-Point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636" y="82296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dirty="0">
                <a:solidFill>
                  <a:srgbClr val="6B7688"/>
                </a:solidFill>
                <a:latin typeface="Montserrat"/>
              </a:rPr>
              <a:t>The chosen threshold is justified with respect to a stated, checkable statistical objective.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7631" y="4523439"/>
            <a:ext cx="10607040" cy="5156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dirty="0">
                <a:solidFill>
                  <a:srgbClr val="334155"/>
                </a:solidFill>
                <a:latin typeface="Montserrat"/>
              </a:rPr>
              <a:t>The chosen threshold (0.60) is Pareto-efficient - no alternative threshold improves both recall and false-positive rate simultaneously - and lies within 0.2 percentage points of FPR of the Neyman-Pearson-achievable frontier for this risk score. The threshold minimises Cost(t) = r times (1-recall) + FPR for a stated cost ratio r, providing a named, checkable statistical objective.</a:t>
            </a:r>
          </a:p>
        </p:txBody>
      </p:sp>
      <p:pic>
        <p:nvPicPr>
          <p:cNvPr id="7" name="Picture 6" descr="aegis_bayes_risk_thresh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631" y="1051560"/>
            <a:ext cx="9093015" cy="347187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64792" y="132588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dirty="0">
                <a:solidFill>
                  <a:srgbClr val="01ABDB"/>
                </a:solidFill>
                <a:latin typeface="Montserrat"/>
              </a:rPr>
              <a:t>PART 5 OF 6 - EXPECTED PROOF OF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475488"/>
            <a:ext cx="9601200" cy="444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dirty="0">
                <a:solidFill>
                  <a:srgbClr val="020C31"/>
                </a:solidFill>
                <a:latin typeface="Montserrat"/>
              </a:rPr>
              <a:t>Live Demo </a:t>
            </a:r>
            <a:r>
              <a:rPr lang="en-US" sz="2800" b="1" dirty="0">
                <a:solidFill>
                  <a:srgbClr val="020C31"/>
                </a:solidFill>
                <a:latin typeface="Montserrat"/>
              </a:rPr>
              <a:t>Details</a:t>
            </a:r>
            <a:endParaRPr sz="2800" b="1" dirty="0">
              <a:solidFill>
                <a:srgbClr val="020C31"/>
              </a:solidFill>
              <a:latin typeface="Montserra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58952" y="1044332"/>
            <a:ext cx="10607040" cy="198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dirty="0">
                <a:solidFill>
                  <a:srgbClr val="6B7688"/>
                </a:solidFill>
                <a:latin typeface="Montserrat"/>
              </a:rPr>
              <a:t>AEGIS has a working, demonstrable baseline - this is not a forward-looking description, it's a walkthrough of what exists today.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" y="1783080"/>
            <a:ext cx="3456432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58952" y="1783080"/>
            <a:ext cx="3456432" cy="64008"/>
          </a:xfrm>
          <a:prstGeom prst="roundRect">
            <a:avLst/>
          </a:prstGeom>
          <a:solidFill>
            <a:srgbClr val="01A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23544" y="1929384"/>
            <a:ext cx="31272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20C31"/>
                </a:solidFill>
                <a:latin typeface="Montserrat"/>
              </a:rPr>
              <a:t>1. Agent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2286000"/>
            <a:ext cx="3127248" cy="4968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dirty="0">
                <a:solidFill>
                  <a:srgbClr val="334155"/>
                </a:solidFill>
                <a:latin typeface="Montserrat"/>
              </a:rPr>
              <a:t>All 5 agents, live risk scores, all sitting in PASS.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2544" y="1783080"/>
            <a:ext cx="3456432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352544" y="1783080"/>
            <a:ext cx="3456432" cy="64008"/>
          </a:xfrm>
          <a:prstGeom prst="roundRect">
            <a:avLst/>
          </a:prstGeom>
          <a:solidFill>
            <a:srgbClr val="01A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17136" y="1929384"/>
            <a:ext cx="31272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20C31"/>
                </a:solidFill>
                <a:latin typeface="Montserrat"/>
              </a:rPr>
              <a:t>2. Trigger a threat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7136" y="2286000"/>
            <a:ext cx="3127248" cy="4968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dirty="0">
                <a:solidFill>
                  <a:srgbClr val="334155"/>
                </a:solidFill>
                <a:latin typeface="Montserrat"/>
              </a:rPr>
              <a:t>Select a scored window; watch the dashboard flip to BLOCK live.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46136" y="1783080"/>
            <a:ext cx="3456432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946136" y="1783080"/>
            <a:ext cx="3456432" cy="64008"/>
          </a:xfrm>
          <a:prstGeom prst="roundRect">
            <a:avLst/>
          </a:prstGeom>
          <a:solidFill>
            <a:srgbClr val="01A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10727" y="1929384"/>
            <a:ext cx="31272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20C31"/>
                </a:solidFill>
                <a:latin typeface="Montserrat"/>
              </a:rPr>
              <a:t>3. Incident inspector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0727" y="2286000"/>
            <a:ext cx="3127248" cy="4968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dirty="0">
                <a:solidFill>
                  <a:srgbClr val="334155"/>
                </a:solidFill>
                <a:latin typeface="Montserrat"/>
              </a:rPr>
              <a:t>Plain-language why: which feature tripped, and which layer caught 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" y="3337560"/>
            <a:ext cx="3456432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58952" y="3337560"/>
            <a:ext cx="3456432" cy="64008"/>
          </a:xfrm>
          <a:prstGeom prst="roundRect">
            <a:avLst/>
          </a:prstGeom>
          <a:solidFill>
            <a:srgbClr val="01A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3544" y="3483864"/>
            <a:ext cx="31272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20C31"/>
                </a:solidFill>
                <a:latin typeface="Montserrat"/>
              </a:rPr>
              <a:t>4. Cycle through difficulty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" y="3840480"/>
            <a:ext cx="3127248" cy="4968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dirty="0">
                <a:solidFill>
                  <a:srgbClr val="334155"/>
                </a:solidFill>
                <a:latin typeface="Montserrat"/>
              </a:rPr>
              <a:t>A spoofing case, a quiet drift case, a low-and-slow case.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52544" y="3337560"/>
            <a:ext cx="3456432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352544" y="3337560"/>
            <a:ext cx="3456432" cy="64008"/>
          </a:xfrm>
          <a:prstGeom prst="roundRect">
            <a:avLst/>
          </a:prstGeom>
          <a:solidFill>
            <a:srgbClr val="01A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17136" y="3483864"/>
            <a:ext cx="31272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20C31"/>
                </a:solidFill>
                <a:latin typeface="Montserrat"/>
              </a:rPr>
              <a:t>5. Show the numbers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17136" y="3840480"/>
            <a:ext cx="3127248" cy="4968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dirty="0">
                <a:solidFill>
                  <a:srgbClr val="334155"/>
                </a:solidFill>
                <a:latin typeface="Montserrat"/>
              </a:rPr>
              <a:t>ROC-AUC, recall, false-positive rate, per-threat table, live.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46136" y="3337560"/>
            <a:ext cx="3456432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946136" y="3337560"/>
            <a:ext cx="3456432" cy="64008"/>
          </a:xfrm>
          <a:prstGeom prst="roundRect">
            <a:avLst/>
          </a:prstGeom>
          <a:solidFill>
            <a:srgbClr val="01A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10727" y="3483864"/>
            <a:ext cx="31272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20C31"/>
                </a:solidFill>
                <a:latin typeface="Montserrat"/>
              </a:rPr>
              <a:t>6. Make zero-trust concrete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10727" y="3840480"/>
            <a:ext cx="3127248" cy="4968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dirty="0">
                <a:solidFill>
                  <a:srgbClr val="334155"/>
                </a:solidFill>
                <a:latin typeface="Montserrat"/>
              </a:rPr>
              <a:t>A valid credential, still blocked on </a:t>
            </a:r>
            <a:r>
              <a:rPr sz="1400" b="0" dirty="0" err="1">
                <a:solidFill>
                  <a:srgbClr val="334155"/>
                </a:solidFill>
                <a:latin typeface="Montserrat"/>
              </a:rPr>
              <a:t>behaviour</a:t>
            </a:r>
            <a:r>
              <a:rPr sz="1400" b="0" dirty="0">
                <a:solidFill>
                  <a:srgbClr val="334155"/>
                </a:solidFill>
                <a:latin typeface="Montserrat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56727" y="109727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dirty="0">
                <a:solidFill>
                  <a:srgbClr val="01ABDB"/>
                </a:solidFill>
                <a:latin typeface="Montserrat"/>
              </a:rPr>
              <a:t>PART 5 OF 6 - EXPECTED PROOF OF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4137" y="457198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dirty="0">
                <a:solidFill>
                  <a:srgbClr val="020C31"/>
                </a:solidFill>
                <a:latin typeface="Montserrat"/>
              </a:rPr>
              <a:t>PoC Readiness at Gate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" y="1133853"/>
            <a:ext cx="1060704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58952" y="1133853"/>
            <a:ext cx="1371600" cy="621792"/>
          </a:xfrm>
          <a:prstGeom prst="roundRect">
            <a:avLst>
              <a:gd name="adj" fmla="val 8000"/>
            </a:avLst>
          </a:prstGeom>
          <a:solidFill>
            <a:srgbClr val="0E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4088" y="1170429"/>
            <a:ext cx="13716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FFFFFF"/>
                </a:solidFill>
                <a:latin typeface="Montserrat"/>
              </a:rPr>
              <a:t>DONE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76025" y="1281279"/>
            <a:ext cx="8778240" cy="2537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dirty="0">
                <a:solidFill>
                  <a:srgbClr val="020C31"/>
                </a:solidFill>
                <a:latin typeface="Montserrat"/>
              </a:rPr>
              <a:t>Synthetic traffic generator (5 agents, T1-T7)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1810508"/>
            <a:ext cx="1060704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58952" y="1810508"/>
            <a:ext cx="1371600" cy="621792"/>
          </a:xfrm>
          <a:prstGeom prst="roundRect">
            <a:avLst>
              <a:gd name="adj" fmla="val 8000"/>
            </a:avLst>
          </a:prstGeom>
          <a:solidFill>
            <a:srgbClr val="0E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1755650"/>
            <a:ext cx="13716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FFFFFF"/>
                </a:solidFill>
                <a:latin typeface="Montserrat"/>
              </a:rPr>
              <a:t>DONE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04288" y="1921357"/>
            <a:ext cx="8778240" cy="2537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dirty="0">
                <a:solidFill>
                  <a:srgbClr val="020C31"/>
                </a:solidFill>
                <a:latin typeface="Montserrat"/>
              </a:rPr>
              <a:t>Fingerprinting, rules, ML, fusion, decision policy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" y="2523744"/>
            <a:ext cx="1060704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58952" y="2523744"/>
            <a:ext cx="1371600" cy="621792"/>
          </a:xfrm>
          <a:prstGeom prst="roundRect">
            <a:avLst>
              <a:gd name="adj" fmla="val 8000"/>
            </a:avLst>
          </a:prstGeom>
          <a:solidFill>
            <a:srgbClr val="0E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8952" y="2523744"/>
            <a:ext cx="13716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FFFFFF"/>
                </a:solidFill>
                <a:latin typeface="Montserrat"/>
              </a:rPr>
              <a:t>DONE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04288" y="2671165"/>
            <a:ext cx="8778240" cy="2537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dirty="0">
                <a:solidFill>
                  <a:srgbClr val="020C31"/>
                </a:solidFill>
                <a:latin typeface="Montserrat"/>
              </a:rPr>
              <a:t>Live dashboard with incident inspector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7245" y="3259003"/>
            <a:ext cx="1060704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58952" y="3266277"/>
            <a:ext cx="1371600" cy="621792"/>
          </a:xfrm>
          <a:prstGeom prst="roundRect">
            <a:avLst>
              <a:gd name="adj" fmla="val 8000"/>
            </a:avLst>
          </a:prstGeom>
          <a:solidFill>
            <a:srgbClr val="0E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8952" y="3259003"/>
            <a:ext cx="13716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dirty="0">
                <a:solidFill>
                  <a:srgbClr val="FFFFFF"/>
                </a:solidFill>
                <a:latin typeface="Montserrat"/>
              </a:rPr>
              <a:t>DONE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76025" y="3443005"/>
            <a:ext cx="8778240" cy="2537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dirty="0">
                <a:solidFill>
                  <a:srgbClr val="020C31"/>
                </a:solidFill>
                <a:latin typeface="Montserrat"/>
              </a:rPr>
              <a:t>Numerical evaluation (ROC-AUC, recall, precision, FPR)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7245" y="3990526"/>
            <a:ext cx="1060704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58952" y="3981552"/>
            <a:ext cx="1371600" cy="621792"/>
          </a:xfrm>
          <a:prstGeom prst="roundRect">
            <a:avLst>
              <a:gd name="adj" fmla="val 8000"/>
            </a:avLst>
          </a:prstGeom>
          <a:solidFill>
            <a:srgbClr val="0E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8952" y="3972239"/>
            <a:ext cx="13716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dirty="0">
                <a:solidFill>
                  <a:srgbClr val="FFFFFF"/>
                </a:solidFill>
                <a:latin typeface="Montserrat"/>
              </a:rPr>
              <a:t>DONE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76025" y="4051913"/>
            <a:ext cx="8778240" cy="2537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dirty="0">
                <a:solidFill>
                  <a:srgbClr val="020C31"/>
                </a:solidFill>
                <a:latin typeface="Montserrat"/>
              </a:rPr>
              <a:t>ROC operating-point / threshold sensitivity analysis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7245" y="4744074"/>
            <a:ext cx="1060704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5" name="Rounded Rectangle 24"/>
          <p:cNvSpPr/>
          <p:nvPr/>
        </p:nvSpPr>
        <p:spPr>
          <a:xfrm>
            <a:off x="737245" y="4744074"/>
            <a:ext cx="1371600" cy="621792"/>
          </a:xfrm>
          <a:prstGeom prst="roundRect">
            <a:avLst>
              <a:gd name="adj" fmla="val 8000"/>
            </a:avLst>
          </a:prstGeom>
          <a:solidFill>
            <a:srgbClr val="E0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58952" y="4713075"/>
            <a:ext cx="13716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dirty="0">
                <a:solidFill>
                  <a:srgbClr val="FFFFFF"/>
                </a:solidFill>
                <a:latin typeface="Montserrat"/>
              </a:rPr>
              <a:t>NOT YET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04288" y="4851183"/>
            <a:ext cx="8778240" cy="2537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dirty="0">
                <a:solidFill>
                  <a:srgbClr val="020C31"/>
                </a:solidFill>
                <a:latin typeface="Montserrat"/>
              </a:rPr>
              <a:t>Real M2M / API-gateway traffic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04288" y="5724147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6B7688"/>
                </a:solidFill>
                <a:latin typeface="Montserrat"/>
              </a:rPr>
              <a:t>Real M2M/API-gateway traffic is the natural next validation step - the pipeline is already built to take it in without rework.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73352" y="128016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dirty="0">
                <a:solidFill>
                  <a:srgbClr val="01ABDB"/>
                </a:solidFill>
                <a:latin typeface="Montserrat"/>
              </a:rPr>
              <a:t>PART 6 OF 6 - PATH TO GATE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512064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020C31"/>
                </a:solidFill>
                <a:latin typeface="Montserrat"/>
              </a:rPr>
              <a:t>What's Next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" y="1828800"/>
            <a:ext cx="10607040" cy="577452"/>
          </a:xfrm>
          <a:prstGeom prst="roundRect">
            <a:avLst>
              <a:gd name="adj" fmla="val 8000"/>
            </a:avLst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58952" y="1828800"/>
            <a:ext cx="67056" cy="577452"/>
          </a:xfrm>
          <a:prstGeom prst="roundRect">
            <a:avLst/>
          </a:prstGeom>
          <a:solidFill>
            <a:srgbClr val="3D67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999628"/>
            <a:ext cx="9966960" cy="2042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dirty="0">
                <a:latin typeface="Montserrat"/>
              </a:rPr>
              <a:t>Close the gap on the hardest threats (T3 recon 80%, T5 exfiltration 76%) with richer features, such as per-target-ID cardinality.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1332" y="2690765"/>
            <a:ext cx="10607040" cy="577452"/>
          </a:xfrm>
          <a:prstGeom prst="roundRect">
            <a:avLst>
              <a:gd name="adj" fmla="val 8000"/>
            </a:avLst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51332" y="2703612"/>
            <a:ext cx="82296" cy="530352"/>
          </a:xfrm>
          <a:prstGeom prst="roundRect">
            <a:avLst/>
          </a:prstGeom>
          <a:solidFill>
            <a:srgbClr val="3D67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2866676"/>
            <a:ext cx="9966960" cy="2042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dirty="0">
                <a:latin typeface="Montserrat"/>
              </a:rPr>
              <a:t>Extend the pipeline to real M2M/API-gateway traffic as the next validation step</a:t>
            </a:r>
            <a:r>
              <a:rPr sz="1200" b="0" dirty="0" err="1">
                <a:latin typeface="Montserrat"/>
              </a:rPr>
              <a:t> - already designed in, pursued as it becomes available.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1332" y="3503200"/>
            <a:ext cx="10607040" cy="577452"/>
          </a:xfrm>
          <a:prstGeom prst="roundRect">
            <a:avLst>
              <a:gd name="adj" fmla="val 8000"/>
            </a:avLst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58952" y="3495491"/>
            <a:ext cx="82296" cy="577452"/>
          </a:xfrm>
          <a:prstGeom prst="roundRect">
            <a:avLst/>
          </a:prstGeom>
          <a:solidFill>
            <a:srgbClr val="3D67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3628493"/>
            <a:ext cx="9966960" cy="2042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dirty="0">
                <a:latin typeface="Montserrat"/>
              </a:rPr>
              <a:t>Record the final video demonstration from the live demo script in Part 5.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69465"/>
            <a:ext cx="10607040" cy="577452"/>
          </a:xfrm>
          <a:prstGeom prst="roundRect">
            <a:avLst>
              <a:gd name="adj" fmla="val 8000"/>
            </a:avLst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51332" y="4277174"/>
            <a:ext cx="82296" cy="577452"/>
          </a:xfrm>
          <a:prstGeom prst="roundRect">
            <a:avLst/>
          </a:prstGeom>
          <a:solidFill>
            <a:srgbClr val="3D67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4361677"/>
            <a:ext cx="9966960" cy="2042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dirty="0">
                <a:latin typeface="Montserrat"/>
              </a:rPr>
              <a:t>Expand the number of agent and attack variants to stress-test generalization beyond the current 5-agent / 7-threat catalogue.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35">
            <a:extLst>
              <a:ext uri="{FF2B5EF4-FFF2-40B4-BE49-F238E27FC236}">
                <a16:creationId xmlns:a16="http://schemas.microsoft.com/office/drawing/2014/main" id="{F79DFFFD-69BC-67D0-2F6C-8A2757687FD5}"/>
              </a:ext>
            </a:extLst>
          </p:cNvPr>
          <p:cNvSpPr txBox="1"/>
          <p:nvPr/>
        </p:nvSpPr>
        <p:spPr>
          <a:xfrm>
            <a:off x="625129" y="5554809"/>
            <a:ext cx="5738726" cy="3824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1628"/>
              </a:lnSpc>
            </a:pPr>
            <a:r>
              <a:rPr lang="en-US" sz="800" spc="13">
                <a:solidFill>
                  <a:srgbClr val="FFFFFF"/>
                </a:solidFill>
                <a:latin typeface="TIM Sans Light" panose="02020503040602060503" pitchFamily="18" charset="0"/>
                <a:ea typeface="TT Rounds Condensed"/>
                <a:cs typeface="TT Rounds Condensed"/>
                <a:sym typeface="TT Rounds Condensed"/>
              </a:rPr>
              <a:t>This presentation contains information that may be privileged or confidential and is the property of 5G Academy 2025/26.</a:t>
            </a:r>
            <a:r>
              <a:rPr lang="en-US" sz="800" spc="13">
                <a:solidFill>
                  <a:srgbClr val="000000"/>
                </a:solidFill>
                <a:latin typeface="TIM Sans Light" panose="02020503040602060503" pitchFamily="18" charset="0"/>
                <a:ea typeface="TT Rounds Condensed"/>
                <a:cs typeface="TT Rounds Condensed"/>
                <a:sym typeface="TT Rounds Condensed"/>
              </a:rPr>
              <a:t>​</a:t>
            </a:r>
          </a:p>
          <a:p>
            <a:pPr defTabSz="609630">
              <a:lnSpc>
                <a:spcPts val="1628"/>
              </a:lnSpc>
            </a:pPr>
            <a:r>
              <a:rPr lang="en-US" sz="800" spc="13">
                <a:solidFill>
                  <a:srgbClr val="FFFFFF"/>
                </a:solidFill>
                <a:latin typeface="TIM Sans Light" panose="02020503040602060503" pitchFamily="18" charset="0"/>
                <a:ea typeface="TT Rounds Condensed"/>
                <a:cs typeface="TT Rounds Condensed"/>
                <a:sym typeface="TT Rounds Condensed"/>
              </a:rPr>
              <a:t>Copyright © 2025/26 5G Academy. All rights reserved.</a:t>
            </a:r>
          </a:p>
        </p:txBody>
      </p:sp>
      <p:sp>
        <p:nvSpPr>
          <p:cNvPr id="16" name="TextBox 18">
            <a:extLst>
              <a:ext uri="{FF2B5EF4-FFF2-40B4-BE49-F238E27FC236}">
                <a16:creationId xmlns:a16="http://schemas.microsoft.com/office/drawing/2014/main" id="{545127C7-0F46-8704-D4BA-AF96F51AAE7E}"/>
              </a:ext>
            </a:extLst>
          </p:cNvPr>
          <p:cNvSpPr txBox="1"/>
          <p:nvPr/>
        </p:nvSpPr>
        <p:spPr>
          <a:xfrm>
            <a:off x="788526" y="4480530"/>
            <a:ext cx="5307474" cy="11798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 defTabSz="609630">
              <a:defRPr/>
            </a:pPr>
            <a:r>
              <a:rPr lang="en-GB" sz="7667" spc="-13">
                <a:solidFill>
                  <a:prstClr val="white"/>
                </a:solidFill>
                <a:latin typeface="Montserrat Bold" panose="00000800000000000000" pitchFamily="2" charset="0"/>
                <a:cs typeface="Arial"/>
              </a:rPr>
              <a:t>Thank</a:t>
            </a:r>
            <a:r>
              <a:rPr lang="en-GB" sz="7667" spc="-13">
                <a:solidFill>
                  <a:prstClr val="white"/>
                </a:solidFill>
                <a:latin typeface="TIM Sans Thin" panose="02020503040602060503" pitchFamily="18" charset="0"/>
                <a:cs typeface="Arial"/>
              </a:rPr>
              <a:t> </a:t>
            </a:r>
            <a:r>
              <a:rPr lang="en-GB" sz="7667" spc="-13">
                <a:solidFill>
                  <a:prstClr val="white"/>
                </a:solidFill>
                <a:latin typeface="Montserrat Light" panose="00000400000000000000" pitchFamily="2" charset="0"/>
                <a:cs typeface="Arial"/>
              </a:rPr>
              <a:t>you</a:t>
            </a:r>
            <a:endParaRPr lang="fr-FR" sz="7667" spc="200">
              <a:solidFill>
                <a:prstClr val="white"/>
              </a:solidFill>
              <a:latin typeface="Montserrat Light" panose="00000400000000000000" pitchFamily="2" charset="0"/>
              <a:cs typeface="Arial"/>
            </a:endParaRPr>
          </a:p>
        </p:txBody>
      </p:sp>
      <p:pic>
        <p:nvPicPr>
          <p:cNvPr id="5" name="Immagine 4" descr="Immagine che contiene testo, schermata, Elementi grafici, logo&#10;&#10;Il contenuto generato dall'IA potrebbe non essere corretto.">
            <a:extLst>
              <a:ext uri="{FF2B5EF4-FFF2-40B4-BE49-F238E27FC236}">
                <a16:creationId xmlns:a16="http://schemas.microsoft.com/office/drawing/2014/main" id="{98455F16-3EC6-AA39-263F-05660E1A161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38" t="5161" r="3525" b="8645"/>
          <a:stretch>
            <a:fillRect/>
          </a:stretch>
        </p:blipFill>
        <p:spPr>
          <a:xfrm>
            <a:off x="5553971" y="324906"/>
            <a:ext cx="6638029" cy="4269628"/>
          </a:xfrm>
          <a:prstGeom prst="rect">
            <a:avLst/>
          </a:prstGeom>
        </p:spPr>
      </p:pic>
      <p:grpSp>
        <p:nvGrpSpPr>
          <p:cNvPr id="7" name="Gruppo 6">
            <a:extLst>
              <a:ext uri="{FF2B5EF4-FFF2-40B4-BE49-F238E27FC236}">
                <a16:creationId xmlns:a16="http://schemas.microsoft.com/office/drawing/2014/main" id="{997479B7-0E49-F31C-36F7-EE773C122418}"/>
              </a:ext>
            </a:extLst>
          </p:cNvPr>
          <p:cNvGrpSpPr/>
          <p:nvPr/>
        </p:nvGrpSpPr>
        <p:grpSpPr>
          <a:xfrm>
            <a:off x="127559" y="400092"/>
            <a:ext cx="7434251" cy="1259234"/>
            <a:chOff x="371318" y="651646"/>
            <a:chExt cx="7434251" cy="1259234"/>
          </a:xfrm>
        </p:grpSpPr>
        <p:sp>
          <p:nvSpPr>
            <p:cNvPr id="10" name="CasellaDiTesto 9">
              <a:extLst>
                <a:ext uri="{FF2B5EF4-FFF2-40B4-BE49-F238E27FC236}">
                  <a16:creationId xmlns:a16="http://schemas.microsoft.com/office/drawing/2014/main" id="{6F1D3B6C-2814-C3D5-D940-E19FF3A116FF}"/>
                </a:ext>
              </a:extLst>
            </p:cNvPr>
            <p:cNvSpPr txBox="1"/>
            <p:nvPr/>
          </p:nvSpPr>
          <p:spPr>
            <a:xfrm>
              <a:off x="371318" y="651646"/>
              <a:ext cx="41024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09630"/>
              <a:r>
                <a:rPr lang="it-IT" spc="100">
                  <a:solidFill>
                    <a:srgbClr val="4F81BD">
                      <a:lumMod val="40000"/>
                      <a:lumOff val="60000"/>
                    </a:srgbClr>
                  </a:solidFill>
                  <a:latin typeface="Montserrat Medium" panose="00000600000000000000" pitchFamily="2" charset="0"/>
                </a:rPr>
                <a:t>ADVANCED STEM PROGRAM</a:t>
              </a:r>
            </a:p>
          </p:txBody>
        </p:sp>
        <p:sp>
          <p:nvSpPr>
            <p:cNvPr id="13" name="CasellaDiTesto 12">
              <a:extLst>
                <a:ext uri="{FF2B5EF4-FFF2-40B4-BE49-F238E27FC236}">
                  <a16:creationId xmlns:a16="http://schemas.microsoft.com/office/drawing/2014/main" id="{7445FC7E-1EBC-2CFC-DA3F-BD1CA8CF1391}"/>
                </a:ext>
              </a:extLst>
            </p:cNvPr>
            <p:cNvSpPr txBox="1"/>
            <p:nvPr/>
          </p:nvSpPr>
          <p:spPr>
            <a:xfrm>
              <a:off x="371318" y="801819"/>
              <a:ext cx="6407523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09630"/>
              <a:r>
                <a:rPr lang="it-IT" sz="4800" b="1" spc="-100">
                  <a:solidFill>
                    <a:prstClr val="white"/>
                  </a:solidFill>
                  <a:latin typeface="Montserrat Bold" panose="00000800000000000000" pitchFamily="2" charset="0"/>
                </a:rPr>
                <a:t>AI-Native Networks:</a:t>
              </a:r>
            </a:p>
          </p:txBody>
        </p:sp>
        <p:sp>
          <p:nvSpPr>
            <p:cNvPr id="14" name="CasellaDiTesto 13">
              <a:extLst>
                <a:ext uri="{FF2B5EF4-FFF2-40B4-BE49-F238E27FC236}">
                  <a16:creationId xmlns:a16="http://schemas.microsoft.com/office/drawing/2014/main" id="{24F6550C-87E5-F77F-BC5A-B2720984862A}"/>
                </a:ext>
              </a:extLst>
            </p:cNvPr>
            <p:cNvSpPr txBox="1"/>
            <p:nvPr/>
          </p:nvSpPr>
          <p:spPr>
            <a:xfrm>
              <a:off x="371318" y="1449215"/>
              <a:ext cx="74342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09630"/>
              <a:r>
                <a:rPr lang="it-IT" sz="2400" spc="110" dirty="0">
                  <a:solidFill>
                    <a:srgbClr val="E6F0FF"/>
                  </a:solidFill>
                  <a:latin typeface="Proxima Nova:"/>
                </a:rPr>
                <a:t>Engineering the Infrastructure of the AI Era</a:t>
              </a:r>
            </a:p>
          </p:txBody>
        </p:sp>
      </p:grpSp>
      <p:grpSp>
        <p:nvGrpSpPr>
          <p:cNvPr id="19" name="Gruppo 18">
            <a:extLst>
              <a:ext uri="{FF2B5EF4-FFF2-40B4-BE49-F238E27FC236}">
                <a16:creationId xmlns:a16="http://schemas.microsoft.com/office/drawing/2014/main" id="{0DB533A8-695C-0589-EE61-7B7835E7359C}"/>
              </a:ext>
            </a:extLst>
          </p:cNvPr>
          <p:cNvGrpSpPr/>
          <p:nvPr/>
        </p:nvGrpSpPr>
        <p:grpSpPr>
          <a:xfrm>
            <a:off x="9034438" y="4847283"/>
            <a:ext cx="2628172" cy="1676493"/>
            <a:chOff x="1040621" y="3487333"/>
            <a:chExt cx="2628172" cy="1676493"/>
          </a:xfrm>
        </p:grpSpPr>
        <p:sp>
          <p:nvSpPr>
            <p:cNvPr id="20" name="CasellaDiTesto 19">
              <a:extLst>
                <a:ext uri="{FF2B5EF4-FFF2-40B4-BE49-F238E27FC236}">
                  <a16:creationId xmlns:a16="http://schemas.microsoft.com/office/drawing/2014/main" id="{473DBE2A-D16D-3CFA-D458-A36131CFF447}"/>
                </a:ext>
              </a:extLst>
            </p:cNvPr>
            <p:cNvSpPr txBox="1"/>
            <p:nvPr/>
          </p:nvSpPr>
          <p:spPr>
            <a:xfrm>
              <a:off x="1040621" y="3487333"/>
              <a:ext cx="13372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09630"/>
              <a:r>
                <a:rPr lang="it-IT" sz="1200" b="1">
                  <a:solidFill>
                    <a:prstClr val="white"/>
                  </a:solidFill>
                  <a:latin typeface="Montserrat Medium" panose="00000600000000000000" pitchFamily="2" charset="0"/>
                </a:rPr>
                <a:t>CO-DESIGN BY</a:t>
              </a:r>
            </a:p>
          </p:txBody>
        </p:sp>
        <p:pic>
          <p:nvPicPr>
            <p:cNvPr id="21" name="Elemento grafico 20">
              <a:extLst>
                <a:ext uri="{FF2B5EF4-FFF2-40B4-BE49-F238E27FC236}">
                  <a16:creationId xmlns:a16="http://schemas.microsoft.com/office/drawing/2014/main" id="{69BCE9B7-B7D1-DD0B-6074-9D683022005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11721" y="3811564"/>
              <a:ext cx="2461333" cy="763161"/>
            </a:xfrm>
            <a:prstGeom prst="rect">
              <a:avLst/>
            </a:prstGeom>
          </p:spPr>
        </p:pic>
        <p:pic>
          <p:nvPicPr>
            <p:cNvPr id="22" name="Elemento grafico 21">
              <a:extLst>
                <a:ext uri="{FF2B5EF4-FFF2-40B4-BE49-F238E27FC236}">
                  <a16:creationId xmlns:a16="http://schemas.microsoft.com/office/drawing/2014/main" id="{4D03E4CC-2C12-2AD1-A2E3-B1F6D2E0573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46950" y="4669188"/>
              <a:ext cx="2521843" cy="494638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30913D8-9114-1F9F-A42D-0726E864D251}"/>
              </a:ext>
            </a:extLst>
          </p:cNvPr>
          <p:cNvSpPr txBox="1"/>
          <p:nvPr/>
        </p:nvSpPr>
        <p:spPr>
          <a:xfrm>
            <a:off x="127559" y="2156931"/>
            <a:ext cx="553627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GITHUB : </a:t>
            </a:r>
            <a:r>
              <a:rPr lang="en-US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https://github.com/fauzan111/AEGIS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/>
              <a:t>GITHUB Live : </a:t>
            </a:r>
            <a:r>
              <a:rPr lang="en-US"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https://fauzan111.github.io/AEGIS/#gate1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/>
              <a:t>Dashboard Live : </a:t>
            </a:r>
            <a:r>
              <a:rPr lang="en-US" dirty="0">
                <a:solidFill>
                  <a:schemeClr val="bg1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https://aegis5gacademy.streamlit.app/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55074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23475" y="128016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dirty="0">
                <a:solidFill>
                  <a:srgbClr val="01ABDB"/>
                </a:solidFill>
                <a:latin typeface="Montserrat"/>
              </a:rPr>
              <a:t>APPENDIX - EXTRA STATISTICAL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3563" y="402336"/>
            <a:ext cx="9601200" cy="380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dirty="0">
                <a:solidFill>
                  <a:srgbClr val="020C31"/>
                </a:solidFill>
                <a:latin typeface="Montserrat"/>
              </a:rPr>
              <a:t>Appendix: Bootstrap Confidence Intervals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635" y="4952296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34155"/>
                </a:solidFill>
                <a:latin typeface="Montserrat"/>
              </a:rPr>
              <a:t>Point estimates alone overstate precision on a ~350-window attack sample. Stratified bootstrap (3,000 replicates): ROC-AUC 0.965 [0.951, 0.977], recall 90.7% [87.6%, 93.5%], FPR 1.43% [1.21%, 1.64%] - and the AEGIS-vs-SPC AUC gap is significant at p=0.015.</a:t>
            </a:r>
          </a:p>
        </p:txBody>
      </p:sp>
      <p:pic>
        <p:nvPicPr>
          <p:cNvPr id="6" name="Picture 5" descr="aegis_bootstrap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775" y="902335"/>
            <a:ext cx="10585125" cy="404996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23475" y="128016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dirty="0">
                <a:solidFill>
                  <a:srgbClr val="01ABDB"/>
                </a:solidFill>
                <a:latin typeface="Montserrat"/>
              </a:rPr>
              <a:t>APPENDIX - EXTRA STATISTICAL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3563" y="402336"/>
            <a:ext cx="9601200" cy="380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dirty="0">
                <a:solidFill>
                  <a:srgbClr val="020C31"/>
                </a:solidFill>
                <a:latin typeface="Montserrat"/>
              </a:rPr>
              <a:t>Appendix: Cross-Validated Threshold Stability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635" y="4952296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34155"/>
                </a:solidFill>
                <a:latin typeface="Montserrat"/>
              </a:rPr>
              <a:t>The 0.60 threshold was picked on the same test set final numbers are reported on - a fair concern. 5-fold CV (threshold picked on 4 folds, evaluated on the 5th): threshold 0.600 +/- 0.033, recall 90.4% +/- 5.0%, FPR 1.41% +/- 0.55% - not cherry-picked to one slice of data.</a:t>
            </a:r>
          </a:p>
        </p:txBody>
      </p:sp>
      <p:pic>
        <p:nvPicPr>
          <p:cNvPr id="6" name="Picture 5" descr="aegis_cv_threshold_st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887" y="902335"/>
            <a:ext cx="10124902" cy="404996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23475" y="128016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dirty="0">
                <a:solidFill>
                  <a:srgbClr val="01ABDB"/>
                </a:solidFill>
                <a:latin typeface="Montserrat"/>
              </a:rPr>
              <a:t>APPENDIX - EXTRA STATISTICAL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3563" y="402336"/>
            <a:ext cx="9601200" cy="380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dirty="0">
                <a:solidFill>
                  <a:srgbClr val="020C31"/>
                </a:solidFill>
                <a:latin typeface="Montserrat"/>
              </a:rPr>
              <a:t>Appendix: Temporal Split Robustness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635" y="4952296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34155"/>
                </a:solidFill>
                <a:latin typeface="Montserrat"/>
              </a:rPr>
              <a:t>The main pipeline splits legit windows randomly across the week; real deployment fits on the past and scores the future. Rerun with a strict chronological split (1 day training, 4 days test): ROC-AUC 0.969, recall 90.1%, FPR 1.24% - held up, even with far less training data.</a:t>
            </a:r>
          </a:p>
        </p:txBody>
      </p:sp>
      <p:pic>
        <p:nvPicPr>
          <p:cNvPr id="6" name="Picture 5" descr="aegis_temporal_split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775" y="902335"/>
            <a:ext cx="10585125" cy="404996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23475" y="128016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dirty="0">
                <a:solidFill>
                  <a:srgbClr val="01ABDB"/>
                </a:solidFill>
                <a:latin typeface="Montserrat"/>
              </a:rPr>
              <a:t>APPENDIX - EXTRA STATISTICAL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3563" y="402336"/>
            <a:ext cx="9601200" cy="380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dirty="0">
                <a:solidFill>
                  <a:srgbClr val="020C31"/>
                </a:solidFill>
                <a:latin typeface="Montserrat"/>
              </a:rPr>
              <a:t>Appendix: Concept-Drift / Stationarity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635" y="4952296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34155"/>
                </a:solidFill>
                <a:latin typeface="Montserrat"/>
              </a:rPr>
              <a:t>Does an agent's 'normal' stay stable long enough for a one-time baseline to hold? KS-tests (day 1 vs. last day, FDR-corrected): 6 of 20 agent/feature pairs show real drift even within 5 synthetic days - motivating a periodic re-baselining cadence as an explicit Gate 3 requirement, not an assumption.</a:t>
            </a:r>
          </a:p>
        </p:txBody>
      </p:sp>
      <p:pic>
        <p:nvPicPr>
          <p:cNvPr id="6" name="Picture 5" descr="aegis_concept_drift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3369" y="902335"/>
            <a:ext cx="6479937" cy="404996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23475" y="128016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dirty="0">
                <a:solidFill>
                  <a:srgbClr val="01ABDB"/>
                </a:solidFill>
                <a:latin typeface="Montserrat"/>
              </a:rPr>
              <a:t>APPENDIX - EXTRA STATISTICAL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3563" y="402336"/>
            <a:ext cx="9601200" cy="380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dirty="0">
                <a:solidFill>
                  <a:srgbClr val="020C31"/>
                </a:solidFill>
                <a:latin typeface="Montserrat"/>
              </a:rPr>
              <a:t>Appendix: Adversarial Evasion Stress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635" y="4952296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34155"/>
                </a:solidFill>
                <a:latin typeface="Montserrat"/>
              </a:rPr>
              <a:t>All seven threats in the main evaluation are naive - none paced against our thresholds deliberately. Pacing the same T4 flood volume over 24 hours instead of 1 drops detection 100% to 0%. A real, demonstrated gap - the direct fix (a rolling volumetric accumulator, mirroring T3/T5) is now a named Gate 3 priority.</a:t>
            </a:r>
          </a:p>
        </p:txBody>
      </p:sp>
      <p:pic>
        <p:nvPicPr>
          <p:cNvPr id="6" name="Picture 5" descr="aegis_evasion_stress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887" y="902335"/>
            <a:ext cx="10124902" cy="40499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TIM Sans"/>
        <a:ea typeface=""/>
        <a:cs typeface=""/>
      </a:majorFont>
      <a:minorFont>
        <a:latin typeface="TIM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42D7E2E766E274BA85FFEF303FE3B84" ma:contentTypeVersion="11" ma:contentTypeDescription="Create a new document." ma:contentTypeScope="" ma:versionID="161f57f8e4da8c53066cecce20e1cf28">
  <xsd:schema xmlns:xsd="http://www.w3.org/2001/XMLSchema" xmlns:xs="http://www.w3.org/2001/XMLSchema" xmlns:p="http://schemas.microsoft.com/office/2006/metadata/properties" xmlns:ns2="df1bf422-076b-4923-a343-86f92e681c13" xmlns:ns3="17320c4f-b4d7-4a2f-a568-c234bef09358" targetNamespace="http://schemas.microsoft.com/office/2006/metadata/properties" ma:root="true" ma:fieldsID="3f75c0bee81b84287f3a5e0ecbeaea68" ns2:_="" ns3:_="">
    <xsd:import namespace="df1bf422-076b-4923-a343-86f92e681c13"/>
    <xsd:import namespace="17320c4f-b4d7-4a2f-a568-c234bef093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1bf422-076b-4923-a343-86f92e681c1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75195dc1-fe89-472b-8717-1a064048821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320c4f-b4d7-4a2f-a568-c234bef09358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d0e469e3-2d6b-4f07-ba7f-94947d0b2f8c}" ma:internalName="TaxCatchAll" ma:showField="CatchAllData" ma:web="17320c4f-b4d7-4a2f-a568-c234bef093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f1bf422-076b-4923-a343-86f92e681c13">
      <Terms xmlns="http://schemas.microsoft.com/office/infopath/2007/PartnerControls"/>
    </lcf76f155ced4ddcb4097134ff3c332f>
    <TaxCatchAll xmlns="17320c4f-b4d7-4a2f-a568-c234bef09358" xsi:nil="true"/>
  </documentManagement>
</p:properties>
</file>

<file path=customXml/itemProps1.xml><?xml version="1.0" encoding="utf-8"?>
<ds:datastoreItem xmlns:ds="http://schemas.openxmlformats.org/officeDocument/2006/customXml" ds:itemID="{4556ADC4-199E-44DC-A523-D8744D7BC35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CCF2E81-C883-4B0C-8083-6D912302FD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f1bf422-076b-4923-a343-86f92e681c13"/>
    <ds:schemaRef ds:uri="17320c4f-b4d7-4a2f-a568-c234bef0935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541EC5D-E343-4D44-BBD8-CEB67CBC2CC1}">
  <ds:schemaRefs>
    <ds:schemaRef ds:uri="0956c7b6-d154-4c2f-a855-f749c344b973"/>
    <ds:schemaRef ds:uri="85ac3166-3b04-459f-810a-4a1a3b1043f5"/>
    <ds:schemaRef ds:uri="9838d0a8-28ce-4517-850f-cd68f65e9223"/>
    <ds:schemaRef ds:uri="http://schemas.microsoft.com/office/2006/metadata/properties"/>
    <ds:schemaRef ds:uri="http://schemas.microsoft.com/office/infopath/2007/PartnerControls"/>
    <ds:schemaRef ds:uri="df1bf422-076b-4923-a343-86f92e681c13"/>
    <ds:schemaRef ds:uri="17320c4f-b4d7-4a2f-a568-c234bef0935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2261</Words>
  <Application>Microsoft Office PowerPoint</Application>
  <PresentationFormat>Widescreen</PresentationFormat>
  <Paragraphs>215</Paragraphs>
  <Slides>21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34" baseType="lpstr">
      <vt:lpstr>Arial</vt:lpstr>
      <vt:lpstr>Calibri</vt:lpstr>
      <vt:lpstr>Montserrat</vt:lpstr>
      <vt:lpstr>Montserrat Bold</vt:lpstr>
      <vt:lpstr>Montserrat Light</vt:lpstr>
      <vt:lpstr>Montserrat Medium</vt:lpstr>
      <vt:lpstr>Proxima Nova:</vt:lpstr>
      <vt:lpstr>Segoe UI</vt:lpstr>
      <vt:lpstr>TIM Sans</vt:lpstr>
      <vt:lpstr>TIM Sans Light</vt:lpstr>
      <vt:lpstr>TIM Sans Thin</vt:lpstr>
      <vt:lpstr>Tema di Office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CYBORG ACADEMY</dc:title>
  <dc:creator>Microsoft Office User</dc:creator>
  <cp:lastModifiedBy>FAUZAN EJAZ</cp:lastModifiedBy>
  <cp:revision>64</cp:revision>
  <cp:lastPrinted>2019-09-27T11:11:51Z</cp:lastPrinted>
  <dcterms:created xsi:type="dcterms:W3CDTF">2019-09-25T16:06:26Z</dcterms:created>
  <dcterms:modified xsi:type="dcterms:W3CDTF">2026-09-20T13:19:04Z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5e397fc-1581-4f20-a09a-f1b2dd53ab2e_Enabled">
    <vt:lpwstr>true</vt:lpwstr>
  </property>
  <property fmtid="{D5CDD505-2E9C-101B-9397-08002B2CF9AE}" pid="3" name="MSIP_Label_d5e397fc-1581-4f20-a09a-f1b2dd53ab2e_SetDate">
    <vt:lpwstr>2021-11-17T09:55:24Z</vt:lpwstr>
  </property>
  <property fmtid="{D5CDD505-2E9C-101B-9397-08002B2CF9AE}" pid="4" name="MSIP_Label_d5e397fc-1581-4f20-a09a-f1b2dd53ab2e_Method">
    <vt:lpwstr>Privileged</vt:lpwstr>
  </property>
  <property fmtid="{D5CDD505-2E9C-101B-9397-08002B2CF9AE}" pid="5" name="MSIP_Label_d5e397fc-1581-4f20-a09a-f1b2dd53ab2e_Name">
    <vt:lpwstr>PUBBLICO</vt:lpwstr>
  </property>
  <property fmtid="{D5CDD505-2E9C-101B-9397-08002B2CF9AE}" pid="6" name="MSIP_Label_d5e397fc-1581-4f20-a09a-f1b2dd53ab2e_SiteId">
    <vt:lpwstr>6815f468-021c-48f2-a6b2-d65c8e979dfb</vt:lpwstr>
  </property>
  <property fmtid="{D5CDD505-2E9C-101B-9397-08002B2CF9AE}" pid="7" name="MSIP_Label_d5e397fc-1581-4f20-a09a-f1b2dd53ab2e_ActionId">
    <vt:lpwstr>7b197b8f-7652-45e1-ab4f-07a24c18b5db</vt:lpwstr>
  </property>
  <property fmtid="{D5CDD505-2E9C-101B-9397-08002B2CF9AE}" pid="8" name="MSIP_Label_d5e397fc-1581-4f20-a09a-f1b2dd53ab2e_ContentBits">
    <vt:lpwstr>0</vt:lpwstr>
  </property>
  <property fmtid="{D5CDD505-2E9C-101B-9397-08002B2CF9AE}" pid="9" name="ContentTypeId">
    <vt:lpwstr>0x010100942D7E2E766E274BA85FFEF303FE3B84</vt:lpwstr>
  </property>
  <property fmtid="{D5CDD505-2E9C-101B-9397-08002B2CF9AE}" pid="10" name="MSIP_Label_2ad0b24d-6422-44b0-b3de-abb3a9e8c81a_Enabled">
    <vt:lpwstr>true</vt:lpwstr>
  </property>
  <property fmtid="{D5CDD505-2E9C-101B-9397-08002B2CF9AE}" pid="11" name="MSIP_Label_2ad0b24d-6422-44b0-b3de-abb3a9e8c81a_SetDate">
    <vt:lpwstr>2026-07-01T14:43:44Z</vt:lpwstr>
  </property>
  <property fmtid="{D5CDD505-2E9C-101B-9397-08002B2CF9AE}" pid="12" name="MSIP_Label_2ad0b24d-6422-44b0-b3de-abb3a9e8c81a_Method">
    <vt:lpwstr>Standard</vt:lpwstr>
  </property>
  <property fmtid="{D5CDD505-2E9C-101B-9397-08002B2CF9AE}" pid="13" name="MSIP_Label_2ad0b24d-6422-44b0-b3de-abb3a9e8c81a_Name">
    <vt:lpwstr>defa4170-0d19-0005-0004-bc88714345d2</vt:lpwstr>
  </property>
  <property fmtid="{D5CDD505-2E9C-101B-9397-08002B2CF9AE}" pid="14" name="MSIP_Label_2ad0b24d-6422-44b0-b3de-abb3a9e8c81a_SiteId">
    <vt:lpwstr>2fcfe26a-bb62-46b0-b1e3-28f9da0c45fd</vt:lpwstr>
  </property>
  <property fmtid="{D5CDD505-2E9C-101B-9397-08002B2CF9AE}" pid="15" name="MSIP_Label_2ad0b24d-6422-44b0-b3de-abb3a9e8c81a_ActionId">
    <vt:lpwstr>bd5a7b6a-91db-4137-b6db-996924422879</vt:lpwstr>
  </property>
  <property fmtid="{D5CDD505-2E9C-101B-9397-08002B2CF9AE}" pid="16" name="MSIP_Label_2ad0b24d-6422-44b0-b3de-abb3a9e8c81a_ContentBits">
    <vt:lpwstr>0</vt:lpwstr>
  </property>
  <property fmtid="{D5CDD505-2E9C-101B-9397-08002B2CF9AE}" pid="17" name="MSIP_Label_2ad0b24d-6422-44b0-b3de-abb3a9e8c81a_Tag">
    <vt:lpwstr>10, 3, 0, 1</vt:lpwstr>
  </property>
  <property fmtid="{D5CDD505-2E9C-101B-9397-08002B2CF9AE}" pid="18" name="MediaServiceImageTags">
    <vt:lpwstr/>
  </property>
</Properties>
</file>