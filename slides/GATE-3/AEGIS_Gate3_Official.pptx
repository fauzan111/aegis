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714C_0.xml" ContentType="application/vnd.ms-powerpoint.comments+xml"/>
  <Override PartName="/ppt/comments/modernComment_7144_0.xml" ContentType="application/vnd.ms-powerpoint.comments+xml"/>
  <Override PartName="/ppt/comments/modernComment_714D_0.xml" ContentType="application/vnd.ms-powerpoint.comments+xml"/>
  <Override PartName="/ppt/comments/modernComment_714E_0.xml" ContentType="application/vnd.ms-powerpoint.comments+xml"/>
  <Override PartName="/ppt/notesSlides/notesSlide3.xml" ContentType="application/vnd.openxmlformats-officedocument.presentationml.notesSlide+xml"/>
  <Override PartName="/ppt/comments/modernComment_7150_CEE9187A.xml" ContentType="application/vnd.ms-powerpoint.comments+xml"/>
  <Override PartName="/ppt/notesSlides/notesSlide4.xml" ContentType="application/vnd.openxmlformats-officedocument.presentationml.notesSlide+xml"/>
  <Override PartName="/ppt/comments/modernComment_713B_0.xml" ContentType="application/vnd.ms-powerpoint.comments+xml"/>
  <Override PartName="/ppt/notesSlides/notesSlide5.xml" ContentType="application/vnd.openxmlformats-officedocument.presentationml.notesSlide+xml"/>
  <Override PartName="/ppt/comments/modernComment_713C_0.xml" ContentType="application/vnd.ms-powerpoint.comments+xml"/>
  <Override PartName="/ppt/comments/modernComment_714F_0.xml" ContentType="application/vnd.ms-powerpoint.comments+xml"/>
  <Override PartName="/ppt/notesSlides/notesSlide6.xml" ContentType="application/vnd.openxmlformats-officedocument.presentationml.notesSlide+xml"/>
  <Override PartName="/ppt/comments/modernComment_714B_5015D6C2.xml" ContentType="application/vnd.ms-powerpoint.comments+xml"/>
  <Override PartName="/ppt/comments/modernComment_7145_0.xml" ContentType="application/vnd.ms-powerpoint.comments+xml"/>
  <Override PartName="/ppt/notesSlides/notesSlide7.xml" ContentType="application/vnd.openxmlformats-officedocument.presentationml.notesSlide+xml"/>
  <Override PartName="/ppt/comments/modernComment_713F_0.xml" ContentType="application/vnd.ms-powerpoint.comments+xml"/>
  <Override PartName="/ppt/notesSlides/notesSlide8.xml" ContentType="application/vnd.openxmlformats-officedocument.presentationml.notesSlide+xml"/>
  <Override PartName="/ppt/comments/modernComment_7140_0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6" r:id="rId5"/>
  </p:sldMasterIdLst>
  <p:notesMasterIdLst>
    <p:notesMasterId r:id="rId27"/>
  </p:notesMasterIdLst>
  <p:sldIdLst>
    <p:sldId id="348" r:id="rId6"/>
    <p:sldId id="257" r:id="rId7"/>
    <p:sldId id="29004" r:id="rId8"/>
    <p:sldId id="28996" r:id="rId9"/>
    <p:sldId id="29005" r:id="rId10"/>
    <p:sldId id="29006" r:id="rId11"/>
    <p:sldId id="29008" r:id="rId12"/>
    <p:sldId id="28987" r:id="rId13"/>
    <p:sldId id="28988" r:id="rId14"/>
    <p:sldId id="29007" r:id="rId15"/>
    <p:sldId id="29003" r:id="rId16"/>
    <p:sldId id="28997" r:id="rId17"/>
    <p:sldId id="28991" r:id="rId18"/>
    <p:sldId id="28992" r:id="rId19"/>
    <p:sldId id="28993" r:id="rId20"/>
    <p:sldId id="28984" r:id="rId21"/>
    <p:sldId id="28998" r:id="rId22"/>
    <p:sldId id="28999" r:id="rId23"/>
    <p:sldId id="29000" r:id="rId24"/>
    <p:sldId id="29001" r:id="rId25"/>
    <p:sldId id="29002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38" userDrawn="1">
          <p15:clr>
            <a:srgbClr val="A4A3A4"/>
          </p15:clr>
        </p15:guide>
        <p15:guide id="4" pos="7355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12BF023-B239-6139-D5B5-2490B3E1B82E}" name="vincenzo.merola2" initials="vi" userId="S::vincenzo.merola2_unina.it#ext#@politoit.onmicrosoft.com::ed3403ea-8563-4e91-b5d2-4ba84b2c65c2" providerId="AD"/>
  <p188:author id="{7F22336D-85CD-99C1-0006-2E9EDD339502}" name="FAUZAN EJAZ" initials="FE" userId="S::fa.ejaz@studenti.unina.it::8742967f-f964-4b93-910e-ce6f8ae6eaa7" providerId="AD"/>
  <p188:author id="{11686C97-ADD3-5CDE-B4D7-06A81A6EAA4F}" name="LUISA ANNA DAVINO-5G" initials="LD" userId="S::luisaanna.davino-5g@unina.it::e0d4f5f9-4e2d-474f-b739-88d264a4be6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F2E"/>
    <a:srgbClr val="04C87D"/>
    <a:srgbClr val="00F66F"/>
    <a:srgbClr val="17428B"/>
    <a:srgbClr val="50E517"/>
    <a:srgbClr val="3399FF"/>
    <a:srgbClr val="FC3FB2"/>
    <a:srgbClr val="0164F2"/>
    <a:srgbClr val="F187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8DA4BB-4C10-C8FD-0B17-DA40F724FFDC}" v="21" dt="2026-10-13T10:20:40.436"/>
    <p1510:client id="{B61359DA-1A15-9C6F-B1B3-BADE4E3B1D64}" v="10" dt="2026-10-13T13:33:33.290"/>
    <p1510:client id="{E8EEC29B-1B2D-E4DF-2433-514D61784AAF}" v="41" dt="2026-10-13T09:17:25.8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5726" autoAdjust="0"/>
  </p:normalViewPr>
  <p:slideViewPr>
    <p:cSldViewPr snapToGrid="0">
      <p:cViewPr varScale="1">
        <p:scale>
          <a:sx n="92" d="100"/>
          <a:sy n="92" d="100"/>
        </p:scale>
        <p:origin x="173" y="62"/>
      </p:cViewPr>
      <p:guideLst>
        <p:guide orient="horz" pos="2183"/>
        <p:guide pos="3840"/>
        <p:guide pos="438"/>
        <p:guide pos="73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omments/modernComment_713B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770B05-CE75-43F9-9846-B61DC4D294AF}" authorId="{912BF023-B239-6139-D5B5-2490B3E1B82E}" created="2026-10-13T09:17:25.879">
    <pc:sldMkLst xmlns:pc="http://schemas.microsoft.com/office/powerpoint/2013/main/command">
      <pc:docMk/>
      <pc:sldMk cId="0" sldId="28987"/>
    </pc:sldMkLst>
    <p188:txBody>
      <a:bodyPr/>
      <a:lstStyle/>
      <a:p>
        <a:r>
          <a:rPr lang="it-IT"/>
          <a:t>Again the three blocks pass, step up and block is redundant. You can explain better the two layers, what they consist of. Then the risk formula, since is a math formula, can be in the center, written using powerpoint tool for equations</a:t>
        </a:r>
      </a:p>
    </p188:txBody>
  </p188:cm>
</p188:cmLst>
</file>

<file path=ppt/comments/modernComment_713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4332C8-F1CC-45FB-BE0E-4A439C9EAE3F}" authorId="{912BF023-B239-6139-D5B5-2490B3E1B82E}" created="2026-10-13T09:43:33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8988"/>
      <ac:spMk id="4" creationId="{00000000-0000-0000-0000-000000000000}"/>
    </ac:deMkLst>
    <p188:txBody>
      <a:bodyPr/>
      <a:lstStyle/>
      <a:p>
        <a:r>
          <a:rPr lang="it-IT"/>
          <a:t>Useless</a:t>
        </a:r>
      </a:p>
    </p188:txBody>
  </p188:cm>
  <p188:cm id="{BB10D650-96A3-4746-8208-855D41218990}" authorId="{912BF023-B239-6139-D5B5-2490B3E1B82E}" created="2026-10-13T09:46:28.656">
    <pc:sldMkLst xmlns:pc="http://schemas.microsoft.com/office/powerpoint/2013/main/command">
      <pc:docMk/>
      <pc:sldMk cId="0" sldId="28988"/>
    </pc:sldMkLst>
    <p188:txBody>
      <a:bodyPr/>
      <a:lstStyle/>
      <a:p>
        <a:r>
          <a:rPr lang="it-IT"/>
          <a:t>I would put the description on the top and the graphic on the bottom.</a:t>
        </a:r>
      </a:p>
    </p188:txBody>
  </p188:cm>
</p188:cmLst>
</file>

<file path=ppt/comments/modernComment_713F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4F012C-2FFE-43EB-966F-CD642E37A1FE}" authorId="{912BF023-B239-6139-D5B5-2490B3E1B82E}" created="2026-10-13T10:17:35.368">
    <pc:sldMkLst xmlns:pc="http://schemas.microsoft.com/office/powerpoint/2013/main/command">
      <pc:docMk/>
      <pc:sldMk cId="0" sldId="28991"/>
    </pc:sldMkLst>
    <p188:txBody>
      <a:bodyPr/>
      <a:lstStyle/>
      <a:p>
        <a:r>
          <a:rPr lang="it-IT"/>
          <a:t>Same</a:t>
        </a:r>
      </a:p>
    </p188:txBody>
  </p188:cm>
</p188:cmLst>
</file>

<file path=ppt/comments/modernComment_714B_5015D6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E79E2D-E1B9-4AAE-9F06-323F9A161D85}" authorId="{912BF023-B239-6139-D5B5-2490B3E1B82E}" created="2026-10-13T09:59:34.10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343608514" sldId="29003"/>
      <ac:picMk id="23" creationId="{00000000-0000-0000-0000-000000000000}"/>
    </ac:deMkLst>
    <p188:txBody>
      <a:bodyPr/>
      <a:lstStyle/>
      <a:p>
        <a:r>
          <a:rPr lang="it-IT"/>
          <a:t>The diagram should be more visible, even sacrificing the other boxes if necessary.</a:t>
        </a:r>
      </a:p>
    </p188:txBody>
  </p188:cm>
  <p188:cm id="{3F435618-51C6-45B1-9014-56954D30503C}" authorId="{912BF023-B239-6139-D5B5-2490B3E1B82E}" created="2026-10-13T10:00:50.04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343608514" sldId="29003"/>
      <ac:spMk id="6" creationId="{00000000-0000-0000-0000-000000000000}"/>
    </ac:deMkLst>
    <p188:txBody>
      <a:bodyPr/>
      <a:lstStyle/>
      <a:p>
        <a:r>
          <a:rPr lang="it-IT"/>
          <a:t>Short sentences, or brief titles. These texts are not clear what they are explaining</a:t>
        </a:r>
      </a:p>
    </p188:txBody>
  </p188:cm>
</p188:cmLst>
</file>

<file path=ppt/comments/modernComment_714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32B348-4388-4C03-B9CE-1FD1A5A302BE}" authorId="{912BF023-B239-6139-D5B5-2490B3E1B82E}" created="2026-10-13T08:57:37.56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9004"/>
      <ac:spMk id="18" creationId="{00000000-0000-0000-0000-000000000000}"/>
      <ac:txMk cp="43" len="93">
        <ac:context len="137" hash="3736574532"/>
      </ac:txMk>
    </ac:txMkLst>
    <p188:pos x="6611696" y="477212"/>
    <p188:txBody>
      <a:bodyPr/>
      <a:lstStyle/>
      <a:p>
        <a:r>
          <a:rPr lang="it-IT"/>
          <a:t>This can be a good introduction, it should be more visible, maybe on the top instead of the other text box. There is currently too much on the slide</a:t>
        </a:r>
      </a:p>
    </p188:txBody>
  </p188:cm>
  <p188:cm id="{AA0DB040-98BD-414E-AA0E-A653CF10EA94}" authorId="{912BF023-B239-6139-D5B5-2490B3E1B82E}" created="2026-10-13T08:59:18.216">
    <pc:sldMkLst xmlns:pc="http://schemas.microsoft.com/office/powerpoint/2013/main/command">
      <pc:docMk/>
      <pc:sldMk cId="0" sldId="29004"/>
    </pc:sldMkLst>
    <p188:txBody>
      <a:bodyPr/>
      <a:lstStyle/>
      <a:p>
        <a:r>
          <a:rPr lang="it-IT"/>
          <a:t>13 font is too tiny. 15 is better.
This is for everithing in the presentation. It's better to have a single visible sentence, instead of an explanation that noone can read and understand in the short presentation time</a:t>
        </a:r>
      </a:p>
    </p188:txBody>
  </p188:cm>
  <p188:cm id="{70760D60-0FED-4091-AA2C-2E6CA3B150F7}" authorId="{912BF023-B239-6139-D5B5-2490B3E1B82E}" created="2026-10-13T09:12:26.2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9004"/>
      <ac:spMk id="6" creationId="{00000000-0000-0000-0000-000000000000}"/>
    </ac:deMkLst>
    <p188:txBody>
      <a:bodyPr/>
      <a:lstStyle/>
      <a:p>
        <a:r>
          <a:rPr lang="it-IT"/>
          <a:t>Those are redundant and not necessary here, since you are just introducing</a:t>
        </a:r>
      </a:p>
    </p188:txBody>
  </p188:cm>
</p188:cmLst>
</file>

<file path=ppt/comments/modernComment_714D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C7C1BD6-211D-4443-8D5F-980FC9AD2839}" authorId="{912BF023-B239-6139-D5B5-2490B3E1B82E}" created="2026-10-13T09:02:14.194">
    <pc:sldMkLst xmlns:pc="http://schemas.microsoft.com/office/powerpoint/2013/main/command">
      <pc:docMk/>
      <pc:sldMk cId="0" sldId="29005"/>
    </pc:sldMkLst>
    <p188:txBody>
      <a:bodyPr/>
      <a:lstStyle/>
      <a:p>
        <a:r>
          <a:rPr lang="it-IT"/>
          <a:t>Here is the same. Who could read what is written on the top? better to eliminate, recenter the whole diagram, that is good, with greater font and shorter sentences</a:t>
        </a:r>
      </a:p>
    </p188:txBody>
  </p188:cm>
</p188:cmLst>
</file>

<file path=ppt/comments/modernComment_714E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A89BF-291F-44A5-8990-6744FF31384F}" authorId="{912BF023-B239-6139-D5B5-2490B3E1B82E}" created="2026-10-13T09:05:08.14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9006"/>
      <ac:graphicFrameMk id="5" creationId="{00000000-0000-0000-0000-000000000000}"/>
    </ac:deMkLst>
    <p188:txBody>
      <a:bodyPr/>
      <a:lstStyle/>
      <a:p>
        <a:r>
          <a:rPr lang="it-IT"/>
          <a:t>Same here, the text on the top is useless, the table is the main item on the slide and should be centered, with higher font</a:t>
        </a:r>
      </a:p>
    </p188:txBody>
  </p188:cm>
</p188:cmLst>
</file>

<file path=ppt/comments/modernComment_714F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E8BF0D9-834A-499E-93A7-E9B570A45876}" authorId="{912BF023-B239-6139-D5B5-2490B3E1B82E}" created="2026-10-13T09:51:25.2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9007"/>
      <ac:spMk id="6" creationId="{00000000-0000-0000-0000-000000000000}"/>
    </ac:deMkLst>
    <p188:txBody>
      <a:bodyPr/>
      <a:lstStyle/>
      <a:p>
        <a:r>
          <a:rPr lang="it-IT"/>
          <a:t>Don't need to tell the name used in the algorithm, only the explaination of the features</a:t>
        </a:r>
      </a:p>
    </p188:txBody>
  </p188:cm>
  <p188:cm id="{9416D613-6FD2-48FF-94D1-4DAC0ED2057F}" authorId="{912BF023-B239-6139-D5B5-2490B3E1B82E}" created="2026-10-13T09:58:28.2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9007"/>
      <ac:spMk id="4" creationId="{00000000-0000-0000-0000-000000000000}"/>
    </ac:deMkLst>
    <p188:txBody>
      <a:bodyPr/>
      <a:lstStyle/>
      <a:p>
        <a:r>
          <a:rPr lang="it-IT"/>
          <a:t>I’ll use this sentence as an example: “Unsupervised learning: the gate recognizes drifts from agents it has never seen.”
AI tools tend to generate text that reacts to what you asked them, so they often describe what a method doesn’t do or shouldn’t do. A slide should only state what you did and what the algorithm actually does.
I see many sentences in this presentation that look like they were generated by ChatGPT or a similar tool in this way. You should write them yourselves, or at least carefully check everything before it goes on a slide. It’s not acceptable to present something you can’t explain or defend.</a:t>
        </a:r>
      </a:p>
    </p188:txBody>
  </p188:cm>
</p188:cmLst>
</file>

<file path=ppt/comments/modernComment_714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6A415F-E74C-4E84-BEC8-058A349999E4}" authorId="{912BF023-B239-6139-D5B5-2490B3E1B82E}" created="2026-10-13T10:17:41.259">
    <pc:sldMkLst xmlns:pc="http://schemas.microsoft.com/office/powerpoint/2013/main/command">
      <pc:docMk/>
      <pc:sldMk cId="0" sldId="28992"/>
    </pc:sldMkLst>
    <p188:txBody>
      <a:bodyPr/>
      <a:lstStyle/>
      <a:p>
        <a:r>
          <a:rPr lang="it-IT"/>
          <a:t>Same</a:t>
        </a:r>
      </a:p>
    </p188:txBody>
  </p188:cm>
</p188:cmLst>
</file>

<file path=ppt/comments/modernComment_714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D897CF-B778-4170-88DE-8855433A78E5}" authorId="{912BF023-B239-6139-D5B5-2490B3E1B82E}" created="2026-10-13T09:08:35.095">
    <pc:sldMkLst xmlns:pc="http://schemas.microsoft.com/office/powerpoint/2013/main/command">
      <pc:docMk/>
      <pc:sldMk cId="0" sldId="28996"/>
    </pc:sldMkLst>
    <p188:txBody>
      <a:bodyPr/>
      <a:lstStyle/>
      <a:p>
        <a:r>
          <a:rPr lang="it-IT"/>
          <a:t>Actually a better ordering can be: state of the art, the gap, and then your solution</a:t>
        </a:r>
      </a:p>
    </p188:txBody>
  </p188:cm>
  <p188:cm id="{F125372E-3464-4BEF-804E-672668F30718}" authorId="{912BF023-B239-6139-D5B5-2490B3E1B82E}" created="2026-10-13T09:11:12.950">
    <pc:sldMkLst xmlns:pc="http://schemas.microsoft.com/office/powerpoint/2013/main/command">
      <pc:docMk/>
      <pc:sldMk cId="0" sldId="28996"/>
    </pc:sldMkLst>
    <p188:txBody>
      <a:bodyPr/>
      <a:lstStyle/>
      <a:p>
        <a:r>
          <a:rPr lang="it-IT"/>
          <a:t>This slide is better to be the 4th, before telling what is your proposal. Also i don't like what is written inside the solution and state of art boxes, because it doesn't clarify what model state of art uses and what is your solution model</a:t>
        </a:r>
      </a:p>
    </p188:txBody>
  </p188:cm>
</p188:cmLst>
</file>

<file path=ppt/comments/modernComment_714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D78AB40-8D2B-4E4D-AE7D-2DAE839873DF}" authorId="{912BF023-B239-6139-D5B5-2490B3E1B82E}" created="2026-10-13T10:02:44.357">
    <pc:sldMkLst xmlns:pc="http://schemas.microsoft.com/office/powerpoint/2013/main/command">
      <pc:docMk/>
      <pc:sldMk cId="0" sldId="28997"/>
    </pc:sldMkLst>
    <p188:txBody>
      <a:bodyPr/>
      <a:lstStyle/>
      <a:p>
        <a:r>
          <a:rPr lang="it-IT"/>
          <a:t>That's good, but again the text below is useless if there are too many numbers that are already on the graphics.</a:t>
        </a:r>
      </a:p>
    </p188:txBody>
  </p188:cm>
</p188:cmLst>
</file>

<file path=ppt/comments/modernComment_7150_CEE918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8E2E4E-88F9-4169-9791-A84D83684BE5}" authorId="{912BF023-B239-6139-D5B5-2490B3E1B82E}" created="2026-10-13T09:15:32.076">
    <pc:sldMkLst xmlns:pc="http://schemas.microsoft.com/office/powerpoint/2013/main/command">
      <pc:docMk/>
      <pc:sldMk cId="3471382650" sldId="29008"/>
    </pc:sldMkLst>
    <p188:txBody>
      <a:bodyPr/>
      <a:lstStyle/>
      <a:p>
        <a:r>
          <a:rPr lang="it-IT"/>
          <a:t>Ok that's way better than before. Remove again the topmost text. You will gain much space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16BA8-1C26-E241-87A3-7E6D47DF2B15}" type="datetimeFigureOut">
              <a:rPr lang="it-IT" smtClean="0"/>
              <a:t>15/10/2026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it-IT"/>
              <a:t>Modifica gli stili del testo dello schema
Secondo livello
Terzo livello
Quarto livello
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E622D-138F-DD46-A48B-F8C674FCEA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21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7D708-306A-893D-5059-CDAC1ED77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A8C2AB-921D-732F-F384-941D6A4CF7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8E174-849B-FDBF-A642-2EA4E88B0B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84EF5-93CF-F29C-1829-19B5F2415E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0644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1676-A6B0-4FC9-3439-A6ECDB21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781DE-3DEE-C9D8-001D-2822AECD82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9598F-6A57-E7C6-685A-D59E9540A0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973F-B497-2C41-F44E-12D0CD010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0914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/>
              <a:t>BACKUP SLIDES BELOW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36">
            <a:extLst>
              <a:ext uri="{FF2B5EF4-FFF2-40B4-BE49-F238E27FC236}">
                <a16:creationId xmlns:a16="http://schemas.microsoft.com/office/drawing/2014/main" id="{1DE15293-BBE7-C8E1-2DF8-30CAECC22826}"/>
              </a:ext>
            </a:extLst>
          </p:cNvPr>
          <p:cNvSpPr txBox="1"/>
          <p:nvPr userDrawn="1"/>
        </p:nvSpPr>
        <p:spPr>
          <a:xfrm>
            <a:off x="182210" y="78645"/>
            <a:ext cx="795943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>
                <a:solidFill>
                  <a:srgbClr val="0033A1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5G Academy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33A1"/>
              </a:solidFill>
              <a:effectLst/>
              <a:uLnTx/>
              <a:uFillTx/>
              <a:latin typeface="Montserrat" panose="00000500000000000000" pitchFamily="2" charset="0"/>
              <a:ea typeface="Arimo"/>
              <a:cs typeface="Arimo"/>
              <a:sym typeface="Arimo"/>
            </a:endParaRP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C86583FA-552E-6B94-F508-9154D8640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87" b="93913" l="9878" r="89948">
                        <a14:foregroundMark x1="41608" y1="9043" x2="56556" y2="6087"/>
                        <a14:foregroundMark x1="56556" y1="6087" x2="59091" y2="8870"/>
                        <a14:foregroundMark x1="57255" y1="8870" x2="50787" y2="8348"/>
                        <a14:foregroundMark x1="30944" y1="90609" x2="39423" y2="88522"/>
                        <a14:foregroundMark x1="64073" y1="89913" x2="69668" y2="89913"/>
                        <a14:foregroundMark x1="66608" y1="93913" x2="68269" y2="93565"/>
                        <a14:foregroundMark x1="65035" y1="93739" x2="68619" y2="93217"/>
                        <a14:foregroundMark x1="40035" y1="93043" x2="52185" y2="92696"/>
                        <a14:foregroundMark x1="52185" y1="92696" x2="52273" y2="9269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43269" y="0"/>
            <a:ext cx="2148731" cy="108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00DE8E5E-6283-0987-D10B-B434F14E498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210" y="5699355"/>
            <a:ext cx="171304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326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27652F9-EFE9-44A5-8988-DD8A57D594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891851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F00401-1613-4904-9E88-3300247588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183" r="20122"/>
          <a:stretch/>
        </p:blipFill>
        <p:spPr>
          <a:xfrm>
            <a:off x="5891851" y="0"/>
            <a:ext cx="6310344" cy="6161903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A6F41FCF-E5DC-4DFC-9EC4-9A2DB9ACD48B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28FC1009-BB95-4A95-B0B4-F62D9482D448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40801821-83B6-4071-904F-3FF70C150930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20" name="Shape 13">
            <a:extLst>
              <a:ext uri="{FF2B5EF4-FFF2-40B4-BE49-F238E27FC236}">
                <a16:creationId xmlns:a16="http://schemas.microsoft.com/office/drawing/2014/main" id="{02A19192-2819-48DA-BE5F-DDDAFE72CBEB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Segnaposto piè di pagina 8">
            <a:extLst>
              <a:ext uri="{FF2B5EF4-FFF2-40B4-BE49-F238E27FC236}">
                <a16:creationId xmlns:a16="http://schemas.microsoft.com/office/drawing/2014/main" id="{B9628792-1808-40FB-81A8-B4A1607E2439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77C4A-9D55-8A4E-A6E3-A13696593F7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76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A75DD54-AA16-4D96-BA18-46F0B18EC3E2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" name="Picture 2">
            <a:extLst>
              <a:ext uri="{FF2B5EF4-FFF2-40B4-BE49-F238E27FC236}">
                <a16:creationId xmlns:a16="http://schemas.microsoft.com/office/drawing/2014/main" id="{3B1CA809-7FB2-A647-8C49-995400A948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51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22" name="Picture 2">
            <a:extLst>
              <a:ext uri="{FF2B5EF4-FFF2-40B4-BE49-F238E27FC236}">
                <a16:creationId xmlns:a16="http://schemas.microsoft.com/office/drawing/2014/main" id="{209BFF25-38BB-9B48-B869-084262A4D1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3" y="6215062"/>
            <a:ext cx="1812818" cy="54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E46776ED-56DD-CD48-95A3-4A00B81FDB6F}"/>
              </a:ext>
            </a:extLst>
          </p:cNvPr>
          <p:cNvSpPr txBox="1">
            <a:spLocks/>
          </p:cNvSpPr>
          <p:nvPr userDrawn="1"/>
        </p:nvSpPr>
        <p:spPr>
          <a:xfrm>
            <a:off x="6034636" y="64754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rgbClr val="17428B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C8F8ED44-83FD-D141-B369-1B7D67D8C26A}"/>
              </a:ext>
            </a:extLst>
          </p:cNvPr>
          <p:cNvSpPr txBox="1">
            <a:spLocks/>
          </p:cNvSpPr>
          <p:nvPr userDrawn="1"/>
        </p:nvSpPr>
        <p:spPr>
          <a:xfrm>
            <a:off x="8767482" y="66341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rgbClr val="17428B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cxnSp>
        <p:nvCxnSpPr>
          <p:cNvPr id="14" name="Shape 13">
            <a:extLst>
              <a:ext uri="{FF2B5EF4-FFF2-40B4-BE49-F238E27FC236}">
                <a16:creationId xmlns:a16="http://schemas.microsoft.com/office/drawing/2014/main" id="{724C64B5-2135-D44C-AAA0-6D642DB8801B}"/>
              </a:ext>
            </a:extLst>
          </p:cNvPr>
          <p:cNvCxnSpPr/>
          <p:nvPr userDrawn="1"/>
        </p:nvCxnSpPr>
        <p:spPr>
          <a:xfrm>
            <a:off x="11802745" y="6498248"/>
            <a:ext cx="0" cy="260350"/>
          </a:xfrm>
          <a:prstGeom prst="straightConnector1">
            <a:avLst/>
          </a:prstGeom>
          <a:noFill/>
          <a:ln w="9525" cap="flat" cmpd="sng">
            <a:solidFill>
              <a:srgbClr val="17428B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8085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7E2266D7-7A33-094B-B198-C964BD357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3746" y="-120920"/>
            <a:ext cx="9301018" cy="6292603"/>
          </a:xfrm>
          <a:prstGeom prst="rect">
            <a:avLst/>
          </a:prstGeom>
        </p:spPr>
      </p:pic>
      <p:sp>
        <p:nvSpPr>
          <p:cNvPr id="13" name="Figura a mano libera 12">
            <a:extLst>
              <a:ext uri="{FF2B5EF4-FFF2-40B4-BE49-F238E27FC236}">
                <a16:creationId xmlns:a16="http://schemas.microsoft.com/office/drawing/2014/main" id="{02FE016D-82AA-144C-9BEB-6C7641E4C1DD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7DA939-308A-4597-9793-C9E9A974CE6E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Segnaposto data 7">
            <a:extLst>
              <a:ext uri="{FF2B5EF4-FFF2-40B4-BE49-F238E27FC236}">
                <a16:creationId xmlns:a16="http://schemas.microsoft.com/office/drawing/2014/main" id="{FA6D9DE1-66BC-46BD-AA34-23617AA9C41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5" name="Segnaposto piè di pagina 8">
            <a:extLst>
              <a:ext uri="{FF2B5EF4-FFF2-40B4-BE49-F238E27FC236}">
                <a16:creationId xmlns:a16="http://schemas.microsoft.com/office/drawing/2014/main" id="{F89DCB51-4813-44E7-9DAE-DB8966014287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193EF4F-7929-48F5-9DCF-325B2B7685D9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7" name="Shape 13">
            <a:extLst>
              <a:ext uri="{FF2B5EF4-FFF2-40B4-BE49-F238E27FC236}">
                <a16:creationId xmlns:a16="http://schemas.microsoft.com/office/drawing/2014/main" id="{13145520-2C98-47BB-8396-5BC4190FF8D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661FF91-1E64-408D-8467-B6CFC2BB78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7562" r="68923"/>
          <a:stretch/>
        </p:blipFill>
        <p:spPr>
          <a:xfrm>
            <a:off x="304810" y="6296025"/>
            <a:ext cx="1412865" cy="3415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8A8C316-4765-4C66-9C43-C643A1A9BD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2053" t="68030" r="36792"/>
          <a:stretch/>
        </p:blipFill>
        <p:spPr>
          <a:xfrm>
            <a:off x="2398168" y="6311949"/>
            <a:ext cx="855737" cy="3904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BE4EE4E-E94C-42B4-9C55-2181A704D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1207" t="72041" b="-1"/>
          <a:stretch/>
        </p:blipFill>
        <p:spPr>
          <a:xfrm>
            <a:off x="3996700" y="6345847"/>
            <a:ext cx="854391" cy="29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36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Cia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ABD284CF-5A53-7E4C-A0FF-4F6F5FC5934D}"/>
              </a:ext>
            </a:extLst>
          </p:cNvPr>
          <p:cNvSpPr/>
          <p:nvPr userDrawn="1"/>
        </p:nvSpPr>
        <p:spPr>
          <a:xfrm>
            <a:off x="0" y="6167245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6B8FA853-C8E7-C54C-8B6F-4E6BDB270CEA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93BC1F67-F758-3842-BA3B-779704EBBAD3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Lecturer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, Company/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Univerisity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endParaRPr lang="it-IT">
              <a:solidFill>
                <a:schemeClr val="bg1"/>
              </a:solidFill>
              <a:latin typeface="TIM Sans" panose="02020503040602060503" pitchFamily="18" charset="77"/>
            </a:endParaRP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FC9D4B3B-DA08-D14A-A469-C98FFEDB75D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3E706A71-5D21-9B43-9D04-E97A62E6B13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B8CC1A6A-2927-6145-A5C7-DC53DF46320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563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40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EE59C3-2158-4C5C-8F9C-12D4DC8173F3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F56FEBE0-8B4E-4769-9B06-8EC9FCB30F73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F423495D-F89D-49C6-89F6-C7E044B3EBAE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47161C9-66BE-4806-91C1-9180C1A3A822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40CF238A-1C41-4AC9-9070-8F54C8B7D93D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AA263EC-FE94-FC48-A576-EB5DF4C8D5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831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Gial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0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C00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18770C84-C4A1-4B18-8280-6D4B3C5A55E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AE3FDCE-918D-4007-BB01-464A9B573236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42F6AC0-CAEC-4C31-8598-6B0EB48D7D54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9DD902A-D84E-45EE-A0DF-B635D107DCA1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7B47C9DD-7C78-465D-85EB-90802589E5E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F77C323C-B55C-7848-8848-79B4755A456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6178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Ros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A0C9D1-2396-410F-A920-FAD1C2A10AD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457C81E1-3B0B-4493-B5F3-666F46D59EB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875599AE-43AD-4130-A3AD-F717FAF07D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266FF8C-3CC0-4458-9CAB-9F073955C70C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503FEE4B-E28F-4992-ABAD-13F0AFE7C052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543962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Ver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BB51B97-A265-4118-A8E7-67D36A07DC4C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814D68B-BE4E-4C63-B73A-462911E6E294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CBBF35D-2BC3-45E0-83BB-E428F1B69D18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53EB5D3-FB71-4345-A864-2458AB9D1F78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17A154B9-8251-413C-AEFC-1632EC7E094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D4F2583-BB63-144F-92EC-264C680DA6B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2229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37">
            <a:extLst>
              <a:ext uri="{FF2B5EF4-FFF2-40B4-BE49-F238E27FC236}">
                <a16:creationId xmlns:a16="http://schemas.microsoft.com/office/drawing/2014/main" id="{E79329A4-E11A-8A4B-6A05-6785ADF2D604}"/>
              </a:ext>
            </a:extLst>
          </p:cNvPr>
          <p:cNvSpPr txBox="1"/>
          <p:nvPr userDrawn="1"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59"/>
              </a:lnSpc>
            </a:pPr>
            <a:fld id="{9D069B2F-4B80-4BD9-B833-B84155CAE399}" type="slidenum">
              <a:rPr lang="en-US" sz="933" smtClean="0">
                <a:solidFill>
                  <a:srgbClr val="122AC2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>
                <a:lnSpc>
                  <a:spcPts val="959"/>
                </a:lnSpc>
              </a:pPr>
              <a:t>‹#›</a:t>
            </a:fld>
            <a:endParaRPr lang="en-US" sz="933">
              <a:solidFill>
                <a:srgbClr val="122AC2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2030087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564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6" r:id="rId2"/>
    <p:sldLayoutId id="2147483664" r:id="rId3"/>
    <p:sldLayoutId id="2147483665" r:id="rId4"/>
    <p:sldLayoutId id="2147483659" r:id="rId5"/>
    <p:sldLayoutId id="2147483650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388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microsoft.com/office/2018/10/relationships/comments" Target="../comments/modernComment_714C_0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7144_0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714D_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714E_0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50_CEE9187A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3B_0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3C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714F_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4B_5015D6C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8/10/relationships/comments" Target="../comments/modernComment_7145_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3F_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140_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3.jpg"/><Relationship Id="rId4" Type="http://schemas.openxmlformats.org/officeDocument/2006/relationships/notesSlide" Target="../notesSlides/notesSlide9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aegis5gacademy.streamlit.app/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fauzan111.github.io/AEGIS/#gate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fauzan111/AEGIS" TargetMode="Externa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5">
            <a:extLst>
              <a:ext uri="{FF2B5EF4-FFF2-40B4-BE49-F238E27FC236}">
                <a16:creationId xmlns:a16="http://schemas.microsoft.com/office/drawing/2014/main" id="{077ABD21-9B4B-7E2B-21D5-64D10304170D}"/>
              </a:ext>
            </a:extLst>
          </p:cNvPr>
          <p:cNvSpPr/>
          <p:nvPr/>
        </p:nvSpPr>
        <p:spPr>
          <a:xfrm>
            <a:off x="327101" y="2190085"/>
            <a:ext cx="305673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09660"/>
            <a:r>
              <a:rPr lang="en-US" sz="2000" b="1" dirty="0">
                <a:solidFill>
                  <a:prstClr val="white"/>
                </a:solidFill>
                <a:latin typeface="Montserrat Bold" panose="00000800000000000000" pitchFamily="2" charset="0"/>
              </a:rPr>
              <a:t>Postgraduate Course</a:t>
            </a:r>
          </a:p>
          <a:p>
            <a:pPr algn="ctr" defTabSz="609660"/>
            <a:r>
              <a:rPr lang="en-US" sz="2000" b="1" dirty="0">
                <a:solidFill>
                  <a:prstClr val="white"/>
                </a:solidFill>
                <a:latin typeface="Montserrat Bold" panose="00000800000000000000" pitchFamily="2" charset="0"/>
              </a:rPr>
              <a:t>2026</a:t>
            </a:r>
          </a:p>
        </p:txBody>
      </p:sp>
      <p:sp>
        <p:nvSpPr>
          <p:cNvPr id="46" name="Rectangle 20">
            <a:extLst>
              <a:ext uri="{FF2B5EF4-FFF2-40B4-BE49-F238E27FC236}">
                <a16:creationId xmlns:a16="http://schemas.microsoft.com/office/drawing/2014/main" id="{0127B319-7C2D-D35C-CE0E-432ABF833040}"/>
              </a:ext>
            </a:extLst>
          </p:cNvPr>
          <p:cNvSpPr/>
          <p:nvPr/>
        </p:nvSpPr>
        <p:spPr>
          <a:xfrm>
            <a:off x="327101" y="2849201"/>
            <a:ext cx="3173534" cy="3957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09660"/>
            <a:r>
              <a:rPr lang="it-IT" sz="1383" dirty="0">
                <a:solidFill>
                  <a:prstClr val="white"/>
                </a:solidFill>
                <a:latin typeface="Montserrat" panose="00000500000000000000" pitchFamily="2" charset="0"/>
              </a:rPr>
              <a:t>https://www.5gacademy.unina.it/</a:t>
            </a:r>
          </a:p>
        </p:txBody>
      </p:sp>
      <p:pic>
        <p:nvPicPr>
          <p:cNvPr id="2" name="Immagine 1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5A9C664-06DD-1608-258F-211AAF76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3950854" y="1060806"/>
            <a:ext cx="8113510" cy="5218669"/>
          </a:xfrm>
          <a:prstGeom prst="rect">
            <a:avLst/>
          </a:prstGeom>
        </p:spPr>
      </p:pic>
      <p:grpSp>
        <p:nvGrpSpPr>
          <p:cNvPr id="3" name="Gruppo 2">
            <a:extLst>
              <a:ext uri="{FF2B5EF4-FFF2-40B4-BE49-F238E27FC236}">
                <a16:creationId xmlns:a16="http://schemas.microsoft.com/office/drawing/2014/main" id="{63737ECD-B85F-080A-2E65-A69458C8BD7E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F5FE7BF-8429-A4C6-5E0A-D00043CF4562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DDC659B1-68BC-1148-716E-CB9C8C05CD79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C84D910F-8A7B-6284-71D6-8EE7A6299D9D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89F89B84-1F31-4568-D686-A106A09A2EF6}"/>
              </a:ext>
            </a:extLst>
          </p:cNvPr>
          <p:cNvGrpSpPr/>
          <p:nvPr/>
        </p:nvGrpSpPr>
        <p:grpSpPr>
          <a:xfrm>
            <a:off x="553704" y="3810946"/>
            <a:ext cx="2628172" cy="1676493"/>
            <a:chOff x="1040621" y="3487333"/>
            <a:chExt cx="2628172" cy="1676493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A51FEE1D-1B7B-888D-38D9-93B0B9331932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19" name="Elemento grafico 18">
              <a:extLst>
                <a:ext uri="{FF2B5EF4-FFF2-40B4-BE49-F238E27FC236}">
                  <a16:creationId xmlns:a16="http://schemas.microsoft.com/office/drawing/2014/main" id="{23A574F8-B2CD-8089-BF51-F06DC77A4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0" name="Elemento grafico 19">
              <a:extLst>
                <a:ext uri="{FF2B5EF4-FFF2-40B4-BE49-F238E27FC236}">
                  <a16:creationId xmlns:a16="http://schemas.microsoft.com/office/drawing/2014/main" id="{65DADA3A-0BE0-8E2A-FBCB-6B447C7369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032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6"/>
          <p:cNvSpPr txBox="1"/>
          <p:nvPr/>
        </p:nvSpPr>
        <p:spPr>
          <a:xfrm>
            <a:off x="900613" y="83456"/>
            <a:ext cx="3906520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defRPr/>
            </a:pPr>
            <a:r>
              <a:rPr lang="en-US" sz="3600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AEGIS </a:t>
            </a:r>
            <a:endParaRPr sz="3200" dirty="0"/>
          </a:p>
          <a:p>
            <a:pPr algn="ctr"/>
            <a:r>
              <a:rPr lang="en-US" sz="2000" b="1" dirty="0">
                <a:solidFill/>
              </a:rPr>
              <a:t> </a:t>
            </a:r>
            <a:r>
              <a:rPr sz="2000" b="1" u="sng" dirty="0">
                <a:solidFill>
                  <a:schemeClr val="bg1"/>
                </a:solidFill>
              </a:rPr>
              <a:t>Zero-Trust Identity for AI Agents</a:t>
            </a:r>
            <a:r>
              <a:rPr sz="20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098032" y="90960"/>
            <a:ext cx="2322777" cy="820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/>
            <a:r>
              <a:rPr lang="en-US" sz="5334" dirty="0">
                <a:solidFill>
                  <a:srgbClr val="FFFFFF"/>
                </a:solidFill>
                <a:latin typeface="Montserrat Medium" panose="00000600000000000000" pitchFamily="2" charset="0"/>
                <a:ea typeface="Arimo"/>
                <a:cs typeface="Arimo"/>
                <a:sym typeface="Arimo"/>
              </a:rPr>
              <a:t>Index</a:t>
            </a:r>
          </a:p>
        </p:txBody>
      </p:sp>
      <p:sp>
        <p:nvSpPr>
          <p:cNvPr id="86" name="TextBox 37">
            <a:extLst>
              <a:ext uri="{FF2B5EF4-FFF2-40B4-BE49-F238E27FC236}">
                <a16:creationId xmlns:a16="http://schemas.microsoft.com/office/drawing/2014/main" id="{1CAF16B7-2FB4-86D0-1A34-76AB7585B548}"/>
              </a:ext>
            </a:extLst>
          </p:cNvPr>
          <p:cNvSpPr txBox="1"/>
          <p:nvPr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 defTabSz="609630">
              <a:lnSpc>
                <a:spcPts val="959"/>
              </a:lnSpc>
            </a:pPr>
            <a:fld id="{9D069B2F-4B80-4BD9-B833-B84155CAE399}" type="slidenum">
              <a:rPr lang="en-US" sz="933">
                <a:solidFill>
                  <a:prstClr val="white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 defTabSz="609630">
                <a:lnSpc>
                  <a:spcPts val="959"/>
                </a:lnSpc>
              </a:pPr>
              <a:t>2</a:t>
            </a:fld>
            <a:endParaRPr lang="en-US" sz="933">
              <a:solidFill>
                <a:prstClr val="white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9BB1831-2052-6BA9-74AF-6612EF0ACDC6}"/>
              </a:ext>
            </a:extLst>
          </p:cNvPr>
          <p:cNvGrpSpPr/>
          <p:nvPr/>
        </p:nvGrpSpPr>
        <p:grpSpPr>
          <a:xfrm>
            <a:off x="225701" y="5098051"/>
            <a:ext cx="2628172" cy="1676493"/>
            <a:chOff x="1040621" y="3487333"/>
            <a:chExt cx="2628172" cy="1676493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EF9287E2-D914-EAB9-D091-E328BC7D5CE8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4" name="Elemento grafico 3">
              <a:extLst>
                <a:ext uri="{FF2B5EF4-FFF2-40B4-BE49-F238E27FC236}">
                  <a16:creationId xmlns:a16="http://schemas.microsoft.com/office/drawing/2014/main" id="{EA722B40-A099-F9DA-1BD5-5620CD7EC3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5" name="Elemento grafico 4">
              <a:extLst>
                <a:ext uri="{FF2B5EF4-FFF2-40B4-BE49-F238E27FC236}">
                  <a16:creationId xmlns:a16="http://schemas.microsoft.com/office/drawing/2014/main" id="{A730C933-14BD-7923-1550-12D3D151CB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pic>
        <p:nvPicPr>
          <p:cNvPr id="6" name="Immagine 5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FD2FBD41-663B-6BDB-5566-7744D38AF5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9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902675" y="973043"/>
            <a:ext cx="4032779" cy="25939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F37A49-E925-BF82-2B95-00CF7E5B6002}"/>
              </a:ext>
            </a:extLst>
          </p:cNvPr>
          <p:cNvSpPr txBox="1"/>
          <p:nvPr/>
        </p:nvSpPr>
        <p:spPr>
          <a:xfrm>
            <a:off x="225701" y="3761012"/>
            <a:ext cx="47097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9A9CE6"/>
                </a:solidFill>
                <a:latin typeface="Segoe UI"/>
              </a:rPr>
              <a:t>Team 4 :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solidFill>
                  <a:schemeClr val="bg1"/>
                </a:solidFill>
                <a:latin typeface="Segoe UI"/>
              </a:rPr>
              <a:t>Fauzan Ejaz </a:t>
            </a:r>
            <a:r>
              <a:rPr lang="en-IN" b="1" dirty="0">
                <a:solidFill>
                  <a:schemeClr val="accent6"/>
                </a:solidFill>
                <a:latin typeface="Segoe UI"/>
              </a:rPr>
              <a:t>(Captain)</a:t>
            </a:r>
            <a:endParaRPr lang="en-IN" b="1" dirty="0">
              <a:solidFill>
                <a:schemeClr val="bg1"/>
              </a:solidFill>
              <a:latin typeface="Segoe UI"/>
            </a:endParaRPr>
          </a:p>
          <a:p>
            <a:pPr marL="342900" indent="-342900">
              <a:buFont typeface="+mj-lt"/>
              <a:buAutoNum type="arabicPeriod"/>
            </a:pPr>
            <a:r>
              <a:rPr lang="en-IN" b="1" dirty="0" err="1">
                <a:solidFill>
                  <a:schemeClr val="bg1"/>
                </a:solidFill>
                <a:latin typeface="Segoe UI"/>
              </a:rPr>
              <a:t>Llagami</a:t>
            </a:r>
            <a:r>
              <a:rPr lang="en-IN" b="1" dirty="0">
                <a:solidFill>
                  <a:schemeClr val="bg1"/>
                </a:solidFill>
                <a:latin typeface="Segoe UI"/>
              </a:rPr>
              <a:t> Tedi</a:t>
            </a:r>
            <a:endParaRPr lang="en-IN" b="1" dirty="0">
              <a:solidFill>
                <a:schemeClr val="accent6"/>
              </a:solidFill>
              <a:latin typeface="Segoe UI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130000" y="11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27808" y="1080291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Proposed Technical Solution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0000" y="17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00000" y="1699389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Architecture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0000" y="23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00000" y="2299389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Implementation Strategy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0000" y="29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00000" y="2899389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Numerical Performance Analysis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0000" y="35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00000" y="3527909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Remaining Work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0000" y="41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1ABDB"/>
                </a:solidFill>
                <a:latin typeface="Montserrat"/>
              </a:rPr>
              <a:t>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00000" y="4068789"/>
            <a:ext cx="590000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dirty="0">
                <a:solidFill>
                  <a:schemeClr val="bg1"/>
                </a:solidFill>
                <a:latin typeface="Montserrat"/>
              </a:rPr>
              <a:t>Expected Proof of Concept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18463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1ABDB"/>
                </a:solidFill>
                <a:latin typeface="Montserrat"/>
              </a:rPr>
              <a:t>BEFORE WE GO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763" y="571500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A Stolen Badge Still Opens The Door.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763" y="132588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dirty="0">
                <a:solidFill>
                  <a:srgbClr val="020C31"/>
                </a:solidFill>
                <a:latin typeface="Montserrat"/>
              </a:rPr>
              <a:t>A badge proves who you're supposed to be. AEGIS proves whether you're still acting like them.</a:t>
            </a:r>
          </a:p>
        </p:txBody>
      </p:sp>
      <p:pic>
        <p:nvPicPr>
          <p:cNvPr id="5" name="Picture 4" descr="aegis_hook_ana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" y="1965960"/>
            <a:ext cx="11670673" cy="3306399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1 OF 6 - TECHNICAL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45262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Gap, Our Solution, and the State of the 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1" y="1691639"/>
            <a:ext cx="3456433" cy="205740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691640"/>
            <a:ext cx="34564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STATE OF THE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86000"/>
            <a:ext cx="3090672" cy="127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Statistical Process Control (SPC): a classic per-agent z-score anomaly detector, the industry-standard baseline. Scores 0.944 ROC-AUC / 63.4% recall on our own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5" y="1687068"/>
            <a:ext cx="3456432" cy="206197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52544" y="1691640"/>
            <a:ext cx="3456432" cy="731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4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86000"/>
            <a:ext cx="3090672" cy="1158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Credentials are checked once, at the door - never again. A stolen or misused identity passes every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6136" y="1691640"/>
            <a:ext cx="3486912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46136" y="1691640"/>
            <a:ext cx="3456432" cy="73152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79001" y="185166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dirty="0">
                <a:solidFill>
                  <a:srgbClr val="020C31"/>
                </a:solidFill>
                <a:latin typeface="Montserrat"/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130552"/>
            <a:ext cx="3090672" cy="15309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 err="1">
                <a:solidFill>
                  <a:srgbClr val="334155"/>
                </a:solidFill>
                <a:latin typeface="Montserrat"/>
              </a:rPr>
              <a:t>Behavioural</a:t>
            </a:r>
            <a:r>
              <a:rPr sz="1400" b="0" dirty="0">
                <a:solidFill>
                  <a:srgbClr val="334155"/>
                </a:solidFill>
                <a:latin typeface="Montserrat"/>
              </a:rPr>
              <a:t> rules fused with an Isolation Forest (unsupervised ML) into one risk score, gated PASS / STEP-UP / BLOCK. Scores 0.965 ROC-AUC / 90.7% recall - a significant gap (p=0.015).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4114800"/>
            <a:ext cx="82296" cy="914400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251960"/>
            <a:ext cx="3108960" cy="214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9384"/>
                </a:solidFill>
                <a:latin typeface="Montserrat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572000"/>
            <a:ext cx="3108960" cy="206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334155"/>
                </a:solidFill>
                <a:latin typeface="Montserrat"/>
              </a:rPr>
              <a:t>Behaves like its known-good self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16552" y="4114800"/>
            <a:ext cx="82296" cy="91440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451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E0A100"/>
                </a:solidFill>
                <a:latin typeface="Montserrat"/>
              </a:rPr>
              <a:t>STEP-UP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334155"/>
                </a:solidFill>
                <a:latin typeface="Montserrat"/>
              </a:rPr>
              <a:t>Challenge: re-authenticate, approve, throttle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74152" y="4114800"/>
            <a:ext cx="82296" cy="91440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027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0394B"/>
                </a:solidFill>
                <a:latin typeface="Montserrat"/>
              </a:rPr>
              <a:t>BLOCK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334155"/>
                </a:solidFill>
                <a:latin typeface="Montserrat"/>
              </a:rPr>
              <a:t>Quarantine the identity, alert the SOC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1 OF 6 - TECHNICAL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929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Proposed Technical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325880"/>
            <a:ext cx="10607040" cy="777240"/>
          </a:xfrm>
          <a:prstGeom prst="roundRect">
            <a:avLst>
              <a:gd name="adj" fmla="val 10000"/>
            </a:avLst>
          </a:prstGeom>
          <a:solidFill>
            <a:srgbClr val="020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50875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“Credentials prove what you have, AEGIS verifies how you behave.”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331720"/>
            <a:ext cx="251460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8952" y="2331720"/>
            <a:ext cx="2514600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_ob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252" y="2524872"/>
            <a:ext cx="500000" cy="5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" y="3114872"/>
            <a:ext cx="21488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474872"/>
            <a:ext cx="2148840" cy="91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Every request an agent makes is captured: who, what, when, how.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992" y="2644872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334155"/>
                </a:solidFill>
                <a:latin typeface="Montserrat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2372061"/>
            <a:ext cx="251460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56432" y="2331720"/>
            <a:ext cx="2514600" cy="731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on_fingerpr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3732" y="2524872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39312" y="3114872"/>
            <a:ext cx="21488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FINGERPRINT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3474872"/>
            <a:ext cx="2148840" cy="91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Becomes a behavioural profile: each agent's normal endpoints, pace, and sequence.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2472" y="2644872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334155"/>
                </a:solidFill>
                <a:latin typeface="Montserrat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3912" y="2331720"/>
            <a:ext cx="251460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153912" y="2331720"/>
            <a:ext cx="2514600" cy="73152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on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1212" y="2524872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36792" y="3114872"/>
            <a:ext cx="21488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3474872"/>
            <a:ext cx="2148840" cy="91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Compared live to that profile: fast rules fused with an ML anomaly score.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9952" y="2644872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334155"/>
                </a:solidFill>
                <a:latin typeface="Montserrat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1392" y="2331720"/>
            <a:ext cx="251460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851392" y="2331720"/>
            <a:ext cx="2514600" cy="73152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on_deci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8692" y="2524872"/>
            <a:ext cx="500000" cy="50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34272" y="3114872"/>
            <a:ext cx="21488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020C31"/>
                </a:solidFill>
                <a:latin typeface="Montserrat"/>
              </a:rP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3474872"/>
            <a:ext cx="2148840" cy="91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Becomes an instant action: pass it, challenge it, or shut it down.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1" y="4809024"/>
            <a:ext cx="10681439" cy="849999"/>
          </a:xfrm>
          <a:prstGeom prst="roundRect">
            <a:avLst>
              <a:gd name="adj" fmla="val 8000"/>
            </a:avLst>
          </a:prstGeom>
          <a:solidFill>
            <a:srgbClr val="020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9799" y="5117931"/>
            <a:ext cx="30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WORKED EXAMPLE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3365" y="4768683"/>
            <a:ext cx="2148840" cy="8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dirty="0">
                <a:solidFill>
                  <a:srgbClr val="6FCCDD"/>
                </a:solidFill>
                <a:latin typeface="Montserrat"/>
              </a:rPr>
              <a:t>Agent-07 calls NRF</a:t>
            </a:r>
          </a:p>
          <a:p>
            <a:pPr algn="ctr">
              <a:lnSpc>
                <a:spcPct val="110000"/>
              </a:lnSpc>
            </a:pPr>
            <a:r>
              <a:rPr sz="1200" b="0" dirty="0">
                <a:solidFill>
                  <a:srgbClr val="6FCCDD"/>
                </a:solidFill>
                <a:latin typeface="Montserrat"/>
              </a:rPr>
              <a:t>40x per minute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2205" y="5020395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dirty="0">
                <a:solidFill>
                  <a:srgbClr val="6FCCDD"/>
                </a:solidFill>
                <a:latin typeface="Montserrat"/>
              </a:rPr>
              <a:t>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2957" y="4770395"/>
            <a:ext cx="2148840" cy="8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dirty="0">
                <a:solidFill>
                  <a:srgbClr val="6FCCDD"/>
                </a:solidFill>
                <a:latin typeface="Montserrat"/>
              </a:rPr>
              <a:t>Normal endpoint mix,</a:t>
            </a:r>
          </a:p>
          <a:p>
            <a:pPr algn="ctr">
              <a:lnSpc>
                <a:spcPct val="110000"/>
              </a:lnSpc>
            </a:pPr>
            <a:r>
              <a:rPr sz="1200" b="0" dirty="0">
                <a:solidFill>
                  <a:srgbClr val="6FCCDD"/>
                </a:solidFill>
                <a:latin typeface="Montserrat"/>
              </a:rPr>
              <a:t>but rate is elevated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94154" y="5020395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dirty="0">
                <a:solidFill>
                  <a:srgbClr val="6FCCDD"/>
                </a:solidFill>
                <a:latin typeface="Montserrat"/>
              </a:rPr>
              <a:t>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1045" y="5065715"/>
            <a:ext cx="1948840" cy="2062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6FCCDD"/>
                </a:solidFill>
                <a:latin typeface="Montserrat"/>
              </a:rPr>
              <a:t>Risk score: 0.71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885" y="5021315"/>
            <a:ext cx="2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dirty="0">
                <a:solidFill>
                  <a:srgbClr val="6FCCDD"/>
                </a:solidFill>
                <a:latin typeface="Montserrat"/>
              </a:rPr>
              <a:t>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9885" y="4985924"/>
            <a:ext cx="1948840" cy="426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E0A100"/>
                </a:solidFill>
                <a:latin typeface="Montserrat"/>
              </a:rPr>
              <a:t>STEP-UP:</a:t>
            </a:r>
          </a:p>
          <a:p>
            <a:pPr algn="ctr">
              <a:lnSpc>
                <a:spcPct val="110000"/>
              </a:lnSpc>
            </a:pPr>
            <a:r>
              <a:rPr sz="1300" b="1" dirty="0">
                <a:solidFill>
                  <a:srgbClr val="E0A100"/>
                </a:solidFill>
                <a:latin typeface="Montserrat"/>
              </a:rPr>
              <a:t>re-authenticate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1 OF 6 - TECHNICAL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4756" y="48006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Seven Threats We Watch For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504723"/>
              </p:ext>
            </p:extLst>
          </p:nvPr>
        </p:nvGraphicFramePr>
        <p:xfrm>
          <a:off x="1145699" y="1143000"/>
          <a:ext cx="10147141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05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23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05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#</a:t>
                      </a:r>
                    </a:p>
                  </a:txBody>
                  <a:tcPr marL="109728" marR="109728" anchor="ctr">
                    <a:solidFill>
                      <a:srgbClr val="020C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Threat</a:t>
                      </a:r>
                    </a:p>
                  </a:txBody>
                  <a:tcPr marL="109728" marR="109728" anchor="ctr">
                    <a:solidFill>
                      <a:srgbClr val="020C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Montserrat"/>
                        </a:rPr>
                        <a:t>Behavioural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 signal AEGIS keys on</a:t>
                      </a:r>
                    </a:p>
                  </a:txBody>
                  <a:tcPr marL="109728" marR="109728" anchor="ctr">
                    <a:solidFill>
                      <a:srgbClr val="020C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T1 v1/v2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Identity spoofing</a:t>
                      </a:r>
                      <a:r>
                        <a:rPr lang="en-IN"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     </a:t>
                      </a:r>
                      <a:endParaRPr sz="1500" b="1" u="sng" dirty="0">
                        <a:solidFill>
                          <a:srgbClr val="020C31"/>
                        </a:solidFill>
                        <a:latin typeface="Montserrat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W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rong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 endpoint mix, timing, sequence for that identity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T2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Compromised agent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D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rift from its own baseline: new endpoints, elevated errors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Reconnaissance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H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igh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 cardinality of endpoints/targets, many 403/404s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T4 v1/v2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Volumetric abuse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R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equest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-rate spike far above the agent's normal envelope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Slow exfiltration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A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bnormal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 payload sizes, off-hours persistence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T6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Sequence anomaly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B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roken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 call-sequence pattern vs the agent's normal graph</a:t>
                      </a:r>
                    </a:p>
                  </a:txBody>
                  <a:tcPr marL="109728" marR="109728" anchor="ctr"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70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4B"/>
                          </a:solidFill>
                          <a:latin typeface="Montserrat"/>
                        </a:rPr>
                        <a:t>T7 v1/v2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u="sng" dirty="0">
                          <a:solidFill>
                            <a:srgbClr val="020C31"/>
                          </a:solidFill>
                          <a:latin typeface="Montserrat"/>
                        </a:rPr>
                        <a:t>Scope creep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C</a:t>
                      </a:r>
                      <a:r>
                        <a:rPr sz="1600" b="1" dirty="0" err="1">
                          <a:solidFill>
                            <a:srgbClr val="334155"/>
                          </a:solidFill>
                          <a:latin typeface="Montserrat"/>
                        </a:rPr>
                        <a:t>alls</a:t>
                      </a:r>
                      <a:r>
                        <a:rPr sz="1600" b="1" dirty="0">
                          <a:solidFill>
                            <a:srgbClr val="334155"/>
                          </a:solidFill>
                          <a:latin typeface="Montserrat"/>
                        </a:rPr>
                        <a:t> to NFs never in the agent's baseline scope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4A755-613B-F231-7D95-2D8E5A184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82D24C-3B10-44AB-F05B-E430CD4F06EF}"/>
              </a:ext>
            </a:extLst>
          </p:cNvPr>
          <p:cNvSpPr txBox="1"/>
          <p:nvPr/>
        </p:nvSpPr>
        <p:spPr>
          <a:xfrm>
            <a:off x="1764791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2 OF 6 -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435E67-E69E-498A-D52D-BB2FF91C4507}"/>
              </a:ext>
            </a:extLst>
          </p:cNvPr>
          <p:cNvSpPr txBox="1"/>
          <p:nvPr/>
        </p:nvSpPr>
        <p:spPr>
          <a:xfrm>
            <a:off x="675824" y="49377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System Architecture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2407B779-6EC6-9665-8B70-C163F17EC8B8}"/>
              </a:ext>
            </a:extLst>
          </p:cNvPr>
          <p:cNvSpPr/>
          <p:nvPr/>
        </p:nvSpPr>
        <p:spPr>
          <a:xfrm>
            <a:off x="3127608" y="1947437"/>
            <a:ext cx="1990165" cy="551330"/>
          </a:xfrm>
          <a:prstGeom prst="flowChartAlternateProcess">
            <a:avLst/>
          </a:prstGeom>
          <a:solidFill>
            <a:srgbClr val="000F2E"/>
          </a:soli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Montserrat" pitchFamily="2" charset="0"/>
              </a:rPr>
              <a:t>OBSERVE</a:t>
            </a:r>
            <a:endParaRPr lang="en-US" b="1" dirty="0">
              <a:latin typeface="Montserrat" pitchFamily="2" charset="0"/>
            </a:endParaRP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33B08E7-5836-81CD-BD03-EDCF535A6CE6}"/>
              </a:ext>
            </a:extLst>
          </p:cNvPr>
          <p:cNvSpPr/>
          <p:nvPr/>
        </p:nvSpPr>
        <p:spPr>
          <a:xfrm>
            <a:off x="3127609" y="3050097"/>
            <a:ext cx="1990165" cy="551330"/>
          </a:xfrm>
          <a:prstGeom prst="flowChartAlternateProcess">
            <a:avLst/>
          </a:prstGeom>
          <a:solidFill>
            <a:srgbClr val="000F2E"/>
          </a:soli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Montserrat" pitchFamily="2" charset="0"/>
              </a:rPr>
              <a:t>FINGERPRINT</a:t>
            </a:r>
            <a:endParaRPr lang="en-US" b="1" dirty="0">
              <a:latin typeface="Montserrat" pitchFamily="2" charset="0"/>
            </a:endParaRPr>
          </a:p>
        </p:txBody>
      </p:sp>
      <p:sp>
        <p:nvSpPr>
          <p:cNvPr id="15" name="Flowchart: Alternate Process 14">
            <a:extLst>
              <a:ext uri="{FF2B5EF4-FFF2-40B4-BE49-F238E27FC236}">
                <a16:creationId xmlns:a16="http://schemas.microsoft.com/office/drawing/2014/main" id="{3CCA6B7E-80D5-0427-D14E-46191096F32A}"/>
              </a:ext>
            </a:extLst>
          </p:cNvPr>
          <p:cNvSpPr/>
          <p:nvPr/>
        </p:nvSpPr>
        <p:spPr>
          <a:xfrm>
            <a:off x="3127608" y="4237329"/>
            <a:ext cx="1990165" cy="551330"/>
          </a:xfrm>
          <a:prstGeom prst="flowChartAlternateProcess">
            <a:avLst/>
          </a:prstGeom>
          <a:solidFill>
            <a:srgbClr val="000F2E"/>
          </a:soli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Montserrat" pitchFamily="2" charset="0"/>
              </a:rPr>
              <a:t>SCORE</a:t>
            </a:r>
            <a:endParaRPr lang="en-US" b="1" dirty="0">
              <a:latin typeface="Montserrat" pitchFamily="2" charset="0"/>
            </a:endParaRPr>
          </a:p>
        </p:txBody>
      </p:sp>
      <p:sp>
        <p:nvSpPr>
          <p:cNvPr id="17" name="Flowchart: Alternate Process 16">
            <a:extLst>
              <a:ext uri="{FF2B5EF4-FFF2-40B4-BE49-F238E27FC236}">
                <a16:creationId xmlns:a16="http://schemas.microsoft.com/office/drawing/2014/main" id="{B4E21F98-AC5C-44D1-0814-0DF6FC81BD97}"/>
              </a:ext>
            </a:extLst>
          </p:cNvPr>
          <p:cNvSpPr/>
          <p:nvPr/>
        </p:nvSpPr>
        <p:spPr>
          <a:xfrm>
            <a:off x="3127608" y="5447304"/>
            <a:ext cx="1990165" cy="551330"/>
          </a:xfrm>
          <a:prstGeom prst="flowChartAlternateProcess">
            <a:avLst/>
          </a:prstGeom>
          <a:solidFill>
            <a:srgbClr val="000F2E"/>
          </a:soli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Montserrat" pitchFamily="2" charset="0"/>
              </a:rPr>
              <a:t>DECIDE</a:t>
            </a:r>
            <a:endParaRPr lang="en-US" b="1" dirty="0">
              <a:latin typeface="Montserrat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6734068-15C9-EDFA-24E2-28FFB1FDDDAD}"/>
              </a:ext>
            </a:extLst>
          </p:cNvPr>
          <p:cNvSpPr/>
          <p:nvPr/>
        </p:nvSpPr>
        <p:spPr>
          <a:xfrm>
            <a:off x="3458592" y="1072224"/>
            <a:ext cx="1328198" cy="40535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02060"/>
                </a:solidFill>
              </a:rPr>
              <a:t>Agents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FE26ED8-95BB-77A3-E0BC-A994F2BCDD27}"/>
              </a:ext>
            </a:extLst>
          </p:cNvPr>
          <p:cNvSpPr/>
          <p:nvPr/>
        </p:nvSpPr>
        <p:spPr>
          <a:xfrm>
            <a:off x="522705" y="3050097"/>
            <a:ext cx="1609822" cy="5513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02060"/>
                </a:solidFill>
              </a:rPr>
              <a:t>Known-good profile store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3A5114E-3CD6-7471-25FC-97DCB7F13ACD}"/>
              </a:ext>
            </a:extLst>
          </p:cNvPr>
          <p:cNvSpPr/>
          <p:nvPr/>
        </p:nvSpPr>
        <p:spPr>
          <a:xfrm>
            <a:off x="1137443" y="3965003"/>
            <a:ext cx="910126" cy="5513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02060"/>
                </a:solidFill>
              </a:rPr>
              <a:t>ML layer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DE0D75E-23C8-27C6-897E-713210D1BD31}"/>
              </a:ext>
            </a:extLst>
          </p:cNvPr>
          <p:cNvSpPr/>
          <p:nvPr/>
        </p:nvSpPr>
        <p:spPr>
          <a:xfrm>
            <a:off x="1137443" y="4788659"/>
            <a:ext cx="910126" cy="55132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02060"/>
                </a:solidFill>
              </a:rPr>
              <a:t>Rules layer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470B7FC-34CB-9337-8510-4A6359823EB3}"/>
              </a:ext>
            </a:extLst>
          </p:cNvPr>
          <p:cNvSpPr/>
          <p:nvPr/>
        </p:nvSpPr>
        <p:spPr>
          <a:xfrm>
            <a:off x="6968021" y="1467174"/>
            <a:ext cx="1654706" cy="755897"/>
          </a:xfrm>
          <a:prstGeom prst="roundRect">
            <a:avLst/>
          </a:prstGeom>
          <a:solidFill>
            <a:srgbClr val="04C87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PASS</a:t>
            </a:r>
            <a:endParaRPr lang="en-US" sz="2400" b="1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D44182-30A5-00D6-8DEF-E24B68A7D550}"/>
              </a:ext>
            </a:extLst>
          </p:cNvPr>
          <p:cNvSpPr/>
          <p:nvPr/>
        </p:nvSpPr>
        <p:spPr>
          <a:xfrm>
            <a:off x="6968021" y="2539348"/>
            <a:ext cx="1654706" cy="755897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STEP-UP</a:t>
            </a:r>
            <a:endParaRPr lang="en-US" sz="2400" b="1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6A3B3C4-13CD-2CA6-96B4-905EDF0674A6}"/>
              </a:ext>
            </a:extLst>
          </p:cNvPr>
          <p:cNvSpPr/>
          <p:nvPr/>
        </p:nvSpPr>
        <p:spPr>
          <a:xfrm>
            <a:off x="6968021" y="3641154"/>
            <a:ext cx="1654706" cy="755897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BLOCK</a:t>
            </a:r>
            <a:endParaRPr lang="en-US" sz="2400" b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3F8699B-501D-A8D8-8C02-8E534FEC5D8A}"/>
              </a:ext>
            </a:extLst>
          </p:cNvPr>
          <p:cNvCxnSpPr>
            <a:cxnSpLocks/>
            <a:stCxn id="17" idx="3"/>
            <a:endCxn id="29" idx="1"/>
          </p:cNvCxnSpPr>
          <p:nvPr/>
        </p:nvCxnSpPr>
        <p:spPr>
          <a:xfrm flipV="1">
            <a:off x="5117773" y="4019103"/>
            <a:ext cx="1850248" cy="1703866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962C0CC-0611-E651-108E-F532A7AAA633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 flipV="1">
            <a:off x="5117773" y="2917297"/>
            <a:ext cx="1850248" cy="2805672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5A7E29E-D3E7-308D-3CA0-1FF12550FDC5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5117773" y="1845123"/>
            <a:ext cx="1850248" cy="3877846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F7F4F0B-34D1-8235-20AA-0A8A26FBB017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>
            <a:off x="4122691" y="1477582"/>
            <a:ext cx="0" cy="469855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73C6BE8-79EF-A2CD-B164-B1DFFFB5D75B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4122691" y="2498767"/>
            <a:ext cx="1" cy="55133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5B7AC8E-38DC-0329-DA06-2B98A5AB7A71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 flipH="1">
            <a:off x="4122691" y="3601427"/>
            <a:ext cx="1" cy="635902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CB4CF93-29E0-A3FF-DCEE-376A0A51E1EC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122691" y="4788659"/>
            <a:ext cx="0" cy="658645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ABD2DD4-F2F4-01D9-87A9-E7BFD7DAD9B3}"/>
              </a:ext>
            </a:extLst>
          </p:cNvPr>
          <p:cNvCxnSpPr>
            <a:stCxn id="20" idx="3"/>
            <a:endCxn id="12" idx="1"/>
          </p:cNvCxnSpPr>
          <p:nvPr/>
        </p:nvCxnSpPr>
        <p:spPr>
          <a:xfrm>
            <a:off x="2132527" y="3325762"/>
            <a:ext cx="995082" cy="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8279918-C2E3-AE5D-1CB1-F0C05CD06998}"/>
              </a:ext>
            </a:extLst>
          </p:cNvPr>
          <p:cNvCxnSpPr>
            <a:stCxn id="22" idx="3"/>
            <a:endCxn id="15" idx="1"/>
          </p:cNvCxnSpPr>
          <p:nvPr/>
        </p:nvCxnSpPr>
        <p:spPr>
          <a:xfrm>
            <a:off x="2047569" y="4240668"/>
            <a:ext cx="1080039" cy="272326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7A12DB9-8C19-CF84-78A1-69AAC74079E7}"/>
              </a:ext>
            </a:extLst>
          </p:cNvPr>
          <p:cNvCxnSpPr>
            <a:stCxn id="24" idx="3"/>
            <a:endCxn id="15" idx="1"/>
          </p:cNvCxnSpPr>
          <p:nvPr/>
        </p:nvCxnSpPr>
        <p:spPr>
          <a:xfrm flipV="1">
            <a:off x="2047569" y="4512994"/>
            <a:ext cx="1080039" cy="55133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lowchart: Alternate Process 66">
            <a:extLst>
              <a:ext uri="{FF2B5EF4-FFF2-40B4-BE49-F238E27FC236}">
                <a16:creationId xmlns:a16="http://schemas.microsoft.com/office/drawing/2014/main" id="{7AF2596B-BD83-D6B4-4919-FA8169F6A993}"/>
              </a:ext>
            </a:extLst>
          </p:cNvPr>
          <p:cNvSpPr/>
          <p:nvPr/>
        </p:nvSpPr>
        <p:spPr>
          <a:xfrm>
            <a:off x="9369890" y="2427749"/>
            <a:ext cx="2482687" cy="979093"/>
          </a:xfrm>
          <a:prstGeom prst="flowChartAlternateProcess">
            <a:avLst/>
          </a:prstGeom>
          <a:solidFill>
            <a:srgbClr val="000F2E"/>
          </a:solidFill>
          <a:ln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atin typeface="Montserrat" pitchFamily="2" charset="0"/>
              </a:rPr>
              <a:t>ENFORCEMENT BLOCK</a:t>
            </a:r>
            <a:endParaRPr lang="en-US" b="1" dirty="0">
              <a:latin typeface="Montserrat" pitchFamily="2" charset="0"/>
            </a:endParaRPr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400C5E3-3F28-2794-E7FC-6E3EF44EA07A}"/>
              </a:ext>
            </a:extLst>
          </p:cNvPr>
          <p:cNvCxnSpPr>
            <a:cxnSpLocks/>
            <a:stCxn id="25" idx="3"/>
            <a:endCxn id="67" idx="1"/>
          </p:cNvCxnSpPr>
          <p:nvPr/>
        </p:nvCxnSpPr>
        <p:spPr>
          <a:xfrm>
            <a:off x="8622727" y="1845123"/>
            <a:ext cx="747163" cy="10721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F5B6E2F0-3129-1B98-D323-C121A7741DF7}"/>
              </a:ext>
            </a:extLst>
          </p:cNvPr>
          <p:cNvCxnSpPr>
            <a:cxnSpLocks/>
            <a:stCxn id="29" idx="3"/>
            <a:endCxn id="67" idx="1"/>
          </p:cNvCxnSpPr>
          <p:nvPr/>
        </p:nvCxnSpPr>
        <p:spPr>
          <a:xfrm flipV="1">
            <a:off x="8622727" y="2917296"/>
            <a:ext cx="747163" cy="1101807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4CEC307-404D-34C4-6E3B-1942BA75E9DA}"/>
              </a:ext>
            </a:extLst>
          </p:cNvPr>
          <p:cNvCxnSpPr>
            <a:cxnSpLocks/>
            <a:stCxn id="27" idx="3"/>
            <a:endCxn id="67" idx="1"/>
          </p:cNvCxnSpPr>
          <p:nvPr/>
        </p:nvCxnSpPr>
        <p:spPr>
          <a:xfrm flipV="1">
            <a:off x="8622727" y="2917296"/>
            <a:ext cx="747163" cy="1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3826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2 OF 6 -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45262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Scoring: Rules + ML, Fused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58087" y="1234440"/>
            <a:ext cx="4754880" cy="234394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158087" y="1234440"/>
            <a:ext cx="4754880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40967" y="141503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RULES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0967" y="1730502"/>
            <a:ext cx="4389120" cy="1158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Deterministic checks per agent: request rate, error bursts, payload size, call order, and authorized scope. Any violation flags instantly, with a stated reason.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240506"/>
            <a:ext cx="4754880" cy="234394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78727" y="1234440"/>
            <a:ext cx="4754880" cy="731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1607" y="1425217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dirty="0">
                <a:solidFill>
                  <a:srgbClr val="020C31"/>
                </a:solidFill>
                <a:latin typeface="Montserrat"/>
              </a:rP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1607" y="1760220"/>
            <a:ext cx="4389120" cy="1454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An Isolation Forest (unsupervised ML), trained only on each agent's own legitimate traffic. Learns what normal looks like with no labelled attacks, then scores how far new behavior drifts from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38400" y="376126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1" dirty="0">
                <a:solidFill>
                  <a:srgbClr val="0E9384"/>
                </a:solidFill>
                <a:latin typeface="Cambria Math"/>
              </a:rPr>
              <a:t>risk</a:t>
            </a:r>
            <a:r>
              <a:rPr sz="2600" b="1" i="0" dirty="0">
                <a:solidFill>
                  <a:srgbClr val="0E9384"/>
                </a:solidFill>
                <a:latin typeface="Cambria Math"/>
              </a:rPr>
              <a:t> = max(</a:t>
            </a:r>
            <a:r>
              <a:rPr sz="2600" b="1" i="1" dirty="0" err="1">
                <a:solidFill>
                  <a:srgbClr val="0E9384"/>
                </a:solidFill>
                <a:latin typeface="Cambria Math"/>
              </a:rPr>
              <a:t>rule_score</a:t>
            </a:r>
            <a:r>
              <a:rPr sz="2600" b="1" i="0" dirty="0">
                <a:solidFill>
                  <a:srgbClr val="0E9384"/>
                </a:solidFill>
                <a:latin typeface="Cambria Math"/>
              </a:rPr>
              <a:t>, </a:t>
            </a:r>
            <a:r>
              <a:rPr sz="2600" b="1" i="1" dirty="0" err="1">
                <a:solidFill>
                  <a:srgbClr val="0E9384"/>
                </a:solidFill>
                <a:latin typeface="Cambria Math"/>
              </a:rPr>
              <a:t>ml_score</a:t>
            </a:r>
            <a:r>
              <a:rPr sz="2600" b="1" i="0" dirty="0">
                <a:solidFill>
                  <a:srgbClr val="0E9384"/>
                </a:solidFill>
                <a:latin typeface="Cambria Math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0" y="4410486"/>
            <a:ext cx="1145078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dirty="0">
                <a:solidFill>
                  <a:srgbClr val="334155"/>
                </a:solidFill>
                <a:latin typeface="Montserrat"/>
              </a:rPr>
              <a:t>Rules veto hard violations outright; ML catches the subtler drift rules alone would miss.</a:t>
            </a:r>
            <a:endParaRPr lang="en-IN" sz="1600" dirty="0">
              <a:solidFill>
                <a:srgbClr val="334155"/>
              </a:solidFill>
              <a:latin typeface="Montserrat"/>
            </a:endParaRPr>
          </a:p>
          <a:p>
            <a:pPr algn="ctr"/>
            <a:endParaRPr lang="en-IN" sz="1600" dirty="0">
              <a:solidFill>
                <a:srgbClr val="334155"/>
              </a:solidFill>
              <a:latin typeface="Montserrat"/>
            </a:endParaRPr>
          </a:p>
          <a:p>
            <a:pPr algn="ctr"/>
            <a:r>
              <a:rPr lang="en-IN" sz="1600" dirty="0">
                <a:solidFill>
                  <a:srgbClr val="334155"/>
                </a:solidFill>
                <a:latin typeface="Montserrat"/>
              </a:rPr>
              <a:t> </a:t>
            </a:r>
            <a:r>
              <a:rPr lang="en-US" sz="1600" dirty="0">
                <a:solidFill>
                  <a:srgbClr val="334155"/>
                </a:solidFill>
                <a:latin typeface="Montserrat"/>
              </a:rPr>
              <a:t>Tuned for a ~1.5% false-positive budget, not maximum sensitivity - detection is intentionally uneven across threats.</a:t>
            </a:r>
          </a:p>
          <a:p>
            <a:pPr algn="ctr"/>
            <a:endParaRPr sz="1300" dirty="0">
              <a:solidFill>
                <a:srgbClr val="334155"/>
              </a:solidFill>
              <a:latin typeface="Montserrat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73599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dirty="0">
                <a:solidFill>
                  <a:srgbClr val="01ABDB"/>
                </a:solidFill>
                <a:latin typeface="Montserrat"/>
              </a:rPr>
              <a:t>PART 3 OF 6 -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6691" y="40233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dirty="0">
                <a:solidFill>
                  <a:srgbClr val="020C31"/>
                </a:solidFill>
                <a:latin typeface="Montserrat"/>
              </a:rPr>
              <a:t>How Isolation Forest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9836" y="859780"/>
            <a:ext cx="10806973" cy="15125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Builds many random-split trees: each node picks a random feature and a random split value.</a:t>
            </a:r>
          </a:p>
          <a:p>
            <a:pPr algn="l">
              <a:lnSpc>
                <a:spcPct val="125000"/>
              </a:lnSpc>
            </a:pPr>
            <a:r>
              <a:rPr sz="16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Anomalies sit apart, so a few random splits isolate them. Normal points, surrounded by similar ones, take many more splits.</a:t>
            </a:r>
          </a:p>
          <a:p>
            <a:pPr algn="l">
              <a:lnSpc>
                <a:spcPct val="125000"/>
              </a:lnSpc>
            </a:pPr>
            <a:r>
              <a:rPr sz="16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Score = how short the average isolation path is, normalised to 0..1. Short path -&gt; high score -&gt; looks like an attack.</a:t>
            </a:r>
          </a:p>
        </p:txBody>
      </p:sp>
      <p:pic>
        <p:nvPicPr>
          <p:cNvPr id="7" name="Picture 6" descr="aegis_isolation_forest_conce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6192" y="2532917"/>
            <a:ext cx="8642213" cy="3908461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45920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dirty="0">
                <a:solidFill>
                  <a:srgbClr val="01ABDB"/>
                </a:solidFill>
                <a:latin typeface="Montserrat"/>
              </a:rPr>
              <a:t>PART 3 OF 6 -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2450" y="58064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dirty="0">
                <a:solidFill>
                  <a:srgbClr val="020C31"/>
                </a:solidFill>
                <a:latin typeface="Montserrat"/>
              </a:rPr>
              <a:t>Training, Features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dirty="0">
                <a:solidFill>
                  <a:srgbClr val="334155"/>
                </a:solidFill>
                <a:latin typeface="Montserrat"/>
              </a:rPr>
              <a:t>Unsupervised learning: the gate recognises drift from agents it has never seen.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73736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3D67B1"/>
                </a:solidFill>
                <a:latin typeface="Montserrat"/>
              </a:rPr>
              <a:t>10 INPUT FEATURES PER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40"/>
            <a:ext cx="507492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1ABDB"/>
                </a:solidFill>
                <a:latin typeface="Montserrat"/>
              </a:rPr>
              <a:t>-  How many requests the agent made
-  How many different Network Functions it touched
-  How many distinct endpoints it called
-  Share of requests that came back as errors (4xx/5xx)
-  Mix of read vs. write calls
-  Average and peak payload size
-  Time of day
-  How wide a slice of subscribers or records it touched, on a rolling basis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737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1ABDB"/>
                </a:solidFill>
                <a:latin typeface="Montserrat"/>
              </a:rPr>
              <a:t>WHY IT FITS A ZERO-TRUST 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52120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72200" y="2148840"/>
            <a:ext cx="64008" cy="868680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222199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Trains on legitimate traffic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87168"/>
            <a:ext cx="4846320" cy="502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Each agent's own traffic is its baseline for normal behaviour.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90672"/>
            <a:ext cx="52120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72200" y="3090672"/>
            <a:ext cx="64008" cy="868680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1638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Per-agent identity, one-hot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429000"/>
            <a:ext cx="4846320" cy="502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Impersonation shows up as an agent acting unlike itself.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032504"/>
            <a:ext cx="5212080" cy="10631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72200" y="4032503"/>
            <a:ext cx="64008" cy="1063197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410565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300 trees, contamination 0.02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4846320" cy="502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34155"/>
                </a:solidFill>
                <a:latin typeface="Montserrat"/>
              </a:rPr>
              <a:t>Isolates outlier requests; expects ~2% of windows to be anomalous. Starts after 10+ requests in 5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5191714"/>
            <a:ext cx="5193792" cy="10856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72200" y="5191714"/>
            <a:ext cx="69827" cy="10912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534924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Calibrated on held-out legit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597167"/>
            <a:ext cx="4846320" cy="502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dirty="0">
                <a:solidFill>
                  <a:srgbClr val="334155"/>
                </a:solidFill>
                <a:latin typeface="Montserrat"/>
              </a:rPr>
              <a:t>Scores are mapped to 0-1 using legitimate data the model never trained on.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3F6AD-5D7B-1BC6-7E72-4F393B5A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73352" y="9144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dirty="0">
                <a:solidFill>
                  <a:srgbClr val="01ABDB"/>
                </a:solidFill>
                <a:latin typeface="Montserrat"/>
              </a:rPr>
              <a:t>PART 3 OF 6 -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2076" y="44805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dirty="0">
                <a:solidFill>
                  <a:srgbClr val="020C31"/>
                </a:solidFill>
                <a:latin typeface="Montserrat"/>
              </a:rPr>
              <a:t>Beyond Synthetic: A Real 5G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076" y="923544"/>
            <a:ext cx="10607040" cy="253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Does detection still hold up on real traffic, not just our generator?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91640"/>
            <a:ext cx="3776472" cy="8961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955279" y="1691640"/>
            <a:ext cx="64008" cy="896112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59" y="1764792"/>
            <a:ext cx="3456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Stood up a real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2057400"/>
            <a:ext cx="34564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dirty="0">
                <a:solidFill>
                  <a:srgbClr val="334155"/>
                </a:solidFill>
                <a:latin typeface="Montserrat"/>
              </a:rPr>
              <a:t>Open5GS + UERANSIM: a real registration and PDU session.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660904"/>
            <a:ext cx="3776472" cy="8454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955279" y="2660904"/>
            <a:ext cx="64008" cy="845404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59" y="2734056"/>
            <a:ext cx="3456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Captured real SBI traffic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026664"/>
            <a:ext cx="34564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dirty="0" err="1">
                <a:solidFill>
                  <a:srgbClr val="334155"/>
                </a:solidFill>
                <a:latin typeface="Montserrat"/>
              </a:rPr>
              <a:t>tcpdump</a:t>
            </a:r>
            <a:r>
              <a:rPr sz="1500" b="0" dirty="0">
                <a:solidFill>
                  <a:srgbClr val="334155"/>
                </a:solidFill>
                <a:latin typeface="Montserrat"/>
              </a:rPr>
              <a:t> on the AMF, parsed to our detector's own schema.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3630168"/>
            <a:ext cx="3776472" cy="9326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955279" y="3630168"/>
            <a:ext cx="64008" cy="932688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59" y="3703320"/>
            <a:ext cx="3456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Schema matches, confirmed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995928"/>
            <a:ext cx="34564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dirty="0">
                <a:solidFill>
                  <a:srgbClr val="334155"/>
                </a:solidFill>
                <a:latin typeface="Montserrat"/>
              </a:rPr>
              <a:t>Real API paths line up with our synthetic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4599432"/>
            <a:ext cx="3776472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955279" y="4599431"/>
            <a:ext cx="64008" cy="969264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59" y="4672584"/>
            <a:ext cx="3456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20C31"/>
                </a:solidFill>
                <a:latin typeface="Montserrat"/>
              </a:rPr>
              <a:t>Detection validated on real traffic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4965192"/>
            <a:ext cx="34564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dirty="0">
                <a:solidFill>
                  <a:srgbClr val="334155"/>
                </a:solidFill>
                <a:latin typeface="Montserrat"/>
              </a:rPr>
              <a:t>2 of 2 real attacks correctly flagged BLOCK.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8003" y="6301047"/>
            <a:ext cx="11274552" cy="238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Scope: one short, single-agent capture - a sanity check, not a replacement for the full evaluation.</a:t>
            </a:r>
          </a:p>
        </p:txBody>
      </p:sp>
      <p:pic>
        <p:nvPicPr>
          <p:cNvPr id="23" name="Picture 22" descr="aegis_open5gs_validation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91640"/>
            <a:ext cx="73152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6085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State of the Art,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5349240"/>
            <a:ext cx="11347704" cy="281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SPC catches the loud attacks but misses the subtler ones - the case for behavioural fingerprinting and fusion.</a:t>
            </a:r>
          </a:p>
        </p:txBody>
      </p:sp>
      <p:pic>
        <p:nvPicPr>
          <p:cNvPr id="6" name="Picture 5" descr="aegis_baselin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995" y="868680"/>
            <a:ext cx="11347704" cy="4352544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Detection Rate Per Threat - Deliberately Not Uniform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5349240"/>
            <a:ext cx="113477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dirty="0">
                <a:solidFill>
                  <a:srgbClr val="334155"/>
                </a:solidFill>
                <a:latin typeface="Montserrat"/>
              </a:rPr>
              <a:t>Loud, rule-breaking attacks get caught instantly; slow, quiet drift takes longer to catch.</a:t>
            </a:r>
          </a:p>
        </p:txBody>
      </p:sp>
      <p:pic>
        <p:nvPicPr>
          <p:cNvPr id="6" name="Picture 5" descr="aegis_e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" y="868680"/>
            <a:ext cx="11347704" cy="4334256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6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9446" y="36576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ROC Operating-Point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636" y="822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dirty="0">
                <a:solidFill>
                  <a:srgbClr val="334155"/>
                </a:solidFill>
                <a:latin typeface="Montserrat"/>
              </a:rPr>
              <a:t>The chosen threshold is justified with respect to a stated, checkable statistical objective.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7631" y="4997265"/>
            <a:ext cx="10607040" cy="515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0.60 is Pareto-efficient - no alternative threshold beats it on both recall and FPR - and sits within 0.2 points of the Neyman-Pearson frontier. It minimises a stated cost function, not an unlabelled 'optimal'.</a:t>
            </a:r>
          </a:p>
        </p:txBody>
      </p:sp>
      <p:pic>
        <p:nvPicPr>
          <p:cNvPr id="7" name="Picture 6" descr="aegis_bayes_risk_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631" y="1525386"/>
            <a:ext cx="9093015" cy="3471879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PART 6 OF 6 - EXPECTED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475488"/>
            <a:ext cx="9601200" cy="44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Live Demo </a:t>
            </a:r>
            <a:r>
              <a:rPr lang="en-US" sz="2800" b="1" dirty="0">
                <a:solidFill>
                  <a:srgbClr val="020C31"/>
                </a:solidFill>
                <a:latin typeface="Montserrat"/>
              </a:rPr>
              <a:t>Details</a:t>
            </a:r>
            <a:endParaRPr sz="2800" b="1" dirty="0">
              <a:solidFill>
                <a:srgbClr val="020C31"/>
              </a:solidFill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58952" y="1044332"/>
            <a:ext cx="10607040" cy="1983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dirty="0">
                <a:solidFill>
                  <a:srgbClr val="334155"/>
                </a:solidFill>
                <a:latin typeface="Montserrat"/>
              </a:rPr>
              <a:t>AEGIS has a working, demonstrable baseline - this is not a forward-looking description, it's a walkthrough of what exists today.</a:t>
            </a:r>
          </a:p>
        </p:txBody>
      </p:sp>
      <p:pic>
        <p:nvPicPr>
          <p:cNvPr id="5" name="AEGIS_Live_De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35834" y="1382656"/>
            <a:ext cx="8860166" cy="47069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 mute="1">
                <p:cTn id="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35">
            <a:extLst>
              <a:ext uri="{FF2B5EF4-FFF2-40B4-BE49-F238E27FC236}">
                <a16:creationId xmlns:a16="http://schemas.microsoft.com/office/drawing/2014/main" id="{F79DFFFD-69BC-67D0-2F6C-8A2757687FD5}"/>
              </a:ext>
            </a:extLst>
          </p:cNvPr>
          <p:cNvSpPr txBox="1"/>
          <p:nvPr/>
        </p:nvSpPr>
        <p:spPr>
          <a:xfrm>
            <a:off x="625129" y="5554809"/>
            <a:ext cx="5738726" cy="3824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1628"/>
              </a:lnSpc>
            </a:pPr>
            <a:r>
              <a:rPr lang="en-US" sz="11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This presentation contains information that may be privileged or confidential and is the property of 5G Academy 2025/26.</a:t>
            </a:r>
            <a:r>
              <a:rPr lang="en-US" sz="1100" spc="13">
                <a:solidFill>
                  <a:srgbClr val="000000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​</a:t>
            </a:r>
          </a:p>
          <a:p>
            <a:pPr defTabSz="609630">
              <a:lnSpc>
                <a:spcPts val="1628"/>
              </a:lnSpc>
            </a:pPr>
            <a:r>
              <a:rPr lang="en-US" sz="11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Copyright © 2025/26 5G Academy. All rights reserved.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545127C7-0F46-8704-D4BA-AF96F51AAE7E}"/>
              </a:ext>
            </a:extLst>
          </p:cNvPr>
          <p:cNvSpPr txBox="1"/>
          <p:nvPr/>
        </p:nvSpPr>
        <p:spPr>
          <a:xfrm>
            <a:off x="788526" y="4480530"/>
            <a:ext cx="5307474" cy="11798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 defTabSz="609630">
              <a:defRPr/>
            </a:pPr>
            <a:r>
              <a:rPr lang="en-GB" sz="7667" spc="-13">
                <a:solidFill>
                  <a:prstClr val="white"/>
                </a:solidFill>
                <a:latin typeface="Montserrat Bold" panose="00000800000000000000" pitchFamily="2" charset="0"/>
                <a:cs typeface="Arial"/>
              </a:rPr>
              <a:t>Thank</a:t>
            </a:r>
            <a:r>
              <a:rPr lang="en-GB" sz="7667" spc="-13">
                <a:solidFill>
                  <a:prstClr val="white"/>
                </a:solidFill>
                <a:latin typeface="TIM Sans Thin" panose="02020503040602060503" pitchFamily="18" charset="0"/>
                <a:cs typeface="Arial"/>
              </a:rPr>
              <a:t> </a:t>
            </a:r>
            <a:r>
              <a:rPr lang="en-GB" sz="7667" spc="-13">
                <a:solidFill>
                  <a:prstClr val="white"/>
                </a:solidFill>
                <a:latin typeface="Montserrat Light" panose="00000400000000000000" pitchFamily="2" charset="0"/>
                <a:cs typeface="Arial"/>
              </a:rPr>
              <a:t>you</a:t>
            </a:r>
            <a:endParaRPr lang="fr-FR" sz="7667" spc="200">
              <a:solidFill>
                <a:prstClr val="white"/>
              </a:solidFill>
              <a:latin typeface="Montserrat Light" panose="00000400000000000000" pitchFamily="2" charset="0"/>
              <a:cs typeface="Arial"/>
            </a:endParaRPr>
          </a:p>
        </p:txBody>
      </p:sp>
      <p:pic>
        <p:nvPicPr>
          <p:cNvPr id="5" name="Immagine 4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98455F16-3EC6-AA39-263F-05660E1A16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5553971" y="324906"/>
            <a:ext cx="6638029" cy="4269628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97479B7-0E49-F31C-36F7-EE773C122418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6F1D3B6C-2814-C3D5-D940-E19FF3A116FF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7445FC7E-1EBC-2CFC-DA3F-BD1CA8CF1391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24F6550C-87E5-F77F-BC5A-B2720984862A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 dirty="0">
                  <a:solidFill>
                    <a:srgbClr val="E6F0FF"/>
                  </a:solidFill>
                  <a:latin typeface="Proxima Nova:"/>
                </a:rPr>
                <a:t>Engineering the Infrastructure of the AI Era</a:t>
              </a:r>
            </a:p>
          </p:txBody>
        </p:sp>
      </p:grp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0DB533A8-695C-0589-EE61-7B7835E7359C}"/>
              </a:ext>
            </a:extLst>
          </p:cNvPr>
          <p:cNvGrpSpPr/>
          <p:nvPr/>
        </p:nvGrpSpPr>
        <p:grpSpPr>
          <a:xfrm>
            <a:off x="9034438" y="4847283"/>
            <a:ext cx="2628172" cy="1676493"/>
            <a:chOff x="1040621" y="3487333"/>
            <a:chExt cx="2628172" cy="1676493"/>
          </a:xfrm>
        </p:grpSpPr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473DBE2A-D16D-3CFA-D458-A36131CFF447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21" name="Elemento grafico 20">
              <a:extLst>
                <a:ext uri="{FF2B5EF4-FFF2-40B4-BE49-F238E27FC236}">
                  <a16:creationId xmlns:a16="http://schemas.microsoft.com/office/drawing/2014/main" id="{69BCE9B7-B7D1-DD0B-6074-9D68302200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2" name="Elemento grafico 21">
              <a:extLst>
                <a:ext uri="{FF2B5EF4-FFF2-40B4-BE49-F238E27FC236}">
                  <a16:creationId xmlns:a16="http://schemas.microsoft.com/office/drawing/2014/main" id="{4D03E4CC-2C12-2AD1-A2E3-B1F6D2E05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0913D8-9114-1F9F-A42D-0726E864D251}"/>
              </a:ext>
            </a:extLst>
          </p:cNvPr>
          <p:cNvSpPr txBox="1"/>
          <p:nvPr/>
        </p:nvSpPr>
        <p:spPr>
          <a:xfrm>
            <a:off x="127559" y="2156931"/>
            <a:ext cx="55362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/>
              </a:rPr>
              <a:t>GITHUB : </a:t>
            </a:r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https://github.com/fauzan111/AEGIS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/>
              </a:rPr>
              <a:t>GITHUB Live : </a:t>
            </a:r>
            <a:r>
              <a:rPr lang="en-US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https://fauzan111.github.io/AEGIS/#gate1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/>
              </a:rPr>
              <a:t>Dashboard Live : </a:t>
            </a:r>
            <a:r>
              <a:rPr lang="en-US" dirty="0">
                <a:solidFill>
                  <a:schemeClr val="bg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https://aegis5gacademy.streamlit.app/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507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Bootstrap Confidence Intervals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Point estimates alone overstate precision on a ~350-window attack sample. Stratified bootstrap (3,000 replicates): ROC-AUC 0.965 [0.951, 0.977], recall 90.7% [87.6%, 93.5%], FPR 1.43% [1.21%, 1.64%] - and the AEGIS-vs-SPC AUC gap is significant at p=0.015.</a:t>
            </a:r>
          </a:p>
        </p:txBody>
      </p:sp>
      <p:pic>
        <p:nvPicPr>
          <p:cNvPr id="6" name="Picture 5" descr="aegis_bootstr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5" y="902335"/>
            <a:ext cx="10585125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Cross-Validated Threshold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The 0.60 threshold was picked on the same test set final numbers are reported on - a fair concern. 5-fold CV (threshold picked on 4 folds, evaluated on the 5th): threshold 0.604 +/- 0.005, recall 91.6% +/- 3.3%, FPR 1.43% +/- 0.16% - not cherry-picked to one slice of data.</a:t>
            </a:r>
          </a:p>
        </p:txBody>
      </p:sp>
      <p:pic>
        <p:nvPicPr>
          <p:cNvPr id="6" name="Picture 5" descr="aegis_cv_threshold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7" y="902335"/>
            <a:ext cx="10124902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Temporal Split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The main pipeline splits legit windows randomly across the week; real deployment fits on the past and scores the future. Rerun with a strict chronological split (1 day training, 4 days test): ROC-AUC 0.969, recall 90.1%, FPR 1.24% - held up, even with far less training data.</a:t>
            </a:r>
          </a:p>
        </p:txBody>
      </p:sp>
      <p:pic>
        <p:nvPicPr>
          <p:cNvPr id="6" name="Picture 5" descr="aegis_temporal_spli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5" y="902335"/>
            <a:ext cx="10585125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Concept-Drift / Stationarity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Does an agent's 'normal' stay stable long enough for a one-time baseline to hold? KS-tests (day 1 vs. last day, FDR-corrected): 6 of 20 agent/feature pairs show real drift even within 5 synthetic days - motivating a periodic re-baselining cadence as an explicit requirement, not an assumption.</a:t>
            </a:r>
          </a:p>
        </p:txBody>
      </p:sp>
      <p:pic>
        <p:nvPicPr>
          <p:cNvPr id="6" name="Picture 5" descr="aegis_concept_drif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69" y="902335"/>
            <a:ext cx="6479937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Adversarial Evasion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34155"/>
                </a:solidFill>
                <a:latin typeface="Montserrat"/>
              </a:rPr>
              <a:t>All seven threats in the main evaluation are naive - none paced against our thresholds deliberately. Pacing the same T4 flood volume over 24 hours instead of 1 drops detection 100% to 0%. A real, demonstrated gap - the direct fix (a rolling volumetric accumulator, mirroring T3/T5) is now a named priority.</a:t>
            </a:r>
          </a:p>
        </p:txBody>
      </p:sp>
      <p:pic>
        <p:nvPicPr>
          <p:cNvPr id="6" name="Picture 5" descr="aegis_evasion_stres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7" y="902335"/>
            <a:ext cx="10124902" cy="40499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 Sans"/>
        <a:ea typeface=""/>
        <a:cs typeface=""/>
      </a:majorFont>
      <a:minorFont>
        <a:latin typeface="TIM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4556ADC4-199E-44DC-A523-D8744D7BC3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F2E81-C883-4B0C-8083-6D912302FD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541EC5D-E343-4D44-BBD8-CEB67CBC2CC1}">
  <ds:schemaRefs>
    <ds:schemaRef ds:uri="0956c7b6-d154-4c2f-a855-f749c344b973"/>
    <ds:schemaRef ds:uri="85ac3166-3b04-459f-810a-4a1a3b1043f5"/>
    <ds:schemaRef ds:uri="9838d0a8-28ce-4517-850f-cd68f65e9223"/>
    <ds:schemaRef ds:uri="http://schemas.microsoft.com/office/2006/metadata/properties"/>
    <ds:schemaRef ds:uri="http://schemas.microsoft.com/office/infopath/2007/PartnerControls"/>
    <ds:schemaRef ds:uri="df1bf422-076b-4923-a343-86f92e681c13"/>
    <ds:schemaRef ds:uri="17320c4f-b4d7-4a2f-a568-c234bef093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1611</Words>
  <Application>Microsoft Office PowerPoint</Application>
  <PresentationFormat>Widescreen</PresentationFormat>
  <Paragraphs>191</Paragraphs>
  <Slides>21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5" baseType="lpstr">
      <vt:lpstr>Arial</vt:lpstr>
      <vt:lpstr>Calibri</vt:lpstr>
      <vt:lpstr>Cambria Math</vt:lpstr>
      <vt:lpstr>Montserrat</vt:lpstr>
      <vt:lpstr>Montserrat Bold</vt:lpstr>
      <vt:lpstr>Montserrat Light</vt:lpstr>
      <vt:lpstr>Montserrat Medium</vt:lpstr>
      <vt:lpstr>Proxima Nova:</vt:lpstr>
      <vt:lpstr>Segoe UI</vt:lpstr>
      <vt:lpstr>TIM Sans</vt:lpstr>
      <vt:lpstr>TIM Sans Light</vt:lpstr>
      <vt:lpstr>TIM Sans Thin</vt:lpstr>
      <vt:lpstr>Tema di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CYBORG ACADEMY</dc:title>
  <dc:creator>Microsoft Office User</dc:creator>
  <cp:lastModifiedBy>FAUZAN EJAZ</cp:lastModifiedBy>
  <cp:revision>152</cp:revision>
  <cp:lastPrinted>2019-09-27T11:11:51Z</cp:lastPrinted>
  <dcterms:created xsi:type="dcterms:W3CDTF">2019-09-25T16:06:26Z</dcterms:created>
  <dcterms:modified xsi:type="dcterms:W3CDTF">2026-10-15T07:46:10Z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5e397fc-1581-4f20-a09a-f1b2dd53ab2e_Enabled">
    <vt:lpwstr>true</vt:lpwstr>
  </property>
  <property fmtid="{D5CDD505-2E9C-101B-9397-08002B2CF9AE}" pid="3" name="MSIP_Label_d5e397fc-1581-4f20-a09a-f1b2dd53ab2e_SetDate">
    <vt:lpwstr>2021-11-17T09:55:24Z</vt:lpwstr>
  </property>
  <property fmtid="{D5CDD505-2E9C-101B-9397-08002B2CF9AE}" pid="4" name="MSIP_Label_d5e397fc-1581-4f20-a09a-f1b2dd53ab2e_Method">
    <vt:lpwstr>Privileged</vt:lpwstr>
  </property>
  <property fmtid="{D5CDD505-2E9C-101B-9397-08002B2CF9AE}" pid="5" name="MSIP_Label_d5e397fc-1581-4f20-a09a-f1b2dd53ab2e_Name">
    <vt:lpwstr>PUBBLICO</vt:lpwstr>
  </property>
  <property fmtid="{D5CDD505-2E9C-101B-9397-08002B2CF9AE}" pid="6" name="MSIP_Label_d5e397fc-1581-4f20-a09a-f1b2dd53ab2e_SiteId">
    <vt:lpwstr>6815f468-021c-48f2-a6b2-d65c8e979dfb</vt:lpwstr>
  </property>
  <property fmtid="{D5CDD505-2E9C-101B-9397-08002B2CF9AE}" pid="7" name="MSIP_Label_d5e397fc-1581-4f20-a09a-f1b2dd53ab2e_ActionId">
    <vt:lpwstr>7b197b8f-7652-45e1-ab4f-07a24c18b5db</vt:lpwstr>
  </property>
  <property fmtid="{D5CDD505-2E9C-101B-9397-08002B2CF9AE}" pid="8" name="MSIP_Label_d5e397fc-1581-4f20-a09a-f1b2dd53ab2e_ContentBits">
    <vt:lpwstr>0</vt:lpwstr>
  </property>
  <property fmtid="{D5CDD505-2E9C-101B-9397-08002B2CF9AE}" pid="9" name="ContentTypeId">
    <vt:lpwstr>0x010100942D7E2E766E274BA85FFEF303FE3B84</vt:lpwstr>
  </property>
  <property fmtid="{D5CDD505-2E9C-101B-9397-08002B2CF9AE}" pid="10" name="MSIP_Label_2ad0b24d-6422-44b0-b3de-abb3a9e8c81a_Enabled">
    <vt:lpwstr>true</vt:lpwstr>
  </property>
  <property fmtid="{D5CDD505-2E9C-101B-9397-08002B2CF9AE}" pid="11" name="MSIP_Label_2ad0b24d-6422-44b0-b3de-abb3a9e8c81a_SetDate">
    <vt:lpwstr>2026-07-01T14:43:44Z</vt:lpwstr>
  </property>
  <property fmtid="{D5CDD505-2E9C-101B-9397-08002B2CF9AE}" pid="12" name="MSIP_Label_2ad0b24d-6422-44b0-b3de-abb3a9e8c81a_Method">
    <vt:lpwstr>Standard</vt:lpwstr>
  </property>
  <property fmtid="{D5CDD505-2E9C-101B-9397-08002B2CF9AE}" pid="13" name="MSIP_Label_2ad0b24d-6422-44b0-b3de-abb3a9e8c81a_Name">
    <vt:lpwstr>defa4170-0d19-0005-0004-bc88714345d2</vt:lpwstr>
  </property>
  <property fmtid="{D5CDD505-2E9C-101B-9397-08002B2CF9AE}" pid="14" name="MSIP_Label_2ad0b24d-6422-44b0-b3de-abb3a9e8c81a_SiteId">
    <vt:lpwstr>2fcfe26a-bb62-46b0-b1e3-28f9da0c45fd</vt:lpwstr>
  </property>
  <property fmtid="{D5CDD505-2E9C-101B-9397-08002B2CF9AE}" pid="15" name="MSIP_Label_2ad0b24d-6422-44b0-b3de-abb3a9e8c81a_ActionId">
    <vt:lpwstr>bd5a7b6a-91db-4137-b6db-996924422879</vt:lpwstr>
  </property>
  <property fmtid="{D5CDD505-2E9C-101B-9397-08002B2CF9AE}" pid="16" name="MSIP_Label_2ad0b24d-6422-44b0-b3de-abb3a9e8c81a_ContentBits">
    <vt:lpwstr>0</vt:lpwstr>
  </property>
  <property fmtid="{D5CDD505-2E9C-101B-9397-08002B2CF9AE}" pid="17" name="MSIP_Label_2ad0b24d-6422-44b0-b3de-abb3a9e8c81a_Tag">
    <vt:lpwstr>10, 3, 0, 1</vt:lpwstr>
  </property>
  <property fmtid="{D5CDD505-2E9C-101B-9397-08002B2CF9AE}" pid="18" name="MediaServiceImageTags">
    <vt:lpwstr/>
  </property>
</Properties>
</file>