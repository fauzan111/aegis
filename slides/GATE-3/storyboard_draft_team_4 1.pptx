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comments/modernComment_100_66B150BA.xml" ContentType="application/vnd.ms-powerpoint.comments+xml"/>
  <Override PartName="/ppt/comments/modernComment_102_2D9F4535.xml" ContentType="application/vnd.ms-powerpoint.comments+xml"/>
  <Override PartName="/ppt/comments/modernComment_107_10B7149E.xml" ContentType="application/vnd.ms-powerpoint.comments+xml"/>
  <Override PartName="/ppt/comments/modernComment_108_67A6EAEC.xml" ContentType="application/vnd.ms-powerpoint.comments+xml"/>
  <Override PartName="/ppt/comments/modernComment_10A_F8A3B473.xml" ContentType="application/vnd.ms-powerpoint.comments+xml"/>
  <Override PartName="/ppt/comments/modernComment_23A_B6A68C47.xml" ContentType="application/vnd.ms-powerpoint.comments+xml"/>
  <Override PartName="/ppt/embeddings/oleObject1.bin" ContentType="application/vnd.openxmlformats-officedocument.oleObject"/>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571" r:id="rId5"/>
    <p:sldId id="256" r:id="rId6"/>
    <p:sldId id="258" r:id="rId7"/>
    <p:sldId id="264" r:id="rId8"/>
    <p:sldId id="263" r:id="rId9"/>
    <p:sldId id="266" r:id="rId10"/>
    <p:sldId id="570" r:id="rId11"/>
  </p:sldIdLst>
  <p:sldSz cx="10688638" cy="756285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912BF023-B239-6139-D5B5-2490B3E1B82E}" name="vincenzo.merola2" initials="vi" userId="S::vincenzo.merola2_unina.it#ext#@politoit.onmicrosoft.com::ed3403ea-8563-4e91-b5d2-4ba84b2c65c2" providerId="AD"/>
  <p188:author id="{489DC8AB-01E6-975C-1E88-540E4F722213}" name="LUISA ANNA DAVINO-5G" initials="LD" userId="S::luisaanna.davino-5g_unina.it#ext#@politoit.onmicrosoft.com::1d6a52ac-a5ac-4684-89ea-6c8f9cb1ac4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IULIA GRIECO" initials="GG" lastIdx="1" clrIdx="0">
    <p:extLst>
      <p:ext uri="{19B8F6BF-5375-455C-9EA6-DF929625EA0E}">
        <p15:presenceInfo xmlns:p15="http://schemas.microsoft.com/office/powerpoint/2012/main" userId="S::giulia.grieco@studenti.unina.it::5b354c5b-8914-4630-8986-cc9dd4bd34e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44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lagami  Tedi" userId="20ef48d9-6a35-495c-88fc-ccc566c819a3" providerId="ADAL" clId="{25EE7F72-420A-4401-B1E4-84A3C2BC54B5}"/>
    <pc:docChg chg="modSld">
      <pc:chgData name="Llagami  Tedi" userId="20ef48d9-6a35-495c-88fc-ccc566c819a3" providerId="ADAL" clId="{25EE7F72-420A-4401-B1E4-84A3C2BC54B5}" dt="2026-10-10T12:57:21.523" v="3" actId="14100"/>
      <pc:docMkLst>
        <pc:docMk/>
      </pc:docMkLst>
      <pc:sldChg chg="modSp mod">
        <pc:chgData name="Llagami  Tedi" userId="20ef48d9-6a35-495c-88fc-ccc566c819a3" providerId="ADAL" clId="{25EE7F72-420A-4401-B1E4-84A3C2BC54B5}" dt="2026-10-10T12:57:21.523" v="3" actId="14100"/>
        <pc:sldMkLst>
          <pc:docMk/>
          <pc:sldMk cId="1722896570" sldId="256"/>
        </pc:sldMkLst>
        <pc:picChg chg="mod">
          <ac:chgData name="Llagami  Tedi" userId="20ef48d9-6a35-495c-88fc-ccc566c819a3" providerId="ADAL" clId="{25EE7F72-420A-4401-B1E4-84A3C2BC54B5}" dt="2026-10-10T12:57:21.523" v="3" actId="14100"/>
          <ac:picMkLst>
            <pc:docMk/>
            <pc:sldMk cId="1722896570" sldId="256"/>
            <ac:picMk id="66" creationId="{B6A5B527-47F5-5795-DF13-1BAA7D9C9728}"/>
          </ac:picMkLst>
        </pc:picChg>
      </pc:sldChg>
    </pc:docChg>
  </pc:docChgLst>
  <pc:docChgLst>
    <pc:chgData name="vincenzo.merola2" userId="S::vincenzo.merola2_unina.it#ext#@politoit.onmicrosoft.com::ed3403ea-8563-4e91-b5d2-4ba84b2c65c2" providerId="AD" clId="Web-{A30AEE34-741E-A23C-DD9C-2A24B9868D44}"/>
    <pc:docChg chg="mod modSld">
      <pc:chgData name="vincenzo.merola2" userId="S::vincenzo.merola2_unina.it#ext#@politoit.onmicrosoft.com::ed3403ea-8563-4e91-b5d2-4ba84b2c65c2" providerId="AD" clId="Web-{A30AEE34-741E-A23C-DD9C-2A24B9868D44}" dt="2026-10-08T15:03:05.107" v="4" actId="1076"/>
      <pc:docMkLst>
        <pc:docMk/>
      </pc:docMkLst>
      <pc:sldChg chg="modSp">
        <pc:chgData name="vincenzo.merola2" userId="S::vincenzo.merola2_unina.it#ext#@politoit.onmicrosoft.com::ed3403ea-8563-4e91-b5d2-4ba84b2c65c2" providerId="AD" clId="Web-{A30AEE34-741E-A23C-DD9C-2A24B9868D44}" dt="2026-10-08T13:34:16.586" v="2" actId="14100"/>
        <pc:sldMkLst>
          <pc:docMk/>
          <pc:sldMk cId="1738992364" sldId="264"/>
        </pc:sldMkLst>
        <pc:picChg chg="mod">
          <ac:chgData name="vincenzo.merola2" userId="S::vincenzo.merola2_unina.it#ext#@politoit.onmicrosoft.com::ed3403ea-8563-4e91-b5d2-4ba84b2c65c2" providerId="AD" clId="Web-{A30AEE34-741E-A23C-DD9C-2A24B9868D44}" dt="2026-10-08T13:34:16.586" v="2" actId="14100"/>
          <ac:picMkLst>
            <pc:docMk/>
            <pc:sldMk cId="1738992364" sldId="264"/>
            <ac:picMk id="3" creationId="{B4BE50E7-97D2-5C10-0830-55BC418A8C73}"/>
          </ac:picMkLst>
        </pc:picChg>
      </pc:sldChg>
      <pc:sldChg chg="modSp">
        <pc:chgData name="vincenzo.merola2" userId="S::vincenzo.merola2_unina.it#ext#@politoit.onmicrosoft.com::ed3403ea-8563-4e91-b5d2-4ba84b2c65c2" providerId="AD" clId="Web-{A30AEE34-741E-A23C-DD9C-2A24B9868D44}" dt="2026-10-08T15:03:05.107" v="4" actId="1076"/>
        <pc:sldMkLst>
          <pc:docMk/>
          <pc:sldMk cId="4171478131" sldId="266"/>
        </pc:sldMkLst>
        <pc:spChg chg="mod">
          <ac:chgData name="vincenzo.merola2" userId="S::vincenzo.merola2_unina.it#ext#@politoit.onmicrosoft.com::ed3403ea-8563-4e91-b5d2-4ba84b2c65c2" providerId="AD" clId="Web-{A30AEE34-741E-A23C-DD9C-2A24B9868D44}" dt="2026-10-08T15:03:05.107" v="4" actId="1076"/>
          <ac:spMkLst>
            <pc:docMk/>
            <pc:sldMk cId="4171478131" sldId="266"/>
            <ac:spMk id="27" creationId="{00000000-0000-0000-0000-000000000000}"/>
          </ac:spMkLst>
        </pc:spChg>
      </pc:sldChg>
    </pc:docChg>
  </pc:docChgLst>
  <pc:docChgLst>
    <pc:chgData name="LUISA ANNA DAVINO-5G" userId="S::luisaanna.davino-5g_unina.it#ext#@politoit.onmicrosoft.com::1d6a52ac-a5ac-4684-89ea-6c8f9cb1ac43" providerId="AD" clId="Web-{00000000-0000-0000-0000-000000000000}"/>
    <pc:docChg chg="mod addSld modSld sldOrd">
      <pc:chgData name="LUISA ANNA DAVINO-5G" userId="S::luisaanna.davino-5g_unina.it#ext#@politoit.onmicrosoft.com::1d6a52ac-a5ac-4684-89ea-6c8f9cb1ac43" providerId="AD" clId="Web-{00000000-0000-0000-0000-000000000000}" dt="2026-10-08T14:30:29.515" v="17" actId="20577"/>
      <pc:docMkLst>
        <pc:docMk/>
      </pc:docMkLst>
      <pc:sldChg chg="modSp">
        <pc:chgData name="LUISA ANNA DAVINO-5G" userId="S::luisaanna.davino-5g_unina.it#ext#@politoit.onmicrosoft.com::1d6a52ac-a5ac-4684-89ea-6c8f9cb1ac43" providerId="AD" clId="Web-{00000000-0000-0000-0000-000000000000}" dt="2026-10-08T14:17:33.131" v="2" actId="1076"/>
        <pc:sldMkLst>
          <pc:docMk/>
          <pc:sldMk cId="1722896570" sldId="256"/>
        </pc:sldMkLst>
        <pc:spChg chg="mod">
          <ac:chgData name="LUISA ANNA DAVINO-5G" userId="S::luisaanna.davino-5g_unina.it#ext#@politoit.onmicrosoft.com::1d6a52ac-a5ac-4684-89ea-6c8f9cb1ac43" providerId="AD" clId="Web-{00000000-0000-0000-0000-000000000000}" dt="2026-10-08T14:17:33.131" v="2" actId="1076"/>
          <ac:spMkLst>
            <pc:docMk/>
            <pc:sldMk cId="1722896570" sldId="256"/>
            <ac:spMk id="38" creationId="{00000000-0000-0000-0000-000000000000}"/>
          </ac:spMkLst>
        </pc:spChg>
        <pc:spChg chg="mod">
          <ac:chgData name="LUISA ANNA DAVINO-5G" userId="S::luisaanna.davino-5g_unina.it#ext#@politoit.onmicrosoft.com::1d6a52ac-a5ac-4684-89ea-6c8f9cb1ac43" providerId="AD" clId="Web-{00000000-0000-0000-0000-000000000000}" dt="2026-10-08T14:17:27.928" v="1" actId="1076"/>
          <ac:spMkLst>
            <pc:docMk/>
            <pc:sldMk cId="1722896570" sldId="256"/>
            <ac:spMk id="45" creationId="{00000000-0000-0000-0000-000000000000}"/>
          </ac:spMkLst>
        </pc:spChg>
      </pc:sldChg>
      <pc:sldChg chg="modSp new ord">
        <pc:chgData name="LUISA ANNA DAVINO-5G" userId="S::luisaanna.davino-5g_unina.it#ext#@politoit.onmicrosoft.com::1d6a52ac-a5ac-4684-89ea-6c8f9cb1ac43" providerId="AD" clId="Web-{00000000-0000-0000-0000-000000000000}" dt="2026-10-08T14:30:29.515" v="17" actId="20577"/>
        <pc:sldMkLst>
          <pc:docMk/>
          <pc:sldMk cId="612047977" sldId="571"/>
        </pc:sldMkLst>
        <pc:spChg chg="mod">
          <ac:chgData name="LUISA ANNA DAVINO-5G" userId="S::luisaanna.davino-5g_unina.it#ext#@politoit.onmicrosoft.com::1d6a52ac-a5ac-4684-89ea-6c8f9cb1ac43" providerId="AD" clId="Web-{00000000-0000-0000-0000-000000000000}" dt="2026-10-08T14:29:54.374" v="11" actId="20577"/>
          <ac:spMkLst>
            <pc:docMk/>
            <pc:sldMk cId="612047977" sldId="571"/>
            <ac:spMk id="2" creationId="{1BB3A408-2EC0-0D42-0532-EA52EF451DDA}"/>
          </ac:spMkLst>
        </pc:spChg>
        <pc:spChg chg="mod">
          <ac:chgData name="LUISA ANNA DAVINO-5G" userId="S::luisaanna.davino-5g_unina.it#ext#@politoit.onmicrosoft.com::1d6a52ac-a5ac-4684-89ea-6c8f9cb1ac43" providerId="AD" clId="Web-{00000000-0000-0000-0000-000000000000}" dt="2026-10-08T14:30:29.515" v="17" actId="20577"/>
          <ac:spMkLst>
            <pc:docMk/>
            <pc:sldMk cId="612047977" sldId="571"/>
            <ac:spMk id="3" creationId="{CF43BE94-59B7-E625-915F-19926D92DB09}"/>
          </ac:spMkLst>
        </pc:spChg>
      </pc:sldChg>
    </pc:docChg>
  </pc:docChgLst>
</pc:chgInfo>
</file>

<file path=ppt/comments/modernComment_10A_F8A3B473.xml><?xml version="1.0" encoding="utf-8"?>
<p188:cmLst xmlns:a="http://schemas.openxmlformats.org/drawingml/2006/main" xmlns:r="http://schemas.openxmlformats.org/officeDocument/2006/relationships" xmlns:p188="http://schemas.microsoft.com/office/powerpoint/2018/8/main">
  <p188:cm id="{1F047C4A-8BC7-4A6E-8838-6368C25E2864}" authorId="{912BF023-B239-6139-D5B5-2490B3E1B82E}" created="2026-10-08T13:43:45.948">
    <pc:sldMkLst xmlns:pc="http://schemas.microsoft.com/office/powerpoint/2013/main/command">
      <pc:docMk/>
      <pc:sldMk cId="4171478131" sldId="266"/>
    </pc:sldMkLst>
    <p188:txBody>
      <a:bodyPr/>
      <a:lstStyle/>
      <a:p>
        <a:r>
          <a:rPr lang="it-IT"/>
          <a:t>The whole structure of the storyboard is interesting, in terms of storytelling. But everything else is missing: 
- Schematics to show
- Voiceovers of both of you and in what scene they will be told
- Some results a the end.</a:t>
        </a:r>
      </a:p>
    </p188:txBody>
  </p188:cm>
  <p188:cm id="{7663F63F-1BA2-4FF2-878D-A446DF120783}" authorId="{912BF023-B239-6139-D5B5-2490B3E1B82E}" created="2026-10-08T14:14:56.244">
    <pc:sldMkLst xmlns:pc="http://schemas.microsoft.com/office/powerpoint/2013/main/command">
      <pc:docMk/>
      <pc:sldMk cId="4171478131" sldId="266"/>
    </pc:sldMkLst>
    <p188:txBody>
      <a:bodyPr/>
      <a:lstStyle/>
      <a:p>
        <a:r>
          <a:rPr lang="it-IT"/>
          <a:t>I propose you a ordering:
- 5G network, compromised agent
- Why credentials are not enough to control
- Solution: AEGIS logo
- The pipeline
- How it works
- Maybe some problems encountered
- SImulation with Open5GS
- Demo
- Dashboard and results</a:t>
        </a:r>
      </a:p>
    </p188:txBody>
  </p188:cm>
  <p188:cm id="{2B382D13-3E1C-4864-A63C-E99AFBBF7DB7}" authorId="{912BF023-B239-6139-D5B5-2490B3E1B82E}" created="2026-10-08T14:41:22.342">
    <pc:sldMkLst xmlns:pc="http://schemas.microsoft.com/office/powerpoint/2013/main/command">
      <pc:docMk/>
      <pc:sldMk cId="4171478131" sldId="266"/>
    </pc:sldMkLst>
    <p188:txBody>
      <a:bodyPr/>
      <a:lstStyle/>
      <a:p>
        <a:r>
          <a:rPr lang="it-IT"/>
          <a:t>Please when you use AI, make sure to know what are you doing and review all that AI produces, with a critical eye.</a:t>
        </a:r>
      </a:p>
    </p188:txBody>
  </p188:cm>
</p188:cmLst>
</file>

<file path=ppt/comments/modernComment_23A_B6A68C47.xml><?xml version="1.0" encoding="utf-8"?>
<p188:cmLst xmlns:a="http://schemas.openxmlformats.org/drawingml/2006/main" xmlns:r="http://schemas.openxmlformats.org/officeDocument/2006/relationships" xmlns:p188="http://schemas.microsoft.com/office/powerpoint/2018/8/main">
  <p188:cm id="{41D98D38-1622-489F-A665-3E3D4801E5B9}" authorId="{912BF023-B239-6139-D5B5-2490B3E1B82E}" created="2026-10-08T15:06:11.848">
    <ac:deMkLst xmlns:ac="http://schemas.microsoft.com/office/drawing/2013/main/command">
      <pc:docMk xmlns:pc="http://schemas.microsoft.com/office/powerpoint/2013/main/command"/>
      <pc:sldMk xmlns:pc="http://schemas.microsoft.com/office/powerpoint/2013/main/command" cId="3064368199" sldId="570"/>
      <ac:spMk id="29" creationId="{A06EF363-7321-4789-B70A-BF7EE0475D79}"/>
    </ac:deMkLst>
    <p188:txBody>
      <a:bodyPr/>
      <a:lstStyle/>
      <a:p>
        <a:r>
          <a:rPr lang="it-IT"/>
          <a:t>Please write your student status</a:t>
        </a:r>
      </a:p>
    </p188:txBody>
  </p188:cm>
</p188:cmLst>
</file>

<file path=ppt/comments/modernComment_100_66B150BA.xml><?xml version="1.0" encoding="utf-8"?>
<p188:cmLst xmlns:a="http://schemas.openxmlformats.org/drawingml/2006/main" xmlns:r="http://schemas.openxmlformats.org/officeDocument/2006/relationships" xmlns:p188="http://schemas.microsoft.com/office/powerpoint/2018/8/main">
  <p188:cm id="{6693FA6F-8F7D-4FEA-91E6-9A6DFA025C2F}" authorId="{912BF023-B239-6139-D5B5-2490B3E1B82E}" created="2026-10-08T13:26:46.165">
    <pc:sldMkLst xmlns:pc="http://schemas.microsoft.com/office/powerpoint/2013/main/command">
      <pc:docMk/>
      <pc:sldMk cId="1722896570" sldId="256"/>
    </pc:sldMkLst>
    <p188:txBody>
      <a:bodyPr/>
      <a:lstStyle/>
      <a:p>
        <a:r>
          <a:rPr lang="it-IT"/>
          <a:t>You must provide the precise text that one of you is telling while each frame/slide is showing on the screen. Think about that it is a 5 minutes video all recorded with your voices, your images or some footage of you working or talking that you will record with the filmmaker.</a:t>
        </a:r>
      </a:p>
    </p188:txBody>
  </p188:cm>
  <p188:cm id="{1E99FC02-639C-48BB-A285-E606A9C94E02}" authorId="{912BF023-B239-6139-D5B5-2490B3E1B82E}" created="2026-10-08T14:00:29.621">
    <pc:sldMkLst xmlns:pc="http://schemas.microsoft.com/office/powerpoint/2013/main/command">
      <pc:docMk/>
      <pc:sldMk cId="1722896570" sldId="256"/>
    </pc:sldMkLst>
    <p188:txBody>
      <a:bodyPr/>
      <a:lstStyle/>
      <a:p>
        <a:r>
          <a:rPr lang="it-IT"/>
          <a:t>You can also use some videos you find on the web, or animations, but you must provide the link. </a:t>
        </a:r>
      </a:p>
    </p188:txBody>
  </p188:cm>
  <p188:cm id="{6ECE726F-83BA-4745-A507-8102787932FE}" authorId="{912BF023-B239-6139-D5B5-2490B3E1B82E}" created="2026-10-08T14:17:29.905">
    <ac:deMkLst xmlns:ac="http://schemas.microsoft.com/office/drawing/2013/main/command">
      <pc:docMk xmlns:pc="http://schemas.microsoft.com/office/powerpoint/2013/main/command"/>
      <pc:sldMk xmlns:pc="http://schemas.microsoft.com/office/powerpoint/2013/main/command" cId="1722896570" sldId="256"/>
      <ac:spMk id="44" creationId="{00000000-0000-0000-0000-000000000000}"/>
    </ac:deMkLst>
    <p188:txBody>
      <a:bodyPr/>
      <a:lstStyle/>
      <a:p>
        <a:r>
          <a:rPr lang="it-IT"/>
          <a:t>Fill the scenes that now are blank. They must fit 5 minutes, so current ones are not enough.</a:t>
        </a:r>
      </a:p>
    </p188:txBody>
  </p188:cm>
  <p188:cm id="{C8CA23C6-CEC5-4F82-AADD-75C6DF7F25D2}" authorId="{912BF023-B239-6139-D5B5-2490B3E1B82E}" created="2026-10-08T14:34:35.047">
    <ac:deMkLst xmlns:ac="http://schemas.microsoft.com/office/drawing/2013/main/command">
      <pc:docMk xmlns:pc="http://schemas.microsoft.com/office/powerpoint/2013/main/command"/>
      <pc:sldMk xmlns:pc="http://schemas.microsoft.com/office/powerpoint/2013/main/command" cId="1722896570" sldId="256"/>
      <ac:picMk id="53" creationId="{63BB45BD-9DDA-8EB5-1784-29D66F520ED1}"/>
    </ac:deMkLst>
    <p188:txBody>
      <a:bodyPr/>
      <a:lstStyle/>
      <a:p>
        <a:r>
          <a:rPr lang="it-IT"/>
          <a:t>It's not a good idea to start the video with an image. You can start with one of you introducing the topic and then an image that represents best it</a:t>
        </a:r>
      </a:p>
    </p188:txBody>
  </p188:cm>
</p188:cmLst>
</file>

<file path=ppt/comments/modernComment_102_2D9F4535.xml><?xml version="1.0" encoding="utf-8"?>
<p188:cmLst xmlns:a="http://schemas.openxmlformats.org/drawingml/2006/main" xmlns:r="http://schemas.openxmlformats.org/officeDocument/2006/relationships" xmlns:p188="http://schemas.microsoft.com/office/powerpoint/2018/8/main">
  <p188:cm id="{A3CB8BCB-A7BF-4F90-99D5-2CDA0B2A9247}" authorId="{912BF023-B239-6139-D5B5-2490B3E1B82E}" created="2026-10-08T13:20:23.840">
    <pc:sldMkLst xmlns:pc="http://schemas.microsoft.com/office/powerpoint/2013/main/command">
      <pc:docMk/>
      <pc:sldMk cId="765412661" sldId="258"/>
    </pc:sldMkLst>
    <p188:txBody>
      <a:bodyPr/>
      <a:lstStyle/>
      <a:p>
        <a:r>
          <a:rPr lang="it-IT"/>
          <a:t>That's an interesting idea, but you need to refine better what it will be represented, and make the schematics</a:t>
        </a:r>
      </a:p>
    </p188:txBody>
  </p188:cm>
  <p188:cm id="{F195BB16-76A7-4831-8C15-716ADCF8858B}" authorId="{912BF023-B239-6139-D5B5-2490B3E1B82E}" created="2026-10-08T14:38:27.585">
    <ac:deMkLst xmlns:ac="http://schemas.microsoft.com/office/drawing/2013/main/command">
      <pc:docMk xmlns:pc="http://schemas.microsoft.com/office/powerpoint/2013/main/command"/>
      <pc:sldMk xmlns:pc="http://schemas.microsoft.com/office/powerpoint/2013/main/command" cId="765412661" sldId="258"/>
      <ac:picMk id="3" creationId="{E8895B25-24E6-D841-F50C-774075578042}"/>
    </ac:deMkLst>
    <p188:txBody>
      <a:bodyPr/>
      <a:lstStyle/>
      <a:p>
        <a:r>
          <a:rPr lang="it-IT"/>
          <a:t>Is that a scrolling image?</a:t>
        </a:r>
      </a:p>
    </p188:txBody>
  </p188:cm>
  <p188:cm id="{1CD23BA5-D50F-4DF7-BFA1-8C1D6D943A37}" authorId="{912BF023-B239-6139-D5B5-2490B3E1B82E}" created="2026-10-08T14:39:46.963">
    <pc:sldMkLst xmlns:pc="http://schemas.microsoft.com/office/powerpoint/2013/main/command">
      <pc:docMk/>
      <pc:sldMk cId="765412661" sldId="258"/>
    </pc:sldMkLst>
    <p188:txBody>
      <a:bodyPr/>
      <a:lstStyle/>
      <a:p>
        <a:r>
          <a:rPr lang="it-IT"/>
          <a:t>How do you show on screen each of those actions? Are they diagrams?</a:t>
        </a:r>
      </a:p>
    </p188:txBody>
  </p188:cm>
</p188:cmLst>
</file>

<file path=ppt/comments/modernComment_107_10B7149E.xml><?xml version="1.0" encoding="utf-8"?>
<p188:cmLst xmlns:a="http://schemas.openxmlformats.org/drawingml/2006/main" xmlns:r="http://schemas.openxmlformats.org/officeDocument/2006/relationships" xmlns:p188="http://schemas.microsoft.com/office/powerpoint/2018/8/main">
  <p188:cm id="{89CEDE84-EC81-4EEF-87E0-BDFB6AFF8BC8}" authorId="{912BF023-B239-6139-D5B5-2490B3E1B82E}" created="2026-10-08T14:02:29.250">
    <pc:sldMkLst xmlns:pc="http://schemas.microsoft.com/office/powerpoint/2013/main/command">
      <pc:docMk/>
      <pc:sldMk cId="280433822" sldId="263"/>
    </pc:sldMkLst>
    <p188:txBody>
      <a:bodyPr/>
      <a:lstStyle/>
      <a:p>
        <a:r>
          <a:rPr lang="it-IT"/>
          <a:t>Again you must write what you will say while the dashboard is showed. </a:t>
        </a:r>
      </a:p>
    </p188:txBody>
  </p188:cm>
</p188:cmLst>
</file>

<file path=ppt/comments/modernComment_108_67A6EAEC.xml><?xml version="1.0" encoding="utf-8"?>
<p188:cmLst xmlns:a="http://schemas.openxmlformats.org/drawingml/2006/main" xmlns:r="http://schemas.openxmlformats.org/officeDocument/2006/relationships" xmlns:p188="http://schemas.microsoft.com/office/powerpoint/2018/8/main">
  <p188:cm id="{3C5A968C-E288-4B5A-87F2-319126C01A8C}" authorId="{912BF023-B239-6139-D5B5-2490B3E1B82E}" created="2026-10-08T13:34:56.228">
    <ac:deMkLst xmlns:ac="http://schemas.microsoft.com/office/drawing/2013/main/command">
      <pc:docMk xmlns:pc="http://schemas.microsoft.com/office/powerpoint/2013/main/command"/>
      <pc:sldMk xmlns:pc="http://schemas.microsoft.com/office/powerpoint/2013/main/command" cId="1738992364" sldId="264"/>
      <ac:picMk id="3" creationId="{B4BE50E7-97D2-5C10-0830-55BC418A8C73}"/>
    </ac:deMkLst>
    <p188:txBody>
      <a:bodyPr/>
      <a:lstStyle/>
      <a:p>
        <a:r>
          <a:rPr lang="it-IT"/>
          <a:t>Too much detail on screen, it must be more clear what is emulated and why</a:t>
        </a:r>
      </a:p>
    </p188:txBody>
  </p188:cm>
  <p188:cm id="{6440AA6D-5458-4BFE-A87F-4C5EA7E32CA9}" authorId="{912BF023-B239-6139-D5B5-2490B3E1B82E}" created="2026-10-08T13:50:03.023">
    <ac:deMkLst xmlns:ac="http://schemas.microsoft.com/office/drawing/2013/main/command">
      <pc:docMk xmlns:pc="http://schemas.microsoft.com/office/powerpoint/2013/main/command"/>
      <pc:sldMk xmlns:pc="http://schemas.microsoft.com/office/powerpoint/2013/main/command" cId="1738992364" sldId="264"/>
      <ac:picMk id="2" creationId="{C5FE54C6-8CA4-0FB1-993D-3A3C941A1132}"/>
    </ac:deMkLst>
    <p188:txBody>
      <a:bodyPr/>
      <a:lstStyle/>
      <a:p>
        <a:r>
          <a:rPr lang="it-IT"/>
          <a:t>The machine learning image is too generic. Maybe something related to what you are using specifically is better.</a:t>
        </a:r>
      </a:p>
    </p188:txBody>
  </p188:cm>
  <p188:cm id="{B3AFCB94-C7C7-4732-9B4C-C18D20FD1EB2}" authorId="{912BF023-B239-6139-D5B5-2490B3E1B82E}" created="2026-10-08T14:43:28.128">
    <ac:txMkLst xmlns:ac="http://schemas.microsoft.com/office/drawing/2013/main/command">
      <pc:docMk xmlns:pc="http://schemas.microsoft.com/office/powerpoint/2013/main/command"/>
      <pc:sldMk xmlns:pc="http://schemas.microsoft.com/office/powerpoint/2013/main/command" cId="1738992364" sldId="264"/>
      <ac:spMk id="19" creationId="{00000000-0000-0000-0000-000000000000}"/>
      <ac:txMk cp="0" len="23">
        <ac:context len="66" hash="4102435451"/>
      </ac:txMk>
    </ac:txMkLst>
    <p188:pos x="2522270" y="206635"/>
    <p188:txBody>
      <a:bodyPr/>
      <a:lstStyle/>
      <a:p>
        <a:r>
          <a:rPr lang="it-IT"/>
          <a:t>Who is and what he says?</a:t>
        </a:r>
      </a:p>
    </p188:txBody>
  </p188:cm>
  <p188:cm id="{8B982826-5B6C-4A59-A90B-E90F9F45F9CF}" authorId="{912BF023-B239-6139-D5B5-2490B3E1B82E}" created="2026-10-08T14:44:55.725">
    <ac:deMkLst xmlns:ac="http://schemas.microsoft.com/office/drawing/2013/main/command">
      <pc:docMk xmlns:pc="http://schemas.microsoft.com/office/powerpoint/2013/main/command"/>
      <pc:sldMk xmlns:pc="http://schemas.microsoft.com/office/powerpoint/2013/main/command" cId="1738992364" sldId="264"/>
      <ac:picMk id="52" creationId="{D356695D-546B-E94E-7245-02E11AB47195}"/>
    </ac:deMkLst>
    <p188:txBody>
      <a:bodyPr/>
      <a:lstStyle/>
      <a:p>
        <a:r>
          <a:rPr lang="it-IT"/>
          <a:t>So they are two different shots, one with you on the terminal, the other represents the terminal content?</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1.emf"/><Relationship Id="rId5" Type="http://schemas.openxmlformats.org/officeDocument/2006/relationships/image" Target="../media/image2.png"/><Relationship Id="rId6"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648" y="1237717"/>
            <a:ext cx="9085342" cy="2632992"/>
          </a:xfrm>
        </p:spPr>
        <p:txBody>
          <a:bodyPr anchor="b"/>
          <a:lstStyle>
            <a:lvl1pPr algn="ctr">
              <a:defRPr sz="6617"/>
            </a:lvl1pPr>
          </a:lstStyle>
          <a:p>
            <a:r>
              <a:rPr lang="en-US"/>
              <a:t>Click to edit Master title style</a:t>
            </a:r>
          </a:p>
        </p:txBody>
      </p:sp>
      <p:sp>
        <p:nvSpPr>
          <p:cNvPr id="3" name="Subtitle 2"/>
          <p:cNvSpPr>
            <a:spLocks noGrp="1"/>
          </p:cNvSpPr>
          <p:nvPr>
            <p:ph type="subTitle" idx="1"/>
          </p:nvPr>
        </p:nvSpPr>
        <p:spPr>
          <a:xfrm>
            <a:off x="1336080" y="3972247"/>
            <a:ext cx="8016479" cy="1825938"/>
          </a:xfrm>
        </p:spPr>
        <p:txBody>
          <a:bodyPr/>
          <a:lstStyle>
            <a:lvl1pPr marL="0" indent="0" algn="ctr">
              <a:buNone/>
              <a:defRPr sz="2647"/>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a:t>Click to edit Master subtitle style</a:t>
            </a:r>
          </a:p>
        </p:txBody>
      </p:sp>
      <p:sp>
        <p:nvSpPr>
          <p:cNvPr id="4" name="Date Placeholder 3"/>
          <p:cNvSpPr>
            <a:spLocks noGrp="1"/>
          </p:cNvSpPr>
          <p:nvPr>
            <p:ph type="dt" sz="half" idx="10"/>
          </p:nvPr>
        </p:nvSpPr>
        <p:spPr/>
        <p:txBody>
          <a:bodyPr/>
          <a:lstStyle/>
          <a:p>
            <a:fld id="{3678D6ED-15E6-4001-B56C-DCB8D028DE7C}"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4221898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78D6ED-15E6-4001-B56C-DCB8D028DE7C}"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1471300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9278" y="1885463"/>
            <a:ext cx="9218950" cy="3145935"/>
          </a:xfrm>
        </p:spPr>
        <p:txBody>
          <a:bodyPr anchor="b"/>
          <a:lstStyle>
            <a:lvl1pPr>
              <a:defRPr sz="6617"/>
            </a:lvl1pPr>
          </a:lstStyle>
          <a:p>
            <a:r>
              <a:rPr lang="en-US"/>
              <a:t>Click to edit Master title style</a:t>
            </a:r>
          </a:p>
        </p:txBody>
      </p:sp>
      <p:sp>
        <p:nvSpPr>
          <p:cNvPr id="3" name="Text Placeholder 2"/>
          <p:cNvSpPr>
            <a:spLocks noGrp="1"/>
          </p:cNvSpPr>
          <p:nvPr>
            <p:ph type="body" idx="1"/>
          </p:nvPr>
        </p:nvSpPr>
        <p:spPr>
          <a:xfrm>
            <a:off x="729278" y="5061159"/>
            <a:ext cx="9218950" cy="1654373"/>
          </a:xfrm>
        </p:spPr>
        <p:txBody>
          <a:bodyPr/>
          <a:lstStyle>
            <a:lvl1pPr marL="0" indent="0">
              <a:buNone/>
              <a:defRPr sz="2647">
                <a:solidFill>
                  <a:schemeClr val="tx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78D6ED-15E6-4001-B56C-DCB8D028DE7C}"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2679008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4844" y="2013259"/>
            <a:ext cx="4542671" cy="4798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1123" y="2013259"/>
            <a:ext cx="4542671" cy="4798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78D6ED-15E6-4001-B56C-DCB8D028DE7C}"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86261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6236" y="402654"/>
            <a:ext cx="9218950" cy="1461801"/>
          </a:xfrm>
        </p:spPr>
        <p:txBody>
          <a:bodyPr/>
          <a:lstStyle/>
          <a:p>
            <a:r>
              <a:rPr lang="en-US"/>
              <a:t>Click to edit Master title style</a:t>
            </a:r>
          </a:p>
        </p:txBody>
      </p:sp>
      <p:sp>
        <p:nvSpPr>
          <p:cNvPr id="3" name="Text Placeholder 2"/>
          <p:cNvSpPr>
            <a:spLocks noGrp="1"/>
          </p:cNvSpPr>
          <p:nvPr>
            <p:ph type="body" idx="1"/>
          </p:nvPr>
        </p:nvSpPr>
        <p:spPr>
          <a:xfrm>
            <a:off x="736237" y="1853949"/>
            <a:ext cx="4521794" cy="908592"/>
          </a:xfrm>
        </p:spPr>
        <p:txBody>
          <a:bodyPr anchor="b"/>
          <a:lstStyle>
            <a:lvl1pPr marL="0" indent="0">
              <a:buNone/>
              <a:defRPr sz="2647" b="1"/>
            </a:lvl1pPr>
            <a:lvl2pPr marL="504200" indent="0">
              <a:buNone/>
              <a:defRPr sz="2206" b="1"/>
            </a:lvl2pPr>
            <a:lvl3pPr marL="1008400" indent="0">
              <a:buNone/>
              <a:defRPr sz="1985" b="1"/>
            </a:lvl3pPr>
            <a:lvl4pPr marL="1512600" indent="0">
              <a:buNone/>
              <a:defRPr sz="1764" b="1"/>
            </a:lvl4pPr>
            <a:lvl5pPr marL="2016801" indent="0">
              <a:buNone/>
              <a:defRPr sz="1764" b="1"/>
            </a:lvl5pPr>
            <a:lvl6pPr marL="2521001" indent="0">
              <a:buNone/>
              <a:defRPr sz="1764" b="1"/>
            </a:lvl6pPr>
            <a:lvl7pPr marL="3025201" indent="0">
              <a:buNone/>
              <a:defRPr sz="1764" b="1"/>
            </a:lvl7pPr>
            <a:lvl8pPr marL="3529401" indent="0">
              <a:buNone/>
              <a:defRPr sz="1764" b="1"/>
            </a:lvl8pPr>
            <a:lvl9pPr marL="4033601" indent="0">
              <a:buNone/>
              <a:defRPr sz="1764" b="1"/>
            </a:lvl9pPr>
          </a:lstStyle>
          <a:p>
            <a:pPr lvl="0"/>
            <a:r>
              <a:rPr lang="en-US"/>
              <a:t>Click to edit Master text styles</a:t>
            </a:r>
          </a:p>
        </p:txBody>
      </p:sp>
      <p:sp>
        <p:nvSpPr>
          <p:cNvPr id="4" name="Content Placeholder 3"/>
          <p:cNvSpPr>
            <a:spLocks noGrp="1"/>
          </p:cNvSpPr>
          <p:nvPr>
            <p:ph sz="half" idx="2"/>
          </p:nvPr>
        </p:nvSpPr>
        <p:spPr>
          <a:xfrm>
            <a:off x="736237" y="2762541"/>
            <a:ext cx="4521794" cy="4063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11124" y="1853949"/>
            <a:ext cx="4544063" cy="908592"/>
          </a:xfrm>
        </p:spPr>
        <p:txBody>
          <a:bodyPr anchor="b"/>
          <a:lstStyle>
            <a:lvl1pPr marL="0" indent="0">
              <a:buNone/>
              <a:defRPr sz="2647" b="1"/>
            </a:lvl1pPr>
            <a:lvl2pPr marL="504200" indent="0">
              <a:buNone/>
              <a:defRPr sz="2206" b="1"/>
            </a:lvl2pPr>
            <a:lvl3pPr marL="1008400" indent="0">
              <a:buNone/>
              <a:defRPr sz="1985" b="1"/>
            </a:lvl3pPr>
            <a:lvl4pPr marL="1512600" indent="0">
              <a:buNone/>
              <a:defRPr sz="1764" b="1"/>
            </a:lvl4pPr>
            <a:lvl5pPr marL="2016801" indent="0">
              <a:buNone/>
              <a:defRPr sz="1764" b="1"/>
            </a:lvl5pPr>
            <a:lvl6pPr marL="2521001" indent="0">
              <a:buNone/>
              <a:defRPr sz="1764" b="1"/>
            </a:lvl6pPr>
            <a:lvl7pPr marL="3025201" indent="0">
              <a:buNone/>
              <a:defRPr sz="1764" b="1"/>
            </a:lvl7pPr>
            <a:lvl8pPr marL="3529401" indent="0">
              <a:buNone/>
              <a:defRPr sz="1764" b="1"/>
            </a:lvl8pPr>
            <a:lvl9pPr marL="4033601" indent="0">
              <a:buNone/>
              <a:defRPr sz="1764" b="1"/>
            </a:lvl9pPr>
          </a:lstStyle>
          <a:p>
            <a:pPr lvl="0"/>
            <a:r>
              <a:rPr lang="en-US"/>
              <a:t>Click to edit Master text styles</a:t>
            </a:r>
          </a:p>
        </p:txBody>
      </p:sp>
      <p:sp>
        <p:nvSpPr>
          <p:cNvPr id="6" name="Content Placeholder 5"/>
          <p:cNvSpPr>
            <a:spLocks noGrp="1"/>
          </p:cNvSpPr>
          <p:nvPr>
            <p:ph sz="quarter" idx="4"/>
          </p:nvPr>
        </p:nvSpPr>
        <p:spPr>
          <a:xfrm>
            <a:off x="5411124" y="2762541"/>
            <a:ext cx="4544063" cy="4063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678D6ED-15E6-4001-B56C-DCB8D028DE7C}"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810235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678D6ED-15E6-4001-B56C-DCB8D028DE7C}"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3302553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78D6ED-15E6-4001-B56C-DCB8D028DE7C}"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1176819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236" y="504190"/>
            <a:ext cx="3447364" cy="1764665"/>
          </a:xfrm>
        </p:spPr>
        <p:txBody>
          <a:bodyPr anchor="b"/>
          <a:lstStyle>
            <a:lvl1pPr>
              <a:defRPr sz="3529"/>
            </a:lvl1pPr>
          </a:lstStyle>
          <a:p>
            <a:r>
              <a:rPr lang="en-US"/>
              <a:t>Click to edit Master title style</a:t>
            </a:r>
          </a:p>
        </p:txBody>
      </p:sp>
      <p:sp>
        <p:nvSpPr>
          <p:cNvPr id="3" name="Content Placeholder 2"/>
          <p:cNvSpPr>
            <a:spLocks noGrp="1"/>
          </p:cNvSpPr>
          <p:nvPr>
            <p:ph idx="1"/>
          </p:nvPr>
        </p:nvSpPr>
        <p:spPr>
          <a:xfrm>
            <a:off x="4544063" y="1088912"/>
            <a:ext cx="5411123" cy="5374525"/>
          </a:xfrm>
        </p:spPr>
        <p:txBody>
          <a:bodyPr/>
          <a:lstStyle>
            <a:lvl1pPr>
              <a:defRPr sz="3529"/>
            </a:lvl1pPr>
            <a:lvl2pPr>
              <a:defRPr sz="3088"/>
            </a:lvl2pPr>
            <a:lvl3pPr>
              <a:defRPr sz="2647"/>
            </a:lvl3pPr>
            <a:lvl4pPr>
              <a:defRPr sz="2206"/>
            </a:lvl4pPr>
            <a:lvl5pPr>
              <a:defRPr sz="2206"/>
            </a:lvl5pPr>
            <a:lvl6pPr>
              <a:defRPr sz="2206"/>
            </a:lvl6pPr>
            <a:lvl7pPr>
              <a:defRPr sz="2206"/>
            </a:lvl7pPr>
            <a:lvl8pPr>
              <a:defRPr sz="2206"/>
            </a:lvl8pPr>
            <a:lvl9pPr>
              <a:defRPr sz="22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6236" y="2268855"/>
            <a:ext cx="3447364" cy="4203335"/>
          </a:xfrm>
        </p:spPr>
        <p:txBody>
          <a:bodyPr/>
          <a:lstStyle>
            <a:lvl1pPr marL="0" indent="0">
              <a:buNone/>
              <a:defRPr sz="1764"/>
            </a:lvl1pPr>
            <a:lvl2pPr marL="504200" indent="0">
              <a:buNone/>
              <a:defRPr sz="1544"/>
            </a:lvl2pPr>
            <a:lvl3pPr marL="1008400" indent="0">
              <a:buNone/>
              <a:defRPr sz="1323"/>
            </a:lvl3pPr>
            <a:lvl4pPr marL="1512600" indent="0">
              <a:buNone/>
              <a:defRPr sz="1103"/>
            </a:lvl4pPr>
            <a:lvl5pPr marL="2016801" indent="0">
              <a:buNone/>
              <a:defRPr sz="1103"/>
            </a:lvl5pPr>
            <a:lvl6pPr marL="2521001" indent="0">
              <a:buNone/>
              <a:defRPr sz="1103"/>
            </a:lvl6pPr>
            <a:lvl7pPr marL="3025201" indent="0">
              <a:buNone/>
              <a:defRPr sz="1103"/>
            </a:lvl7pPr>
            <a:lvl8pPr marL="3529401" indent="0">
              <a:buNone/>
              <a:defRPr sz="1103"/>
            </a:lvl8pPr>
            <a:lvl9pPr marL="4033601" indent="0">
              <a:buNone/>
              <a:defRPr sz="1103"/>
            </a:lvl9pPr>
          </a:lstStyle>
          <a:p>
            <a:pPr lvl="0"/>
            <a:r>
              <a:rPr lang="en-US"/>
              <a:t>Click to edit Master text styles</a:t>
            </a:r>
          </a:p>
        </p:txBody>
      </p:sp>
      <p:sp>
        <p:nvSpPr>
          <p:cNvPr id="5" name="Date Placeholder 4"/>
          <p:cNvSpPr>
            <a:spLocks noGrp="1"/>
          </p:cNvSpPr>
          <p:nvPr>
            <p:ph type="dt" sz="half" idx="10"/>
          </p:nvPr>
        </p:nvSpPr>
        <p:spPr/>
        <p:txBody>
          <a:bodyPr/>
          <a:lstStyle/>
          <a:p>
            <a:fld id="{3678D6ED-15E6-4001-B56C-DCB8D028DE7C}"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807896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236" y="504190"/>
            <a:ext cx="3447364" cy="1764665"/>
          </a:xfrm>
        </p:spPr>
        <p:txBody>
          <a:bodyPr anchor="b"/>
          <a:lstStyle>
            <a:lvl1pPr>
              <a:defRPr sz="3529"/>
            </a:lvl1pPr>
          </a:lstStyle>
          <a:p>
            <a:r>
              <a:rPr lang="en-US"/>
              <a:t>Click to edit Master title style</a:t>
            </a:r>
          </a:p>
        </p:txBody>
      </p:sp>
      <p:sp>
        <p:nvSpPr>
          <p:cNvPr id="3" name="Picture Placeholder 2"/>
          <p:cNvSpPr>
            <a:spLocks noGrp="1" noChangeAspect="1"/>
          </p:cNvSpPr>
          <p:nvPr>
            <p:ph type="pic" idx="1"/>
          </p:nvPr>
        </p:nvSpPr>
        <p:spPr>
          <a:xfrm>
            <a:off x="4544063" y="1088912"/>
            <a:ext cx="5411123" cy="5374525"/>
          </a:xfrm>
        </p:spPr>
        <p:txBody>
          <a:bodyPr anchor="t"/>
          <a:lstStyle>
            <a:lvl1pPr marL="0" indent="0">
              <a:buNone/>
              <a:defRPr sz="3529"/>
            </a:lvl1pPr>
            <a:lvl2pPr marL="504200" indent="0">
              <a:buNone/>
              <a:defRPr sz="3088"/>
            </a:lvl2pPr>
            <a:lvl3pPr marL="1008400" indent="0">
              <a:buNone/>
              <a:defRPr sz="2647"/>
            </a:lvl3pPr>
            <a:lvl4pPr marL="1512600" indent="0">
              <a:buNone/>
              <a:defRPr sz="2206"/>
            </a:lvl4pPr>
            <a:lvl5pPr marL="2016801" indent="0">
              <a:buNone/>
              <a:defRPr sz="2206"/>
            </a:lvl5pPr>
            <a:lvl6pPr marL="2521001" indent="0">
              <a:buNone/>
              <a:defRPr sz="2206"/>
            </a:lvl6pPr>
            <a:lvl7pPr marL="3025201" indent="0">
              <a:buNone/>
              <a:defRPr sz="2206"/>
            </a:lvl7pPr>
            <a:lvl8pPr marL="3529401" indent="0">
              <a:buNone/>
              <a:defRPr sz="2206"/>
            </a:lvl8pPr>
            <a:lvl9pPr marL="4033601" indent="0">
              <a:buNone/>
              <a:defRPr sz="2206"/>
            </a:lvl9pPr>
          </a:lstStyle>
          <a:p>
            <a:r>
              <a:rPr lang="en-US"/>
              <a:t>Click icon to add picture</a:t>
            </a:r>
          </a:p>
        </p:txBody>
      </p:sp>
      <p:sp>
        <p:nvSpPr>
          <p:cNvPr id="4" name="Text Placeholder 3"/>
          <p:cNvSpPr>
            <a:spLocks noGrp="1"/>
          </p:cNvSpPr>
          <p:nvPr>
            <p:ph type="body" sz="half" idx="2"/>
          </p:nvPr>
        </p:nvSpPr>
        <p:spPr>
          <a:xfrm>
            <a:off x="736236" y="2268855"/>
            <a:ext cx="3447364" cy="4203335"/>
          </a:xfrm>
        </p:spPr>
        <p:txBody>
          <a:bodyPr/>
          <a:lstStyle>
            <a:lvl1pPr marL="0" indent="0">
              <a:buNone/>
              <a:defRPr sz="1764"/>
            </a:lvl1pPr>
            <a:lvl2pPr marL="504200" indent="0">
              <a:buNone/>
              <a:defRPr sz="1544"/>
            </a:lvl2pPr>
            <a:lvl3pPr marL="1008400" indent="0">
              <a:buNone/>
              <a:defRPr sz="1323"/>
            </a:lvl3pPr>
            <a:lvl4pPr marL="1512600" indent="0">
              <a:buNone/>
              <a:defRPr sz="1103"/>
            </a:lvl4pPr>
            <a:lvl5pPr marL="2016801" indent="0">
              <a:buNone/>
              <a:defRPr sz="1103"/>
            </a:lvl5pPr>
            <a:lvl6pPr marL="2521001" indent="0">
              <a:buNone/>
              <a:defRPr sz="1103"/>
            </a:lvl6pPr>
            <a:lvl7pPr marL="3025201" indent="0">
              <a:buNone/>
              <a:defRPr sz="1103"/>
            </a:lvl7pPr>
            <a:lvl8pPr marL="3529401" indent="0">
              <a:buNone/>
              <a:defRPr sz="1103"/>
            </a:lvl8pPr>
            <a:lvl9pPr marL="4033601" indent="0">
              <a:buNone/>
              <a:defRPr sz="1103"/>
            </a:lvl9pPr>
          </a:lstStyle>
          <a:p>
            <a:pPr lvl="0"/>
            <a:r>
              <a:rPr lang="en-US"/>
              <a:t>Click to edit Master text styles</a:t>
            </a:r>
          </a:p>
        </p:txBody>
      </p:sp>
      <p:sp>
        <p:nvSpPr>
          <p:cNvPr id="5" name="Date Placeholder 4"/>
          <p:cNvSpPr>
            <a:spLocks noGrp="1"/>
          </p:cNvSpPr>
          <p:nvPr>
            <p:ph type="dt" sz="half" idx="10"/>
          </p:nvPr>
        </p:nvSpPr>
        <p:spPr/>
        <p:txBody>
          <a:bodyPr/>
          <a:lstStyle/>
          <a:p>
            <a:fld id="{3678D6ED-15E6-4001-B56C-DCB8D028DE7C}"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1683927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78D6ED-15E6-4001-B56C-DCB8D028DE7C}"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3174950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49057" y="402652"/>
            <a:ext cx="2304738" cy="640916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4844" y="402652"/>
            <a:ext cx="6780605" cy="64091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78D6ED-15E6-4001-B56C-DCB8D028DE7C}"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7B022-EE7E-4BAC-A76C-5E5554B68549}" type="slidenum">
              <a:rPr lang="en-US" smtClean="0"/>
              <a:t>‹#›</a:t>
            </a:fld>
            <a:endParaRPr lang="en-US"/>
          </a:p>
        </p:txBody>
      </p:sp>
    </p:spTree>
    <p:extLst>
      <p:ext uri="{BB962C8B-B14F-4D97-AF65-F5344CB8AC3E}">
        <p14:creationId xmlns:p14="http://schemas.microsoft.com/office/powerpoint/2010/main" val="3205535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392" y="1752"/>
          <a:ext cx="1391" cy="175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 y="1752"/>
                        <a:ext cx="1391" cy="1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482356" y="0"/>
            <a:ext cx="4861963" cy="1218790"/>
          </a:xfrm>
        </p:spPr>
        <p:txBody>
          <a:bodyPr vert="horz" lIns="0" tIns="180000" rIns="0" bIns="0" rtlCol="0" anchor="t">
            <a:noAutofit/>
          </a:bodyPr>
          <a:lstStyle>
            <a:lvl1pPr>
              <a:defRPr lang="en-GB" dirty="0"/>
            </a:lvl1pPr>
          </a:lstStyle>
          <a:p>
            <a:pPr lvl="0"/>
            <a:r>
              <a:rPr lang="en-US"/>
              <a:t>Click to edit Master title style</a:t>
            </a:r>
            <a:endParaRPr lang="en-GB"/>
          </a:p>
        </p:txBody>
      </p:sp>
      <p:pic>
        <p:nvPicPr>
          <p:cNvPr id="4" name="Picture 3" descr="Logo&#10;&#10;Description automatically generated">
            <a:extLst>
              <a:ext uri="{FF2B5EF4-FFF2-40B4-BE49-F238E27FC236}">
                <a16:creationId xmlns:a16="http://schemas.microsoft.com/office/drawing/2014/main" id="{FC167F68-3FC3-4701-BAEB-9C33CAC70AE4}"/>
              </a:ext>
            </a:extLst>
          </p:cNvPr>
          <p:cNvPicPr>
            <a:picLocks noChangeAspect="1"/>
          </p:cNvPicPr>
          <p:nvPr userDrawn="1"/>
        </p:nvPicPr>
        <p:blipFill>
          <a:blip r:embed="rId5" cstate="print">
            <a:duotone>
              <a:prstClr val="black"/>
              <a:schemeClr val="accent1">
                <a:tint val="45000"/>
                <a:satMod val="400000"/>
              </a:schemeClr>
            </a:duotone>
            <a:extLst>
              <a:ext uri="{BEBA8EAE-BF5A-486C-A8C5-ECC9F3942E4B}">
                <a14:imgProps xmlns:a14="http://schemas.microsoft.com/office/drawing/2010/main">
                  <a14:imgLayer r:embed="rId6">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9423297" y="-282930"/>
            <a:ext cx="1265341" cy="1591652"/>
          </a:xfrm>
          <a:prstGeom prst="rect">
            <a:avLst/>
          </a:prstGeom>
        </p:spPr>
      </p:pic>
    </p:spTree>
    <p:extLst>
      <p:ext uri="{BB962C8B-B14F-4D97-AF65-F5344CB8AC3E}">
        <p14:creationId xmlns:p14="http://schemas.microsoft.com/office/powerpoint/2010/main" val="40562549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4844" y="402654"/>
            <a:ext cx="9218950" cy="146180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34844" y="2013259"/>
            <a:ext cx="9218950" cy="47985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4844" y="7009643"/>
            <a:ext cx="2404944" cy="402652"/>
          </a:xfrm>
          <a:prstGeom prst="rect">
            <a:avLst/>
          </a:prstGeom>
        </p:spPr>
        <p:txBody>
          <a:bodyPr vert="horz" lIns="91440" tIns="45720" rIns="91440" bIns="45720" rtlCol="0" anchor="ctr"/>
          <a:lstStyle>
            <a:lvl1pPr algn="l">
              <a:defRPr sz="1323">
                <a:solidFill>
                  <a:schemeClr val="tx1">
                    <a:tint val="75000"/>
                  </a:schemeClr>
                </a:solidFill>
              </a:defRPr>
            </a:lvl1pPr>
          </a:lstStyle>
          <a:p>
            <a:fld id="{3678D6ED-15E6-4001-B56C-DCB8D028DE7C}" type="datetimeFigureOut">
              <a:rPr lang="en-US" smtClean="0"/>
              <a:t>10/10/2026</a:t>
            </a:fld>
            <a:endParaRPr lang="en-US"/>
          </a:p>
        </p:txBody>
      </p:sp>
      <p:sp>
        <p:nvSpPr>
          <p:cNvPr id="5" name="Footer Placeholder 4"/>
          <p:cNvSpPr>
            <a:spLocks noGrp="1"/>
          </p:cNvSpPr>
          <p:nvPr>
            <p:ph type="ftr" sz="quarter" idx="3"/>
          </p:nvPr>
        </p:nvSpPr>
        <p:spPr>
          <a:xfrm>
            <a:off x="3540612" y="7009643"/>
            <a:ext cx="3607415" cy="402652"/>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8850" y="7009643"/>
            <a:ext cx="2404944" cy="402652"/>
          </a:xfrm>
          <a:prstGeom prst="rect">
            <a:avLst/>
          </a:prstGeom>
        </p:spPr>
        <p:txBody>
          <a:bodyPr vert="horz" lIns="91440" tIns="45720" rIns="91440" bIns="45720" rtlCol="0" anchor="ctr"/>
          <a:lstStyle>
            <a:lvl1pPr algn="r">
              <a:defRPr sz="1323">
                <a:solidFill>
                  <a:schemeClr val="tx1">
                    <a:tint val="75000"/>
                  </a:schemeClr>
                </a:solidFill>
              </a:defRPr>
            </a:lvl1pPr>
          </a:lstStyle>
          <a:p>
            <a:fld id="{9B67B022-EE7E-4BAC-A76C-5E5554B68549}" type="slidenum">
              <a:rPr lang="en-US" smtClean="0"/>
              <a:t>‹#›</a:t>
            </a:fld>
            <a:endParaRPr lang="en-US"/>
          </a:p>
        </p:txBody>
      </p:sp>
    </p:spTree>
    <p:extLst>
      <p:ext uri="{BB962C8B-B14F-4D97-AF65-F5344CB8AC3E}">
        <p14:creationId xmlns:p14="http://schemas.microsoft.com/office/powerpoint/2010/main" val="25842860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1008400" rtl="0" eaLnBrk="1" latinLnBrk="0" hangingPunct="1">
        <a:lnSpc>
          <a:spcPct val="90000"/>
        </a:lnSpc>
        <a:spcBef>
          <a:spcPct val="0"/>
        </a:spcBef>
        <a:buNone/>
        <a:defRPr sz="4852" kern="1200">
          <a:solidFill>
            <a:schemeClr val="tx1"/>
          </a:solidFill>
          <a:latin typeface="+mj-lt"/>
          <a:ea typeface="+mj-ea"/>
          <a:cs typeface="+mj-cs"/>
        </a:defRPr>
      </a:lvl1pPr>
    </p:titleStyle>
    <p:bodyStyle>
      <a:lvl1pPr marL="252100" indent="-252100" algn="l" defTabSz="1008400" rtl="0" eaLnBrk="1" latinLnBrk="0" hangingPunct="1">
        <a:lnSpc>
          <a:spcPct val="90000"/>
        </a:lnSpc>
        <a:spcBef>
          <a:spcPts val="1103"/>
        </a:spcBef>
        <a:buFont typeface="Arial" panose="020B0604020202020204" pitchFamily="34" charset="0"/>
        <a:buChar char="•"/>
        <a:defRPr sz="3088" kern="1200">
          <a:solidFill>
            <a:schemeClr val="tx1"/>
          </a:solidFill>
          <a:latin typeface="+mn-lt"/>
          <a:ea typeface="+mn-ea"/>
          <a:cs typeface="+mn-cs"/>
        </a:defRPr>
      </a:lvl1pPr>
      <a:lvl2pPr marL="756300" indent="-252100" algn="l" defTabSz="1008400" rtl="0" eaLnBrk="1" latinLnBrk="0" hangingPunct="1">
        <a:lnSpc>
          <a:spcPct val="90000"/>
        </a:lnSpc>
        <a:spcBef>
          <a:spcPts val="551"/>
        </a:spcBef>
        <a:buFont typeface="Arial" panose="020B0604020202020204" pitchFamily="34" charset="0"/>
        <a:buChar char="•"/>
        <a:defRPr sz="2647" kern="1200">
          <a:solidFill>
            <a:schemeClr val="tx1"/>
          </a:solidFill>
          <a:latin typeface="+mn-lt"/>
          <a:ea typeface="+mn-ea"/>
          <a:cs typeface="+mn-cs"/>
        </a:defRPr>
      </a:lvl2pPr>
      <a:lvl3pPr marL="1260500" indent="-252100" algn="l" defTabSz="1008400" rtl="0" eaLnBrk="1" latinLnBrk="0" hangingPunct="1">
        <a:lnSpc>
          <a:spcPct val="90000"/>
        </a:lnSpc>
        <a:spcBef>
          <a:spcPts val="551"/>
        </a:spcBef>
        <a:buFont typeface="Arial" panose="020B0604020202020204" pitchFamily="34" charset="0"/>
        <a:buChar char="•"/>
        <a:defRPr sz="2206" kern="1200">
          <a:solidFill>
            <a:schemeClr val="tx1"/>
          </a:solidFill>
          <a:latin typeface="+mn-lt"/>
          <a:ea typeface="+mn-ea"/>
          <a:cs typeface="+mn-cs"/>
        </a:defRPr>
      </a:lvl3pPr>
      <a:lvl4pPr marL="17647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4pPr>
      <a:lvl5pPr marL="22689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5pPr>
      <a:lvl6pPr marL="27731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6pPr>
      <a:lvl7pPr marL="32773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7pPr>
      <a:lvl8pPr marL="37815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8pPr>
      <a:lvl9pPr marL="4285701" indent="-252100" algn="l" defTabSz="1008400" rtl="0" eaLnBrk="1" latinLnBrk="0" hangingPunct="1">
        <a:lnSpc>
          <a:spcPct val="90000"/>
        </a:lnSpc>
        <a:spcBef>
          <a:spcPts val="551"/>
        </a:spcBef>
        <a:buFont typeface="Arial" panose="020B0604020202020204" pitchFamily="34" charset="0"/>
        <a:buChar char="•"/>
        <a:defRPr sz="1985" kern="120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8/10/relationships/comments" Target="../comments/modernComment_100_66B150BA.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8/10/relationships/comments" Target="../comments/modernComment_102_2D9F4535.xml"/><Relationship Id="rId3"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8/10/relationships/comments" Target="../comments/modernComment_108_67A6EAEC.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4.png"/><Relationship Id="rId8"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8/10/relationships/comments" Target="../comments/modernComment_107_10B7149E.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7.png"/><Relationship Id="rId7"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18/10/relationships/comments" Target="../comments/modernComment_10A_F8A3B473.xml"/><Relationship Id="rId3" Type="http://schemas.openxmlformats.org/officeDocument/2006/relationships/image" Target="../media/image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23A_B6A68C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BB3A408-2EC0-0D42-0532-EA52EF451DDA}"/>
              </a:ext>
            </a:extLst>
          </p:cNvPr>
          <p:cNvSpPr>
            <a:spLocks noGrp="1"/>
          </p:cNvSpPr>
          <p:nvPr>
            <p:ph type="title"/>
          </p:nvPr>
        </p:nvSpPr>
        <p:spPr/>
        <p:txBody>
          <a:bodyPr/>
          <a:lstStyle/>
          <a:p>
            <a:r>
              <a:rPr lang="it-IT" sz="4400">
                <a:ea typeface="+mj-lt"/>
                <a:cs typeface="+mj-lt"/>
              </a:rPr>
              <a:t>AEGIS: Zero-trust </a:t>
            </a:r>
            <a:r>
              <a:rPr lang="it-IT" sz="4400" err="1">
                <a:ea typeface="+mj-lt"/>
                <a:cs typeface="+mj-lt"/>
              </a:rPr>
              <a:t>identity</a:t>
            </a:r>
            <a:r>
              <a:rPr lang="it-IT" sz="4400">
                <a:ea typeface="+mj-lt"/>
                <a:cs typeface="+mj-lt"/>
              </a:rPr>
              <a:t> for AI agents </a:t>
            </a:r>
            <a:endParaRPr lang="it-IT" sz="4400">
              <a:ea typeface="Calibri Light"/>
              <a:cs typeface="Calibri Light"/>
            </a:endParaRPr>
          </a:p>
        </p:txBody>
      </p:sp>
      <p:sp>
        <p:nvSpPr>
          <p:cNvPr id="3" name="Segnaposto contenuto 2">
            <a:extLst>
              <a:ext uri="{FF2B5EF4-FFF2-40B4-BE49-F238E27FC236}">
                <a16:creationId xmlns:a16="http://schemas.microsoft.com/office/drawing/2014/main" id="{CF43BE94-59B7-E625-915F-19926D92DB09}"/>
              </a:ext>
            </a:extLst>
          </p:cNvPr>
          <p:cNvSpPr>
            <a:spLocks noGrp="1"/>
          </p:cNvSpPr>
          <p:nvPr>
            <p:ph idx="1"/>
          </p:nvPr>
        </p:nvSpPr>
        <p:spPr/>
        <p:txBody>
          <a:bodyPr vert="horz" lIns="91440" tIns="45720" rIns="91440" bIns="45720" rtlCol="0" anchor="t">
            <a:noAutofit/>
          </a:bodyPr>
          <a:lstStyle/>
          <a:p>
            <a:pPr marL="252095" indent="-252095"/>
            <a:r>
              <a:rPr lang="it-IT" sz="1800">
                <a:highlight>
                  <a:srgbClr val="FFFFFF"/>
                </a:highlight>
                <a:latin typeface="Aptos"/>
              </a:rPr>
              <a:t>Il progetto del Team 4, dal nome AEGIS, si colloca nell'ambito delle reti 5G e affronta un problema sempre più centrale man mano che cresce l'automazione delle infrastrutture di rete: come rilevare interazioni o accessi malevoli all'interno di un'architettura di rete basata su servizi (Service-Based Architecture).</a:t>
            </a:r>
            <a:endParaRPr lang="it-IT" sz="1800">
              <a:highlight>
                <a:srgbClr val="C6C6C6"/>
              </a:highlight>
              <a:latin typeface="Aptos"/>
            </a:endParaRPr>
          </a:p>
          <a:p>
            <a:pPr marL="252095" indent="-252095"/>
            <a:r>
              <a:rPr lang="it-IT" sz="1800">
                <a:highlight>
                  <a:srgbClr val="FFFFFF"/>
                </a:highlight>
                <a:latin typeface="Aptos"/>
              </a:rPr>
              <a:t>Il punto di partenza del loro lavoro è un'osservazione critica sullo stato dell'arte attuale: nella maggior parte degli approcci di autenticazione, autorizzazione e accounting, la sicurezza si basa ancora prevalentemente sul possesso di credenziali valide — password, certificati, token — spesso rafforzate con l'autenticazione a più fattori. È un modello efficace per verificare chi ha il diritto di entrare, ma che si esaurisce in quel momento: una volta ottenuto l'accesso, il sistema non si chiede più se chi sta effettivamente operando continua a comportarsi come dovrebbe.</a:t>
            </a:r>
          </a:p>
          <a:p>
            <a:pPr marL="252095" indent="-252095"/>
            <a:r>
              <a:rPr lang="it-IT" sz="1800">
                <a:highlight>
                  <a:srgbClr val="FFFFFF"/>
                </a:highlight>
                <a:latin typeface="Aptos"/>
              </a:rPr>
              <a:t>Il team propone di colmare esattamente questo gap utilizzando un modello di ML </a:t>
            </a:r>
            <a:r>
              <a:rPr lang="it-IT" sz="1800" err="1">
                <a:highlight>
                  <a:srgbClr val="FFFFFF"/>
                </a:highlight>
                <a:latin typeface="Aptos"/>
              </a:rPr>
              <a:t>behavioral</a:t>
            </a:r>
            <a:r>
              <a:rPr lang="it-IT" sz="1800">
                <a:highlight>
                  <a:srgbClr val="FFFFFF"/>
                </a:highlight>
                <a:latin typeface="Aptos"/>
              </a:rPr>
              <a:t> e applicando i principi dello zero-trust: non considerare un utente o agente software affidabile solo perché in possesso di credenziali valide, ma monitorare in modo continuo come ogni agente automatizzato interagisce e verificando che quel comportamento resti coerente con quanto atteso</a:t>
            </a:r>
            <a:endParaRPr lang="it-IT" sz="1800">
              <a:highlight>
                <a:srgbClr val="C6C6C6"/>
              </a:highlight>
              <a:latin typeface="Aptos"/>
            </a:endParaRPr>
          </a:p>
          <a:p>
            <a:pPr marL="252095" indent="-252095"/>
            <a:endParaRPr lang="it-IT" sz="3050">
              <a:ea typeface="Calibri"/>
              <a:cs typeface="Calibri"/>
            </a:endParaRPr>
          </a:p>
        </p:txBody>
      </p:sp>
    </p:spTree>
    <p:extLst>
      <p:ext uri="{BB962C8B-B14F-4D97-AF65-F5344CB8AC3E}">
        <p14:creationId xmlns:p14="http://schemas.microsoft.com/office/powerpoint/2010/main" val="612047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242570" y="2845754"/>
            <a:ext cx="3177540" cy="233044"/>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pPr algn="just">
              <a:lnSpc>
                <a:spcPct val="107000"/>
              </a:lnSpc>
              <a:spcAft>
                <a:spcPts val="800"/>
              </a:spcAft>
            </a:pPr>
            <a:r>
              <a:t/>
            </a:r>
            <a:endParaRPr lang="it-IT"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object 4"/>
          <p:cNvSpPr/>
          <p:nvPr/>
        </p:nvSpPr>
        <p:spPr>
          <a:xfrm>
            <a:off x="2425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6" name="object 5"/>
          <p:cNvSpPr/>
          <p:nvPr/>
        </p:nvSpPr>
        <p:spPr>
          <a:xfrm>
            <a:off x="242570" y="347168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7" name="object 6"/>
          <p:cNvSpPr/>
          <p:nvPr/>
        </p:nvSpPr>
        <p:spPr>
          <a:xfrm>
            <a:off x="2425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8" name="object 7"/>
          <p:cNvSpPr/>
          <p:nvPr/>
        </p:nvSpPr>
        <p:spPr>
          <a:xfrm>
            <a:off x="2374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9" name="object 8"/>
          <p:cNvSpPr txBox="1"/>
          <p:nvPr/>
        </p:nvSpPr>
        <p:spPr>
          <a:xfrm>
            <a:off x="2374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a:t>
            </a:r>
            <a:endParaRPr lang="en-US" sz="1200">
              <a:effectLst/>
              <a:latin typeface="Times New Roman" panose="02020603050405020304" pitchFamily="18" charset="0"/>
              <a:ea typeface="Times New Roman" panose="02020603050405020304" pitchFamily="18" charset="0"/>
            </a:endParaRPr>
          </a:p>
        </p:txBody>
      </p:sp>
      <p:sp>
        <p:nvSpPr>
          <p:cNvPr id="10" name="object 9"/>
          <p:cNvSpPr txBox="1"/>
          <p:nvPr/>
        </p:nvSpPr>
        <p:spPr>
          <a:xfrm>
            <a:off x="18249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11" name="object 10"/>
          <p:cNvSpPr/>
          <p:nvPr/>
        </p:nvSpPr>
        <p:spPr>
          <a:xfrm>
            <a:off x="237490" y="696594"/>
            <a:ext cx="3187700" cy="298451"/>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r>
              <a:t/>
            </a:r>
            <a:endParaRPr lang="en-US"/>
          </a:p>
        </p:txBody>
      </p:sp>
      <p:sp>
        <p:nvSpPr>
          <p:cNvPr id="12" name="object 11"/>
          <p:cNvSpPr/>
          <p:nvPr/>
        </p:nvSpPr>
        <p:spPr>
          <a:xfrm>
            <a:off x="7266940" y="2845754"/>
            <a:ext cx="3177540" cy="629281"/>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AI agents (orchestration, traffic, security, service) calling into the same core</a:t>
            </a:r>
            <a:endParaRPr lang="en-US"/>
          </a:p>
          <a:p>
            <a:r>
              <a:rPr lang="en-GB"/>
              <a:t>And increasingly, it's not just humans and devices calling into that mesh. It's automation - orchestration agents, provisioning scripts, AI-driven operations tools, all with real credentials and real access.</a:t>
            </a:r>
            <a:endParaRPr lang="en-US"/>
          </a:p>
        </p:txBody>
      </p:sp>
      <p:sp>
        <p:nvSpPr>
          <p:cNvPr id="13" name="object 12"/>
          <p:cNvSpPr/>
          <p:nvPr/>
        </p:nvSpPr>
        <p:spPr>
          <a:xfrm>
            <a:off x="2425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4" name="object 13"/>
          <p:cNvSpPr/>
          <p:nvPr/>
        </p:nvSpPr>
        <p:spPr>
          <a:xfrm>
            <a:off x="2425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5" name="object 15"/>
          <p:cNvSpPr/>
          <p:nvPr/>
        </p:nvSpPr>
        <p:spPr>
          <a:xfrm>
            <a:off x="2374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r>
              <a:t/>
            </a:r>
            <a:endParaRPr lang="en-US"/>
          </a:p>
        </p:txBody>
      </p:sp>
      <p:sp>
        <p:nvSpPr>
          <p:cNvPr id="16" name="object 16"/>
          <p:cNvSpPr txBox="1"/>
          <p:nvPr/>
        </p:nvSpPr>
        <p:spPr>
          <a:xfrm>
            <a:off x="2374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4</a:t>
            </a:r>
            <a:endParaRPr lang="en-US" sz="1200">
              <a:effectLst/>
              <a:latin typeface="Times New Roman" panose="02020603050405020304" pitchFamily="18" charset="0"/>
              <a:ea typeface="Times New Roman" panose="02020603050405020304" pitchFamily="18" charset="0"/>
            </a:endParaRPr>
          </a:p>
        </p:txBody>
      </p:sp>
      <p:sp>
        <p:nvSpPr>
          <p:cNvPr id="17" name="object 17"/>
          <p:cNvSpPr txBox="1"/>
          <p:nvPr/>
        </p:nvSpPr>
        <p:spPr>
          <a:xfrm>
            <a:off x="18249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18" name="object 18"/>
          <p:cNvSpPr/>
          <p:nvPr/>
        </p:nvSpPr>
        <p:spPr>
          <a:xfrm>
            <a:off x="2374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19" name="object 19"/>
          <p:cNvSpPr/>
          <p:nvPr/>
        </p:nvSpPr>
        <p:spPr>
          <a:xfrm>
            <a:off x="242570" y="2814607"/>
            <a:ext cx="3177540" cy="987743"/>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pPr algn="just">
              <a:lnSpc>
                <a:spcPct val="107000"/>
              </a:lnSpc>
              <a:spcAft>
                <a:spcPts val="800"/>
              </a:spcAft>
            </a:pPr>
            <a:r>
              <a:rPr lang="it-IT">
                <a:effectLst/>
                <a:latin typeface="Calibri" panose="020F0502020204030204" pitchFamily="34" charset="0"/>
                <a:ea typeface="Calibri" panose="020F0502020204030204" pitchFamily="34" charset="0"/>
                <a:cs typeface="Times New Roman" panose="02020603050405020304" pitchFamily="18" charset="0"/>
              </a:rPr>
              <a:t>Both presenters on camera, lab/office set - cold open. (Swap out the watermarked 'OpenArt' stock photo currently placed here - it can't go in the final submission. Start on us talking, not an image.)</a:t>
            </a:r>
          </a:p>
          <a:p>
            <a:pPr algn="just">
              <a:lnSpc>
                <a:spcPct val="107000"/>
              </a:lnSpc>
              <a:spcAft>
                <a:spcPts val="800"/>
              </a:spcAft>
            </a:pPr>
            <a:r>
              <a:rPr lang="it-IT">
                <a:effectLst/>
                <a:latin typeface="Calibri" panose="020F0502020204030204" pitchFamily="34" charset="0"/>
                <a:ea typeface="Calibri" panose="020F0502020204030204" pitchFamily="34" charset="0"/>
                <a:cs typeface="Times New Roman" panose="02020603050405020304" pitchFamily="18" charset="0"/>
              </a:rPr>
              <a:t>FAUZAN: A stolen ID badge still opens the door. The lock doesn't know it's not you.</a:t>
            </a:r>
          </a:p>
          <a:p>
            <a:pPr algn="just">
              <a:lnSpc>
                <a:spcPct val="107000"/>
              </a:lnSpc>
              <a:spcAft>
                <a:spcPts val="800"/>
              </a:spcAft>
            </a:pPr>
            <a:r>
              <a:rPr lang="it-IT">
                <a:effectLst/>
                <a:latin typeface="Calibri" panose="020F0502020204030204" pitchFamily="34" charset="0"/>
                <a:ea typeface="Calibri" panose="020F0502020204030204" pitchFamily="34" charset="0"/>
                <a:cs typeface="Times New Roman" panose="02020603050405020304" pitchFamily="18" charset="0"/>
              </a:rPr>
              <a:t>LLAGAMI: Now picture that badge isn't a person. It's an AI agent, or an automated script, calling into a live 5G core. Same problem. Bigger blast radius.</a:t>
            </a:r>
          </a:p>
        </p:txBody>
      </p:sp>
      <p:sp>
        <p:nvSpPr>
          <p:cNvPr id="20" name="object 20"/>
          <p:cNvSpPr/>
          <p:nvPr/>
        </p:nvSpPr>
        <p:spPr>
          <a:xfrm>
            <a:off x="37350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nchor="t"/>
          <a:lstStyle/>
          <a:p>
            <a:endParaRPr lang="en-US">
              <a:ea typeface="Calibri"/>
              <a:cs typeface="Calibri"/>
            </a:endParaRPr>
          </a:p>
        </p:txBody>
      </p:sp>
      <p:sp>
        <p:nvSpPr>
          <p:cNvPr id="21" name="object 21"/>
          <p:cNvSpPr/>
          <p:nvPr/>
        </p:nvSpPr>
        <p:spPr>
          <a:xfrm>
            <a:off x="3744753" y="3452433"/>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2" name="object 22"/>
          <p:cNvSpPr/>
          <p:nvPr/>
        </p:nvSpPr>
        <p:spPr>
          <a:xfrm>
            <a:off x="3735070" y="3921819"/>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3" name="object 23"/>
          <p:cNvSpPr/>
          <p:nvPr/>
        </p:nvSpPr>
        <p:spPr>
          <a:xfrm>
            <a:off x="37299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r>
              <a:t/>
            </a:r>
            <a:endParaRPr lang="en-US"/>
          </a:p>
        </p:txBody>
      </p:sp>
      <p:sp>
        <p:nvSpPr>
          <p:cNvPr id="24" name="object 24"/>
          <p:cNvSpPr txBox="1"/>
          <p:nvPr/>
        </p:nvSpPr>
        <p:spPr>
          <a:xfrm>
            <a:off x="37299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a:t>
            </a:r>
            <a:endParaRPr lang="en-US" sz="1200">
              <a:effectLst/>
              <a:latin typeface="Times New Roman" panose="02020603050405020304" pitchFamily="18" charset="0"/>
              <a:ea typeface="Times New Roman" panose="02020603050405020304" pitchFamily="18" charset="0"/>
            </a:endParaRPr>
          </a:p>
        </p:txBody>
      </p:sp>
      <p:sp>
        <p:nvSpPr>
          <p:cNvPr id="25" name="object 25"/>
          <p:cNvSpPr txBox="1"/>
          <p:nvPr/>
        </p:nvSpPr>
        <p:spPr>
          <a:xfrm>
            <a:off x="53174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26" name="object 26"/>
          <p:cNvSpPr/>
          <p:nvPr/>
        </p:nvSpPr>
        <p:spPr>
          <a:xfrm>
            <a:off x="3729990" y="6965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27" name="object 27"/>
          <p:cNvSpPr/>
          <p:nvPr/>
        </p:nvSpPr>
        <p:spPr>
          <a:xfrm>
            <a:off x="242570" y="6131246"/>
            <a:ext cx="3177540" cy="897887"/>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A compromised AI agent using a valid credential to get in - still needs a shot (simple graphic or a short dramatised clip, not sourced yet)</a:t>
            </a:r>
            <a:endParaRPr lang="en-US"/>
          </a:p>
          <a:p>
            <a:r>
              <a:rPr lang="en-GB"/>
              <a:t>The problem is: a credential check only proves you have the key. It says nothing about whether you're using it the way you're supposed to.</a:t>
            </a:r>
            <a:endParaRPr lang="en-US"/>
          </a:p>
        </p:txBody>
      </p:sp>
      <p:sp>
        <p:nvSpPr>
          <p:cNvPr id="28" name="object 28"/>
          <p:cNvSpPr/>
          <p:nvPr/>
        </p:nvSpPr>
        <p:spPr>
          <a:xfrm>
            <a:off x="37350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9" name="object 29"/>
          <p:cNvSpPr/>
          <p:nvPr/>
        </p:nvSpPr>
        <p:spPr>
          <a:xfrm>
            <a:off x="37350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0" name="object 30"/>
          <p:cNvSpPr/>
          <p:nvPr/>
        </p:nvSpPr>
        <p:spPr>
          <a:xfrm>
            <a:off x="3735070" y="68878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1" name="object 31"/>
          <p:cNvSpPr/>
          <p:nvPr/>
        </p:nvSpPr>
        <p:spPr>
          <a:xfrm>
            <a:off x="37299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r>
              <a:t/>
            </a:r>
            <a:endParaRPr lang="en-US"/>
          </a:p>
        </p:txBody>
      </p:sp>
      <p:sp>
        <p:nvSpPr>
          <p:cNvPr id="32" name="object 32"/>
          <p:cNvSpPr txBox="1"/>
          <p:nvPr/>
        </p:nvSpPr>
        <p:spPr>
          <a:xfrm>
            <a:off x="37299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5</a:t>
            </a:r>
            <a:endParaRPr lang="en-US" sz="1200">
              <a:effectLst/>
              <a:latin typeface="Times New Roman" panose="02020603050405020304" pitchFamily="18" charset="0"/>
              <a:ea typeface="Times New Roman" panose="02020603050405020304" pitchFamily="18" charset="0"/>
            </a:endParaRPr>
          </a:p>
        </p:txBody>
      </p:sp>
      <p:sp>
        <p:nvSpPr>
          <p:cNvPr id="33" name="object 33"/>
          <p:cNvSpPr txBox="1"/>
          <p:nvPr/>
        </p:nvSpPr>
        <p:spPr>
          <a:xfrm>
            <a:off x="53174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34" name="object 34"/>
          <p:cNvSpPr/>
          <p:nvPr/>
        </p:nvSpPr>
        <p:spPr>
          <a:xfrm>
            <a:off x="3750165" y="3955279"/>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35" name="object 35"/>
          <p:cNvSpPr/>
          <p:nvPr/>
        </p:nvSpPr>
        <p:spPr>
          <a:xfrm>
            <a:off x="3744753" y="2846590"/>
            <a:ext cx="3177540" cy="763969"/>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5G Core Network diagram (AMF / SMF / UDM / UPF / PCF / NRF), held on screen while Fauzan keeps talking</a:t>
            </a:r>
            <a:endParaRPr lang="en-US"/>
          </a:p>
          <a:p>
            <a:r>
              <a:rPr lang="en-GB"/>
              <a:t>FAUZAN: We're Fauzan and Llagami. This is AEGIS. A 5G core isn't one system - it's a mesh of network functions, AMF, UDM, SMF, PCF, talking to each other constantly over an API layer called the Service-Based Interface.</a:t>
            </a:r>
            <a:endParaRPr lang="en-US"/>
          </a:p>
        </p:txBody>
      </p:sp>
      <p:sp>
        <p:nvSpPr>
          <p:cNvPr id="36" name="object 36"/>
          <p:cNvSpPr/>
          <p:nvPr/>
        </p:nvSpPr>
        <p:spPr>
          <a:xfrm>
            <a:off x="72402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7" name="object 37"/>
          <p:cNvSpPr/>
          <p:nvPr/>
        </p:nvSpPr>
        <p:spPr>
          <a:xfrm>
            <a:off x="72402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8" name="object 38"/>
          <p:cNvSpPr/>
          <p:nvPr/>
        </p:nvSpPr>
        <p:spPr>
          <a:xfrm>
            <a:off x="7262678" y="3660549"/>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9" name="object 39"/>
          <p:cNvSpPr/>
          <p:nvPr/>
        </p:nvSpPr>
        <p:spPr>
          <a:xfrm>
            <a:off x="72351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r>
              <a:t/>
            </a:r>
            <a:endParaRPr lang="en-US"/>
          </a:p>
        </p:txBody>
      </p:sp>
      <p:sp>
        <p:nvSpPr>
          <p:cNvPr id="40" name="object 40"/>
          <p:cNvSpPr txBox="1"/>
          <p:nvPr/>
        </p:nvSpPr>
        <p:spPr>
          <a:xfrm>
            <a:off x="72351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3</a:t>
            </a:r>
            <a:endParaRPr lang="en-US" sz="1200">
              <a:effectLst/>
              <a:latin typeface="Times New Roman" panose="02020603050405020304" pitchFamily="18" charset="0"/>
              <a:ea typeface="Times New Roman" panose="02020603050405020304" pitchFamily="18" charset="0"/>
            </a:endParaRPr>
          </a:p>
        </p:txBody>
      </p:sp>
      <p:sp>
        <p:nvSpPr>
          <p:cNvPr id="41" name="object 41"/>
          <p:cNvSpPr txBox="1"/>
          <p:nvPr/>
        </p:nvSpPr>
        <p:spPr>
          <a:xfrm>
            <a:off x="88226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42" name="object 42"/>
          <p:cNvSpPr/>
          <p:nvPr/>
        </p:nvSpPr>
        <p:spPr>
          <a:xfrm>
            <a:off x="7235190" y="6965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43" name="object 43"/>
          <p:cNvSpPr/>
          <p:nvPr/>
        </p:nvSpPr>
        <p:spPr>
          <a:xfrm>
            <a:off x="3745865" y="6171068"/>
            <a:ext cx="3177540" cy="867835"/>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AEGIS logo and tagline card</a:t>
            </a:r>
            <a:endParaRPr lang="en-US"/>
          </a:p>
          <a:p>
            <a:r>
              <a:rPr lang="en-GB"/>
              <a:t>That's what AEGIS does. It's a zero-trust behavioural layer that sits on top of the credential check.</a:t>
            </a:r>
            <a:endParaRPr lang="en-US"/>
          </a:p>
        </p:txBody>
      </p:sp>
      <p:sp>
        <p:nvSpPr>
          <p:cNvPr id="44" name="object 44"/>
          <p:cNvSpPr/>
          <p:nvPr/>
        </p:nvSpPr>
        <p:spPr>
          <a:xfrm>
            <a:off x="72402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nchor="t"/>
          <a:lstStyle/>
          <a:p>
            <a:r>
              <a:t>Was blank - filled per tutor note. Simple on-screen text: 'Is this token valid?' crossed out, replaced by 'Does this agent still behave like itself?'</a:t>
            </a:r>
            <a:endParaRPr lang="en-US">
              <a:ea typeface="Calibri"/>
              <a:cs typeface="Calibri"/>
            </a:endParaRPr>
          </a:p>
          <a:p>
            <a:r>
              <a:t>It doesn't ask 'is this token valid.' It asks 'does this agent's behaviour still look like itself.'</a:t>
            </a:r>
            <a:endParaRPr lang="en-US">
              <a:ea typeface="Calibri"/>
              <a:cs typeface="Calibri"/>
            </a:endParaRPr>
          </a:p>
        </p:txBody>
      </p:sp>
      <p:sp>
        <p:nvSpPr>
          <p:cNvPr id="45" name="object 45"/>
          <p:cNvSpPr/>
          <p:nvPr/>
        </p:nvSpPr>
        <p:spPr>
          <a:xfrm>
            <a:off x="7217862"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6" name="object 46"/>
          <p:cNvSpPr/>
          <p:nvPr/>
        </p:nvSpPr>
        <p:spPr>
          <a:xfrm>
            <a:off x="7240270" y="68878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7" name="object 47"/>
          <p:cNvSpPr/>
          <p:nvPr/>
        </p:nvSpPr>
        <p:spPr>
          <a:xfrm>
            <a:off x="72351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r>
              <a:t/>
            </a:r>
            <a:endParaRPr lang="en-US"/>
          </a:p>
        </p:txBody>
      </p:sp>
      <p:sp>
        <p:nvSpPr>
          <p:cNvPr id="48" name="object 48"/>
          <p:cNvSpPr txBox="1"/>
          <p:nvPr/>
        </p:nvSpPr>
        <p:spPr>
          <a:xfrm>
            <a:off x="72351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6</a:t>
            </a:r>
            <a:endParaRPr lang="en-US" sz="1200">
              <a:effectLst/>
              <a:latin typeface="Times New Roman" panose="02020603050405020304" pitchFamily="18" charset="0"/>
              <a:ea typeface="Times New Roman" panose="02020603050405020304" pitchFamily="18" charset="0"/>
            </a:endParaRPr>
          </a:p>
        </p:txBody>
      </p:sp>
      <p:sp>
        <p:nvSpPr>
          <p:cNvPr id="49" name="object 49"/>
          <p:cNvSpPr txBox="1"/>
          <p:nvPr/>
        </p:nvSpPr>
        <p:spPr>
          <a:xfrm>
            <a:off x="88226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50" name="object 50"/>
          <p:cNvSpPr/>
          <p:nvPr/>
        </p:nvSpPr>
        <p:spPr>
          <a:xfrm>
            <a:off x="72351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54" name="object 13"/>
          <p:cNvSpPr/>
          <p:nvPr/>
        </p:nvSpPr>
        <p:spPr>
          <a:xfrm>
            <a:off x="240665" y="689483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56" name="object 2"/>
          <p:cNvSpPr/>
          <p:nvPr/>
        </p:nvSpPr>
        <p:spPr>
          <a:xfrm>
            <a:off x="285750" y="7163435"/>
            <a:ext cx="939800" cy="215900"/>
          </a:xfrm>
          <a:prstGeom prst="rect">
            <a:avLst/>
          </a:prstGeom>
          <a:blipFill>
            <a:blip r:embed="rId3" cstate="print"/>
            <a:stretch>
              <a:fillRect/>
            </a:stretch>
          </a:blipFill>
        </p:spPr>
        <p:txBody>
          <a:bodyPr wrap="square" lIns="0" tIns="0" rIns="0" bIns="0" rtlCol="0"/>
          <a:lstStyle/>
          <a:p>
            <a:endParaRPr lang="en-US"/>
          </a:p>
        </p:txBody>
      </p:sp>
      <p:sp>
        <p:nvSpPr>
          <p:cNvPr id="60" name="object 43">
            <a:extLst>
              <a:ext uri="{FF2B5EF4-FFF2-40B4-BE49-F238E27FC236}">
                <a16:creationId xmlns:a16="http://schemas.microsoft.com/office/drawing/2014/main" id="{E52C13FE-E357-A74A-B36E-FC9F563538D0}"/>
              </a:ext>
            </a:extLst>
          </p:cNvPr>
          <p:cNvSpPr txBox="1"/>
          <p:nvPr/>
        </p:nvSpPr>
        <p:spPr>
          <a:xfrm>
            <a:off x="6836736" y="7188980"/>
            <a:ext cx="3607744" cy="184908"/>
          </a:xfrm>
          <a:prstGeom prst="rect">
            <a:avLst/>
          </a:prstGeom>
        </p:spPr>
        <p:txBody>
          <a:bodyPr vert="horz" wrap="square" lIns="0" tIns="12700" rIns="0" bIns="0" rtlCol="0">
            <a:spAutoFit/>
          </a:bodyPr>
          <a:lstStyle/>
          <a:p>
            <a:pPr marL="8890" algn="r">
              <a:spcBef>
                <a:spcPts val="100"/>
              </a:spcBef>
            </a:pPr>
            <a:r>
              <a:rPr lang="en-US" sz="1100" spc="30">
                <a:solidFill>
                  <a:srgbClr val="9B9B9B"/>
                </a:solidFill>
                <a:latin typeface="Arial" panose="020B0604020202020204" pitchFamily="34" charset="0"/>
                <a:ea typeface="Times New Roman" panose="02020603050405020304" pitchFamily="18" charset="0"/>
                <a:cs typeface="Arial" panose="020B0604020202020204" pitchFamily="34" charset="0"/>
              </a:rPr>
              <a:t>Get </a:t>
            </a:r>
            <a:r>
              <a:rPr lang="en-US" sz="1100" spc="-15">
                <a:solidFill>
                  <a:srgbClr val="9B9B9B"/>
                </a:solidFill>
                <a:latin typeface="Arial" panose="020B0604020202020204" pitchFamily="34" charset="0"/>
                <a:ea typeface="Times New Roman" panose="02020603050405020304" pitchFamily="18" charset="0"/>
                <a:cs typeface="Arial" panose="020B0604020202020204" pitchFamily="34" charset="0"/>
              </a:rPr>
              <a:t>free </a:t>
            </a:r>
            <a:r>
              <a:rPr lang="en-US" sz="1100" spc="15">
                <a:solidFill>
                  <a:srgbClr val="9B9B9B"/>
                </a:solidFill>
                <a:latin typeface="Arial" panose="020B0604020202020204" pitchFamily="34" charset="0"/>
                <a:ea typeface="Times New Roman" panose="02020603050405020304" pitchFamily="18" charset="0"/>
                <a:cs typeface="Arial" panose="020B0604020202020204" pitchFamily="34" charset="0"/>
              </a:rPr>
              <a:t>storyboard </a:t>
            </a:r>
            <a:r>
              <a:rPr lang="en-US" sz="1100">
                <a:solidFill>
                  <a:srgbClr val="9B9B9B"/>
                </a:solidFill>
                <a:latin typeface="Arial" panose="020B0604020202020204" pitchFamily="34" charset="0"/>
                <a:ea typeface="Times New Roman" panose="02020603050405020304" pitchFamily="18" charset="0"/>
                <a:cs typeface="Arial" panose="020B0604020202020204" pitchFamily="34" charset="0"/>
              </a:rPr>
              <a:t>templates at </a:t>
            </a:r>
            <a:r>
              <a:rPr lang="en-US" sz="1100" err="1">
                <a:solidFill>
                  <a:srgbClr val="9B9B9B"/>
                </a:solidFill>
                <a:latin typeface="Arial" panose="020B0604020202020204" pitchFamily="34" charset="0"/>
                <a:ea typeface="Times New Roman" panose="02020603050405020304" pitchFamily="18" charset="0"/>
                <a:cs typeface="Arial" panose="020B0604020202020204" pitchFamily="34" charset="0"/>
              </a:rPr>
              <a:t>Boords.com</a:t>
            </a:r>
            <a:endParaRPr lang="en-US" sz="1100">
              <a:latin typeface="Arial" panose="020B0604020202020204" pitchFamily="34" charset="0"/>
              <a:ea typeface="Times New Roman" panose="02020603050405020304" pitchFamily="18" charset="0"/>
              <a:cs typeface="Arial" panose="020B0604020202020204" pitchFamily="34" charset="0"/>
            </a:endParaRPr>
          </a:p>
        </p:txBody>
      </p:sp>
      <p:sp>
        <p:nvSpPr>
          <p:cNvPr id="61" name="object 3">
            <a:extLst>
              <a:ext uri="{FF2B5EF4-FFF2-40B4-BE49-F238E27FC236}">
                <a16:creationId xmlns:a16="http://schemas.microsoft.com/office/drawing/2014/main" id="{C50C7CF4-8939-6A42-B825-3F0086ADAABC}"/>
              </a:ext>
            </a:extLst>
          </p:cNvPr>
          <p:cNvSpPr/>
          <p:nvPr/>
        </p:nvSpPr>
        <p:spPr>
          <a:xfrm>
            <a:off x="252765" y="198387"/>
            <a:ext cx="10165045" cy="292100"/>
          </a:xfrm>
          <a:custGeom>
            <a:avLst/>
            <a:gdLst/>
            <a:ahLst/>
            <a:cxnLst/>
            <a:rect l="l" t="t" r="r" b="b"/>
            <a:pathLst>
              <a:path w="10198100" h="292100">
                <a:moveTo>
                  <a:pt x="0" y="0"/>
                </a:moveTo>
                <a:lnTo>
                  <a:pt x="10198100" y="0"/>
                </a:lnTo>
                <a:lnTo>
                  <a:pt x="10198100" y="292100"/>
                </a:lnTo>
                <a:lnTo>
                  <a:pt x="0" y="292100"/>
                </a:lnTo>
                <a:lnTo>
                  <a:pt x="0" y="0"/>
                </a:lnTo>
                <a:close/>
              </a:path>
            </a:pathLst>
          </a:custGeom>
          <a:ln w="25400">
            <a:solidFill>
              <a:srgbClr val="CCCCCC"/>
            </a:solidFill>
          </a:ln>
        </p:spPr>
        <p:txBody>
          <a:bodyPr wrap="square" lIns="0" tIns="0" rIns="0" bIns="0" rtlCol="0"/>
          <a:lstStyle/>
          <a:p>
            <a:r>
              <a:rPr lang="en-US"/>
              <a:t>          Promo – 5g Academy – Introduction</a:t>
            </a:r>
          </a:p>
        </p:txBody>
      </p:sp>
      <p:sp>
        <p:nvSpPr>
          <p:cNvPr id="62" name="object 4">
            <a:extLst>
              <a:ext uri="{FF2B5EF4-FFF2-40B4-BE49-F238E27FC236}">
                <a16:creationId xmlns:a16="http://schemas.microsoft.com/office/drawing/2014/main" id="{946EC202-0A31-544B-A5EB-E6236CEC5C32}"/>
              </a:ext>
            </a:extLst>
          </p:cNvPr>
          <p:cNvSpPr/>
          <p:nvPr/>
        </p:nvSpPr>
        <p:spPr>
          <a:xfrm>
            <a:off x="9373270" y="190839"/>
            <a:ext cx="45719" cy="299648"/>
          </a:xfrm>
          <a:custGeom>
            <a:avLst/>
            <a:gdLst/>
            <a:ahLst/>
            <a:cxnLst/>
            <a:rect l="l" t="t" r="r" b="b"/>
            <a:pathLst>
              <a:path h="255270">
                <a:moveTo>
                  <a:pt x="0" y="0"/>
                </a:moveTo>
                <a:lnTo>
                  <a:pt x="0" y="255143"/>
                </a:lnTo>
              </a:path>
            </a:pathLst>
          </a:custGeom>
          <a:ln w="25400">
            <a:solidFill>
              <a:srgbClr val="CCCCCC"/>
            </a:solidFill>
          </a:ln>
        </p:spPr>
        <p:txBody>
          <a:bodyPr wrap="square" lIns="0" tIns="0" rIns="0" bIns="0" rtlCol="0"/>
          <a:lstStyle/>
          <a:p>
            <a:endParaRPr lang="en-US"/>
          </a:p>
        </p:txBody>
      </p:sp>
      <p:sp>
        <p:nvSpPr>
          <p:cNvPr id="63" name="object 6">
            <a:extLst>
              <a:ext uri="{FF2B5EF4-FFF2-40B4-BE49-F238E27FC236}">
                <a16:creationId xmlns:a16="http://schemas.microsoft.com/office/drawing/2014/main" id="{A92A90AF-5BC5-164C-BAE0-15271A672BC8}"/>
              </a:ext>
            </a:extLst>
          </p:cNvPr>
          <p:cNvSpPr txBox="1"/>
          <p:nvPr/>
        </p:nvSpPr>
        <p:spPr>
          <a:xfrm>
            <a:off x="365811" y="239475"/>
            <a:ext cx="328295" cy="187325"/>
          </a:xfrm>
          <a:prstGeom prst="rect">
            <a:avLst/>
          </a:prstGeom>
        </p:spPr>
        <p:txBody>
          <a:bodyPr vert="horz" wrap="square" lIns="0" tIns="12700" rIns="0" bIns="0" rtlCol="0">
            <a:spAutoFit/>
          </a:bodyPr>
          <a:lstStyle/>
          <a:p>
            <a:pPr marL="0" marR="0">
              <a:spcBef>
                <a:spcPts val="100"/>
              </a:spcBef>
              <a:spcAft>
                <a:spcPts val="0"/>
              </a:spcAft>
            </a:pPr>
            <a:r>
              <a:rPr lang="en-US" sz="1100" kern="1200" spc="-40">
                <a:solidFill>
                  <a:srgbClr val="9B9B9B"/>
                </a:solidFill>
                <a:effectLst/>
                <a:latin typeface="Arial" panose="020B0604020202020204" pitchFamily="34" charset="0"/>
                <a:ea typeface="Times New Roman" panose="02020603050405020304" pitchFamily="18" charset="0"/>
                <a:cs typeface="Arial" panose="020B0604020202020204" pitchFamily="34" charset="0"/>
              </a:rPr>
              <a:t>Title:</a:t>
            </a:r>
            <a:endParaRPr lang="en-US" sz="1100">
              <a:effectLst/>
              <a:latin typeface="Arial" panose="020B0604020202020204" pitchFamily="34" charset="0"/>
              <a:ea typeface="Times New Roman" panose="02020603050405020304" pitchFamily="18" charset="0"/>
              <a:cs typeface="Arial" panose="020B0604020202020204" pitchFamily="34" charset="0"/>
            </a:endParaRPr>
          </a:p>
        </p:txBody>
      </p:sp>
      <p:sp>
        <p:nvSpPr>
          <p:cNvPr id="64" name="object 5">
            <a:extLst>
              <a:ext uri="{FF2B5EF4-FFF2-40B4-BE49-F238E27FC236}">
                <a16:creationId xmlns:a16="http://schemas.microsoft.com/office/drawing/2014/main" id="{E6CC7FE7-E316-B44C-A800-2DE6E459D268}"/>
              </a:ext>
            </a:extLst>
          </p:cNvPr>
          <p:cNvSpPr txBox="1"/>
          <p:nvPr/>
        </p:nvSpPr>
        <p:spPr>
          <a:xfrm>
            <a:off x="9376410" y="247564"/>
            <a:ext cx="1041400" cy="187325"/>
          </a:xfrm>
          <a:prstGeom prst="rect">
            <a:avLst/>
          </a:prstGeom>
        </p:spPr>
        <p:txBody>
          <a:bodyPr vert="horz" wrap="square" lIns="0" tIns="12700" rIns="0" bIns="0" rtlCol="0">
            <a:spAutoFit/>
          </a:bodyPr>
          <a:lstStyle/>
          <a:p>
            <a:pPr marL="91440" marR="0">
              <a:spcBef>
                <a:spcPts val="100"/>
              </a:spcBef>
              <a:spcAft>
                <a:spcPts val="0"/>
              </a:spcAft>
            </a:pPr>
            <a:r>
              <a:rPr lang="en-US" sz="1100" kern="1200" spc="10">
                <a:solidFill>
                  <a:srgbClr val="9B9B9B"/>
                </a:solidFill>
                <a:effectLst/>
                <a:latin typeface="Arial" panose="020B0604020202020204" pitchFamily="34" charset="0"/>
                <a:ea typeface="Times New Roman" panose="02020603050405020304" pitchFamily="18" charset="0"/>
                <a:cs typeface="Arial" panose="020B0604020202020204" pitchFamily="34" charset="0"/>
              </a:rPr>
              <a:t>Page:</a:t>
            </a:r>
            <a:endParaRPr lang="en-US" sz="1100">
              <a:effectLst/>
              <a:latin typeface="Arial" panose="020B0604020202020204" pitchFamily="34" charset="0"/>
              <a:ea typeface="Times New Roman" panose="02020603050405020304" pitchFamily="18" charset="0"/>
              <a:cs typeface="Arial" panose="020B0604020202020204" pitchFamily="34" charset="0"/>
            </a:endParaRPr>
          </a:p>
        </p:txBody>
      </p:sp>
      <p:pic>
        <p:nvPicPr>
          <p:cNvPr id="53" name="Picture 52">
            <a:extLst>
              <a:ext uri="{FF2B5EF4-FFF2-40B4-BE49-F238E27FC236}">
                <a16:creationId xmlns:a16="http://schemas.microsoft.com/office/drawing/2014/main" id="{63BB45BD-9DDA-8EB5-1784-29D66F520E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4158" y="961437"/>
            <a:ext cx="3175952" cy="1805258"/>
          </a:xfrm>
          <a:prstGeom prst="rect">
            <a:avLst/>
          </a:prstGeom>
        </p:spPr>
      </p:pic>
      <p:pic>
        <p:nvPicPr>
          <p:cNvPr id="57" name="Picture 56">
            <a:extLst>
              <a:ext uri="{FF2B5EF4-FFF2-40B4-BE49-F238E27FC236}">
                <a16:creationId xmlns:a16="http://schemas.microsoft.com/office/drawing/2014/main" id="{BEEF54FD-AA20-6BF3-01E7-BF8B2BC2DD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19034" y="1023314"/>
            <a:ext cx="3175952" cy="1745119"/>
          </a:xfrm>
          <a:prstGeom prst="rect">
            <a:avLst/>
          </a:prstGeom>
        </p:spPr>
      </p:pic>
      <p:pic>
        <p:nvPicPr>
          <p:cNvPr id="59" name="Picture 58">
            <a:extLst>
              <a:ext uri="{FF2B5EF4-FFF2-40B4-BE49-F238E27FC236}">
                <a16:creationId xmlns:a16="http://schemas.microsoft.com/office/drawing/2014/main" id="{A70C0DC9-BE76-4EC0-82FE-186E58AA47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44753" y="993331"/>
            <a:ext cx="3168098" cy="1687385"/>
          </a:xfrm>
          <a:prstGeom prst="rect">
            <a:avLst/>
          </a:prstGeom>
        </p:spPr>
      </p:pic>
      <p:pic>
        <p:nvPicPr>
          <p:cNvPr id="66" name="Picture 65">
            <a:extLst>
              <a:ext uri="{FF2B5EF4-FFF2-40B4-BE49-F238E27FC236}">
                <a16:creationId xmlns:a16="http://schemas.microsoft.com/office/drawing/2014/main" id="{B6A5B527-47F5-5795-DF13-1BAA7D9C9728}"/>
              </a:ext>
            </a:extLst>
          </p:cNvPr>
          <p:cNvPicPr>
            <a:picLocks noChangeAspect="1"/>
          </p:cNvPicPr>
          <p:nvPr/>
        </p:nvPicPr>
        <p:blipFill>
          <a:blip r:embed="rId7"/>
          <a:srcRect b="26028"/>
          <a:stretch>
            <a:fillRect/>
          </a:stretch>
        </p:blipFill>
        <p:spPr>
          <a:xfrm>
            <a:off x="3690505" y="4265652"/>
            <a:ext cx="3307020" cy="1759727"/>
          </a:xfrm>
          <a:prstGeom prst="rect">
            <a:avLst/>
          </a:prstGeom>
        </p:spPr>
      </p:pic>
    </p:spTree>
    <p:extLst>
      <p:ext uri="{BB962C8B-B14F-4D97-AF65-F5344CB8AC3E}">
        <p14:creationId xmlns:p14="http://schemas.microsoft.com/office/powerpoint/2010/main" val="1722896570"/>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242570" y="3027045"/>
            <a:ext cx="3177540" cy="64770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The group discussing the project in the Academy</a:t>
            </a:r>
            <a:endParaRPr lang="en-US"/>
          </a:p>
          <a:p>
            <a:r>
              <a:rPr lang="en-GB"/>
              <a:t>LLAGAMI, on camera: AEGIS runs every call through four stages.</a:t>
            </a:r>
            <a:endParaRPr lang="en-US"/>
          </a:p>
        </p:txBody>
      </p:sp>
      <p:sp>
        <p:nvSpPr>
          <p:cNvPr id="5" name="object 4"/>
          <p:cNvSpPr/>
          <p:nvPr/>
        </p:nvSpPr>
        <p:spPr>
          <a:xfrm>
            <a:off x="2425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6" name="object 5"/>
          <p:cNvSpPr/>
          <p:nvPr/>
        </p:nvSpPr>
        <p:spPr>
          <a:xfrm>
            <a:off x="2425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7" name="object 6"/>
          <p:cNvSpPr/>
          <p:nvPr/>
        </p:nvSpPr>
        <p:spPr>
          <a:xfrm>
            <a:off x="2425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8" name="object 7"/>
          <p:cNvSpPr/>
          <p:nvPr/>
        </p:nvSpPr>
        <p:spPr>
          <a:xfrm>
            <a:off x="2374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9" name="object 8"/>
          <p:cNvSpPr txBox="1"/>
          <p:nvPr/>
        </p:nvSpPr>
        <p:spPr>
          <a:xfrm>
            <a:off x="2374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7</a:t>
            </a:r>
            <a:endParaRPr lang="en-US" sz="1200">
              <a:effectLst/>
              <a:latin typeface="Times New Roman" panose="02020603050405020304" pitchFamily="18" charset="0"/>
              <a:ea typeface="Times New Roman" panose="02020603050405020304" pitchFamily="18" charset="0"/>
            </a:endParaRPr>
          </a:p>
        </p:txBody>
      </p:sp>
      <p:sp>
        <p:nvSpPr>
          <p:cNvPr id="10" name="object 9"/>
          <p:cNvSpPr txBox="1"/>
          <p:nvPr/>
        </p:nvSpPr>
        <p:spPr>
          <a:xfrm>
            <a:off x="18249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11" name="object 10"/>
          <p:cNvSpPr/>
          <p:nvPr/>
        </p:nvSpPr>
        <p:spPr>
          <a:xfrm>
            <a:off x="237490" y="696594"/>
            <a:ext cx="3187700" cy="298451"/>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12" name="object 11"/>
          <p:cNvSpPr/>
          <p:nvPr/>
        </p:nvSpPr>
        <p:spPr>
          <a:xfrm>
            <a:off x="242570" y="6265544"/>
            <a:ext cx="3177540" cy="629283"/>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Fingerprint: its own icon (slides/GATE-3/_sb_assets/fingerprint_icon.png)</a:t>
            </a:r>
          </a:p>
          <a:p>
            <a:r>
              <a:rPr lang="en-GB"/>
              <a:t>And this gate, we checked it against a real published framework. Five of our seven threats map directly onto named attacker techniques in MITRE FiGHT, the ATT&amp;CK equivalent for 5G.</a:t>
            </a:r>
          </a:p>
        </p:txBody>
      </p:sp>
      <p:sp>
        <p:nvSpPr>
          <p:cNvPr id="13" name="object 12"/>
          <p:cNvSpPr/>
          <p:nvPr/>
        </p:nvSpPr>
        <p:spPr>
          <a:xfrm>
            <a:off x="2425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4" name="object 13"/>
          <p:cNvSpPr/>
          <p:nvPr/>
        </p:nvSpPr>
        <p:spPr>
          <a:xfrm>
            <a:off x="2425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5" name="object 15"/>
          <p:cNvSpPr/>
          <p:nvPr/>
        </p:nvSpPr>
        <p:spPr>
          <a:xfrm>
            <a:off x="2374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16" name="object 16"/>
          <p:cNvSpPr txBox="1"/>
          <p:nvPr/>
        </p:nvSpPr>
        <p:spPr>
          <a:xfrm>
            <a:off x="2374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10</a:t>
            </a:r>
            <a:endParaRPr lang="en-US" sz="1200">
              <a:effectLst/>
              <a:latin typeface="Times New Roman" panose="02020603050405020304" pitchFamily="18" charset="0"/>
              <a:ea typeface="Times New Roman" panose="02020603050405020304" pitchFamily="18" charset="0"/>
            </a:endParaRPr>
          </a:p>
        </p:txBody>
      </p:sp>
      <p:sp>
        <p:nvSpPr>
          <p:cNvPr id="17" name="object 17"/>
          <p:cNvSpPr txBox="1"/>
          <p:nvPr/>
        </p:nvSpPr>
        <p:spPr>
          <a:xfrm>
            <a:off x="18249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18" name="object 18"/>
          <p:cNvSpPr/>
          <p:nvPr/>
        </p:nvSpPr>
        <p:spPr>
          <a:xfrm>
            <a:off x="2374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20" name="object 20"/>
          <p:cNvSpPr/>
          <p:nvPr/>
        </p:nvSpPr>
        <p:spPr>
          <a:xfrm>
            <a:off x="37350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1" name="object 21"/>
          <p:cNvSpPr/>
          <p:nvPr/>
        </p:nvSpPr>
        <p:spPr>
          <a:xfrm>
            <a:off x="37350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2" name="object 22"/>
          <p:cNvSpPr/>
          <p:nvPr/>
        </p:nvSpPr>
        <p:spPr>
          <a:xfrm>
            <a:off x="37350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3" name="object 23"/>
          <p:cNvSpPr/>
          <p:nvPr/>
        </p:nvSpPr>
        <p:spPr>
          <a:xfrm>
            <a:off x="37299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24" name="object 24"/>
          <p:cNvSpPr txBox="1"/>
          <p:nvPr/>
        </p:nvSpPr>
        <p:spPr>
          <a:xfrm>
            <a:off x="37299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8</a:t>
            </a:r>
            <a:endParaRPr lang="en-US" sz="1200">
              <a:effectLst/>
              <a:latin typeface="Times New Roman" panose="02020603050405020304" pitchFamily="18" charset="0"/>
              <a:ea typeface="Times New Roman" panose="02020603050405020304" pitchFamily="18" charset="0"/>
            </a:endParaRPr>
          </a:p>
        </p:txBody>
      </p:sp>
      <p:sp>
        <p:nvSpPr>
          <p:cNvPr id="25" name="object 25"/>
          <p:cNvSpPr txBox="1"/>
          <p:nvPr/>
        </p:nvSpPr>
        <p:spPr>
          <a:xfrm>
            <a:off x="53174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26" name="object 26"/>
          <p:cNvSpPr/>
          <p:nvPr/>
        </p:nvSpPr>
        <p:spPr>
          <a:xfrm>
            <a:off x="3729990" y="6965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27" name="object 27"/>
          <p:cNvSpPr/>
          <p:nvPr/>
        </p:nvSpPr>
        <p:spPr>
          <a:xfrm>
            <a:off x="3735070" y="6265545"/>
            <a:ext cx="3177540" cy="89789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Score: its own icon (slides/GATE-3/_sb_assets/score_icon.png)</a:t>
            </a:r>
          </a:p>
          <a:p>
            <a:r>
              <a:rPr lang="en-GB"/>
              <a:t>The other two, we're upfront about it: they're behavioural patterns we catch that neither FiGHT nor GSMA's own threat catalogue currently names.</a:t>
            </a:r>
          </a:p>
        </p:txBody>
      </p:sp>
      <p:sp>
        <p:nvSpPr>
          <p:cNvPr id="28" name="object 28"/>
          <p:cNvSpPr/>
          <p:nvPr/>
        </p:nvSpPr>
        <p:spPr>
          <a:xfrm>
            <a:off x="37350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9" name="object 29"/>
          <p:cNvSpPr/>
          <p:nvPr/>
        </p:nvSpPr>
        <p:spPr>
          <a:xfrm>
            <a:off x="37350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0" name="object 30"/>
          <p:cNvSpPr/>
          <p:nvPr/>
        </p:nvSpPr>
        <p:spPr>
          <a:xfrm>
            <a:off x="3735070" y="68878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1" name="object 31"/>
          <p:cNvSpPr/>
          <p:nvPr/>
        </p:nvSpPr>
        <p:spPr>
          <a:xfrm>
            <a:off x="37299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32" name="object 32"/>
          <p:cNvSpPr txBox="1"/>
          <p:nvPr/>
        </p:nvSpPr>
        <p:spPr>
          <a:xfrm>
            <a:off x="37299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11</a:t>
            </a:r>
            <a:endParaRPr lang="en-US" sz="1200">
              <a:effectLst/>
              <a:latin typeface="Times New Roman" panose="02020603050405020304" pitchFamily="18" charset="0"/>
              <a:ea typeface="Times New Roman" panose="02020603050405020304" pitchFamily="18" charset="0"/>
            </a:endParaRPr>
          </a:p>
        </p:txBody>
      </p:sp>
      <p:sp>
        <p:nvSpPr>
          <p:cNvPr id="33" name="object 33"/>
          <p:cNvSpPr txBox="1"/>
          <p:nvPr/>
        </p:nvSpPr>
        <p:spPr>
          <a:xfrm>
            <a:off x="53174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34" name="object 34"/>
          <p:cNvSpPr/>
          <p:nvPr/>
        </p:nvSpPr>
        <p:spPr>
          <a:xfrm>
            <a:off x="37299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35" name="object 35"/>
          <p:cNvSpPr/>
          <p:nvPr/>
        </p:nvSpPr>
        <p:spPr>
          <a:xfrm>
            <a:off x="7240270" y="3027044"/>
            <a:ext cx="3177540" cy="754377"/>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Observe: its own icon, reused from the official deck (slides/GATE-3/_sb_assets/observe_icon.png) - a real diagram, not an open question</a:t>
            </a:r>
          </a:p>
          <a:p>
            <a:r>
              <a:rPr lang="en-GB"/>
              <a:t>We built this against seven distinct threat patterns - identity spoofing, reconnaissance, slow data exfiltration, an agent quietly drifting outside its authorised scope.</a:t>
            </a:r>
          </a:p>
        </p:txBody>
      </p:sp>
      <p:sp>
        <p:nvSpPr>
          <p:cNvPr id="36" name="object 36"/>
          <p:cNvSpPr/>
          <p:nvPr/>
        </p:nvSpPr>
        <p:spPr>
          <a:xfrm>
            <a:off x="72402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7" name="object 37"/>
          <p:cNvSpPr/>
          <p:nvPr/>
        </p:nvSpPr>
        <p:spPr>
          <a:xfrm>
            <a:off x="72402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8" name="object 38"/>
          <p:cNvSpPr/>
          <p:nvPr/>
        </p:nvSpPr>
        <p:spPr>
          <a:xfrm>
            <a:off x="72402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9" name="object 39"/>
          <p:cNvSpPr/>
          <p:nvPr/>
        </p:nvSpPr>
        <p:spPr>
          <a:xfrm>
            <a:off x="72351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40" name="object 40"/>
          <p:cNvSpPr txBox="1"/>
          <p:nvPr/>
        </p:nvSpPr>
        <p:spPr>
          <a:xfrm>
            <a:off x="72351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9</a:t>
            </a:r>
            <a:endParaRPr lang="en-US" sz="1200">
              <a:effectLst/>
              <a:latin typeface="Times New Roman" panose="02020603050405020304" pitchFamily="18" charset="0"/>
              <a:ea typeface="Times New Roman" panose="02020603050405020304" pitchFamily="18" charset="0"/>
            </a:endParaRPr>
          </a:p>
        </p:txBody>
      </p:sp>
      <p:sp>
        <p:nvSpPr>
          <p:cNvPr id="41" name="object 41"/>
          <p:cNvSpPr txBox="1"/>
          <p:nvPr/>
        </p:nvSpPr>
        <p:spPr>
          <a:xfrm>
            <a:off x="88226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42" name="object 42"/>
          <p:cNvSpPr/>
          <p:nvPr/>
        </p:nvSpPr>
        <p:spPr>
          <a:xfrm>
            <a:off x="7235190" y="6965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43" name="object 43"/>
          <p:cNvSpPr/>
          <p:nvPr/>
        </p:nvSpPr>
        <p:spPr>
          <a:xfrm>
            <a:off x="7240270" y="6265544"/>
            <a:ext cx="3177540" cy="897889"/>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Decide: its own icon (slides/GATE-3/_sb_assets/decide_icon.png), then cut to the docs/GATE-3/threat-model-external-mapping.md table on screen</a:t>
            </a:r>
          </a:p>
        </p:txBody>
      </p:sp>
      <p:sp>
        <p:nvSpPr>
          <p:cNvPr id="44" name="object 44"/>
          <p:cNvSpPr/>
          <p:nvPr/>
        </p:nvSpPr>
        <p:spPr>
          <a:xfrm>
            <a:off x="72402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5" name="object 45"/>
          <p:cNvSpPr/>
          <p:nvPr/>
        </p:nvSpPr>
        <p:spPr>
          <a:xfrm>
            <a:off x="72402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6" name="object 46"/>
          <p:cNvSpPr/>
          <p:nvPr/>
        </p:nvSpPr>
        <p:spPr>
          <a:xfrm>
            <a:off x="7240270" y="68878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7" name="object 47"/>
          <p:cNvSpPr/>
          <p:nvPr/>
        </p:nvSpPr>
        <p:spPr>
          <a:xfrm>
            <a:off x="72351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48" name="object 48"/>
          <p:cNvSpPr txBox="1"/>
          <p:nvPr/>
        </p:nvSpPr>
        <p:spPr>
          <a:xfrm>
            <a:off x="72351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12</a:t>
            </a:r>
            <a:endParaRPr lang="en-US" sz="1200">
              <a:effectLst/>
              <a:latin typeface="Times New Roman" panose="02020603050405020304" pitchFamily="18" charset="0"/>
              <a:ea typeface="Times New Roman" panose="02020603050405020304" pitchFamily="18" charset="0"/>
            </a:endParaRPr>
          </a:p>
        </p:txBody>
      </p:sp>
      <p:sp>
        <p:nvSpPr>
          <p:cNvPr id="49" name="object 49"/>
          <p:cNvSpPr txBox="1"/>
          <p:nvPr/>
        </p:nvSpPr>
        <p:spPr>
          <a:xfrm>
            <a:off x="88226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50" name="object 50"/>
          <p:cNvSpPr/>
          <p:nvPr/>
        </p:nvSpPr>
        <p:spPr>
          <a:xfrm>
            <a:off x="72351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54" name="object 13"/>
          <p:cNvSpPr/>
          <p:nvPr/>
        </p:nvSpPr>
        <p:spPr>
          <a:xfrm>
            <a:off x="240665" y="689483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56" name="object 2"/>
          <p:cNvSpPr/>
          <p:nvPr/>
        </p:nvSpPr>
        <p:spPr>
          <a:xfrm>
            <a:off x="285750" y="7163435"/>
            <a:ext cx="939800" cy="215900"/>
          </a:xfrm>
          <a:prstGeom prst="rect">
            <a:avLst/>
          </a:prstGeom>
          <a:blipFill>
            <a:blip r:embed="rId3" cstate="print"/>
            <a:stretch>
              <a:fillRect/>
            </a:stretch>
          </a:blipFill>
        </p:spPr>
        <p:txBody>
          <a:bodyPr wrap="square" lIns="0" tIns="0" rIns="0" bIns="0" rtlCol="0"/>
          <a:lstStyle/>
          <a:p>
            <a:endParaRPr lang="en-US"/>
          </a:p>
        </p:txBody>
      </p:sp>
      <p:sp>
        <p:nvSpPr>
          <p:cNvPr id="60" name="object 43">
            <a:extLst>
              <a:ext uri="{FF2B5EF4-FFF2-40B4-BE49-F238E27FC236}">
                <a16:creationId xmlns:a16="http://schemas.microsoft.com/office/drawing/2014/main" id="{E52C13FE-E357-A74A-B36E-FC9F563538D0}"/>
              </a:ext>
            </a:extLst>
          </p:cNvPr>
          <p:cNvSpPr txBox="1"/>
          <p:nvPr/>
        </p:nvSpPr>
        <p:spPr>
          <a:xfrm>
            <a:off x="6836736" y="7188980"/>
            <a:ext cx="3607744" cy="184908"/>
          </a:xfrm>
          <a:prstGeom prst="rect">
            <a:avLst/>
          </a:prstGeom>
        </p:spPr>
        <p:txBody>
          <a:bodyPr vert="horz" wrap="square" lIns="0" tIns="12700" rIns="0" bIns="0" rtlCol="0">
            <a:spAutoFit/>
          </a:bodyPr>
          <a:lstStyle/>
          <a:p>
            <a:pPr marL="8890" algn="r">
              <a:spcBef>
                <a:spcPts val="100"/>
              </a:spcBef>
            </a:pPr>
            <a:r>
              <a:rPr lang="en-US" sz="1100" spc="30">
                <a:solidFill>
                  <a:srgbClr val="9B9B9B"/>
                </a:solidFill>
                <a:latin typeface="Arial" panose="020B0604020202020204" pitchFamily="34" charset="0"/>
                <a:ea typeface="Times New Roman" panose="02020603050405020304" pitchFamily="18" charset="0"/>
                <a:cs typeface="Arial" panose="020B0604020202020204" pitchFamily="34" charset="0"/>
              </a:rPr>
              <a:t>Get </a:t>
            </a:r>
            <a:r>
              <a:rPr lang="en-US" sz="1100" spc="-15">
                <a:solidFill>
                  <a:srgbClr val="9B9B9B"/>
                </a:solidFill>
                <a:latin typeface="Arial" panose="020B0604020202020204" pitchFamily="34" charset="0"/>
                <a:ea typeface="Times New Roman" panose="02020603050405020304" pitchFamily="18" charset="0"/>
                <a:cs typeface="Arial" panose="020B0604020202020204" pitchFamily="34" charset="0"/>
              </a:rPr>
              <a:t>free </a:t>
            </a:r>
            <a:r>
              <a:rPr lang="en-US" sz="1100" spc="15">
                <a:solidFill>
                  <a:srgbClr val="9B9B9B"/>
                </a:solidFill>
                <a:latin typeface="Arial" panose="020B0604020202020204" pitchFamily="34" charset="0"/>
                <a:ea typeface="Times New Roman" panose="02020603050405020304" pitchFamily="18" charset="0"/>
                <a:cs typeface="Arial" panose="020B0604020202020204" pitchFamily="34" charset="0"/>
              </a:rPr>
              <a:t>storyboard </a:t>
            </a:r>
            <a:r>
              <a:rPr lang="en-US" sz="1100">
                <a:solidFill>
                  <a:srgbClr val="9B9B9B"/>
                </a:solidFill>
                <a:latin typeface="Arial" panose="020B0604020202020204" pitchFamily="34" charset="0"/>
                <a:ea typeface="Times New Roman" panose="02020603050405020304" pitchFamily="18" charset="0"/>
                <a:cs typeface="Arial" panose="020B0604020202020204" pitchFamily="34" charset="0"/>
              </a:rPr>
              <a:t>templates at </a:t>
            </a:r>
            <a:r>
              <a:rPr lang="en-US" sz="1100" err="1">
                <a:solidFill>
                  <a:srgbClr val="9B9B9B"/>
                </a:solidFill>
                <a:latin typeface="Arial" panose="020B0604020202020204" pitchFamily="34" charset="0"/>
                <a:ea typeface="Times New Roman" panose="02020603050405020304" pitchFamily="18" charset="0"/>
                <a:cs typeface="Arial" panose="020B0604020202020204" pitchFamily="34" charset="0"/>
              </a:rPr>
              <a:t>Boords.com</a:t>
            </a:r>
            <a:endParaRPr lang="en-US" sz="1100">
              <a:latin typeface="Arial" panose="020B0604020202020204" pitchFamily="34" charset="0"/>
              <a:ea typeface="Times New Roman" panose="02020603050405020304" pitchFamily="18" charset="0"/>
              <a:cs typeface="Arial" panose="020B0604020202020204" pitchFamily="34" charset="0"/>
            </a:endParaRPr>
          </a:p>
        </p:txBody>
      </p:sp>
      <p:sp>
        <p:nvSpPr>
          <p:cNvPr id="61" name="object 3">
            <a:extLst>
              <a:ext uri="{FF2B5EF4-FFF2-40B4-BE49-F238E27FC236}">
                <a16:creationId xmlns:a16="http://schemas.microsoft.com/office/drawing/2014/main" id="{C50C7CF4-8939-6A42-B825-3F0086ADAABC}"/>
              </a:ext>
            </a:extLst>
          </p:cNvPr>
          <p:cNvSpPr/>
          <p:nvPr/>
        </p:nvSpPr>
        <p:spPr>
          <a:xfrm>
            <a:off x="252765" y="198387"/>
            <a:ext cx="10165045" cy="292100"/>
          </a:xfrm>
          <a:custGeom>
            <a:avLst/>
            <a:gdLst/>
            <a:ahLst/>
            <a:cxnLst/>
            <a:rect l="l" t="t" r="r" b="b"/>
            <a:pathLst>
              <a:path w="10198100" h="292100">
                <a:moveTo>
                  <a:pt x="0" y="0"/>
                </a:moveTo>
                <a:lnTo>
                  <a:pt x="10198100" y="0"/>
                </a:lnTo>
                <a:lnTo>
                  <a:pt x="10198100" y="292100"/>
                </a:lnTo>
                <a:lnTo>
                  <a:pt x="0" y="292100"/>
                </a:lnTo>
                <a:lnTo>
                  <a:pt x="0" y="0"/>
                </a:lnTo>
                <a:close/>
              </a:path>
            </a:pathLst>
          </a:custGeom>
          <a:ln w="25400">
            <a:solidFill>
              <a:srgbClr val="CCCCCC"/>
            </a:solidFill>
          </a:ln>
        </p:spPr>
        <p:txBody>
          <a:bodyPr wrap="square" lIns="0" tIns="0" rIns="0" bIns="0" rtlCol="0"/>
          <a:lstStyle/>
          <a:p>
            <a:r>
              <a:rPr lang="en-US"/>
              <a:t>          Promo – 5g Academy – Project Vision                                                                       </a:t>
            </a:r>
          </a:p>
        </p:txBody>
      </p:sp>
      <p:sp>
        <p:nvSpPr>
          <p:cNvPr id="62" name="object 4">
            <a:extLst>
              <a:ext uri="{FF2B5EF4-FFF2-40B4-BE49-F238E27FC236}">
                <a16:creationId xmlns:a16="http://schemas.microsoft.com/office/drawing/2014/main" id="{946EC202-0A31-544B-A5EB-E6236CEC5C32}"/>
              </a:ext>
            </a:extLst>
          </p:cNvPr>
          <p:cNvSpPr/>
          <p:nvPr/>
        </p:nvSpPr>
        <p:spPr>
          <a:xfrm>
            <a:off x="9373270" y="190839"/>
            <a:ext cx="45719" cy="299648"/>
          </a:xfrm>
          <a:custGeom>
            <a:avLst/>
            <a:gdLst/>
            <a:ahLst/>
            <a:cxnLst/>
            <a:rect l="l" t="t" r="r" b="b"/>
            <a:pathLst>
              <a:path h="255270">
                <a:moveTo>
                  <a:pt x="0" y="0"/>
                </a:moveTo>
                <a:lnTo>
                  <a:pt x="0" y="255143"/>
                </a:lnTo>
              </a:path>
            </a:pathLst>
          </a:custGeom>
          <a:ln w="25400">
            <a:solidFill>
              <a:srgbClr val="CCCCCC"/>
            </a:solidFill>
          </a:ln>
        </p:spPr>
        <p:txBody>
          <a:bodyPr wrap="square" lIns="0" tIns="0" rIns="0" bIns="0" rtlCol="0"/>
          <a:lstStyle/>
          <a:p>
            <a:endParaRPr lang="en-US"/>
          </a:p>
        </p:txBody>
      </p:sp>
      <p:sp>
        <p:nvSpPr>
          <p:cNvPr id="63" name="object 6">
            <a:extLst>
              <a:ext uri="{FF2B5EF4-FFF2-40B4-BE49-F238E27FC236}">
                <a16:creationId xmlns:a16="http://schemas.microsoft.com/office/drawing/2014/main" id="{A92A90AF-5BC5-164C-BAE0-15271A672BC8}"/>
              </a:ext>
            </a:extLst>
          </p:cNvPr>
          <p:cNvSpPr txBox="1"/>
          <p:nvPr/>
        </p:nvSpPr>
        <p:spPr>
          <a:xfrm>
            <a:off x="365811" y="239475"/>
            <a:ext cx="328295" cy="187325"/>
          </a:xfrm>
          <a:prstGeom prst="rect">
            <a:avLst/>
          </a:prstGeom>
        </p:spPr>
        <p:txBody>
          <a:bodyPr vert="horz" wrap="square" lIns="0" tIns="12700" rIns="0" bIns="0" rtlCol="0">
            <a:spAutoFit/>
          </a:bodyPr>
          <a:lstStyle/>
          <a:p>
            <a:pPr marL="0" marR="0">
              <a:spcBef>
                <a:spcPts val="100"/>
              </a:spcBef>
              <a:spcAft>
                <a:spcPts val="0"/>
              </a:spcAft>
            </a:pPr>
            <a:r>
              <a:rPr lang="en-US" sz="1100" kern="1200" spc="-40">
                <a:solidFill>
                  <a:srgbClr val="9B9B9B"/>
                </a:solidFill>
                <a:effectLst/>
                <a:latin typeface="Arial" panose="020B0604020202020204" pitchFamily="34" charset="0"/>
                <a:ea typeface="Times New Roman" panose="02020603050405020304" pitchFamily="18" charset="0"/>
                <a:cs typeface="Arial" panose="020B0604020202020204" pitchFamily="34" charset="0"/>
              </a:rPr>
              <a:t>Title:</a:t>
            </a:r>
            <a:endParaRPr lang="en-US" sz="1100">
              <a:effectLst/>
              <a:latin typeface="Arial" panose="020B0604020202020204" pitchFamily="34" charset="0"/>
              <a:ea typeface="Times New Roman" panose="02020603050405020304" pitchFamily="18" charset="0"/>
              <a:cs typeface="Arial" panose="020B0604020202020204" pitchFamily="34" charset="0"/>
            </a:endParaRPr>
          </a:p>
        </p:txBody>
      </p:sp>
      <p:sp>
        <p:nvSpPr>
          <p:cNvPr id="64" name="object 5">
            <a:extLst>
              <a:ext uri="{FF2B5EF4-FFF2-40B4-BE49-F238E27FC236}">
                <a16:creationId xmlns:a16="http://schemas.microsoft.com/office/drawing/2014/main" id="{E6CC7FE7-E316-B44C-A800-2DE6E459D268}"/>
              </a:ext>
            </a:extLst>
          </p:cNvPr>
          <p:cNvSpPr txBox="1"/>
          <p:nvPr/>
        </p:nvSpPr>
        <p:spPr>
          <a:xfrm>
            <a:off x="9376410" y="247564"/>
            <a:ext cx="1041400" cy="187325"/>
          </a:xfrm>
          <a:prstGeom prst="rect">
            <a:avLst/>
          </a:prstGeom>
        </p:spPr>
        <p:txBody>
          <a:bodyPr vert="horz" wrap="square" lIns="0" tIns="12700" rIns="0" bIns="0" rtlCol="0">
            <a:spAutoFit/>
          </a:bodyPr>
          <a:lstStyle/>
          <a:p>
            <a:pPr marL="91440" marR="0">
              <a:spcBef>
                <a:spcPts val="100"/>
              </a:spcBef>
              <a:spcAft>
                <a:spcPts val="0"/>
              </a:spcAft>
            </a:pPr>
            <a:r>
              <a:rPr lang="en-US" sz="1100" kern="1200" spc="10">
                <a:solidFill>
                  <a:srgbClr val="9B9B9B"/>
                </a:solidFill>
                <a:effectLst/>
                <a:latin typeface="Arial" panose="020B0604020202020204" pitchFamily="34" charset="0"/>
                <a:ea typeface="Times New Roman" panose="02020603050405020304" pitchFamily="18" charset="0"/>
                <a:cs typeface="Arial" panose="020B0604020202020204" pitchFamily="34" charset="0"/>
              </a:rPr>
              <a:t>Page:</a:t>
            </a:r>
            <a:endParaRPr lang="en-US" sz="1100">
              <a:effectLst/>
              <a:latin typeface="Arial" panose="020B0604020202020204" pitchFamily="34" charset="0"/>
              <a:ea typeface="Times New Roman" panose="02020603050405020304" pitchFamily="18" charset="0"/>
              <a:cs typeface="Arial" panose="020B0604020202020204" pitchFamily="34" charset="0"/>
            </a:endParaRPr>
          </a:p>
        </p:txBody>
      </p:sp>
      <p:sp>
        <p:nvSpPr>
          <p:cNvPr id="19" name="object 19"/>
          <p:cNvSpPr/>
          <p:nvPr/>
        </p:nvSpPr>
        <p:spPr>
          <a:xfrm>
            <a:off x="3735070" y="2715578"/>
            <a:ext cx="3177540" cy="62230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Schematic showing the 4-step process of AEGIS (Observe -&gt; Fingerprint -&gt; Score -&gt; Decide). Answering the tutor's question: this is ONE static strip graphic, already built - hold it on screen for the whole line, not a scroll.</a:t>
            </a:r>
            <a:endParaRPr lang="en-US"/>
          </a:p>
          <a:p>
            <a:r>
              <a:rPr lang="en-GB"/>
              <a:t>OBSERVE logs every request an agent makes, and every call pattern behind it. FINGERPRINT turns that into a behavioural signature, unique per agent. SCORE compares that signature against what's normal, using two layers together: deterministic rules, and an Isolation Forest model trained only on legitimate traffic. DECIDE turns the combined score into one of three outcomes: pass it through, step up and verify, or block it outright.</a:t>
            </a:r>
            <a:endParaRPr lang="en-US"/>
          </a:p>
        </p:txBody>
      </p:sp>
      <p:pic>
        <p:nvPicPr>
          <p:cNvPr id="3" name="Picture 2">
            <a:extLst>
              <a:ext uri="{FF2B5EF4-FFF2-40B4-BE49-F238E27FC236}">
                <a16:creationId xmlns:a16="http://schemas.microsoft.com/office/drawing/2014/main" id="{E8895B25-24E6-D841-F50C-774075578042}"/>
              </a:ext>
            </a:extLst>
          </p:cNvPr>
          <p:cNvPicPr>
            <a:picLocks noChangeAspect="1"/>
          </p:cNvPicPr>
          <p:nvPr/>
        </p:nvPicPr>
        <p:blipFill>
          <a:blip r:embed="rId4"/>
          <a:stretch>
            <a:fillRect/>
          </a:stretch>
        </p:blipFill>
        <p:spPr>
          <a:xfrm>
            <a:off x="3729990" y="1038675"/>
            <a:ext cx="6687820" cy="1401314"/>
          </a:xfrm>
          <a:prstGeom prst="rect">
            <a:avLst/>
          </a:prstGeom>
        </p:spPr>
      </p:pic>
    </p:spTree>
    <p:extLst>
      <p:ext uri="{BB962C8B-B14F-4D97-AF65-F5344CB8AC3E}">
        <p14:creationId xmlns:p14="http://schemas.microsoft.com/office/powerpoint/2010/main" val="765412661"/>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240665" y="2888820"/>
            <a:ext cx="3177540" cy="892603"/>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Isolation Forest concept diagram (reports/aegis_isolation_forest_concept.png) - our own, not generic ML clip-art. Kept simple: just the 'anomalies get isolated faster' idea, not the full features/calibration slide.</a:t>
            </a:r>
            <a:endParaRPr lang="en-US"/>
          </a:p>
          <a:p>
            <a:r>
              <a:rPr lang="en-GB"/>
              <a:t>An Isolation Forest, trained only on legitimate traffic. Anomalies sit apart from the crowd, so a handful of random splits isolates them fast - no labelled attacks needed.</a:t>
            </a:r>
            <a:endParaRPr lang="en-US"/>
          </a:p>
        </p:txBody>
      </p:sp>
      <p:sp>
        <p:nvSpPr>
          <p:cNvPr id="5" name="object 4"/>
          <p:cNvSpPr/>
          <p:nvPr/>
        </p:nvSpPr>
        <p:spPr>
          <a:xfrm>
            <a:off x="2425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6" name="object 5"/>
          <p:cNvSpPr/>
          <p:nvPr/>
        </p:nvSpPr>
        <p:spPr>
          <a:xfrm>
            <a:off x="23622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7" name="object 6"/>
          <p:cNvSpPr/>
          <p:nvPr/>
        </p:nvSpPr>
        <p:spPr>
          <a:xfrm>
            <a:off x="2425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8" name="object 7"/>
          <p:cNvSpPr/>
          <p:nvPr/>
        </p:nvSpPr>
        <p:spPr>
          <a:xfrm>
            <a:off x="2374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9" name="object 8"/>
          <p:cNvSpPr txBox="1"/>
          <p:nvPr/>
        </p:nvSpPr>
        <p:spPr>
          <a:xfrm>
            <a:off x="2374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13</a:t>
            </a:r>
            <a:endParaRPr lang="en-US" sz="1200">
              <a:effectLst/>
              <a:latin typeface="Times New Roman" panose="02020603050405020304" pitchFamily="18" charset="0"/>
              <a:ea typeface="Times New Roman" panose="02020603050405020304" pitchFamily="18" charset="0"/>
            </a:endParaRPr>
          </a:p>
        </p:txBody>
      </p:sp>
      <p:sp>
        <p:nvSpPr>
          <p:cNvPr id="10" name="object 9"/>
          <p:cNvSpPr txBox="1"/>
          <p:nvPr/>
        </p:nvSpPr>
        <p:spPr>
          <a:xfrm>
            <a:off x="18249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11" name="object 10"/>
          <p:cNvSpPr/>
          <p:nvPr/>
        </p:nvSpPr>
        <p:spPr>
          <a:xfrm>
            <a:off x="237490" y="696594"/>
            <a:ext cx="3187700" cy="298451"/>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12" name="object 11"/>
          <p:cNvSpPr/>
          <p:nvPr/>
        </p:nvSpPr>
        <p:spPr>
          <a:xfrm>
            <a:off x="242570" y="6265544"/>
            <a:ext cx="3177540" cy="629281"/>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Same terminal, close-up: the actual Open5GS/UERANSIM containers coming up. Confirms the tutor's question - yes, two separate shots: one of a team member talking (scene 14), one of the terminal content itself (this one).</a:t>
            </a:r>
            <a:endParaRPr lang="en-US"/>
          </a:p>
          <a:p>
            <a:r>
              <a:rPr lang="en-GB"/>
              <a:t>So we stood up a real Open5GS 5G core, brought up a real UE with UERANSIM, and captured the actual signalling traffic.</a:t>
            </a:r>
            <a:endParaRPr lang="en-US"/>
          </a:p>
        </p:txBody>
      </p:sp>
      <p:sp>
        <p:nvSpPr>
          <p:cNvPr id="13" name="object 12"/>
          <p:cNvSpPr/>
          <p:nvPr/>
        </p:nvSpPr>
        <p:spPr>
          <a:xfrm>
            <a:off x="2425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4" name="object 13"/>
          <p:cNvSpPr/>
          <p:nvPr/>
        </p:nvSpPr>
        <p:spPr>
          <a:xfrm>
            <a:off x="2425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5" name="object 15"/>
          <p:cNvSpPr/>
          <p:nvPr/>
        </p:nvSpPr>
        <p:spPr>
          <a:xfrm>
            <a:off x="2374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16" name="object 16"/>
          <p:cNvSpPr txBox="1"/>
          <p:nvPr/>
        </p:nvSpPr>
        <p:spPr>
          <a:xfrm>
            <a:off x="2374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16</a:t>
            </a:r>
            <a:endParaRPr lang="en-US" sz="1200">
              <a:effectLst/>
              <a:latin typeface="Times New Roman" panose="02020603050405020304" pitchFamily="18" charset="0"/>
              <a:ea typeface="Times New Roman" panose="02020603050405020304" pitchFamily="18" charset="0"/>
            </a:endParaRPr>
          </a:p>
        </p:txBody>
      </p:sp>
      <p:sp>
        <p:nvSpPr>
          <p:cNvPr id="17" name="object 17"/>
          <p:cNvSpPr txBox="1"/>
          <p:nvPr/>
        </p:nvSpPr>
        <p:spPr>
          <a:xfrm>
            <a:off x="18249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18" name="object 18"/>
          <p:cNvSpPr/>
          <p:nvPr/>
        </p:nvSpPr>
        <p:spPr>
          <a:xfrm>
            <a:off x="2374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19" name="object 19"/>
          <p:cNvSpPr/>
          <p:nvPr/>
        </p:nvSpPr>
        <p:spPr>
          <a:xfrm>
            <a:off x="3755549" y="2914249"/>
            <a:ext cx="3177540" cy="735096"/>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One of the team members explaining the algorithm, on camera - this is the 'who' and 'what they say' the tutor asked about</a:t>
            </a:r>
            <a:endParaRPr lang="en-US"/>
          </a:p>
          <a:p>
            <a:r>
              <a:rPr lang="en-GB"/>
              <a:t>Rules catch the obvious, out-of-scope calls instantly. The Isolation Forest catches the subtler drift. We fuse both into one risk score.</a:t>
            </a:r>
            <a:endParaRPr lang="en-US"/>
          </a:p>
        </p:txBody>
      </p:sp>
      <p:sp>
        <p:nvSpPr>
          <p:cNvPr id="20" name="object 20"/>
          <p:cNvSpPr/>
          <p:nvPr/>
        </p:nvSpPr>
        <p:spPr>
          <a:xfrm>
            <a:off x="37350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1" name="object 21"/>
          <p:cNvSpPr/>
          <p:nvPr/>
        </p:nvSpPr>
        <p:spPr>
          <a:xfrm>
            <a:off x="37350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2" name="object 22"/>
          <p:cNvSpPr/>
          <p:nvPr/>
        </p:nvSpPr>
        <p:spPr>
          <a:xfrm>
            <a:off x="37350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3" name="object 23"/>
          <p:cNvSpPr/>
          <p:nvPr/>
        </p:nvSpPr>
        <p:spPr>
          <a:xfrm>
            <a:off x="37299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24" name="object 24"/>
          <p:cNvSpPr txBox="1"/>
          <p:nvPr/>
        </p:nvSpPr>
        <p:spPr>
          <a:xfrm>
            <a:off x="37299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14</a:t>
            </a:r>
            <a:endParaRPr lang="en-US" sz="1200">
              <a:effectLst/>
              <a:latin typeface="Times New Roman" panose="02020603050405020304" pitchFamily="18" charset="0"/>
              <a:ea typeface="Times New Roman" panose="02020603050405020304" pitchFamily="18" charset="0"/>
            </a:endParaRPr>
          </a:p>
        </p:txBody>
      </p:sp>
      <p:sp>
        <p:nvSpPr>
          <p:cNvPr id="25" name="object 25"/>
          <p:cNvSpPr txBox="1"/>
          <p:nvPr/>
        </p:nvSpPr>
        <p:spPr>
          <a:xfrm>
            <a:off x="53174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26" name="object 26"/>
          <p:cNvSpPr/>
          <p:nvPr/>
        </p:nvSpPr>
        <p:spPr>
          <a:xfrm>
            <a:off x="3729990" y="6965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27" name="object 27"/>
          <p:cNvSpPr/>
          <p:nvPr/>
        </p:nvSpPr>
        <p:spPr>
          <a:xfrm>
            <a:off x="3755549" y="61379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pPr algn="just">
              <a:lnSpc>
                <a:spcPct val="107000"/>
              </a:lnSpc>
              <a:spcAft>
                <a:spcPts val="800"/>
              </a:spcAft>
            </a:pPr>
            <a:r>
              <a:t>Was blank - filled per tutor note. Side-by-side: our synthetic generator's endpoint names next to the real captured SBI paths</a:t>
            </a:r>
            <a:endParaRPr lang="it-IT" sz="12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t>First thing we checked: does our synthetic data even look like the real thing. It does, almost exactly - the endpoint names and call patterns our generator produces match real captured 3GPP service calls.</a:t>
            </a:r>
            <a:endParaRPr lang="it-IT"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object 28"/>
          <p:cNvSpPr/>
          <p:nvPr/>
        </p:nvSpPr>
        <p:spPr>
          <a:xfrm>
            <a:off x="37350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9" name="object 29"/>
          <p:cNvSpPr/>
          <p:nvPr/>
        </p:nvSpPr>
        <p:spPr>
          <a:xfrm>
            <a:off x="37350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0" name="object 30"/>
          <p:cNvSpPr/>
          <p:nvPr/>
        </p:nvSpPr>
        <p:spPr>
          <a:xfrm>
            <a:off x="3735070" y="68878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1" name="object 31"/>
          <p:cNvSpPr/>
          <p:nvPr/>
        </p:nvSpPr>
        <p:spPr>
          <a:xfrm>
            <a:off x="37299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32" name="object 32"/>
          <p:cNvSpPr txBox="1"/>
          <p:nvPr/>
        </p:nvSpPr>
        <p:spPr>
          <a:xfrm>
            <a:off x="37299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17</a:t>
            </a:r>
            <a:endParaRPr lang="en-US" sz="1200">
              <a:effectLst/>
              <a:latin typeface="Times New Roman" panose="02020603050405020304" pitchFamily="18" charset="0"/>
              <a:ea typeface="Times New Roman" panose="02020603050405020304" pitchFamily="18" charset="0"/>
            </a:endParaRPr>
          </a:p>
        </p:txBody>
      </p:sp>
      <p:sp>
        <p:nvSpPr>
          <p:cNvPr id="33" name="object 33"/>
          <p:cNvSpPr txBox="1"/>
          <p:nvPr/>
        </p:nvSpPr>
        <p:spPr>
          <a:xfrm>
            <a:off x="53174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34" name="object 34"/>
          <p:cNvSpPr/>
          <p:nvPr/>
        </p:nvSpPr>
        <p:spPr>
          <a:xfrm>
            <a:off x="37299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35" name="object 35"/>
          <p:cNvSpPr/>
          <p:nvPr/>
        </p:nvSpPr>
        <p:spPr>
          <a:xfrm>
            <a:off x="7240270" y="3027045"/>
            <a:ext cx="3177540" cy="62230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Real Open5GS terminal capture (reports/GATE-3/storyboard-shots/open5gs_terminal.png) - the old image here was actually Open5GCore, a different project, wrong diagram for what we built</a:t>
            </a:r>
            <a:endParaRPr lang="en-US"/>
          </a:p>
          <a:p>
            <a:r>
              <a:rPr lang="en-GB"/>
              <a:t>For Gate 3 we wanted to know: does this actually hold up against a real 5G core, not just our own simulation.</a:t>
            </a:r>
            <a:endParaRPr lang="en-US"/>
          </a:p>
        </p:txBody>
      </p:sp>
      <p:sp>
        <p:nvSpPr>
          <p:cNvPr id="36" name="object 36"/>
          <p:cNvSpPr/>
          <p:nvPr/>
        </p:nvSpPr>
        <p:spPr>
          <a:xfrm>
            <a:off x="72402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7" name="object 37"/>
          <p:cNvSpPr/>
          <p:nvPr/>
        </p:nvSpPr>
        <p:spPr>
          <a:xfrm>
            <a:off x="72402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8" name="object 38"/>
          <p:cNvSpPr/>
          <p:nvPr/>
        </p:nvSpPr>
        <p:spPr>
          <a:xfrm>
            <a:off x="72402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9" name="object 39"/>
          <p:cNvSpPr/>
          <p:nvPr/>
        </p:nvSpPr>
        <p:spPr>
          <a:xfrm>
            <a:off x="7111586"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40" name="object 40"/>
          <p:cNvSpPr txBox="1"/>
          <p:nvPr/>
        </p:nvSpPr>
        <p:spPr>
          <a:xfrm>
            <a:off x="7141453" y="696595"/>
            <a:ext cx="919237" cy="218008"/>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15</a:t>
            </a:r>
            <a:endParaRPr lang="en-US" sz="1200">
              <a:effectLst/>
              <a:latin typeface="Times New Roman" panose="02020603050405020304" pitchFamily="18" charset="0"/>
              <a:ea typeface="Times New Roman" panose="02020603050405020304" pitchFamily="18" charset="0"/>
            </a:endParaRPr>
          </a:p>
        </p:txBody>
      </p:sp>
      <p:sp>
        <p:nvSpPr>
          <p:cNvPr id="41" name="object 41"/>
          <p:cNvSpPr txBox="1"/>
          <p:nvPr/>
        </p:nvSpPr>
        <p:spPr>
          <a:xfrm>
            <a:off x="88226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42" name="object 42"/>
          <p:cNvSpPr/>
          <p:nvPr/>
        </p:nvSpPr>
        <p:spPr>
          <a:xfrm>
            <a:off x="7141453" y="696594"/>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43" name="object 43"/>
          <p:cNvSpPr/>
          <p:nvPr/>
        </p:nvSpPr>
        <p:spPr>
          <a:xfrm>
            <a:off x="7240270" y="62655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t>Was blank - filled per tutor note. Simple stat card: '2 / 2 real attack windows correctly blocked'</a:t>
            </a:r>
            <a:endParaRPr lang="en-US"/>
          </a:p>
          <a:p>
            <a:r>
              <a:t>Then we went further. We ran real attack-like traffic, not simulated, straight into AEGIS's actual detection code, completely unmodified. Two out of two real attack windows were correctly flagged and blocked. That's a small-scale result, we're honest about that - but it's proof the detection logic works on traffic that never touched our synthetic generator.</a:t>
            </a:r>
            <a:endParaRPr lang="en-US"/>
          </a:p>
        </p:txBody>
      </p:sp>
      <p:sp>
        <p:nvSpPr>
          <p:cNvPr id="44" name="object 44"/>
          <p:cNvSpPr/>
          <p:nvPr/>
        </p:nvSpPr>
        <p:spPr>
          <a:xfrm>
            <a:off x="72402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5" name="object 45"/>
          <p:cNvSpPr/>
          <p:nvPr/>
        </p:nvSpPr>
        <p:spPr>
          <a:xfrm>
            <a:off x="72402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6" name="object 46"/>
          <p:cNvSpPr/>
          <p:nvPr/>
        </p:nvSpPr>
        <p:spPr>
          <a:xfrm>
            <a:off x="7240270" y="68878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7" name="object 47"/>
          <p:cNvSpPr/>
          <p:nvPr/>
        </p:nvSpPr>
        <p:spPr>
          <a:xfrm>
            <a:off x="72351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48" name="object 48"/>
          <p:cNvSpPr txBox="1"/>
          <p:nvPr/>
        </p:nvSpPr>
        <p:spPr>
          <a:xfrm>
            <a:off x="72351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18</a:t>
            </a:r>
            <a:endParaRPr lang="en-US" sz="1200">
              <a:effectLst/>
              <a:latin typeface="Times New Roman" panose="02020603050405020304" pitchFamily="18" charset="0"/>
              <a:ea typeface="Times New Roman" panose="02020603050405020304" pitchFamily="18" charset="0"/>
            </a:endParaRPr>
          </a:p>
        </p:txBody>
      </p:sp>
      <p:sp>
        <p:nvSpPr>
          <p:cNvPr id="49" name="object 49"/>
          <p:cNvSpPr txBox="1"/>
          <p:nvPr/>
        </p:nvSpPr>
        <p:spPr>
          <a:xfrm>
            <a:off x="88226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50" name="object 50"/>
          <p:cNvSpPr/>
          <p:nvPr/>
        </p:nvSpPr>
        <p:spPr>
          <a:xfrm>
            <a:off x="72351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54" name="object 13"/>
          <p:cNvSpPr/>
          <p:nvPr/>
        </p:nvSpPr>
        <p:spPr>
          <a:xfrm>
            <a:off x="240665" y="689483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56" name="object 2"/>
          <p:cNvSpPr/>
          <p:nvPr/>
        </p:nvSpPr>
        <p:spPr>
          <a:xfrm>
            <a:off x="285750" y="7163435"/>
            <a:ext cx="939800" cy="215900"/>
          </a:xfrm>
          <a:prstGeom prst="rect">
            <a:avLst/>
          </a:prstGeom>
          <a:blipFill>
            <a:blip r:embed="rId3" cstate="print"/>
            <a:stretch>
              <a:fillRect/>
            </a:stretch>
          </a:blipFill>
        </p:spPr>
        <p:txBody>
          <a:bodyPr wrap="square" lIns="0" tIns="0" rIns="0" bIns="0" rtlCol="0"/>
          <a:lstStyle/>
          <a:p>
            <a:endParaRPr lang="en-US"/>
          </a:p>
        </p:txBody>
      </p:sp>
      <p:sp>
        <p:nvSpPr>
          <p:cNvPr id="60" name="object 43">
            <a:extLst>
              <a:ext uri="{FF2B5EF4-FFF2-40B4-BE49-F238E27FC236}">
                <a16:creationId xmlns:a16="http://schemas.microsoft.com/office/drawing/2014/main" id="{E52C13FE-E357-A74A-B36E-FC9F563538D0}"/>
              </a:ext>
            </a:extLst>
          </p:cNvPr>
          <p:cNvSpPr txBox="1"/>
          <p:nvPr/>
        </p:nvSpPr>
        <p:spPr>
          <a:xfrm>
            <a:off x="6836736" y="7188980"/>
            <a:ext cx="3607744" cy="184908"/>
          </a:xfrm>
          <a:prstGeom prst="rect">
            <a:avLst/>
          </a:prstGeom>
        </p:spPr>
        <p:txBody>
          <a:bodyPr vert="horz" wrap="square" lIns="0" tIns="12700" rIns="0" bIns="0" rtlCol="0">
            <a:spAutoFit/>
          </a:bodyPr>
          <a:lstStyle/>
          <a:p>
            <a:pPr marL="8890" algn="r">
              <a:spcBef>
                <a:spcPts val="100"/>
              </a:spcBef>
            </a:pPr>
            <a:r>
              <a:rPr lang="en-US" sz="1100" spc="30">
                <a:solidFill>
                  <a:srgbClr val="9B9B9B"/>
                </a:solidFill>
                <a:latin typeface="Arial" panose="020B0604020202020204" pitchFamily="34" charset="0"/>
                <a:ea typeface="Times New Roman" panose="02020603050405020304" pitchFamily="18" charset="0"/>
                <a:cs typeface="Arial" panose="020B0604020202020204" pitchFamily="34" charset="0"/>
              </a:rPr>
              <a:t>Get </a:t>
            </a:r>
            <a:r>
              <a:rPr lang="en-US" sz="1100" spc="-15">
                <a:solidFill>
                  <a:srgbClr val="9B9B9B"/>
                </a:solidFill>
                <a:latin typeface="Arial" panose="020B0604020202020204" pitchFamily="34" charset="0"/>
                <a:ea typeface="Times New Roman" panose="02020603050405020304" pitchFamily="18" charset="0"/>
                <a:cs typeface="Arial" panose="020B0604020202020204" pitchFamily="34" charset="0"/>
              </a:rPr>
              <a:t>free </a:t>
            </a:r>
            <a:r>
              <a:rPr lang="en-US" sz="1100" spc="15">
                <a:solidFill>
                  <a:srgbClr val="9B9B9B"/>
                </a:solidFill>
                <a:latin typeface="Arial" panose="020B0604020202020204" pitchFamily="34" charset="0"/>
                <a:ea typeface="Times New Roman" panose="02020603050405020304" pitchFamily="18" charset="0"/>
                <a:cs typeface="Arial" panose="020B0604020202020204" pitchFamily="34" charset="0"/>
              </a:rPr>
              <a:t>storyboard </a:t>
            </a:r>
            <a:r>
              <a:rPr lang="en-US" sz="1100">
                <a:solidFill>
                  <a:srgbClr val="9B9B9B"/>
                </a:solidFill>
                <a:latin typeface="Arial" panose="020B0604020202020204" pitchFamily="34" charset="0"/>
                <a:ea typeface="Times New Roman" panose="02020603050405020304" pitchFamily="18" charset="0"/>
                <a:cs typeface="Arial" panose="020B0604020202020204" pitchFamily="34" charset="0"/>
              </a:rPr>
              <a:t>templates at </a:t>
            </a:r>
            <a:r>
              <a:rPr lang="en-US" sz="1100" err="1">
                <a:solidFill>
                  <a:srgbClr val="9B9B9B"/>
                </a:solidFill>
                <a:latin typeface="Arial" panose="020B0604020202020204" pitchFamily="34" charset="0"/>
                <a:ea typeface="Times New Roman" panose="02020603050405020304" pitchFamily="18" charset="0"/>
                <a:cs typeface="Arial" panose="020B0604020202020204" pitchFamily="34" charset="0"/>
              </a:rPr>
              <a:t>Boords.com</a:t>
            </a:r>
            <a:endParaRPr lang="en-US" sz="1100">
              <a:latin typeface="Arial" panose="020B0604020202020204" pitchFamily="34" charset="0"/>
              <a:ea typeface="Times New Roman" panose="02020603050405020304" pitchFamily="18" charset="0"/>
              <a:cs typeface="Arial" panose="020B0604020202020204" pitchFamily="34" charset="0"/>
            </a:endParaRPr>
          </a:p>
        </p:txBody>
      </p:sp>
      <p:sp>
        <p:nvSpPr>
          <p:cNvPr id="61" name="object 3">
            <a:extLst>
              <a:ext uri="{FF2B5EF4-FFF2-40B4-BE49-F238E27FC236}">
                <a16:creationId xmlns:a16="http://schemas.microsoft.com/office/drawing/2014/main" id="{C50C7CF4-8939-6A42-B825-3F0086ADAABC}"/>
              </a:ext>
            </a:extLst>
          </p:cNvPr>
          <p:cNvSpPr/>
          <p:nvPr/>
        </p:nvSpPr>
        <p:spPr>
          <a:xfrm>
            <a:off x="252765" y="198387"/>
            <a:ext cx="10165045" cy="292100"/>
          </a:xfrm>
          <a:custGeom>
            <a:avLst/>
            <a:gdLst/>
            <a:ahLst/>
            <a:cxnLst/>
            <a:rect l="l" t="t" r="r" b="b"/>
            <a:pathLst>
              <a:path w="10198100" h="292100">
                <a:moveTo>
                  <a:pt x="0" y="0"/>
                </a:moveTo>
                <a:lnTo>
                  <a:pt x="10198100" y="0"/>
                </a:lnTo>
                <a:lnTo>
                  <a:pt x="10198100" y="292100"/>
                </a:lnTo>
                <a:lnTo>
                  <a:pt x="0" y="292100"/>
                </a:lnTo>
                <a:lnTo>
                  <a:pt x="0" y="0"/>
                </a:lnTo>
                <a:close/>
              </a:path>
            </a:pathLst>
          </a:custGeom>
          <a:ln w="25400">
            <a:solidFill>
              <a:srgbClr val="CCCCCC"/>
            </a:solidFill>
          </a:ln>
        </p:spPr>
        <p:txBody>
          <a:bodyPr wrap="square" lIns="0" tIns="0" rIns="0" bIns="0" rtlCol="0"/>
          <a:lstStyle/>
          <a:p>
            <a:r>
              <a:rPr lang="en-US"/>
              <a:t>         Promo – 5g Academy – Project Realization                                                  </a:t>
            </a:r>
          </a:p>
        </p:txBody>
      </p:sp>
      <p:sp>
        <p:nvSpPr>
          <p:cNvPr id="62" name="object 4">
            <a:extLst>
              <a:ext uri="{FF2B5EF4-FFF2-40B4-BE49-F238E27FC236}">
                <a16:creationId xmlns:a16="http://schemas.microsoft.com/office/drawing/2014/main" id="{946EC202-0A31-544B-A5EB-E6236CEC5C32}"/>
              </a:ext>
            </a:extLst>
          </p:cNvPr>
          <p:cNvSpPr/>
          <p:nvPr/>
        </p:nvSpPr>
        <p:spPr>
          <a:xfrm>
            <a:off x="9373270" y="190839"/>
            <a:ext cx="45719" cy="299648"/>
          </a:xfrm>
          <a:custGeom>
            <a:avLst/>
            <a:gdLst/>
            <a:ahLst/>
            <a:cxnLst/>
            <a:rect l="l" t="t" r="r" b="b"/>
            <a:pathLst>
              <a:path h="255270">
                <a:moveTo>
                  <a:pt x="0" y="0"/>
                </a:moveTo>
                <a:lnTo>
                  <a:pt x="0" y="255143"/>
                </a:lnTo>
              </a:path>
            </a:pathLst>
          </a:custGeom>
          <a:ln w="25400">
            <a:solidFill>
              <a:srgbClr val="CCCCCC"/>
            </a:solidFill>
          </a:ln>
        </p:spPr>
        <p:txBody>
          <a:bodyPr wrap="square" lIns="0" tIns="0" rIns="0" bIns="0" rtlCol="0"/>
          <a:lstStyle/>
          <a:p>
            <a:endParaRPr lang="en-US"/>
          </a:p>
        </p:txBody>
      </p:sp>
      <p:sp>
        <p:nvSpPr>
          <p:cNvPr id="63" name="object 6">
            <a:extLst>
              <a:ext uri="{FF2B5EF4-FFF2-40B4-BE49-F238E27FC236}">
                <a16:creationId xmlns:a16="http://schemas.microsoft.com/office/drawing/2014/main" id="{A92A90AF-5BC5-164C-BAE0-15271A672BC8}"/>
              </a:ext>
            </a:extLst>
          </p:cNvPr>
          <p:cNvSpPr txBox="1"/>
          <p:nvPr/>
        </p:nvSpPr>
        <p:spPr>
          <a:xfrm>
            <a:off x="365811" y="239475"/>
            <a:ext cx="328295" cy="187325"/>
          </a:xfrm>
          <a:prstGeom prst="rect">
            <a:avLst/>
          </a:prstGeom>
        </p:spPr>
        <p:txBody>
          <a:bodyPr vert="horz" wrap="square" lIns="0" tIns="12700" rIns="0" bIns="0" rtlCol="0">
            <a:spAutoFit/>
          </a:bodyPr>
          <a:lstStyle/>
          <a:p>
            <a:pPr marL="0" marR="0">
              <a:spcBef>
                <a:spcPts val="100"/>
              </a:spcBef>
              <a:spcAft>
                <a:spcPts val="0"/>
              </a:spcAft>
            </a:pPr>
            <a:r>
              <a:rPr lang="en-US" sz="1100" kern="1200" spc="-40">
                <a:solidFill>
                  <a:srgbClr val="9B9B9B"/>
                </a:solidFill>
                <a:effectLst/>
                <a:latin typeface="Arial" panose="020B0604020202020204" pitchFamily="34" charset="0"/>
                <a:ea typeface="Times New Roman" panose="02020603050405020304" pitchFamily="18" charset="0"/>
                <a:cs typeface="Arial" panose="020B0604020202020204" pitchFamily="34" charset="0"/>
              </a:rPr>
              <a:t>Title:</a:t>
            </a:r>
            <a:endParaRPr lang="en-US" sz="1100">
              <a:effectLst/>
              <a:latin typeface="Arial" panose="020B0604020202020204" pitchFamily="34" charset="0"/>
              <a:ea typeface="Times New Roman" panose="02020603050405020304" pitchFamily="18" charset="0"/>
              <a:cs typeface="Arial" panose="020B0604020202020204" pitchFamily="34" charset="0"/>
            </a:endParaRPr>
          </a:p>
        </p:txBody>
      </p:sp>
      <p:sp>
        <p:nvSpPr>
          <p:cNvPr id="64" name="object 5">
            <a:extLst>
              <a:ext uri="{FF2B5EF4-FFF2-40B4-BE49-F238E27FC236}">
                <a16:creationId xmlns:a16="http://schemas.microsoft.com/office/drawing/2014/main" id="{E6CC7FE7-E316-B44C-A800-2DE6E459D268}"/>
              </a:ext>
            </a:extLst>
          </p:cNvPr>
          <p:cNvSpPr txBox="1"/>
          <p:nvPr/>
        </p:nvSpPr>
        <p:spPr>
          <a:xfrm>
            <a:off x="9376410" y="247564"/>
            <a:ext cx="1041400" cy="187325"/>
          </a:xfrm>
          <a:prstGeom prst="rect">
            <a:avLst/>
          </a:prstGeom>
        </p:spPr>
        <p:txBody>
          <a:bodyPr vert="horz" wrap="square" lIns="0" tIns="12700" rIns="0" bIns="0" rtlCol="0">
            <a:spAutoFit/>
          </a:bodyPr>
          <a:lstStyle/>
          <a:p>
            <a:pPr marL="91440" marR="0">
              <a:spcBef>
                <a:spcPts val="100"/>
              </a:spcBef>
              <a:spcAft>
                <a:spcPts val="0"/>
              </a:spcAft>
            </a:pPr>
            <a:r>
              <a:rPr lang="en-US" sz="1100" kern="1200" spc="10">
                <a:solidFill>
                  <a:srgbClr val="9B9B9B"/>
                </a:solidFill>
                <a:effectLst/>
                <a:latin typeface="Arial" panose="020B0604020202020204" pitchFamily="34" charset="0"/>
                <a:ea typeface="Times New Roman" panose="02020603050405020304" pitchFamily="18" charset="0"/>
                <a:cs typeface="Arial" panose="020B0604020202020204" pitchFamily="34" charset="0"/>
              </a:rPr>
              <a:t>Page:</a:t>
            </a:r>
            <a:endParaRPr lang="en-US" sz="1100">
              <a:effectLst/>
              <a:latin typeface="Arial" panose="020B0604020202020204" pitchFamily="34" charset="0"/>
              <a:ea typeface="Times New Roman" panose="02020603050405020304" pitchFamily="18" charset="0"/>
              <a:cs typeface="Arial" panose="020B0604020202020204" pitchFamily="34" charset="0"/>
            </a:endParaRPr>
          </a:p>
        </p:txBody>
      </p:sp>
      <p:pic>
        <p:nvPicPr>
          <p:cNvPr id="52" name="Picture 51">
            <a:extLst>
              <a:ext uri="{FF2B5EF4-FFF2-40B4-BE49-F238E27FC236}">
                <a16:creationId xmlns:a16="http://schemas.microsoft.com/office/drawing/2014/main" id="{D356695D-546B-E94E-7245-02E11AB47195}"/>
              </a:ext>
            </a:extLst>
          </p:cNvPr>
          <p:cNvPicPr>
            <a:picLocks noChangeAspect="1"/>
          </p:cNvPicPr>
          <p:nvPr/>
        </p:nvPicPr>
        <p:blipFill>
          <a:blip r:embed="rId6"/>
          <a:stretch>
            <a:fillRect/>
          </a:stretch>
        </p:blipFill>
        <p:spPr>
          <a:xfrm>
            <a:off x="242570" y="4196713"/>
            <a:ext cx="3196265" cy="1800228"/>
          </a:xfrm>
          <a:prstGeom prst="rect">
            <a:avLst/>
          </a:prstGeom>
        </p:spPr>
      </p:pic>
      <p:pic>
        <p:nvPicPr>
          <p:cNvPr id="65" name="Picture 64" descr="aegis_isolation_forest_concept.png"/>
          <p:cNvPicPr>
            <a:picLocks noChangeAspect="1"/>
          </p:cNvPicPr>
          <p:nvPr/>
        </p:nvPicPr>
        <p:blipFill>
          <a:blip r:embed="rId7"/>
          <a:stretch>
            <a:fillRect/>
          </a:stretch>
        </p:blipFill>
        <p:spPr>
          <a:xfrm>
            <a:off x="236220" y="993779"/>
            <a:ext cx="3177539" cy="1856950"/>
          </a:xfrm>
          <a:prstGeom prst="rect">
            <a:avLst/>
          </a:prstGeom>
        </p:spPr>
      </p:pic>
      <p:pic>
        <p:nvPicPr>
          <p:cNvPr id="66" name="Picture 65" descr="open5gs_terminal.png"/>
          <p:cNvPicPr>
            <a:picLocks noChangeAspect="1"/>
          </p:cNvPicPr>
          <p:nvPr/>
        </p:nvPicPr>
        <p:blipFill>
          <a:blip r:embed="rId8"/>
          <a:stretch>
            <a:fillRect/>
          </a:stretch>
        </p:blipFill>
        <p:spPr>
          <a:xfrm>
            <a:off x="7141453" y="1024109"/>
            <a:ext cx="3076107" cy="1712106"/>
          </a:xfrm>
          <a:prstGeom prst="rect">
            <a:avLst/>
          </a:prstGeom>
        </p:spPr>
      </p:pic>
    </p:spTree>
    <p:extLst>
      <p:ext uri="{BB962C8B-B14F-4D97-AF65-F5344CB8AC3E}">
        <p14:creationId xmlns:p14="http://schemas.microsoft.com/office/powerpoint/2010/main" val="1738992364"/>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242570" y="3027044"/>
            <a:ext cx="3177540" cy="622299"/>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Dashboard home screenshot (reports/GATE-3/storyboard-shots/dash_home.png)</a:t>
            </a:r>
            <a:endParaRPr lang="en-US"/>
          </a:p>
          <a:p>
            <a:r>
              <a:rPr lang="en-GB"/>
              <a:t>FAUZAN: Let's show you, live. This is the AEGIS dashboard. We pick an attack scenario here, credential replay, and launch it.</a:t>
            </a:r>
            <a:endParaRPr lang="en-US"/>
          </a:p>
        </p:txBody>
      </p:sp>
      <p:sp>
        <p:nvSpPr>
          <p:cNvPr id="5" name="object 4"/>
          <p:cNvSpPr/>
          <p:nvPr/>
        </p:nvSpPr>
        <p:spPr>
          <a:xfrm>
            <a:off x="2425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6" name="object 5"/>
          <p:cNvSpPr/>
          <p:nvPr/>
        </p:nvSpPr>
        <p:spPr>
          <a:xfrm>
            <a:off x="2425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7" name="object 6"/>
          <p:cNvSpPr/>
          <p:nvPr/>
        </p:nvSpPr>
        <p:spPr>
          <a:xfrm>
            <a:off x="2425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8" name="object 7"/>
          <p:cNvSpPr/>
          <p:nvPr/>
        </p:nvSpPr>
        <p:spPr>
          <a:xfrm>
            <a:off x="2374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9" name="object 8"/>
          <p:cNvSpPr txBox="1"/>
          <p:nvPr/>
        </p:nvSpPr>
        <p:spPr>
          <a:xfrm>
            <a:off x="2374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19</a:t>
            </a:r>
            <a:endParaRPr lang="en-US" sz="1200">
              <a:effectLst/>
              <a:latin typeface="Times New Roman" panose="02020603050405020304" pitchFamily="18" charset="0"/>
              <a:ea typeface="Times New Roman" panose="02020603050405020304" pitchFamily="18" charset="0"/>
            </a:endParaRPr>
          </a:p>
        </p:txBody>
      </p:sp>
      <p:sp>
        <p:nvSpPr>
          <p:cNvPr id="10" name="object 9"/>
          <p:cNvSpPr txBox="1"/>
          <p:nvPr/>
        </p:nvSpPr>
        <p:spPr>
          <a:xfrm>
            <a:off x="18249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11" name="object 10"/>
          <p:cNvSpPr/>
          <p:nvPr/>
        </p:nvSpPr>
        <p:spPr>
          <a:xfrm>
            <a:off x="237490" y="696594"/>
            <a:ext cx="3187700" cy="298451"/>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12" name="object 11"/>
          <p:cNvSpPr/>
          <p:nvPr/>
        </p:nvSpPr>
        <p:spPr>
          <a:xfrm>
            <a:off x="242570" y="62655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t>Was blank - filled per tutor note. Network topology screenshot (reports/GATE-3/storyboard-shots/dash_topology.png)</a:t>
            </a:r>
            <a:endParaRPr lang="en-US"/>
          </a:p>
          <a:p>
            <a:r>
              <a:t>And this view shows the whole picture at once. Every agent, its authorised scope, and the one that just stepped outside it.</a:t>
            </a:r>
            <a:endParaRPr lang="en-US"/>
          </a:p>
        </p:txBody>
      </p:sp>
      <p:sp>
        <p:nvSpPr>
          <p:cNvPr id="13" name="object 12"/>
          <p:cNvSpPr/>
          <p:nvPr/>
        </p:nvSpPr>
        <p:spPr>
          <a:xfrm>
            <a:off x="2425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4" name="object 13"/>
          <p:cNvSpPr/>
          <p:nvPr/>
        </p:nvSpPr>
        <p:spPr>
          <a:xfrm>
            <a:off x="2425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5" name="object 15"/>
          <p:cNvSpPr/>
          <p:nvPr/>
        </p:nvSpPr>
        <p:spPr>
          <a:xfrm>
            <a:off x="2374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16" name="object 16"/>
          <p:cNvSpPr txBox="1"/>
          <p:nvPr/>
        </p:nvSpPr>
        <p:spPr>
          <a:xfrm>
            <a:off x="2374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22</a:t>
            </a:r>
            <a:endParaRPr lang="en-US" sz="1200">
              <a:effectLst/>
              <a:latin typeface="Times New Roman" panose="02020603050405020304" pitchFamily="18" charset="0"/>
              <a:ea typeface="Times New Roman" panose="02020603050405020304" pitchFamily="18" charset="0"/>
            </a:endParaRPr>
          </a:p>
        </p:txBody>
      </p:sp>
      <p:sp>
        <p:nvSpPr>
          <p:cNvPr id="17" name="object 17"/>
          <p:cNvSpPr txBox="1"/>
          <p:nvPr/>
        </p:nvSpPr>
        <p:spPr>
          <a:xfrm>
            <a:off x="18249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18" name="object 18"/>
          <p:cNvSpPr/>
          <p:nvPr/>
        </p:nvSpPr>
        <p:spPr>
          <a:xfrm>
            <a:off x="2374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19" name="object 19"/>
          <p:cNvSpPr/>
          <p:nvPr/>
        </p:nvSpPr>
        <p:spPr>
          <a:xfrm>
            <a:off x="3735070" y="3027045"/>
            <a:ext cx="3177540" cy="663084"/>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Live attack injection screenshot (reports/GATE-3/storyboard-shots/dash_live_attack.png) - pause for the risk score to visibly climb</a:t>
            </a:r>
            <a:endParaRPr lang="en-US"/>
          </a:p>
          <a:p>
            <a:r>
              <a:rPr lang="en-GB"/>
              <a:t>LLAGAMI: This isn't a replay of pre-recorded data. It's the real detection pipeline scoring live traffic as it happens. Watch the risk score. And there it is - same attack that would pass a credential-only check gets flagged and blocked here, because the behaviour doesn't match the agent's history.</a:t>
            </a:r>
            <a:endParaRPr lang="en-US"/>
          </a:p>
        </p:txBody>
      </p:sp>
      <p:sp>
        <p:nvSpPr>
          <p:cNvPr id="20" name="object 20"/>
          <p:cNvSpPr/>
          <p:nvPr/>
        </p:nvSpPr>
        <p:spPr>
          <a:xfrm>
            <a:off x="37350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1" name="object 21"/>
          <p:cNvSpPr/>
          <p:nvPr/>
        </p:nvSpPr>
        <p:spPr>
          <a:xfrm>
            <a:off x="37350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2" name="object 22"/>
          <p:cNvSpPr/>
          <p:nvPr/>
        </p:nvSpPr>
        <p:spPr>
          <a:xfrm>
            <a:off x="37350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3" name="object 23"/>
          <p:cNvSpPr/>
          <p:nvPr/>
        </p:nvSpPr>
        <p:spPr>
          <a:xfrm>
            <a:off x="37299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24" name="object 24"/>
          <p:cNvSpPr txBox="1"/>
          <p:nvPr/>
        </p:nvSpPr>
        <p:spPr>
          <a:xfrm>
            <a:off x="37299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20</a:t>
            </a:r>
            <a:endParaRPr lang="en-US" sz="1200">
              <a:effectLst/>
              <a:latin typeface="Times New Roman" panose="02020603050405020304" pitchFamily="18" charset="0"/>
              <a:ea typeface="Times New Roman" panose="02020603050405020304" pitchFamily="18" charset="0"/>
            </a:endParaRPr>
          </a:p>
        </p:txBody>
      </p:sp>
      <p:sp>
        <p:nvSpPr>
          <p:cNvPr id="25" name="object 25"/>
          <p:cNvSpPr txBox="1"/>
          <p:nvPr/>
        </p:nvSpPr>
        <p:spPr>
          <a:xfrm>
            <a:off x="53174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26" name="object 26"/>
          <p:cNvSpPr/>
          <p:nvPr/>
        </p:nvSpPr>
        <p:spPr>
          <a:xfrm>
            <a:off x="3729990" y="6965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27" name="object 27"/>
          <p:cNvSpPr/>
          <p:nvPr/>
        </p:nvSpPr>
        <p:spPr>
          <a:xfrm>
            <a:off x="3755549" y="61379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pPr algn="just">
              <a:lnSpc>
                <a:spcPct val="107000"/>
              </a:lnSpc>
              <a:spcAft>
                <a:spcPts val="800"/>
              </a:spcAft>
            </a:pPr>
            <a:r>
              <a:t>Was blank - optional B-roll if time allows: both presenters reacting to the live result on a second monitor, wide two-shot</a:t>
            </a:r>
            <a:endParaRPr lang="it-IT"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object 28"/>
          <p:cNvSpPr/>
          <p:nvPr/>
        </p:nvSpPr>
        <p:spPr>
          <a:xfrm>
            <a:off x="37350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9" name="object 29"/>
          <p:cNvSpPr/>
          <p:nvPr/>
        </p:nvSpPr>
        <p:spPr>
          <a:xfrm>
            <a:off x="37350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0" name="object 30"/>
          <p:cNvSpPr/>
          <p:nvPr/>
        </p:nvSpPr>
        <p:spPr>
          <a:xfrm>
            <a:off x="3735070" y="68878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1" name="object 31"/>
          <p:cNvSpPr/>
          <p:nvPr/>
        </p:nvSpPr>
        <p:spPr>
          <a:xfrm>
            <a:off x="37299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32" name="object 32"/>
          <p:cNvSpPr txBox="1"/>
          <p:nvPr/>
        </p:nvSpPr>
        <p:spPr>
          <a:xfrm>
            <a:off x="37299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23</a:t>
            </a:r>
            <a:endParaRPr lang="en-US" sz="1200">
              <a:effectLst/>
              <a:latin typeface="Times New Roman" panose="02020603050405020304" pitchFamily="18" charset="0"/>
              <a:ea typeface="Times New Roman" panose="02020603050405020304" pitchFamily="18" charset="0"/>
            </a:endParaRPr>
          </a:p>
        </p:txBody>
      </p:sp>
      <p:sp>
        <p:nvSpPr>
          <p:cNvPr id="33" name="object 33"/>
          <p:cNvSpPr txBox="1"/>
          <p:nvPr/>
        </p:nvSpPr>
        <p:spPr>
          <a:xfrm>
            <a:off x="53174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34" name="object 34"/>
          <p:cNvSpPr/>
          <p:nvPr/>
        </p:nvSpPr>
        <p:spPr>
          <a:xfrm>
            <a:off x="37299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35" name="object 35"/>
          <p:cNvSpPr/>
          <p:nvPr/>
        </p:nvSpPr>
        <p:spPr>
          <a:xfrm>
            <a:off x="7240270" y="3027045"/>
            <a:ext cx="3177540" cy="790674"/>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Incident inspector screenshot (reports/GATE-3/storyboard-shots/dash_incident_inspector.png) - swapped out the AEGIS logo card that was here, it belongs at the very end of the video (slide 6), not mid-demo</a:t>
            </a:r>
            <a:endParaRPr lang="en-US"/>
          </a:p>
          <a:p>
            <a:r>
              <a:rPr lang="en-GB"/>
              <a:t>FAUZAN: Every decision comes with a plain-language explanation. Not a black box. You can see exactly which rule or which score pushed this over the line.</a:t>
            </a:r>
            <a:endParaRPr lang="en-US"/>
          </a:p>
        </p:txBody>
      </p:sp>
      <p:sp>
        <p:nvSpPr>
          <p:cNvPr id="36" name="object 36"/>
          <p:cNvSpPr/>
          <p:nvPr/>
        </p:nvSpPr>
        <p:spPr>
          <a:xfrm>
            <a:off x="72402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7" name="object 37"/>
          <p:cNvSpPr/>
          <p:nvPr/>
        </p:nvSpPr>
        <p:spPr>
          <a:xfrm>
            <a:off x="72402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8" name="object 38"/>
          <p:cNvSpPr/>
          <p:nvPr/>
        </p:nvSpPr>
        <p:spPr>
          <a:xfrm>
            <a:off x="72402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9" name="object 39"/>
          <p:cNvSpPr/>
          <p:nvPr/>
        </p:nvSpPr>
        <p:spPr>
          <a:xfrm>
            <a:off x="72351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40" name="object 40"/>
          <p:cNvSpPr txBox="1"/>
          <p:nvPr/>
        </p:nvSpPr>
        <p:spPr>
          <a:xfrm>
            <a:off x="72351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21</a:t>
            </a:r>
            <a:endParaRPr lang="en-US" sz="1200">
              <a:effectLst/>
              <a:latin typeface="Times New Roman" panose="02020603050405020304" pitchFamily="18" charset="0"/>
              <a:ea typeface="Times New Roman" panose="02020603050405020304" pitchFamily="18" charset="0"/>
            </a:endParaRPr>
          </a:p>
        </p:txBody>
      </p:sp>
      <p:sp>
        <p:nvSpPr>
          <p:cNvPr id="41" name="object 41"/>
          <p:cNvSpPr txBox="1"/>
          <p:nvPr/>
        </p:nvSpPr>
        <p:spPr>
          <a:xfrm>
            <a:off x="88226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42" name="object 42"/>
          <p:cNvSpPr/>
          <p:nvPr/>
        </p:nvSpPr>
        <p:spPr>
          <a:xfrm>
            <a:off x="7235190" y="6965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43" name="object 43"/>
          <p:cNvSpPr/>
          <p:nvPr/>
        </p:nvSpPr>
        <p:spPr>
          <a:xfrm>
            <a:off x="7240270" y="62655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t>Was blank - bridge text card: 'But does this hold up against a REAL 5G core?' - carries into slide 6's real-core validation and results</a:t>
            </a:r>
            <a:endParaRPr lang="en-US"/>
          </a:p>
        </p:txBody>
      </p:sp>
      <p:sp>
        <p:nvSpPr>
          <p:cNvPr id="44" name="object 44"/>
          <p:cNvSpPr/>
          <p:nvPr/>
        </p:nvSpPr>
        <p:spPr>
          <a:xfrm>
            <a:off x="72402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5" name="object 45"/>
          <p:cNvSpPr/>
          <p:nvPr/>
        </p:nvSpPr>
        <p:spPr>
          <a:xfrm>
            <a:off x="72402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6" name="object 46"/>
          <p:cNvSpPr/>
          <p:nvPr/>
        </p:nvSpPr>
        <p:spPr>
          <a:xfrm>
            <a:off x="7240270" y="68878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7" name="object 47"/>
          <p:cNvSpPr/>
          <p:nvPr/>
        </p:nvSpPr>
        <p:spPr>
          <a:xfrm>
            <a:off x="72351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48" name="object 48"/>
          <p:cNvSpPr txBox="1"/>
          <p:nvPr/>
        </p:nvSpPr>
        <p:spPr>
          <a:xfrm>
            <a:off x="72351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24</a:t>
            </a:r>
            <a:endParaRPr lang="en-US" sz="1200">
              <a:effectLst/>
              <a:latin typeface="Times New Roman" panose="02020603050405020304" pitchFamily="18" charset="0"/>
              <a:ea typeface="Times New Roman" panose="02020603050405020304" pitchFamily="18" charset="0"/>
            </a:endParaRPr>
          </a:p>
        </p:txBody>
      </p:sp>
      <p:sp>
        <p:nvSpPr>
          <p:cNvPr id="49" name="object 49"/>
          <p:cNvSpPr txBox="1"/>
          <p:nvPr/>
        </p:nvSpPr>
        <p:spPr>
          <a:xfrm>
            <a:off x="88226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50" name="object 50"/>
          <p:cNvSpPr/>
          <p:nvPr/>
        </p:nvSpPr>
        <p:spPr>
          <a:xfrm>
            <a:off x="72351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54" name="object 13"/>
          <p:cNvSpPr/>
          <p:nvPr/>
        </p:nvSpPr>
        <p:spPr>
          <a:xfrm>
            <a:off x="240665" y="689483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56" name="object 2"/>
          <p:cNvSpPr/>
          <p:nvPr/>
        </p:nvSpPr>
        <p:spPr>
          <a:xfrm>
            <a:off x="285750" y="7163435"/>
            <a:ext cx="939800" cy="215900"/>
          </a:xfrm>
          <a:prstGeom prst="rect">
            <a:avLst/>
          </a:prstGeom>
          <a:blipFill>
            <a:blip r:embed="rId3" cstate="print"/>
            <a:stretch>
              <a:fillRect/>
            </a:stretch>
          </a:blipFill>
        </p:spPr>
        <p:txBody>
          <a:bodyPr wrap="square" lIns="0" tIns="0" rIns="0" bIns="0" rtlCol="0"/>
          <a:lstStyle/>
          <a:p>
            <a:endParaRPr lang="en-US"/>
          </a:p>
        </p:txBody>
      </p:sp>
      <p:sp>
        <p:nvSpPr>
          <p:cNvPr id="60" name="object 43">
            <a:extLst>
              <a:ext uri="{FF2B5EF4-FFF2-40B4-BE49-F238E27FC236}">
                <a16:creationId xmlns:a16="http://schemas.microsoft.com/office/drawing/2014/main" id="{E52C13FE-E357-A74A-B36E-FC9F563538D0}"/>
              </a:ext>
            </a:extLst>
          </p:cNvPr>
          <p:cNvSpPr txBox="1"/>
          <p:nvPr/>
        </p:nvSpPr>
        <p:spPr>
          <a:xfrm>
            <a:off x="6836736" y="7188980"/>
            <a:ext cx="3607744" cy="184908"/>
          </a:xfrm>
          <a:prstGeom prst="rect">
            <a:avLst/>
          </a:prstGeom>
        </p:spPr>
        <p:txBody>
          <a:bodyPr vert="horz" wrap="square" lIns="0" tIns="12700" rIns="0" bIns="0" rtlCol="0">
            <a:spAutoFit/>
          </a:bodyPr>
          <a:lstStyle/>
          <a:p>
            <a:pPr marL="8890" algn="r">
              <a:spcBef>
                <a:spcPts val="100"/>
              </a:spcBef>
            </a:pPr>
            <a:r>
              <a:rPr lang="en-US" sz="1100" spc="30">
                <a:solidFill>
                  <a:srgbClr val="9B9B9B"/>
                </a:solidFill>
                <a:latin typeface="Arial" panose="020B0604020202020204" pitchFamily="34" charset="0"/>
                <a:ea typeface="Times New Roman" panose="02020603050405020304" pitchFamily="18" charset="0"/>
                <a:cs typeface="Arial" panose="020B0604020202020204" pitchFamily="34" charset="0"/>
              </a:rPr>
              <a:t>Get </a:t>
            </a:r>
            <a:r>
              <a:rPr lang="en-US" sz="1100" spc="-15">
                <a:solidFill>
                  <a:srgbClr val="9B9B9B"/>
                </a:solidFill>
                <a:latin typeface="Arial" panose="020B0604020202020204" pitchFamily="34" charset="0"/>
                <a:ea typeface="Times New Roman" panose="02020603050405020304" pitchFamily="18" charset="0"/>
                <a:cs typeface="Arial" panose="020B0604020202020204" pitchFamily="34" charset="0"/>
              </a:rPr>
              <a:t>free </a:t>
            </a:r>
            <a:r>
              <a:rPr lang="en-US" sz="1100" spc="15">
                <a:solidFill>
                  <a:srgbClr val="9B9B9B"/>
                </a:solidFill>
                <a:latin typeface="Arial" panose="020B0604020202020204" pitchFamily="34" charset="0"/>
                <a:ea typeface="Times New Roman" panose="02020603050405020304" pitchFamily="18" charset="0"/>
                <a:cs typeface="Arial" panose="020B0604020202020204" pitchFamily="34" charset="0"/>
              </a:rPr>
              <a:t>storyboard </a:t>
            </a:r>
            <a:r>
              <a:rPr lang="en-US" sz="1100">
                <a:solidFill>
                  <a:srgbClr val="9B9B9B"/>
                </a:solidFill>
                <a:latin typeface="Arial" panose="020B0604020202020204" pitchFamily="34" charset="0"/>
                <a:ea typeface="Times New Roman" panose="02020603050405020304" pitchFamily="18" charset="0"/>
                <a:cs typeface="Arial" panose="020B0604020202020204" pitchFamily="34" charset="0"/>
              </a:rPr>
              <a:t>templates at </a:t>
            </a:r>
            <a:r>
              <a:rPr lang="en-US" sz="1100" err="1">
                <a:solidFill>
                  <a:srgbClr val="9B9B9B"/>
                </a:solidFill>
                <a:latin typeface="Arial" panose="020B0604020202020204" pitchFamily="34" charset="0"/>
                <a:ea typeface="Times New Roman" panose="02020603050405020304" pitchFamily="18" charset="0"/>
                <a:cs typeface="Arial" panose="020B0604020202020204" pitchFamily="34" charset="0"/>
              </a:rPr>
              <a:t>Boords.com</a:t>
            </a:r>
            <a:endParaRPr lang="en-US" sz="1100">
              <a:latin typeface="Arial" panose="020B0604020202020204" pitchFamily="34" charset="0"/>
              <a:ea typeface="Times New Roman" panose="02020603050405020304" pitchFamily="18" charset="0"/>
              <a:cs typeface="Arial" panose="020B0604020202020204" pitchFamily="34" charset="0"/>
            </a:endParaRPr>
          </a:p>
        </p:txBody>
      </p:sp>
      <p:sp>
        <p:nvSpPr>
          <p:cNvPr id="61" name="object 3">
            <a:extLst>
              <a:ext uri="{FF2B5EF4-FFF2-40B4-BE49-F238E27FC236}">
                <a16:creationId xmlns:a16="http://schemas.microsoft.com/office/drawing/2014/main" id="{C50C7CF4-8939-6A42-B825-3F0086ADAABC}"/>
              </a:ext>
            </a:extLst>
          </p:cNvPr>
          <p:cNvSpPr/>
          <p:nvPr/>
        </p:nvSpPr>
        <p:spPr>
          <a:xfrm>
            <a:off x="252765" y="198387"/>
            <a:ext cx="10165045" cy="292100"/>
          </a:xfrm>
          <a:custGeom>
            <a:avLst/>
            <a:gdLst/>
            <a:ahLst/>
            <a:cxnLst/>
            <a:rect l="l" t="t" r="r" b="b"/>
            <a:pathLst>
              <a:path w="10198100" h="292100">
                <a:moveTo>
                  <a:pt x="0" y="0"/>
                </a:moveTo>
                <a:lnTo>
                  <a:pt x="10198100" y="0"/>
                </a:lnTo>
                <a:lnTo>
                  <a:pt x="10198100" y="292100"/>
                </a:lnTo>
                <a:lnTo>
                  <a:pt x="0" y="292100"/>
                </a:lnTo>
                <a:lnTo>
                  <a:pt x="0" y="0"/>
                </a:lnTo>
                <a:close/>
              </a:path>
            </a:pathLst>
          </a:custGeom>
          <a:ln w="25400">
            <a:solidFill>
              <a:srgbClr val="CCCCCC"/>
            </a:solidFill>
          </a:ln>
        </p:spPr>
        <p:txBody>
          <a:bodyPr wrap="square" lIns="0" tIns="0" rIns="0" bIns="0" rtlCol="0"/>
          <a:lstStyle/>
          <a:p>
            <a:r>
              <a:rPr lang="en-US"/>
              <a:t>          Promo – 5g Academy – Dashboard Presentation </a:t>
            </a:r>
          </a:p>
        </p:txBody>
      </p:sp>
      <p:sp>
        <p:nvSpPr>
          <p:cNvPr id="62" name="object 4">
            <a:extLst>
              <a:ext uri="{FF2B5EF4-FFF2-40B4-BE49-F238E27FC236}">
                <a16:creationId xmlns:a16="http://schemas.microsoft.com/office/drawing/2014/main" id="{946EC202-0A31-544B-A5EB-E6236CEC5C32}"/>
              </a:ext>
            </a:extLst>
          </p:cNvPr>
          <p:cNvSpPr/>
          <p:nvPr/>
        </p:nvSpPr>
        <p:spPr>
          <a:xfrm>
            <a:off x="9373270" y="190839"/>
            <a:ext cx="45719" cy="299648"/>
          </a:xfrm>
          <a:custGeom>
            <a:avLst/>
            <a:gdLst/>
            <a:ahLst/>
            <a:cxnLst/>
            <a:rect l="l" t="t" r="r" b="b"/>
            <a:pathLst>
              <a:path h="255270">
                <a:moveTo>
                  <a:pt x="0" y="0"/>
                </a:moveTo>
                <a:lnTo>
                  <a:pt x="0" y="255143"/>
                </a:lnTo>
              </a:path>
            </a:pathLst>
          </a:custGeom>
          <a:ln w="25400">
            <a:solidFill>
              <a:srgbClr val="CCCCCC"/>
            </a:solidFill>
          </a:ln>
        </p:spPr>
        <p:txBody>
          <a:bodyPr wrap="square" lIns="0" tIns="0" rIns="0" bIns="0" rtlCol="0"/>
          <a:lstStyle/>
          <a:p>
            <a:endParaRPr lang="en-US"/>
          </a:p>
        </p:txBody>
      </p:sp>
      <p:sp>
        <p:nvSpPr>
          <p:cNvPr id="63" name="object 6">
            <a:extLst>
              <a:ext uri="{FF2B5EF4-FFF2-40B4-BE49-F238E27FC236}">
                <a16:creationId xmlns:a16="http://schemas.microsoft.com/office/drawing/2014/main" id="{A92A90AF-5BC5-164C-BAE0-15271A672BC8}"/>
              </a:ext>
            </a:extLst>
          </p:cNvPr>
          <p:cNvSpPr txBox="1"/>
          <p:nvPr/>
        </p:nvSpPr>
        <p:spPr>
          <a:xfrm>
            <a:off x="365811" y="239475"/>
            <a:ext cx="328295" cy="187325"/>
          </a:xfrm>
          <a:prstGeom prst="rect">
            <a:avLst/>
          </a:prstGeom>
        </p:spPr>
        <p:txBody>
          <a:bodyPr vert="horz" wrap="square" lIns="0" tIns="12700" rIns="0" bIns="0" rtlCol="0">
            <a:spAutoFit/>
          </a:bodyPr>
          <a:lstStyle/>
          <a:p>
            <a:pPr marL="0" marR="0">
              <a:spcBef>
                <a:spcPts val="100"/>
              </a:spcBef>
              <a:spcAft>
                <a:spcPts val="0"/>
              </a:spcAft>
            </a:pPr>
            <a:r>
              <a:rPr lang="en-US" sz="1100" kern="1200" spc="-40">
                <a:solidFill>
                  <a:srgbClr val="9B9B9B"/>
                </a:solidFill>
                <a:effectLst/>
                <a:latin typeface="Arial" panose="020B0604020202020204" pitchFamily="34" charset="0"/>
                <a:ea typeface="Times New Roman" panose="02020603050405020304" pitchFamily="18" charset="0"/>
                <a:cs typeface="Arial" panose="020B0604020202020204" pitchFamily="34" charset="0"/>
              </a:rPr>
              <a:t>Title:</a:t>
            </a:r>
            <a:endParaRPr lang="en-US" sz="1100">
              <a:effectLst/>
              <a:latin typeface="Arial" panose="020B0604020202020204" pitchFamily="34" charset="0"/>
              <a:ea typeface="Times New Roman" panose="02020603050405020304" pitchFamily="18" charset="0"/>
              <a:cs typeface="Arial" panose="020B0604020202020204" pitchFamily="34" charset="0"/>
            </a:endParaRPr>
          </a:p>
        </p:txBody>
      </p:sp>
      <p:sp>
        <p:nvSpPr>
          <p:cNvPr id="64" name="object 5">
            <a:extLst>
              <a:ext uri="{FF2B5EF4-FFF2-40B4-BE49-F238E27FC236}">
                <a16:creationId xmlns:a16="http://schemas.microsoft.com/office/drawing/2014/main" id="{E6CC7FE7-E316-B44C-A800-2DE6E459D268}"/>
              </a:ext>
            </a:extLst>
          </p:cNvPr>
          <p:cNvSpPr txBox="1"/>
          <p:nvPr/>
        </p:nvSpPr>
        <p:spPr>
          <a:xfrm>
            <a:off x="9376410" y="247564"/>
            <a:ext cx="1041400" cy="187325"/>
          </a:xfrm>
          <a:prstGeom prst="rect">
            <a:avLst/>
          </a:prstGeom>
        </p:spPr>
        <p:txBody>
          <a:bodyPr vert="horz" wrap="square" lIns="0" tIns="12700" rIns="0" bIns="0" rtlCol="0">
            <a:spAutoFit/>
          </a:bodyPr>
          <a:lstStyle/>
          <a:p>
            <a:pPr marL="91440" marR="0">
              <a:spcBef>
                <a:spcPts val="100"/>
              </a:spcBef>
              <a:spcAft>
                <a:spcPts val="0"/>
              </a:spcAft>
            </a:pPr>
            <a:r>
              <a:rPr lang="en-US" sz="1100" kern="1200" spc="10">
                <a:solidFill>
                  <a:srgbClr val="9B9B9B"/>
                </a:solidFill>
                <a:effectLst/>
                <a:latin typeface="Arial" panose="020B0604020202020204" pitchFamily="34" charset="0"/>
                <a:ea typeface="Times New Roman" panose="02020603050405020304" pitchFamily="18" charset="0"/>
                <a:cs typeface="Arial" panose="020B0604020202020204" pitchFamily="34" charset="0"/>
              </a:rPr>
              <a:t>Page:</a:t>
            </a:r>
            <a:endParaRPr lang="en-US" sz="1100">
              <a:effectLst/>
              <a:latin typeface="Arial" panose="020B0604020202020204" pitchFamily="34" charset="0"/>
              <a:ea typeface="Times New Roman" panose="02020603050405020304" pitchFamily="18" charset="0"/>
              <a:cs typeface="Arial" panose="020B0604020202020204" pitchFamily="34" charset="0"/>
            </a:endParaRPr>
          </a:p>
        </p:txBody>
      </p:sp>
      <p:pic>
        <p:nvPicPr>
          <p:cNvPr id="3" name="Picture 2">
            <a:extLst>
              <a:ext uri="{FF2B5EF4-FFF2-40B4-BE49-F238E27FC236}">
                <a16:creationId xmlns:a16="http://schemas.microsoft.com/office/drawing/2014/main" id="{5025EECB-1638-166C-948A-C04463108CB8}"/>
              </a:ext>
            </a:extLst>
          </p:cNvPr>
          <p:cNvPicPr>
            <a:picLocks noChangeAspect="1"/>
          </p:cNvPicPr>
          <p:nvPr/>
        </p:nvPicPr>
        <p:blipFill>
          <a:blip r:embed="rId4"/>
          <a:stretch>
            <a:fillRect/>
          </a:stretch>
        </p:blipFill>
        <p:spPr>
          <a:xfrm>
            <a:off x="252766" y="1004234"/>
            <a:ext cx="3173292" cy="1737062"/>
          </a:xfrm>
          <a:prstGeom prst="rect">
            <a:avLst/>
          </a:prstGeom>
        </p:spPr>
      </p:pic>
      <p:pic>
        <p:nvPicPr>
          <p:cNvPr id="52" name="Picture 51">
            <a:extLst>
              <a:ext uri="{FF2B5EF4-FFF2-40B4-BE49-F238E27FC236}">
                <a16:creationId xmlns:a16="http://schemas.microsoft.com/office/drawing/2014/main" id="{335B7E48-B2E7-0BE8-FCB2-C40DE502B3B6}"/>
              </a:ext>
            </a:extLst>
          </p:cNvPr>
          <p:cNvPicPr>
            <a:picLocks noChangeAspect="1"/>
          </p:cNvPicPr>
          <p:nvPr/>
        </p:nvPicPr>
        <p:blipFill>
          <a:blip r:embed="rId5"/>
          <a:stretch>
            <a:fillRect/>
          </a:stretch>
        </p:blipFill>
        <p:spPr>
          <a:xfrm>
            <a:off x="3730859" y="999731"/>
            <a:ext cx="3177540" cy="1782347"/>
          </a:xfrm>
          <a:prstGeom prst="rect">
            <a:avLst/>
          </a:prstGeom>
        </p:spPr>
      </p:pic>
      <p:pic>
        <p:nvPicPr>
          <p:cNvPr id="65" name="Picture 64" descr="dash_incident_inspector.png"/>
          <p:cNvPicPr>
            <a:picLocks noChangeAspect="1"/>
          </p:cNvPicPr>
          <p:nvPr/>
        </p:nvPicPr>
        <p:blipFill>
          <a:blip r:embed="rId7"/>
          <a:stretch>
            <a:fillRect/>
          </a:stretch>
        </p:blipFill>
        <p:spPr>
          <a:xfrm>
            <a:off x="7148824" y="976580"/>
            <a:ext cx="3307020" cy="1749330"/>
          </a:xfrm>
          <a:prstGeom prst="rect">
            <a:avLst/>
          </a:prstGeom>
        </p:spPr>
      </p:pic>
    </p:spTree>
    <p:extLst>
      <p:ext uri="{BB962C8B-B14F-4D97-AF65-F5344CB8AC3E}">
        <p14:creationId xmlns:p14="http://schemas.microsoft.com/office/powerpoint/2010/main" val="28043382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242570" y="30270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sz="1400"/>
          </a:p>
        </p:txBody>
      </p:sp>
      <p:sp>
        <p:nvSpPr>
          <p:cNvPr id="5" name="object 4"/>
          <p:cNvSpPr/>
          <p:nvPr/>
        </p:nvSpPr>
        <p:spPr>
          <a:xfrm>
            <a:off x="2425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6" name="object 5"/>
          <p:cNvSpPr/>
          <p:nvPr/>
        </p:nvSpPr>
        <p:spPr>
          <a:xfrm>
            <a:off x="2425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7" name="object 6"/>
          <p:cNvSpPr/>
          <p:nvPr/>
        </p:nvSpPr>
        <p:spPr>
          <a:xfrm>
            <a:off x="2425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8" name="object 7"/>
          <p:cNvSpPr/>
          <p:nvPr/>
        </p:nvSpPr>
        <p:spPr>
          <a:xfrm>
            <a:off x="2374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9" name="object 8"/>
          <p:cNvSpPr txBox="1"/>
          <p:nvPr/>
        </p:nvSpPr>
        <p:spPr>
          <a:xfrm>
            <a:off x="2374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25</a:t>
            </a:r>
            <a:endParaRPr lang="en-US" sz="1200">
              <a:effectLst/>
              <a:latin typeface="Times New Roman" panose="02020603050405020304" pitchFamily="18" charset="0"/>
              <a:ea typeface="Times New Roman" panose="02020603050405020304" pitchFamily="18" charset="0"/>
            </a:endParaRPr>
          </a:p>
        </p:txBody>
      </p:sp>
      <p:sp>
        <p:nvSpPr>
          <p:cNvPr id="10" name="object 9"/>
          <p:cNvSpPr txBox="1"/>
          <p:nvPr/>
        </p:nvSpPr>
        <p:spPr>
          <a:xfrm>
            <a:off x="18249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11" name="object 10"/>
          <p:cNvSpPr/>
          <p:nvPr/>
        </p:nvSpPr>
        <p:spPr>
          <a:xfrm>
            <a:off x="237490" y="696594"/>
            <a:ext cx="3187700" cy="298451"/>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12" name="object 11"/>
          <p:cNvSpPr/>
          <p:nvPr/>
        </p:nvSpPr>
        <p:spPr>
          <a:xfrm>
            <a:off x="242570" y="62655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3" name="object 12"/>
          <p:cNvSpPr/>
          <p:nvPr/>
        </p:nvSpPr>
        <p:spPr>
          <a:xfrm>
            <a:off x="2425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4" name="object 13"/>
          <p:cNvSpPr/>
          <p:nvPr/>
        </p:nvSpPr>
        <p:spPr>
          <a:xfrm>
            <a:off x="2425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5" name="object 15"/>
          <p:cNvSpPr/>
          <p:nvPr/>
        </p:nvSpPr>
        <p:spPr>
          <a:xfrm>
            <a:off x="2374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16" name="object 16"/>
          <p:cNvSpPr txBox="1"/>
          <p:nvPr/>
        </p:nvSpPr>
        <p:spPr>
          <a:xfrm>
            <a:off x="2374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28</a:t>
            </a:r>
            <a:endParaRPr lang="en-US" sz="1200">
              <a:effectLst/>
              <a:latin typeface="Times New Roman" panose="02020603050405020304" pitchFamily="18" charset="0"/>
              <a:ea typeface="Times New Roman" panose="02020603050405020304" pitchFamily="18" charset="0"/>
            </a:endParaRPr>
          </a:p>
        </p:txBody>
      </p:sp>
      <p:sp>
        <p:nvSpPr>
          <p:cNvPr id="17" name="object 17"/>
          <p:cNvSpPr txBox="1"/>
          <p:nvPr/>
        </p:nvSpPr>
        <p:spPr>
          <a:xfrm>
            <a:off x="18249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18" name="object 18"/>
          <p:cNvSpPr/>
          <p:nvPr/>
        </p:nvSpPr>
        <p:spPr>
          <a:xfrm>
            <a:off x="2374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19" name="object 19"/>
          <p:cNvSpPr/>
          <p:nvPr/>
        </p:nvSpPr>
        <p:spPr>
          <a:xfrm>
            <a:off x="3735070" y="30270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0" name="object 20"/>
          <p:cNvSpPr/>
          <p:nvPr/>
        </p:nvSpPr>
        <p:spPr>
          <a:xfrm>
            <a:off x="3735070" y="3028802"/>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sz="1200"/>
          </a:p>
        </p:txBody>
      </p:sp>
      <p:sp>
        <p:nvSpPr>
          <p:cNvPr id="21" name="object 21"/>
          <p:cNvSpPr/>
          <p:nvPr/>
        </p:nvSpPr>
        <p:spPr>
          <a:xfrm>
            <a:off x="372872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2" name="object 22"/>
          <p:cNvSpPr/>
          <p:nvPr/>
        </p:nvSpPr>
        <p:spPr>
          <a:xfrm>
            <a:off x="37350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3" name="object 23"/>
          <p:cNvSpPr/>
          <p:nvPr/>
        </p:nvSpPr>
        <p:spPr>
          <a:xfrm>
            <a:off x="37299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24" name="object 24"/>
          <p:cNvSpPr txBox="1"/>
          <p:nvPr/>
        </p:nvSpPr>
        <p:spPr>
          <a:xfrm>
            <a:off x="37299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26</a:t>
            </a:r>
            <a:endParaRPr lang="en-US" sz="1200">
              <a:effectLst/>
              <a:latin typeface="Times New Roman" panose="02020603050405020304" pitchFamily="18" charset="0"/>
              <a:ea typeface="Times New Roman" panose="02020603050405020304" pitchFamily="18" charset="0"/>
            </a:endParaRPr>
          </a:p>
        </p:txBody>
      </p:sp>
      <p:sp>
        <p:nvSpPr>
          <p:cNvPr id="25" name="object 25"/>
          <p:cNvSpPr txBox="1"/>
          <p:nvPr/>
        </p:nvSpPr>
        <p:spPr>
          <a:xfrm>
            <a:off x="53174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26" name="object 26"/>
          <p:cNvSpPr/>
          <p:nvPr/>
        </p:nvSpPr>
        <p:spPr>
          <a:xfrm>
            <a:off x="3729990" y="6965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27" name="object 27"/>
          <p:cNvSpPr/>
          <p:nvPr/>
        </p:nvSpPr>
        <p:spPr>
          <a:xfrm>
            <a:off x="3732109" y="6255148"/>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nchor="t"/>
          <a:lstStyle/>
          <a:p>
            <a:pPr algn="just">
              <a:lnSpc>
                <a:spcPct val="107000"/>
              </a:lnSpc>
              <a:spcAft>
                <a:spcPts val="800"/>
              </a:spcAft>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object 28"/>
          <p:cNvSpPr/>
          <p:nvPr/>
        </p:nvSpPr>
        <p:spPr>
          <a:xfrm>
            <a:off x="37350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29" name="object 29"/>
          <p:cNvSpPr/>
          <p:nvPr/>
        </p:nvSpPr>
        <p:spPr>
          <a:xfrm>
            <a:off x="37350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0" name="object 30"/>
          <p:cNvSpPr/>
          <p:nvPr/>
        </p:nvSpPr>
        <p:spPr>
          <a:xfrm>
            <a:off x="3735070" y="68878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1" name="object 31"/>
          <p:cNvSpPr/>
          <p:nvPr/>
        </p:nvSpPr>
        <p:spPr>
          <a:xfrm>
            <a:off x="37299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32" name="object 32"/>
          <p:cNvSpPr txBox="1"/>
          <p:nvPr/>
        </p:nvSpPr>
        <p:spPr>
          <a:xfrm>
            <a:off x="37299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29</a:t>
            </a:r>
            <a:endParaRPr lang="en-US" sz="1200">
              <a:effectLst/>
              <a:latin typeface="Times New Roman" panose="02020603050405020304" pitchFamily="18" charset="0"/>
              <a:ea typeface="Times New Roman" panose="02020603050405020304" pitchFamily="18" charset="0"/>
            </a:endParaRPr>
          </a:p>
        </p:txBody>
      </p:sp>
      <p:sp>
        <p:nvSpPr>
          <p:cNvPr id="33" name="object 33"/>
          <p:cNvSpPr txBox="1"/>
          <p:nvPr/>
        </p:nvSpPr>
        <p:spPr>
          <a:xfrm>
            <a:off x="53174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34" name="object 34"/>
          <p:cNvSpPr/>
          <p:nvPr/>
        </p:nvSpPr>
        <p:spPr>
          <a:xfrm>
            <a:off x="37299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35" name="object 35"/>
          <p:cNvSpPr/>
          <p:nvPr/>
        </p:nvSpPr>
        <p:spPr>
          <a:xfrm>
            <a:off x="7276115" y="30270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sz="1200"/>
          </a:p>
        </p:txBody>
      </p:sp>
      <p:sp>
        <p:nvSpPr>
          <p:cNvPr id="36" name="object 36"/>
          <p:cNvSpPr/>
          <p:nvPr/>
        </p:nvSpPr>
        <p:spPr>
          <a:xfrm>
            <a:off x="7240270" y="32340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7" name="object 37"/>
          <p:cNvSpPr/>
          <p:nvPr/>
        </p:nvSpPr>
        <p:spPr>
          <a:xfrm>
            <a:off x="7240270"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8" name="object 38"/>
          <p:cNvSpPr/>
          <p:nvPr/>
        </p:nvSpPr>
        <p:spPr>
          <a:xfrm>
            <a:off x="7240270" y="36493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39" name="object 39"/>
          <p:cNvSpPr/>
          <p:nvPr/>
        </p:nvSpPr>
        <p:spPr>
          <a:xfrm>
            <a:off x="7235190" y="6965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40" name="object 40"/>
          <p:cNvSpPr txBox="1"/>
          <p:nvPr/>
        </p:nvSpPr>
        <p:spPr>
          <a:xfrm>
            <a:off x="7235190" y="6965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27</a:t>
            </a:r>
            <a:endParaRPr lang="en-US" sz="1200">
              <a:effectLst/>
              <a:latin typeface="Times New Roman" panose="02020603050405020304" pitchFamily="18" charset="0"/>
              <a:ea typeface="Times New Roman" panose="02020603050405020304" pitchFamily="18" charset="0"/>
            </a:endParaRPr>
          </a:p>
        </p:txBody>
      </p:sp>
      <p:sp>
        <p:nvSpPr>
          <p:cNvPr id="41" name="object 41"/>
          <p:cNvSpPr txBox="1"/>
          <p:nvPr/>
        </p:nvSpPr>
        <p:spPr>
          <a:xfrm>
            <a:off x="8822690" y="6965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42" name="object 42"/>
          <p:cNvSpPr/>
          <p:nvPr/>
        </p:nvSpPr>
        <p:spPr>
          <a:xfrm>
            <a:off x="7235190" y="6965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43" name="object 43"/>
          <p:cNvSpPr/>
          <p:nvPr/>
        </p:nvSpPr>
        <p:spPr>
          <a:xfrm>
            <a:off x="7240270" y="62655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4" name="object 44"/>
          <p:cNvSpPr/>
          <p:nvPr/>
        </p:nvSpPr>
        <p:spPr>
          <a:xfrm>
            <a:off x="7240270" y="647255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5" name="object 45"/>
          <p:cNvSpPr/>
          <p:nvPr/>
        </p:nvSpPr>
        <p:spPr>
          <a:xfrm>
            <a:off x="7240270" y="66802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6" name="object 46"/>
          <p:cNvSpPr/>
          <p:nvPr/>
        </p:nvSpPr>
        <p:spPr>
          <a:xfrm>
            <a:off x="7240270" y="6887845"/>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47" name="object 47"/>
          <p:cNvSpPr/>
          <p:nvPr/>
        </p:nvSpPr>
        <p:spPr>
          <a:xfrm>
            <a:off x="7235190" y="3935095"/>
            <a:ext cx="3187700" cy="2070100"/>
          </a:xfrm>
          <a:custGeom>
            <a:avLst/>
            <a:gdLst/>
            <a:ahLst/>
            <a:cxnLst/>
            <a:rect l="l" t="t" r="r" b="b"/>
            <a:pathLst>
              <a:path w="3187700" h="2070100">
                <a:moveTo>
                  <a:pt x="0" y="0"/>
                </a:moveTo>
                <a:lnTo>
                  <a:pt x="3187700" y="0"/>
                </a:lnTo>
                <a:lnTo>
                  <a:pt x="3187700" y="2070100"/>
                </a:lnTo>
                <a:lnTo>
                  <a:pt x="0" y="2070100"/>
                </a:lnTo>
                <a:lnTo>
                  <a:pt x="0" y="0"/>
                </a:lnTo>
                <a:close/>
              </a:path>
            </a:pathLst>
          </a:custGeom>
          <a:ln w="25400">
            <a:solidFill>
              <a:srgbClr val="CCCCCC"/>
            </a:solidFill>
          </a:ln>
        </p:spPr>
        <p:txBody>
          <a:bodyPr wrap="square" lIns="0" tIns="0" rIns="0" bIns="0" rtlCol="0"/>
          <a:lstStyle/>
          <a:p>
            <a:endParaRPr lang="en-US"/>
          </a:p>
        </p:txBody>
      </p:sp>
      <p:sp>
        <p:nvSpPr>
          <p:cNvPr id="48" name="object 48"/>
          <p:cNvSpPr txBox="1"/>
          <p:nvPr/>
        </p:nvSpPr>
        <p:spPr>
          <a:xfrm>
            <a:off x="7235190" y="3935095"/>
            <a:ext cx="8255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spc="-30">
                <a:solidFill>
                  <a:srgbClr val="9B9B9B"/>
                </a:solidFill>
                <a:effectLst/>
                <a:latin typeface="Arial" panose="020B0604020202020204" pitchFamily="34" charset="0"/>
                <a:ea typeface="Times New Roman" panose="02020603050405020304" pitchFamily="18" charset="0"/>
              </a:rPr>
              <a:t>Scene No. 30</a:t>
            </a:r>
            <a:endParaRPr lang="en-US" sz="1200">
              <a:effectLst/>
              <a:latin typeface="Times New Roman" panose="02020603050405020304" pitchFamily="18" charset="0"/>
              <a:ea typeface="Times New Roman" panose="02020603050405020304" pitchFamily="18" charset="0"/>
            </a:endParaRPr>
          </a:p>
        </p:txBody>
      </p:sp>
      <p:sp>
        <p:nvSpPr>
          <p:cNvPr id="49" name="object 49"/>
          <p:cNvSpPr txBox="1"/>
          <p:nvPr/>
        </p:nvSpPr>
        <p:spPr>
          <a:xfrm>
            <a:off x="8822690" y="3935095"/>
            <a:ext cx="723900" cy="298450"/>
          </a:xfrm>
          <a:prstGeom prst="rect">
            <a:avLst/>
          </a:prstGeom>
          <a:ln w="25400">
            <a:solidFill>
              <a:srgbClr val="CCCCCC"/>
            </a:solidFill>
          </a:ln>
        </p:spPr>
        <p:txBody>
          <a:bodyPr vert="horz" wrap="square" lIns="0" tIns="63500" rIns="0" bIns="0" rtlCol="0">
            <a:spAutoFit/>
          </a:bodyPr>
          <a:lstStyle/>
          <a:p>
            <a:pPr marL="118745" marR="0">
              <a:spcBef>
                <a:spcPts val="500"/>
              </a:spcBef>
              <a:spcAft>
                <a:spcPts val="0"/>
              </a:spcAft>
            </a:pPr>
            <a:r>
              <a:rPr lang="en-US" sz="1000" kern="1200">
                <a:solidFill>
                  <a:srgbClr val="9B9B9B"/>
                </a:solidFill>
                <a:effectLst/>
                <a:latin typeface="Arial" panose="020B0604020202020204" pitchFamily="34" charset="0"/>
                <a:ea typeface="Times New Roman" panose="02020603050405020304" pitchFamily="18" charset="0"/>
              </a:rPr>
              <a:t>Shot No. 1</a:t>
            </a:r>
            <a:endParaRPr lang="en-US" sz="1200">
              <a:effectLst/>
              <a:latin typeface="Times New Roman" panose="02020603050405020304" pitchFamily="18" charset="0"/>
              <a:ea typeface="Times New Roman" panose="02020603050405020304" pitchFamily="18" charset="0"/>
            </a:endParaRPr>
          </a:p>
        </p:txBody>
      </p:sp>
      <p:sp>
        <p:nvSpPr>
          <p:cNvPr id="50" name="object 50"/>
          <p:cNvSpPr/>
          <p:nvPr/>
        </p:nvSpPr>
        <p:spPr>
          <a:xfrm>
            <a:off x="7235190" y="3935095"/>
            <a:ext cx="3187700" cy="298450"/>
          </a:xfrm>
          <a:custGeom>
            <a:avLst/>
            <a:gdLst/>
            <a:ahLst/>
            <a:cxnLst/>
            <a:rect l="l" t="t" r="r" b="b"/>
            <a:pathLst>
              <a:path w="3187700" h="292100">
                <a:moveTo>
                  <a:pt x="0" y="0"/>
                </a:moveTo>
                <a:lnTo>
                  <a:pt x="3187700" y="0"/>
                </a:lnTo>
                <a:lnTo>
                  <a:pt x="3187700" y="292100"/>
                </a:lnTo>
                <a:lnTo>
                  <a:pt x="2527274" y="292100"/>
                </a:lnTo>
                <a:lnTo>
                  <a:pt x="0" y="292100"/>
                </a:lnTo>
                <a:lnTo>
                  <a:pt x="0" y="0"/>
                </a:lnTo>
                <a:close/>
              </a:path>
            </a:pathLst>
          </a:custGeom>
          <a:ln w="25400">
            <a:solidFill>
              <a:srgbClr val="CCCCCC"/>
            </a:solidFill>
          </a:ln>
        </p:spPr>
        <p:txBody>
          <a:bodyPr wrap="square" lIns="0" tIns="0" rIns="0" bIns="0" rtlCol="0"/>
          <a:lstStyle/>
          <a:p>
            <a:endParaRPr lang="en-US"/>
          </a:p>
        </p:txBody>
      </p:sp>
      <p:sp>
        <p:nvSpPr>
          <p:cNvPr id="54" name="object 13"/>
          <p:cNvSpPr/>
          <p:nvPr/>
        </p:nvSpPr>
        <p:spPr>
          <a:xfrm>
            <a:off x="240665" y="689483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56" name="object 2"/>
          <p:cNvSpPr/>
          <p:nvPr/>
        </p:nvSpPr>
        <p:spPr>
          <a:xfrm>
            <a:off x="285750" y="7163435"/>
            <a:ext cx="939800" cy="215900"/>
          </a:xfrm>
          <a:prstGeom prst="rect">
            <a:avLst/>
          </a:prstGeom>
          <a:blipFill>
            <a:blip r:embed="rId3" cstate="print"/>
            <a:stretch>
              <a:fillRect/>
            </a:stretch>
          </a:blipFill>
        </p:spPr>
        <p:txBody>
          <a:bodyPr wrap="square" lIns="0" tIns="0" rIns="0" bIns="0" rtlCol="0"/>
          <a:lstStyle/>
          <a:p>
            <a:endParaRPr lang="en-US"/>
          </a:p>
        </p:txBody>
      </p:sp>
      <p:sp>
        <p:nvSpPr>
          <p:cNvPr id="60" name="object 43">
            <a:extLst>
              <a:ext uri="{FF2B5EF4-FFF2-40B4-BE49-F238E27FC236}">
                <a16:creationId xmlns:a16="http://schemas.microsoft.com/office/drawing/2014/main" id="{E52C13FE-E357-A74A-B36E-FC9F563538D0}"/>
              </a:ext>
            </a:extLst>
          </p:cNvPr>
          <p:cNvSpPr txBox="1"/>
          <p:nvPr/>
        </p:nvSpPr>
        <p:spPr>
          <a:xfrm>
            <a:off x="6836736" y="7188980"/>
            <a:ext cx="3607744" cy="184908"/>
          </a:xfrm>
          <a:prstGeom prst="rect">
            <a:avLst/>
          </a:prstGeom>
        </p:spPr>
        <p:txBody>
          <a:bodyPr vert="horz" wrap="square" lIns="0" tIns="12700" rIns="0" bIns="0" rtlCol="0">
            <a:spAutoFit/>
          </a:bodyPr>
          <a:lstStyle/>
          <a:p>
            <a:pPr marL="8890" algn="r">
              <a:spcBef>
                <a:spcPts val="100"/>
              </a:spcBef>
            </a:pPr>
            <a:r>
              <a:rPr lang="en-US" sz="1100" spc="30">
                <a:solidFill>
                  <a:srgbClr val="9B9B9B"/>
                </a:solidFill>
                <a:latin typeface="Arial" panose="020B0604020202020204" pitchFamily="34" charset="0"/>
                <a:ea typeface="Times New Roman" panose="02020603050405020304" pitchFamily="18" charset="0"/>
                <a:cs typeface="Arial" panose="020B0604020202020204" pitchFamily="34" charset="0"/>
              </a:rPr>
              <a:t>Get </a:t>
            </a:r>
            <a:r>
              <a:rPr lang="en-US" sz="1100" spc="-15">
                <a:solidFill>
                  <a:srgbClr val="9B9B9B"/>
                </a:solidFill>
                <a:latin typeface="Arial" panose="020B0604020202020204" pitchFamily="34" charset="0"/>
                <a:ea typeface="Times New Roman" panose="02020603050405020304" pitchFamily="18" charset="0"/>
                <a:cs typeface="Arial" panose="020B0604020202020204" pitchFamily="34" charset="0"/>
              </a:rPr>
              <a:t>free </a:t>
            </a:r>
            <a:r>
              <a:rPr lang="en-US" sz="1100" spc="15">
                <a:solidFill>
                  <a:srgbClr val="9B9B9B"/>
                </a:solidFill>
                <a:latin typeface="Arial" panose="020B0604020202020204" pitchFamily="34" charset="0"/>
                <a:ea typeface="Times New Roman" panose="02020603050405020304" pitchFamily="18" charset="0"/>
                <a:cs typeface="Arial" panose="020B0604020202020204" pitchFamily="34" charset="0"/>
              </a:rPr>
              <a:t>storyboard </a:t>
            </a:r>
            <a:r>
              <a:rPr lang="en-US" sz="1100">
                <a:solidFill>
                  <a:srgbClr val="9B9B9B"/>
                </a:solidFill>
                <a:latin typeface="Arial" panose="020B0604020202020204" pitchFamily="34" charset="0"/>
                <a:ea typeface="Times New Roman" panose="02020603050405020304" pitchFamily="18" charset="0"/>
                <a:cs typeface="Arial" panose="020B0604020202020204" pitchFamily="34" charset="0"/>
              </a:rPr>
              <a:t>templates at </a:t>
            </a:r>
            <a:r>
              <a:rPr lang="en-US" sz="1100" err="1">
                <a:solidFill>
                  <a:srgbClr val="9B9B9B"/>
                </a:solidFill>
                <a:latin typeface="Arial" panose="020B0604020202020204" pitchFamily="34" charset="0"/>
                <a:ea typeface="Times New Roman" panose="02020603050405020304" pitchFamily="18" charset="0"/>
                <a:cs typeface="Arial" panose="020B0604020202020204" pitchFamily="34" charset="0"/>
              </a:rPr>
              <a:t>Boords.com</a:t>
            </a:r>
            <a:endParaRPr lang="en-US" sz="1100">
              <a:latin typeface="Arial" panose="020B0604020202020204" pitchFamily="34" charset="0"/>
              <a:ea typeface="Times New Roman" panose="02020603050405020304" pitchFamily="18" charset="0"/>
              <a:cs typeface="Arial" panose="020B0604020202020204" pitchFamily="34" charset="0"/>
            </a:endParaRPr>
          </a:p>
        </p:txBody>
      </p:sp>
      <p:sp>
        <p:nvSpPr>
          <p:cNvPr id="61" name="object 3">
            <a:extLst>
              <a:ext uri="{FF2B5EF4-FFF2-40B4-BE49-F238E27FC236}">
                <a16:creationId xmlns:a16="http://schemas.microsoft.com/office/drawing/2014/main" id="{C50C7CF4-8939-6A42-B825-3F0086ADAABC}"/>
              </a:ext>
            </a:extLst>
          </p:cNvPr>
          <p:cNvSpPr/>
          <p:nvPr/>
        </p:nvSpPr>
        <p:spPr>
          <a:xfrm>
            <a:off x="252765" y="198387"/>
            <a:ext cx="10165045" cy="292100"/>
          </a:xfrm>
          <a:custGeom>
            <a:avLst/>
            <a:gdLst/>
            <a:ahLst/>
            <a:cxnLst/>
            <a:rect l="l" t="t" r="r" b="b"/>
            <a:pathLst>
              <a:path w="10198100" h="292100">
                <a:moveTo>
                  <a:pt x="0" y="0"/>
                </a:moveTo>
                <a:lnTo>
                  <a:pt x="10198100" y="0"/>
                </a:lnTo>
                <a:lnTo>
                  <a:pt x="10198100" y="292100"/>
                </a:lnTo>
                <a:lnTo>
                  <a:pt x="0" y="292100"/>
                </a:lnTo>
                <a:lnTo>
                  <a:pt x="0" y="0"/>
                </a:lnTo>
                <a:close/>
              </a:path>
            </a:pathLst>
          </a:custGeom>
          <a:ln w="25400">
            <a:solidFill>
              <a:srgbClr val="CCCCCC"/>
            </a:solidFill>
          </a:ln>
        </p:spPr>
        <p:txBody>
          <a:bodyPr wrap="square" lIns="0" tIns="0" rIns="0" bIns="0" rtlCol="0"/>
          <a:lstStyle/>
          <a:p>
            <a:r>
              <a:rPr lang="en-US"/>
              <a:t> Promo – 5g Academy                                                   </a:t>
            </a:r>
          </a:p>
        </p:txBody>
      </p:sp>
      <p:sp>
        <p:nvSpPr>
          <p:cNvPr id="62" name="object 4">
            <a:extLst>
              <a:ext uri="{FF2B5EF4-FFF2-40B4-BE49-F238E27FC236}">
                <a16:creationId xmlns:a16="http://schemas.microsoft.com/office/drawing/2014/main" id="{946EC202-0A31-544B-A5EB-E6236CEC5C32}"/>
              </a:ext>
            </a:extLst>
          </p:cNvPr>
          <p:cNvSpPr/>
          <p:nvPr/>
        </p:nvSpPr>
        <p:spPr>
          <a:xfrm>
            <a:off x="9373270" y="190839"/>
            <a:ext cx="45719" cy="299648"/>
          </a:xfrm>
          <a:custGeom>
            <a:avLst/>
            <a:gdLst/>
            <a:ahLst/>
            <a:cxnLst/>
            <a:rect l="l" t="t" r="r" b="b"/>
            <a:pathLst>
              <a:path h="255270">
                <a:moveTo>
                  <a:pt x="0" y="0"/>
                </a:moveTo>
                <a:lnTo>
                  <a:pt x="0" y="255143"/>
                </a:lnTo>
              </a:path>
            </a:pathLst>
          </a:custGeom>
          <a:ln w="25400">
            <a:solidFill>
              <a:srgbClr val="CCCCCC"/>
            </a:solidFill>
          </a:ln>
        </p:spPr>
        <p:txBody>
          <a:bodyPr wrap="square" lIns="0" tIns="0" rIns="0" bIns="0" rtlCol="0"/>
          <a:lstStyle/>
          <a:p>
            <a:endParaRPr lang="en-US"/>
          </a:p>
        </p:txBody>
      </p:sp>
      <p:sp>
        <p:nvSpPr>
          <p:cNvPr id="63" name="object 6">
            <a:extLst>
              <a:ext uri="{FF2B5EF4-FFF2-40B4-BE49-F238E27FC236}">
                <a16:creationId xmlns:a16="http://schemas.microsoft.com/office/drawing/2014/main" id="{A92A90AF-5BC5-164C-BAE0-15271A672BC8}"/>
              </a:ext>
            </a:extLst>
          </p:cNvPr>
          <p:cNvSpPr txBox="1"/>
          <p:nvPr/>
        </p:nvSpPr>
        <p:spPr>
          <a:xfrm>
            <a:off x="365811" y="239475"/>
            <a:ext cx="328295" cy="187325"/>
          </a:xfrm>
          <a:prstGeom prst="rect">
            <a:avLst/>
          </a:prstGeom>
        </p:spPr>
        <p:txBody>
          <a:bodyPr vert="horz" wrap="square" lIns="0" tIns="12700" rIns="0" bIns="0" rtlCol="0">
            <a:spAutoFit/>
          </a:bodyPr>
          <a:lstStyle/>
          <a:p>
            <a:pPr marL="0" marR="0">
              <a:spcBef>
                <a:spcPts val="100"/>
              </a:spcBef>
              <a:spcAft>
                <a:spcPts val="0"/>
              </a:spcAft>
            </a:pPr>
            <a:r>
              <a:rPr lang="en-US" sz="1100" kern="1200" spc="-40">
                <a:solidFill>
                  <a:srgbClr val="9B9B9B"/>
                </a:solidFill>
                <a:effectLst/>
                <a:latin typeface="Arial" panose="020B0604020202020204" pitchFamily="34" charset="0"/>
                <a:ea typeface="Times New Roman" panose="02020603050405020304" pitchFamily="18" charset="0"/>
                <a:cs typeface="Arial" panose="020B0604020202020204" pitchFamily="34" charset="0"/>
              </a:rPr>
              <a:t>Title:</a:t>
            </a:r>
            <a:endParaRPr lang="en-US" sz="1100">
              <a:effectLst/>
              <a:latin typeface="Arial" panose="020B0604020202020204" pitchFamily="34" charset="0"/>
              <a:ea typeface="Times New Roman" panose="02020603050405020304" pitchFamily="18" charset="0"/>
              <a:cs typeface="Arial" panose="020B0604020202020204" pitchFamily="34" charset="0"/>
            </a:endParaRPr>
          </a:p>
        </p:txBody>
      </p:sp>
      <p:sp>
        <p:nvSpPr>
          <p:cNvPr id="64" name="object 5">
            <a:extLst>
              <a:ext uri="{FF2B5EF4-FFF2-40B4-BE49-F238E27FC236}">
                <a16:creationId xmlns:a16="http://schemas.microsoft.com/office/drawing/2014/main" id="{E6CC7FE7-E316-B44C-A800-2DE6E459D268}"/>
              </a:ext>
            </a:extLst>
          </p:cNvPr>
          <p:cNvSpPr txBox="1"/>
          <p:nvPr/>
        </p:nvSpPr>
        <p:spPr>
          <a:xfrm>
            <a:off x="9376410" y="247564"/>
            <a:ext cx="1041400" cy="187325"/>
          </a:xfrm>
          <a:prstGeom prst="rect">
            <a:avLst/>
          </a:prstGeom>
        </p:spPr>
        <p:txBody>
          <a:bodyPr vert="horz" wrap="square" lIns="0" tIns="12700" rIns="0" bIns="0" rtlCol="0">
            <a:spAutoFit/>
          </a:bodyPr>
          <a:lstStyle/>
          <a:p>
            <a:pPr marL="91440" marR="0">
              <a:spcBef>
                <a:spcPts val="100"/>
              </a:spcBef>
              <a:spcAft>
                <a:spcPts val="0"/>
              </a:spcAft>
            </a:pPr>
            <a:r>
              <a:rPr lang="en-US" sz="1100" kern="1200" spc="10">
                <a:solidFill>
                  <a:srgbClr val="9B9B9B"/>
                </a:solidFill>
                <a:effectLst/>
                <a:latin typeface="Arial" panose="020B0604020202020204" pitchFamily="34" charset="0"/>
                <a:ea typeface="Times New Roman" panose="02020603050405020304" pitchFamily="18" charset="0"/>
                <a:cs typeface="Arial" panose="020B0604020202020204" pitchFamily="34" charset="0"/>
              </a:rPr>
              <a:t>Page:</a:t>
            </a:r>
            <a:endParaRPr lang="en-US" sz="1100">
              <a:effectLst/>
              <a:latin typeface="Arial" panose="020B0604020202020204" pitchFamily="34" charset="0"/>
              <a:ea typeface="Times New Roman" panose="02020603050405020304" pitchFamily="18" charset="0"/>
              <a:cs typeface="Arial" panose="020B0604020202020204" pitchFamily="34" charset="0"/>
            </a:endParaRPr>
          </a:p>
        </p:txBody>
      </p:sp>
      <p:sp>
        <p:nvSpPr>
          <p:cNvPr id="71" name="object 21">
            <a:extLst>
              <a:ext uri="{FF2B5EF4-FFF2-40B4-BE49-F238E27FC236}">
                <a16:creationId xmlns:a16="http://schemas.microsoft.com/office/drawing/2014/main" id="{35C15BA1-02F8-4728-8F3F-E46A867076FD}"/>
              </a:ext>
            </a:extLst>
          </p:cNvPr>
          <p:cNvSpPr/>
          <p:nvPr/>
        </p:nvSpPr>
        <p:spPr>
          <a:xfrm>
            <a:off x="3754887" y="3441700"/>
            <a:ext cx="3177540" cy="0"/>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endParaRPr lang="en-US"/>
          </a:p>
        </p:txBody>
      </p:sp>
      <p:sp>
        <p:nvSpPr>
          <p:cNvPr id="12" name="object 11"/>
          <p:cNvSpPr/>
          <p:nvPr/>
        </p:nvSpPr>
        <p:spPr>
          <a:xfrm>
            <a:off x="237744" y="2834640"/>
            <a:ext cx="3177540" cy="629281"/>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Stats graphic to build: ROC-AUC 0.979, recall 91.6%, false-positive rate 1.44%</a:t>
            </a:r>
            <a:endParaRPr lang="en-US"/>
          </a:p>
          <a:p>
            <a:r>
              <a:rPr lang="en-GB"/>
              <a:t>FAUZAN, on camera: For Gate 3 we also widened the catalogue, from five agents and seven threats to seven agents and ten threat variants, including two deliberately extreme agent profiles. Across all of that, AEGIS holds at 0.979 ROC-AUC, 91.6 percent recall, and a 1.44 percent false positive rate, inside our own 1.5 percent budget.</a:t>
            </a:r>
            <a:endParaRPr lang="en-US"/>
          </a:p>
        </p:txBody>
      </p:sp>
      <p:sp>
        <p:nvSpPr>
          <p:cNvPr id="12" name="object 11"/>
          <p:cNvSpPr/>
          <p:nvPr/>
        </p:nvSpPr>
        <p:spPr>
          <a:xfrm>
            <a:off x="3730752" y="2834640"/>
            <a:ext cx="3177540" cy="629281"/>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Before/after bars to build: reconnaissance 80 -&gt; 95%, exfiltration 76 -&gt; 80%</a:t>
            </a:r>
            <a:endParaRPr lang="en-US"/>
          </a:p>
          <a:p>
            <a:r>
              <a:rPr lang="en-GB"/>
              <a:t>We also hardened the two weakest spots we found earlier. Reconnaissance detection went from 80 to 95 percent. Exfiltration went from 76 to 80. Both bootstrap-validated, not a lucky run.</a:t>
            </a:r>
            <a:endParaRPr lang="en-US"/>
          </a:p>
        </p:txBody>
      </p:sp>
      <p:sp>
        <p:nvSpPr>
          <p:cNvPr id="12" name="object 11"/>
          <p:cNvSpPr/>
          <p:nvPr/>
        </p:nvSpPr>
        <p:spPr>
          <a:xfrm>
            <a:off x="7232904" y="2834640"/>
            <a:ext cx="3177540" cy="629281"/>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Baseline comparison graphic (the one already in the main deck's 'State of the Art, Head-to-Head' slide) - NEEDS A TEAM DECISION: the exact numbers on that chart changed recently when the catalogue was widened, so confirm which version/numbers this scene should show before the shoot</a:t>
            </a:r>
            <a:endParaRPr lang="en-US"/>
          </a:p>
          <a:p>
            <a:r>
              <a:rPr lang="en-GB"/>
              <a:t>And when we benchmarked against a real published baseline - a statistical process control detector, the same kind used in industrial monitoring - AEGIS caught noticeably more attacks than that baseline, at the same false-positive budget.</a:t>
            </a:r>
            <a:endParaRPr lang="en-US"/>
          </a:p>
        </p:txBody>
      </p:sp>
      <p:sp>
        <p:nvSpPr>
          <p:cNvPr id="12" name="object 11"/>
          <p:cNvSpPr/>
          <p:nvPr/>
        </p:nvSpPr>
        <p:spPr>
          <a:xfrm>
            <a:off x="237744" y="6217920"/>
            <a:ext cx="3177540" cy="629281"/>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Simple on-screen text: 'Still synthetic-trained'</a:t>
            </a:r>
            <a:endParaRPr lang="en-US"/>
          </a:p>
          <a:p>
            <a:r>
              <a:rPr lang="en-GB"/>
              <a:t>LLAGAMI: Worth saying plainly - the detector is still trained only on synthetic data. The real-core test validates that the same code works on real signalling, it doesn't replace the full synthetic evaluation's statistical rigor.</a:t>
            </a:r>
            <a:endParaRPr lang="en-US"/>
          </a:p>
        </p:txBody>
      </p:sp>
      <p:sp>
        <p:nvSpPr>
          <p:cNvPr id="12" name="object 11"/>
          <p:cNvSpPr/>
          <p:nvPr/>
        </p:nvSpPr>
        <p:spPr>
          <a:xfrm>
            <a:off x="3730752" y="6217920"/>
            <a:ext cx="3177540" cy="629281"/>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Both presenters on camera - the close</a:t>
            </a:r>
            <a:endParaRPr lang="en-US"/>
          </a:p>
          <a:p>
            <a:r>
              <a:rPr lang="en-GB"/>
              <a:t>LLAGAMI: A credential proves what you have.</a:t>
            </a:r>
            <a:endParaRPr lang="en-US"/>
          </a:p>
          <a:p>
            <a:r>
              <a:rPr lang="en-GB"/>
              <a:t>FAUZAN: AEGIS verifies how you behave.</a:t>
            </a:r>
            <a:endParaRPr lang="en-US"/>
          </a:p>
          <a:p>
            <a:r>
              <a:rPr lang="en-GB"/>
              <a:t>Both: Thanks for watching.</a:t>
            </a:r>
            <a:endParaRPr lang="en-US"/>
          </a:p>
        </p:txBody>
      </p:sp>
      <p:sp>
        <p:nvSpPr>
          <p:cNvPr id="12" name="object 11"/>
          <p:cNvSpPr/>
          <p:nvPr/>
        </p:nvSpPr>
        <p:spPr>
          <a:xfrm>
            <a:off x="7232904" y="6217920"/>
            <a:ext cx="3177540" cy="629281"/>
          </a:xfrm>
          <a:custGeom>
            <a:avLst/>
            <a:gdLst/>
            <a:ahLst/>
            <a:cxnLst/>
            <a:rect l="l" t="t" r="r" b="b"/>
            <a:pathLst>
              <a:path w="3177540">
                <a:moveTo>
                  <a:pt x="0" y="0"/>
                </a:moveTo>
                <a:lnTo>
                  <a:pt x="3177295" y="0"/>
                </a:lnTo>
              </a:path>
            </a:pathLst>
          </a:custGeom>
          <a:ln w="12700">
            <a:solidFill>
              <a:schemeClr val="bg1">
                <a:lumMod val="75000"/>
              </a:schemeClr>
            </a:solidFill>
          </a:ln>
        </p:spPr>
        <p:txBody>
          <a:bodyPr wrap="square" lIns="0" tIns="0" rIns="0" bIns="0" rtlCol="0"/>
          <a:lstStyle/>
          <a:p>
            <a:r>
              <a:rPr lang="en-GB"/>
              <a:t>AEGIS logo + tagline card, hold 2 seconds</a:t>
            </a:r>
            <a:endParaRPr lang="en-US"/>
          </a:p>
        </p:txBody>
      </p:sp>
      <p:pic>
        <p:nvPicPr>
          <p:cNvPr id="72" name="Picture 71" descr="image.png"/>
          <p:cNvPicPr>
            <a:picLocks noChangeAspect="1"/>
          </p:cNvPicPr>
          <p:nvPr/>
        </p:nvPicPr>
        <p:blipFill>
          <a:blip r:embed="rId4"/>
          <a:stretch>
            <a:fillRect/>
          </a:stretch>
        </p:blipFill>
        <p:spPr>
          <a:xfrm>
            <a:off x="7232904" y="4197096"/>
            <a:ext cx="3307020" cy="1759727"/>
          </a:xfrm>
          <a:prstGeom prst="rect">
            <a:avLst/>
          </a:prstGeom>
        </p:spPr>
      </p:pic>
    </p:spTree>
    <p:extLst>
      <p:ext uri="{BB962C8B-B14F-4D97-AF65-F5344CB8AC3E}">
        <p14:creationId xmlns:p14="http://schemas.microsoft.com/office/powerpoint/2010/main" val="4171478131"/>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749;p69">
            <a:extLst>
              <a:ext uri="{FF2B5EF4-FFF2-40B4-BE49-F238E27FC236}">
                <a16:creationId xmlns:a16="http://schemas.microsoft.com/office/drawing/2014/main" id="{A06EF363-7321-4789-B70A-BF7EE0475D79}"/>
              </a:ext>
            </a:extLst>
          </p:cNvPr>
          <p:cNvSpPr/>
          <p:nvPr/>
        </p:nvSpPr>
        <p:spPr>
          <a:xfrm>
            <a:off x="4197868" y="216894"/>
            <a:ext cx="2384955" cy="2392056"/>
          </a:xfrm>
          <a:prstGeom prst="ellipse">
            <a:avLst/>
          </a:prstGeom>
          <a:solidFill>
            <a:srgbClr val="B6CFE6">
              <a:alpha val="35750"/>
            </a:srgbClr>
          </a:solidFill>
          <a:ln>
            <a:noFill/>
          </a:ln>
        </p:spPr>
        <p:txBody>
          <a:bodyPr spcFirstLastPara="1" wrap="square" lIns="80152" tIns="80152" rIns="80152" bIns="80152" anchor="ctr" anchorCtr="0">
            <a:noAutofit/>
          </a:bodyPr>
          <a:lstStyle/>
          <a:p>
            <a:r>
              <a:rPr lang="en-GB" sz="2400"/>
              <a:t>Fauzan Ejaz</a:t>
            </a:r>
            <a:endParaRPr sz="1578"/>
          </a:p>
          <a:p>
            <a:r>
              <a:rPr lang="en-GB" sz="1400" i="1"/>
              <a:t>Postgraduate Student, 5G Academy 2025/26</a:t>
            </a:r>
            <a:endParaRPr sz="1578"/>
          </a:p>
        </p:txBody>
      </p:sp>
      <p:sp>
        <p:nvSpPr>
          <p:cNvPr id="27" name="Google Shape;749;p69">
            <a:extLst>
              <a:ext uri="{FF2B5EF4-FFF2-40B4-BE49-F238E27FC236}">
                <a16:creationId xmlns:a16="http://schemas.microsoft.com/office/drawing/2014/main" id="{BCB06B9F-0035-4EAD-B976-4A1DE9730F61}"/>
              </a:ext>
            </a:extLst>
          </p:cNvPr>
          <p:cNvSpPr/>
          <p:nvPr/>
        </p:nvSpPr>
        <p:spPr>
          <a:xfrm>
            <a:off x="1196569" y="2122577"/>
            <a:ext cx="2384955" cy="2392056"/>
          </a:xfrm>
          <a:prstGeom prst="ellipse">
            <a:avLst/>
          </a:prstGeom>
          <a:solidFill>
            <a:srgbClr val="B6CFE6">
              <a:alpha val="35750"/>
            </a:srgbClr>
          </a:solidFill>
          <a:ln>
            <a:noFill/>
          </a:ln>
        </p:spPr>
        <p:txBody>
          <a:bodyPr spcFirstLastPara="1" wrap="square" lIns="80152" tIns="80152" rIns="80152" bIns="80152" anchor="ctr" anchorCtr="0">
            <a:noAutofit/>
          </a:bodyPr>
          <a:lstStyle/>
          <a:p>
            <a:r>
              <a:rPr lang="en-GB" sz="2400"/>
              <a:t>Tedi Llagami</a:t>
            </a:r>
            <a:endParaRPr sz="2400"/>
          </a:p>
          <a:p>
            <a:r>
              <a:rPr lang="en-GB" sz="1400" i="1"/>
              <a:t>Postgraduate Student, 5G Academy 2025/26</a:t>
            </a:r>
            <a:endParaRPr sz="2400"/>
          </a:p>
        </p:txBody>
      </p:sp>
      <p:sp>
        <p:nvSpPr>
          <p:cNvPr id="24" name="Title 2">
            <a:extLst>
              <a:ext uri="{FF2B5EF4-FFF2-40B4-BE49-F238E27FC236}">
                <a16:creationId xmlns:a16="http://schemas.microsoft.com/office/drawing/2014/main" id="{3DB09636-2D95-462E-A483-C16A14C60C3F}"/>
              </a:ext>
            </a:extLst>
          </p:cNvPr>
          <p:cNvSpPr>
            <a:spLocks noGrp="1"/>
          </p:cNvSpPr>
          <p:nvPr>
            <p:ph type="title"/>
          </p:nvPr>
        </p:nvSpPr>
        <p:spPr>
          <a:xfrm>
            <a:off x="482938" y="775246"/>
            <a:ext cx="4861381" cy="968658"/>
          </a:xfrm>
        </p:spPr>
        <p:txBody>
          <a:bodyPr/>
          <a:lstStyle/>
          <a:p>
            <a:r>
              <a:rPr lang="en-US"/>
              <a:t>Group 4</a:t>
            </a:r>
          </a:p>
        </p:txBody>
      </p:sp>
      <p:sp>
        <p:nvSpPr>
          <p:cNvPr id="25" name="Text Placeholder 1">
            <a:extLst>
              <a:ext uri="{FF2B5EF4-FFF2-40B4-BE49-F238E27FC236}">
                <a16:creationId xmlns:a16="http://schemas.microsoft.com/office/drawing/2014/main" id="{6DE9E673-3DDC-4839-8B8C-31223D9D32A1}"/>
              </a:ext>
            </a:extLst>
          </p:cNvPr>
          <p:cNvSpPr txBox="1">
            <a:spLocks/>
          </p:cNvSpPr>
          <p:nvPr/>
        </p:nvSpPr>
        <p:spPr>
          <a:xfrm>
            <a:off x="482357" y="1412922"/>
            <a:ext cx="9723925" cy="441902"/>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buFont typeface="Arial" panose="020B0604020202020204" pitchFamily="34" charset="0"/>
              <a:buNone/>
              <a:defRPr sz="2200" kern="1200" spc="-110" baseline="0">
                <a:solidFill>
                  <a:schemeClr val="accent1"/>
                </a:solidFill>
                <a:latin typeface="+mj-lt"/>
                <a:ea typeface="+mn-ea"/>
                <a:cs typeface="+mn-cs"/>
              </a:defRPr>
            </a:lvl1pPr>
            <a:lvl2pPr marL="266700" indent="-177800" algn="l" defTabSz="914400" rtl="0" eaLnBrk="1" latinLnBrk="0" hangingPunct="1">
              <a:lnSpc>
                <a:spcPct val="100000"/>
              </a:lnSpc>
              <a:spcBef>
                <a:spcPts val="6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100000"/>
              </a:lnSpc>
              <a:spcBef>
                <a:spcPts val="6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100000"/>
              </a:lnSpc>
              <a:spcBef>
                <a:spcPts val="6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929"/>
              <a:t>Meet the team</a:t>
            </a:r>
          </a:p>
        </p:txBody>
      </p:sp>
    </p:spTree>
    <p:extLst>
      <p:ext uri="{BB962C8B-B14F-4D97-AF65-F5344CB8AC3E}">
        <p14:creationId xmlns:p14="http://schemas.microsoft.com/office/powerpoint/2010/main" val="3064368199"/>
      </p:ext>
    </p:extLst>
  </p:cSld>
  <p:clrMapOvr>
    <a:masterClrMapping/>
  </p:clrMapOvr>
  <p:extLst>
    <p:ext uri="{6950BFC3-D8DA-4A85-94F7-54DA5524770B}">
      <p188:commentRel xmlns:p188="http://schemas.microsoft.com/office/powerpoint/2018/8/main" r:id="rId2"/>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f1bf422-076b-4923-a343-86f92e681c13">
      <Terms xmlns="http://schemas.microsoft.com/office/infopath/2007/PartnerControls"/>
    </lcf76f155ced4ddcb4097134ff3c332f>
    <TaxCatchAll xmlns="17320c4f-b4d7-4a2f-a568-c234bef0935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42D7E2E766E274BA85FFEF303FE3B84" ma:contentTypeVersion="11" ma:contentTypeDescription="Create a new document." ma:contentTypeScope="" ma:versionID="161f57f8e4da8c53066cecce20e1cf28">
  <xsd:schema xmlns:xsd="http://www.w3.org/2001/XMLSchema" xmlns:xs="http://www.w3.org/2001/XMLSchema" xmlns:p="http://schemas.microsoft.com/office/2006/metadata/properties" xmlns:ns2="df1bf422-076b-4923-a343-86f92e681c13" xmlns:ns3="17320c4f-b4d7-4a2f-a568-c234bef09358" targetNamespace="http://schemas.microsoft.com/office/2006/metadata/properties" ma:root="true" ma:fieldsID="3f75c0bee81b84287f3a5e0ecbeaea68" ns2:_="" ns3:_="">
    <xsd:import namespace="df1bf422-076b-4923-a343-86f92e681c13"/>
    <xsd:import namespace="17320c4f-b4d7-4a2f-a568-c234bef093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1bf422-076b-4923-a343-86f92e681c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5195dc1-fe89-472b-8717-1a064048821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7320c4f-b4d7-4a2f-a568-c234bef09358"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0e469e3-2d6b-4f07-ba7f-94947d0b2f8c}" ma:internalName="TaxCatchAll" ma:showField="CatchAllData" ma:web="17320c4f-b4d7-4a2f-a568-c234bef093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06C687-16CC-4945-AB09-B890B7CBD535}">
  <ds:schemaRefs>
    <ds:schemaRef ds:uri="17320c4f-b4d7-4a2f-a568-c234bef09358"/>
    <ds:schemaRef ds:uri="df1bf422-076b-4923-a343-86f92e681c1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AA5AF62-29D7-49C4-96C6-35C102D42BEC}">
  <ds:schemaRefs>
    <ds:schemaRef ds:uri="http://schemas.microsoft.com/sharepoint/v3/contenttype/forms"/>
  </ds:schemaRefs>
</ds:datastoreItem>
</file>

<file path=customXml/itemProps3.xml><?xml version="1.0" encoding="utf-8"?>
<ds:datastoreItem xmlns:ds="http://schemas.openxmlformats.org/officeDocument/2006/customXml" ds:itemID="{AFE32100-327A-46D5-A299-81E97F5FBF53}">
  <ds:schemaRefs>
    <ds:schemaRef ds:uri="17320c4f-b4d7-4a2f-a568-c234bef09358"/>
    <ds:schemaRef ds:uri="df1bf422-076b-4923-a343-86f92e681c1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ad0b24d-6422-44b0-b3de-abb3a9e8c81a}" enabled="1" method="Standard" siteId="{2fcfe26a-bb62-46b0-b1e3-28f9da0c45fd}" contentBits="0"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668</Words>
  <Application>Microsoft Office PowerPoint</Application>
  <PresentationFormat>Custom</PresentationFormat>
  <Paragraphs>110</Paragraphs>
  <Slides>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4" baseType="lpstr">
      <vt:lpstr>Aptos</vt:lpstr>
      <vt:lpstr>Arial</vt:lpstr>
      <vt:lpstr>Calibri</vt:lpstr>
      <vt:lpstr>Calibri Light</vt:lpstr>
      <vt:lpstr>Times New Roman</vt:lpstr>
      <vt:lpstr>Office Theme</vt:lpstr>
      <vt:lpstr>think-cell Slide</vt:lpstr>
      <vt:lpstr>AEGIS: Zero-trust identity for AI agents </vt:lpstr>
      <vt:lpstr>PowerPoint Presentation</vt:lpstr>
      <vt:lpstr>PowerPoint Presentation</vt:lpstr>
      <vt:lpstr>PowerPoint Presentation</vt:lpstr>
      <vt:lpstr>PowerPoint Presentation</vt:lpstr>
      <vt:lpstr>PowerPoint Presentation</vt:lpstr>
      <vt:lpstr>Group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ahsan ali</dc:creator>
  <cp:lastModifiedBy>Llagami  Tedi</cp:lastModifiedBy>
  <cp:revision>1</cp:revision>
  <dcterms:created xsi:type="dcterms:W3CDTF">2018-03-22T01:38:38Z</dcterms:created>
  <dcterms:modified xsi:type="dcterms:W3CDTF">2026-10-10T12:57:35Z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0x010100942D7E2E766E274BA85FFEF303FE3B84</vt:lpwstr>
  </property>
  <property fmtid="{D5CDD505-2E9C-101B-9397-08002B2CF9AE}" pid="3" name="MSIP_Label_2ad0b24d-6422-44b0-b3de-abb3a9e8c81a_Enabled">
    <vt:lpwstr>true</vt:lpwstr>
  </property>
  <property fmtid="{D5CDD505-2E9C-101B-9397-08002B2CF9AE}" pid="4" name="MSIP_Label_2ad0b24d-6422-44b0-b3de-abb3a9e8c81a_SetDate">
    <vt:lpwstr>2025-10-16T08:20:11Z</vt:lpwstr>
  </property>
  <property fmtid="{D5CDD505-2E9C-101B-9397-08002B2CF9AE}" pid="5" name="MSIP_Label_2ad0b24d-6422-44b0-b3de-abb3a9e8c81a_Method">
    <vt:lpwstr>Standard</vt:lpwstr>
  </property>
  <property fmtid="{D5CDD505-2E9C-101B-9397-08002B2CF9AE}" pid="6" name="MSIP_Label_2ad0b24d-6422-44b0-b3de-abb3a9e8c81a_Name">
    <vt:lpwstr>defa4170-0d19-0005-0004-bc88714345d2</vt:lpwstr>
  </property>
  <property fmtid="{D5CDD505-2E9C-101B-9397-08002B2CF9AE}" pid="7" name="MSIP_Label_2ad0b24d-6422-44b0-b3de-abb3a9e8c81a_SiteId">
    <vt:lpwstr>2fcfe26a-bb62-46b0-b1e3-28f9da0c45fd</vt:lpwstr>
  </property>
  <property fmtid="{D5CDD505-2E9C-101B-9397-08002B2CF9AE}" pid="8" name="MSIP_Label_2ad0b24d-6422-44b0-b3de-abb3a9e8c81a_ActionId">
    <vt:lpwstr>77718467-a7b7-4c95-a3ab-bcb31f36da42</vt:lpwstr>
  </property>
  <property fmtid="{D5CDD505-2E9C-101B-9397-08002B2CF9AE}" pid="9" name="MSIP_Label_2ad0b24d-6422-44b0-b3de-abb3a9e8c81a_ContentBits">
    <vt:lpwstr>0</vt:lpwstr>
  </property>
  <property fmtid="{D5CDD505-2E9C-101B-9397-08002B2CF9AE}" pid="10" name="MSIP_Label_2ad0b24d-6422-44b0-b3de-abb3a9e8c81a_Tag">
    <vt:lpwstr>10, 3, 0, 1</vt:lpwstr>
  </property>
  <property fmtid="{D5CDD505-2E9C-101B-9397-08002B2CF9AE}" pid="11" name="MediaServiceImageTags">
    <vt:lpwstr/>
  </property>
</Properties>
</file>