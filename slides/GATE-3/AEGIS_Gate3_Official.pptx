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6" r:id="rId5"/>
  </p:sldMasterIdLst>
  <p:notesMasterIdLst>
    <p:notesMasterId r:id="rId28"/>
  </p:notesMasterIdLst>
  <p:sldIdLst>
    <p:sldId id="348" r:id="rId6"/>
    <p:sldId id="257" r:id="rId7"/>
    <p:sldId id="29004" r:id="rId8"/>
    <p:sldId id="29005" r:id="rId9"/>
    <p:sldId id="29006" r:id="rId10"/>
    <p:sldId id="28996" r:id="rId11"/>
    <p:sldId id="28986" r:id="rId12"/>
    <p:sldId id="28987" r:id="rId13"/>
    <p:sldId id="28988" r:id="rId14"/>
    <p:sldId id="29007" r:id="rId15"/>
    <p:sldId id="29003" r:id="rId16"/>
    <p:sldId id="28997" r:id="rId17"/>
    <p:sldId id="28991" r:id="rId18"/>
    <p:sldId id="28992" r:id="rId19"/>
    <p:sldId id="28995" r:id="rId20"/>
    <p:sldId id="28993" r:id="rId21"/>
    <p:sldId id="28984" r:id="rId22"/>
    <p:sldId id="28998" r:id="rId23"/>
    <p:sldId id="28999" r:id="rId24"/>
    <p:sldId id="29000" r:id="rId25"/>
    <p:sldId id="29001" r:id="rId26"/>
    <p:sldId id="29002" r:id="rId2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35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F22336D-85CD-99C1-0006-2E9EDD339502}" name="FAUZAN EJAZ" initials="FE" userId="S::fa.ejaz@studenti.unina.it::8742967f-f964-4b93-910e-ce6f8ae6eaa7" providerId="AD"/>
  <p188:author id="{11686C97-ADD3-5CDE-B4D7-06A81A6EAA4F}" name="LUISA ANNA DAVINO-5G" initials="LD" userId="S::luisaanna.davino-5g@unina.it::e0d4f5f9-4e2d-474f-b739-88d264a4be6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7428B"/>
    <a:srgbClr val="50E517"/>
    <a:srgbClr val="3399FF"/>
    <a:srgbClr val="FC3FB2"/>
    <a:srgbClr val="0164F2"/>
    <a:srgbClr val="F18700"/>
    <a:srgbClr val="00FFFF"/>
    <a:srgbClr val="8E1473"/>
    <a:srgbClr val="DBF11E"/>
    <a:srgbClr val="00A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6868B8-0BE0-A46D-D361-D3B1D0A8EC3B}" v="1" dt="2026-09-03T10:52:47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5726" autoAdjust="0"/>
  </p:normalViewPr>
  <p:slideViewPr>
    <p:cSldViewPr snapToGrid="0">
      <p:cViewPr varScale="1">
        <p:scale>
          <a:sx n="92" d="100"/>
          <a:sy n="92" d="100"/>
        </p:scale>
        <p:origin x="173" y="62"/>
      </p:cViewPr>
      <p:guideLst>
        <p:guide orient="horz" pos="2183"/>
        <p:guide pos="3840"/>
        <p:guide pos="438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16BA8-1C26-E241-87A3-7E6D47DF2B15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E622D-138F-DD46-A48B-F8C674FCEA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21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1676-A6B0-4FC9-3439-A6ECDB210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781DE-3DEE-C9D8-001D-2822AECD82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9598F-6A57-E7C6-685A-D59E9540A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A973F-B497-2C41-F44E-12D0CD010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914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/>
              <a:t>BACKUP SLIDES BELOW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6">
            <a:extLst>
              <a:ext uri="{FF2B5EF4-FFF2-40B4-BE49-F238E27FC236}">
                <a16:creationId xmlns:a16="http://schemas.microsoft.com/office/drawing/2014/main" id="{1DE15293-BBE7-C8E1-2DF8-30CAECC22826}"/>
              </a:ext>
            </a:extLst>
          </p:cNvPr>
          <p:cNvSpPr txBox="1"/>
          <p:nvPr userDrawn="1"/>
        </p:nvSpPr>
        <p:spPr>
          <a:xfrm>
            <a:off x="182210" y="78645"/>
            <a:ext cx="795943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0033A1"/>
                </a:solidFill>
                <a:latin typeface="Montserrat" panose="00000500000000000000" pitchFamily="2" charset="0"/>
                <a:ea typeface="Arimo Bold"/>
                <a:cs typeface="Arimo Bold"/>
                <a:sym typeface="Arimo Bold"/>
              </a:rPr>
              <a:t>5G Academy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3A1"/>
              </a:solidFill>
              <a:effectLst/>
              <a:uLnTx/>
              <a:uFillTx/>
              <a:latin typeface="Montserrat" panose="00000500000000000000" pitchFamily="2" charset="0"/>
              <a:ea typeface="Arimo"/>
              <a:cs typeface="Arimo"/>
              <a:sym typeface="Arimo"/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86583FA-552E-6B94-F508-9154D8640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87" b="93913" l="9878" r="89948">
                        <a14:foregroundMark x1="41608" y1="9043" x2="56556" y2="6087"/>
                        <a14:foregroundMark x1="56556" y1="6087" x2="59091" y2="8870"/>
                        <a14:foregroundMark x1="57255" y1="8870" x2="50787" y2="8348"/>
                        <a14:foregroundMark x1="30944" y1="90609" x2="39423" y2="88522"/>
                        <a14:foregroundMark x1="64073" y1="89913" x2="69668" y2="89913"/>
                        <a14:foregroundMark x1="66608" y1="93913" x2="68269" y2="93565"/>
                        <a14:foregroundMark x1="65035" y1="93739" x2="68619" y2="93217"/>
                        <a14:foregroundMark x1="40035" y1="93043" x2="52185" y2="92696"/>
                        <a14:foregroundMark x1="52185" y1="92696" x2="52273" y2="926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3269" y="0"/>
            <a:ext cx="2148731" cy="1080000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00DE8E5E-6283-0987-D10B-B434F14E498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2210" y="5699355"/>
            <a:ext cx="1713047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2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27652F9-EFE9-44A5-8988-DD8A57D594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891851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F00401-1613-4904-9E88-3300247588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183" r="20122"/>
          <a:stretch/>
        </p:blipFill>
        <p:spPr>
          <a:xfrm>
            <a:off x="5891851" y="0"/>
            <a:ext cx="6310344" cy="6161903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A6F41FCF-E5DC-4DFC-9EC4-9A2DB9ACD48B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Segnaposto data 7">
            <a:extLst>
              <a:ext uri="{FF2B5EF4-FFF2-40B4-BE49-F238E27FC236}">
                <a16:creationId xmlns:a16="http://schemas.microsoft.com/office/drawing/2014/main" id="{28FC1009-BB95-4A95-B0B4-F62D9482D448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0801821-83B6-4071-904F-3FF70C150930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20" name="Shape 13">
            <a:extLst>
              <a:ext uri="{FF2B5EF4-FFF2-40B4-BE49-F238E27FC236}">
                <a16:creationId xmlns:a16="http://schemas.microsoft.com/office/drawing/2014/main" id="{02A19192-2819-48DA-BE5F-DDDAFE72CBEB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Segnaposto piè di pagina 8">
            <a:extLst>
              <a:ext uri="{FF2B5EF4-FFF2-40B4-BE49-F238E27FC236}">
                <a16:creationId xmlns:a16="http://schemas.microsoft.com/office/drawing/2014/main" id="{B9628792-1808-40FB-81A8-B4A1607E2439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B677C4A-9D55-8A4E-A6E3-A13696593F7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76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A75DD54-AA16-4D96-BA18-46F0B18EC3E2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data 7">
            <a:extLst>
              <a:ext uri="{FF2B5EF4-FFF2-40B4-BE49-F238E27FC236}">
                <a16:creationId xmlns:a16="http://schemas.microsoft.com/office/drawing/2014/main" id="{9D7EBFE4-05D3-41B4-83CD-A8E0A8380DF0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0E4C0DEB-D89B-46C1-A686-9BEAB456F5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32DA9C46-95C1-48D2-8E74-90EAB517A25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F9B0D099-433E-47D6-85BF-04A95EB2594A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Picture 2">
            <a:extLst>
              <a:ext uri="{FF2B5EF4-FFF2-40B4-BE49-F238E27FC236}">
                <a16:creationId xmlns:a16="http://schemas.microsoft.com/office/drawing/2014/main" id="{3B1CA809-7FB2-A647-8C49-995400A948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1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7">
            <a:extLst>
              <a:ext uri="{FF2B5EF4-FFF2-40B4-BE49-F238E27FC236}">
                <a16:creationId xmlns:a16="http://schemas.microsoft.com/office/drawing/2014/main" id="{9D7EBFE4-05D3-41B4-83CD-A8E0A8380DF0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0E4C0DEB-D89B-46C1-A686-9BEAB456F5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32DA9C46-95C1-48D2-8E74-90EAB517A25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F9B0D099-433E-47D6-85BF-04A95EB2594A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209BFF25-38BB-9B48-B869-084262A4D1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3" y="6215062"/>
            <a:ext cx="1812818" cy="54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egnaposto data 7">
            <a:extLst>
              <a:ext uri="{FF2B5EF4-FFF2-40B4-BE49-F238E27FC236}">
                <a16:creationId xmlns:a16="http://schemas.microsoft.com/office/drawing/2014/main" id="{E46776ED-56DD-CD48-95A3-4A00B81FDB6F}"/>
              </a:ext>
            </a:extLst>
          </p:cNvPr>
          <p:cNvSpPr txBox="1">
            <a:spLocks/>
          </p:cNvSpPr>
          <p:nvPr userDrawn="1"/>
        </p:nvSpPr>
        <p:spPr>
          <a:xfrm>
            <a:off x="6034636" y="64754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rgbClr val="17428B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C8F8ED44-83FD-D141-B369-1B7D67D8C26A}"/>
              </a:ext>
            </a:extLst>
          </p:cNvPr>
          <p:cNvSpPr txBox="1">
            <a:spLocks/>
          </p:cNvSpPr>
          <p:nvPr userDrawn="1"/>
        </p:nvSpPr>
        <p:spPr>
          <a:xfrm>
            <a:off x="8767482" y="66341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rgbClr val="17428B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cxnSp>
        <p:nvCxnSpPr>
          <p:cNvPr id="14" name="Shape 13">
            <a:extLst>
              <a:ext uri="{FF2B5EF4-FFF2-40B4-BE49-F238E27FC236}">
                <a16:creationId xmlns:a16="http://schemas.microsoft.com/office/drawing/2014/main" id="{724C64B5-2135-D44C-AAA0-6D642DB8801B}"/>
              </a:ext>
            </a:extLst>
          </p:cNvPr>
          <p:cNvCxnSpPr/>
          <p:nvPr userDrawn="1"/>
        </p:nvCxnSpPr>
        <p:spPr>
          <a:xfrm>
            <a:off x="11802745" y="6498248"/>
            <a:ext cx="0" cy="260350"/>
          </a:xfrm>
          <a:prstGeom prst="straightConnector1">
            <a:avLst/>
          </a:prstGeom>
          <a:noFill/>
          <a:ln w="9525" cap="flat" cmpd="sng">
            <a:solidFill>
              <a:srgbClr val="17428B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8085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7E2266D7-7A33-094B-B198-C964BD357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3746" y="-120920"/>
            <a:ext cx="9301018" cy="6292603"/>
          </a:xfrm>
          <a:prstGeom prst="rect">
            <a:avLst/>
          </a:prstGeom>
        </p:spPr>
      </p:pic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02FE016D-82AA-144C-9BEB-6C7641E4C1DD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DAF2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37DA939-308A-4597-9793-C9E9A974CE6E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Segnaposto data 7">
            <a:extLst>
              <a:ext uri="{FF2B5EF4-FFF2-40B4-BE49-F238E27FC236}">
                <a16:creationId xmlns:a16="http://schemas.microsoft.com/office/drawing/2014/main" id="{FA6D9DE1-66BC-46BD-AA34-23617AA9C41F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5" name="Segnaposto piè di pagina 8">
            <a:extLst>
              <a:ext uri="{FF2B5EF4-FFF2-40B4-BE49-F238E27FC236}">
                <a16:creationId xmlns:a16="http://schemas.microsoft.com/office/drawing/2014/main" id="{F89DCB51-4813-44E7-9DAE-DB8966014287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193EF4F-7929-48F5-9DCF-325B2B7685D9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7" name="Shape 13">
            <a:extLst>
              <a:ext uri="{FF2B5EF4-FFF2-40B4-BE49-F238E27FC236}">
                <a16:creationId xmlns:a16="http://schemas.microsoft.com/office/drawing/2014/main" id="{13145520-2C98-47BB-8396-5BC4190FF8D3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661FF91-1E64-408D-8467-B6CFC2BB78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7562" r="68923"/>
          <a:stretch/>
        </p:blipFill>
        <p:spPr>
          <a:xfrm>
            <a:off x="304810" y="6296025"/>
            <a:ext cx="1412865" cy="3415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8A8C316-4765-4C66-9C43-C643A1A9BD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2053" t="68030" r="36792"/>
          <a:stretch/>
        </p:blipFill>
        <p:spPr>
          <a:xfrm>
            <a:off x="2398168" y="6311949"/>
            <a:ext cx="855737" cy="3904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E4EE4E-E94C-42B4-9C55-2181A704D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1207" t="72041" b="-1"/>
          <a:stretch/>
        </p:blipFill>
        <p:spPr>
          <a:xfrm>
            <a:off x="3996700" y="6345847"/>
            <a:ext cx="854391" cy="29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3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Cia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ABD284CF-5A53-7E4C-A0FF-4F6F5FC5934D}"/>
              </a:ext>
            </a:extLst>
          </p:cNvPr>
          <p:cNvSpPr/>
          <p:nvPr userDrawn="1"/>
        </p:nvSpPr>
        <p:spPr>
          <a:xfrm>
            <a:off x="0" y="6167245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data 7">
            <a:extLst>
              <a:ext uri="{FF2B5EF4-FFF2-40B4-BE49-F238E27FC236}">
                <a16:creationId xmlns:a16="http://schemas.microsoft.com/office/drawing/2014/main" id="{6B8FA853-C8E7-C54C-8B6F-4E6BDB270CEA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93BC1F67-F758-3842-BA3B-779704EBBAD3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Lecturer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 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name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, Company/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Univerisity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 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name</a:t>
            </a:r>
            <a:endParaRPr lang="it-IT">
              <a:solidFill>
                <a:schemeClr val="bg1"/>
              </a:solidFill>
              <a:latin typeface="TIM Sans" panose="02020503040602060503" pitchFamily="18" charset="77"/>
            </a:endParaRP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FC9D4B3B-DA08-D14A-A469-C98FFEDB75D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3E706A71-5D21-9B43-9D04-E97A62E6B13E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B8CC1A6A-2927-6145-A5C7-DC53DF4632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563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40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2EE59C3-2158-4C5C-8F9C-12D4DC8173F3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F56FEBE0-8B4E-4769-9B06-8EC9FCB30F73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F423495D-F89D-49C6-89F6-C7E044B3EBAE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47161C9-66BE-4806-91C1-9180C1A3A822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40CF238A-1C41-4AC9-9070-8F54C8B7D93D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6AA263EC-FE94-FC48-A576-EB5DF4C8D5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312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Gia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0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C0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8770C84-C4A1-4B18-8280-6D4B3C5A55E5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0AE3FDCE-918D-4007-BB01-464A9B573236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A42F6AC0-CAEC-4C31-8598-6B0EB48D7D54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9DD902A-D84E-45EE-A0DF-B635D107DCA1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7B47C9DD-7C78-465D-85EB-90802589E5EE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F77C323C-B55C-7848-8848-79B4755A45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178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Ros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2A0C9D1-2396-410F-A920-FAD1C2A10AD5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457C81E1-3B0B-4493-B5F3-666F46D59EBF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875599AE-43AD-4130-A3AD-F717FAF07D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266FF8C-3CC0-4458-9CAB-9F073955C70C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503FEE4B-E28F-4992-ABAD-13F0AFE7C052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54396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Ve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DAF2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BB51B97-A265-4118-A8E7-67D36A07DC4C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0814D68B-BE4E-4C63-B73A-462911E6E294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ACBBF35D-2BC3-45E0-83BB-E428F1B69D18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53EB5D3-FB71-4345-A864-2458AB9D1F78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17A154B9-8251-413C-AEFC-1632EC7E0943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6D4F2583-BB63-144F-92EC-264C680DA6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229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7">
            <a:extLst>
              <a:ext uri="{FF2B5EF4-FFF2-40B4-BE49-F238E27FC236}">
                <a16:creationId xmlns:a16="http://schemas.microsoft.com/office/drawing/2014/main" id="{E79329A4-E11A-8A4B-6A05-6785ADF2D604}"/>
              </a:ext>
            </a:extLst>
          </p:cNvPr>
          <p:cNvSpPr txBox="1"/>
          <p:nvPr userDrawn="1"/>
        </p:nvSpPr>
        <p:spPr>
          <a:xfrm>
            <a:off x="11226800" y="6447040"/>
            <a:ext cx="678689" cy="128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59"/>
              </a:lnSpc>
            </a:pPr>
            <a:fld id="{9D069B2F-4B80-4BD9-B833-B84155CAE399}" type="slidenum">
              <a:rPr lang="en-US" sz="933" smtClean="0">
                <a:solidFill>
                  <a:srgbClr val="122AC2"/>
                </a:solidFill>
                <a:latin typeface="TIM Sans" panose="02020503040602060503" pitchFamily="18" charset="0"/>
                <a:ea typeface="Arimo"/>
                <a:cs typeface="Arimo"/>
                <a:sym typeface="Arimo"/>
              </a:rPr>
              <a:pPr algn="r">
                <a:lnSpc>
                  <a:spcPts val="959"/>
                </a:lnSpc>
              </a:pPr>
              <a:t>‹#›</a:t>
            </a:fld>
            <a:endParaRPr lang="en-US" sz="933">
              <a:solidFill>
                <a:srgbClr val="122AC2"/>
              </a:solidFill>
              <a:latin typeface="TIM Sans" panose="02020503040602060503" pitchFamily="18" charset="0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203008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64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64" r:id="rId3"/>
    <p:sldLayoutId id="2147483665" r:id="rId4"/>
    <p:sldLayoutId id="2147483659" r:id="rId5"/>
    <p:sldLayoutId id="2147483650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8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4.jpg"/><Relationship Id="rId4" Type="http://schemas.openxmlformats.org/officeDocument/2006/relationships/notesSlide" Target="../notesSlides/notesSlide1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aegis5gacademy.streamlit.app/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fauzan111.github.io/AEGIS/#gate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github.com/fauzan111/AEGIS" TargetMode="Externa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5">
            <a:extLst>
              <a:ext uri="{FF2B5EF4-FFF2-40B4-BE49-F238E27FC236}">
                <a16:creationId xmlns:a16="http://schemas.microsoft.com/office/drawing/2014/main" id="{077ABD21-9B4B-7E2B-21D5-64D10304170D}"/>
              </a:ext>
            </a:extLst>
          </p:cNvPr>
          <p:cNvSpPr/>
          <p:nvPr/>
        </p:nvSpPr>
        <p:spPr>
          <a:xfrm>
            <a:off x="327101" y="2190085"/>
            <a:ext cx="305673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660"/>
            <a:r>
              <a:rPr lang="en-US" sz="2000" b="1" dirty="0">
                <a:solidFill>
                  <a:prstClr val="white"/>
                </a:solidFill>
                <a:latin typeface="Montserrat Bold" panose="00000800000000000000" pitchFamily="2" charset="0"/>
              </a:rPr>
              <a:t>Postgraduate Course</a:t>
            </a:r>
          </a:p>
          <a:p>
            <a:pPr algn="ctr" defTabSz="609660"/>
            <a:r>
              <a:rPr lang="en-US" sz="2000" b="1" dirty="0">
                <a:solidFill>
                  <a:prstClr val="white"/>
                </a:solidFill>
                <a:latin typeface="Montserrat Bold" panose="00000800000000000000" pitchFamily="2" charset="0"/>
              </a:rPr>
              <a:t>2026</a:t>
            </a:r>
          </a:p>
        </p:txBody>
      </p:sp>
      <p:sp>
        <p:nvSpPr>
          <p:cNvPr id="46" name="Rectangle 20">
            <a:extLst>
              <a:ext uri="{FF2B5EF4-FFF2-40B4-BE49-F238E27FC236}">
                <a16:creationId xmlns:a16="http://schemas.microsoft.com/office/drawing/2014/main" id="{0127B319-7C2D-D35C-CE0E-432ABF833040}"/>
              </a:ext>
            </a:extLst>
          </p:cNvPr>
          <p:cNvSpPr/>
          <p:nvPr/>
        </p:nvSpPr>
        <p:spPr>
          <a:xfrm>
            <a:off x="327101" y="2849201"/>
            <a:ext cx="3173534" cy="3957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60"/>
            <a:r>
              <a:rPr lang="it-IT" sz="1383" dirty="0">
                <a:solidFill>
                  <a:prstClr val="white"/>
                </a:solidFill>
                <a:latin typeface="Montserrat" panose="00000500000000000000" pitchFamily="2" charset="0"/>
              </a:rPr>
              <a:t>https://www.5gacademy.unina.it/</a:t>
            </a:r>
          </a:p>
        </p:txBody>
      </p:sp>
      <p:pic>
        <p:nvPicPr>
          <p:cNvPr id="2" name="Immagine 1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35A9C664-06DD-1608-258F-211AAF7694B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3950854" y="1060806"/>
            <a:ext cx="8113510" cy="5218669"/>
          </a:xfrm>
          <a:prstGeom prst="rect">
            <a:avLst/>
          </a:prstGeom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63737ECD-B85F-080A-2E65-A69458C8BD7E}"/>
              </a:ext>
            </a:extLst>
          </p:cNvPr>
          <p:cNvGrpSpPr/>
          <p:nvPr/>
        </p:nvGrpSpPr>
        <p:grpSpPr>
          <a:xfrm>
            <a:off x="127559" y="400092"/>
            <a:ext cx="7434251" cy="1259234"/>
            <a:chOff x="371318" y="651646"/>
            <a:chExt cx="7434251" cy="1259234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F5FE7BF-8429-A4C6-5E0A-D00043CF4562}"/>
                </a:ext>
              </a:extLst>
            </p:cNvPr>
            <p:cNvSpPr txBox="1"/>
            <p:nvPr/>
          </p:nvSpPr>
          <p:spPr>
            <a:xfrm>
              <a:off x="371318" y="651646"/>
              <a:ext cx="4102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pc="100">
                  <a:solidFill>
                    <a:srgbClr val="4F81BD">
                      <a:lumMod val="40000"/>
                      <a:lumOff val="60000"/>
                    </a:srgbClr>
                  </a:solidFill>
                  <a:latin typeface="Montserrat Medium" panose="00000600000000000000" pitchFamily="2" charset="0"/>
                </a:rPr>
                <a:t>ADVANCED STEM PROGRAM</a:t>
              </a:r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DDC659B1-68BC-1148-716E-CB9C8C05CD79}"/>
                </a:ext>
              </a:extLst>
            </p:cNvPr>
            <p:cNvSpPr txBox="1"/>
            <p:nvPr/>
          </p:nvSpPr>
          <p:spPr>
            <a:xfrm>
              <a:off x="371318" y="801819"/>
              <a:ext cx="64075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4800" b="1" spc="-100">
                  <a:solidFill>
                    <a:prstClr val="white"/>
                  </a:solidFill>
                  <a:latin typeface="Montserrat Bold" panose="00000800000000000000" pitchFamily="2" charset="0"/>
                </a:rPr>
                <a:t>AI-Native Networks:</a:t>
              </a: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C84D910F-8A7B-6284-71D6-8EE7A6299D9D}"/>
                </a:ext>
              </a:extLst>
            </p:cNvPr>
            <p:cNvSpPr txBox="1"/>
            <p:nvPr/>
          </p:nvSpPr>
          <p:spPr>
            <a:xfrm>
              <a:off x="371318" y="1449215"/>
              <a:ext cx="74342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Engineering the </a:t>
              </a:r>
              <a:r>
                <a:rPr lang="it-IT" sz="2400" spc="110" err="1">
                  <a:solidFill>
                    <a:srgbClr val="E6F0FF"/>
                  </a:solidFill>
                  <a:latin typeface="Proxima Nova:"/>
                </a:rPr>
                <a:t>Infrastructure</a:t>
              </a:r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 of the AI Era</a:t>
              </a: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9F89B84-1F31-4568-D686-A106A09A2EF6}"/>
              </a:ext>
            </a:extLst>
          </p:cNvPr>
          <p:cNvGrpSpPr/>
          <p:nvPr/>
        </p:nvGrpSpPr>
        <p:grpSpPr>
          <a:xfrm>
            <a:off x="553704" y="3810946"/>
            <a:ext cx="2628172" cy="1676493"/>
            <a:chOff x="1040621" y="3487333"/>
            <a:chExt cx="2628172" cy="1676493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A51FEE1D-1B7B-888D-38D9-93B0B9331932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19" name="Elemento grafico 18">
              <a:extLst>
                <a:ext uri="{FF2B5EF4-FFF2-40B4-BE49-F238E27FC236}">
                  <a16:creationId xmlns:a16="http://schemas.microsoft.com/office/drawing/2014/main" id="{23A574F8-B2CD-8089-BF51-F06DC77A46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20" name="Elemento grafico 19">
              <a:extLst>
                <a:ext uri="{FF2B5EF4-FFF2-40B4-BE49-F238E27FC236}">
                  <a16:creationId xmlns:a16="http://schemas.microsoft.com/office/drawing/2014/main" id="{65DADA3A-0BE0-8E2A-FBCB-6B447C7369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4032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/>
          <p:cNvSpPr txBox="1"/>
          <p:nvPr/>
        </p:nvSpPr>
        <p:spPr>
          <a:xfrm>
            <a:off x="900613" y="83456"/>
            <a:ext cx="390652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defRPr/>
            </a:pPr>
            <a:r>
              <a:rPr lang="en-US" sz="3600" b="1" dirty="0">
                <a:solidFill>
                  <a:srgbClr val="FFFFFF"/>
                </a:solidFill>
                <a:latin typeface="Montserrat" panose="00000500000000000000" pitchFamily="2" charset="0"/>
                <a:ea typeface="Arimo Bold"/>
                <a:cs typeface="Arimo Bold"/>
                <a:sym typeface="Arimo Bold"/>
              </a:rPr>
              <a:t>AEGIS </a:t>
            </a:r>
            <a:endParaRPr sz="3200" dirty="0"/>
          </a:p>
          <a:p>
            <a:pPr algn="ctr"/>
            <a:r>
              <a:rPr lang="en-US" sz="2000" b="1" dirty="0">
                <a:solidFill/>
              </a:rPr>
              <a:t> </a:t>
            </a:r>
            <a:r>
              <a:rPr sz="2000" b="1" u="sng" dirty="0">
                <a:solidFill>
                  <a:schemeClr val="bg1"/>
                </a:solidFill>
              </a:rPr>
              <a:t>Zero-Trust Identity for AI Agents</a:t>
            </a:r>
            <a:r>
              <a:rPr sz="20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098032" y="90960"/>
            <a:ext cx="2322777" cy="820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/>
            <a:r>
              <a:rPr lang="en-US" sz="5334" dirty="0">
                <a:solidFill>
                  <a:srgbClr val="FFFFFF"/>
                </a:solidFill>
                <a:latin typeface="Montserrat Medium" panose="00000600000000000000" pitchFamily="2" charset="0"/>
                <a:ea typeface="Arimo"/>
                <a:cs typeface="Arimo"/>
                <a:sym typeface="Arimo"/>
              </a:rPr>
              <a:t>Index</a:t>
            </a:r>
          </a:p>
        </p:txBody>
      </p:sp>
      <p:sp>
        <p:nvSpPr>
          <p:cNvPr id="86" name="TextBox 37">
            <a:extLst>
              <a:ext uri="{FF2B5EF4-FFF2-40B4-BE49-F238E27FC236}">
                <a16:creationId xmlns:a16="http://schemas.microsoft.com/office/drawing/2014/main" id="{1CAF16B7-2FB4-86D0-1A34-76AB7585B548}"/>
              </a:ext>
            </a:extLst>
          </p:cNvPr>
          <p:cNvSpPr txBox="1"/>
          <p:nvPr/>
        </p:nvSpPr>
        <p:spPr>
          <a:xfrm>
            <a:off x="11226800" y="6447040"/>
            <a:ext cx="678689" cy="128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defTabSz="609630">
              <a:lnSpc>
                <a:spcPts val="959"/>
              </a:lnSpc>
            </a:pPr>
            <a:fld id="{9D069B2F-4B80-4BD9-B833-B84155CAE399}" type="slidenum">
              <a:rPr lang="en-US" sz="933">
                <a:solidFill>
                  <a:prstClr val="white"/>
                </a:solidFill>
                <a:latin typeface="TIM Sans" panose="02020503040602060503" pitchFamily="18" charset="0"/>
                <a:ea typeface="Arimo"/>
                <a:cs typeface="Arimo"/>
                <a:sym typeface="Arimo"/>
              </a:rPr>
              <a:pPr algn="r" defTabSz="609630">
                <a:lnSpc>
                  <a:spcPts val="959"/>
                </a:lnSpc>
              </a:pPr>
              <a:t>2</a:t>
            </a:fld>
            <a:endParaRPr lang="en-US" sz="933">
              <a:solidFill>
                <a:prstClr val="white"/>
              </a:solidFill>
              <a:latin typeface="TIM Sans" panose="02020503040602060503" pitchFamily="18" charset="0"/>
              <a:ea typeface="Arimo"/>
              <a:cs typeface="Arimo"/>
              <a:sym typeface="Arimo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19BB1831-2052-6BA9-74AF-6612EF0ACDC6}"/>
              </a:ext>
            </a:extLst>
          </p:cNvPr>
          <p:cNvGrpSpPr/>
          <p:nvPr/>
        </p:nvGrpSpPr>
        <p:grpSpPr>
          <a:xfrm>
            <a:off x="225701" y="5098051"/>
            <a:ext cx="2628172" cy="1676493"/>
            <a:chOff x="1040621" y="3487333"/>
            <a:chExt cx="2628172" cy="1676493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EF9287E2-D914-EAB9-D091-E328BC7D5CE8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4" name="Elemento grafico 3">
              <a:extLst>
                <a:ext uri="{FF2B5EF4-FFF2-40B4-BE49-F238E27FC236}">
                  <a16:creationId xmlns:a16="http://schemas.microsoft.com/office/drawing/2014/main" id="{EA722B40-A099-F9DA-1BD5-5620CD7EC3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5" name="Elemento grafico 4">
              <a:extLst>
                <a:ext uri="{FF2B5EF4-FFF2-40B4-BE49-F238E27FC236}">
                  <a16:creationId xmlns:a16="http://schemas.microsoft.com/office/drawing/2014/main" id="{A730C933-14BD-7923-1550-12D3D151CB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  <p:pic>
        <p:nvPicPr>
          <p:cNvPr id="6" name="Immagine 5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FD2FBD41-663B-6BDB-5566-7744D38AF50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9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902675" y="973043"/>
            <a:ext cx="4032779" cy="2593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F37A49-E925-BF82-2B95-00CF7E5B6002}"/>
              </a:ext>
            </a:extLst>
          </p:cNvPr>
          <p:cNvSpPr txBox="1"/>
          <p:nvPr/>
        </p:nvSpPr>
        <p:spPr>
          <a:xfrm>
            <a:off x="225701" y="3761012"/>
            <a:ext cx="47097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9A9CE6"/>
                </a:solidFill>
                <a:latin typeface="Segoe UI"/>
              </a:rPr>
              <a:t>Team 4 :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  <a:latin typeface="Segoe UI"/>
              </a:rPr>
              <a:t>Fauzan Ejaz </a:t>
            </a:r>
            <a:r>
              <a:rPr lang="en-IN" b="1" dirty="0">
                <a:solidFill>
                  <a:schemeClr val="accent6"/>
                </a:solidFill>
                <a:latin typeface="Segoe UI"/>
              </a:rPr>
              <a:t>(Captain)</a:t>
            </a:r>
            <a:endParaRPr lang="en-IN" b="1" dirty="0">
              <a:solidFill>
                <a:schemeClr val="bg1"/>
              </a:solidFill>
              <a:latin typeface="Segoe UI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 err="1">
                <a:solidFill>
                  <a:schemeClr val="bg1"/>
                </a:solidFill>
                <a:latin typeface="Segoe UI"/>
              </a:rPr>
              <a:t>Llagami</a:t>
            </a:r>
            <a:r>
              <a:rPr lang="en-IN" b="1" dirty="0">
                <a:solidFill>
                  <a:schemeClr val="bg1"/>
                </a:solidFill>
                <a:latin typeface="Segoe UI"/>
              </a:rPr>
              <a:t> Tedi</a:t>
            </a:r>
            <a:endParaRPr lang="en-IN" b="1" dirty="0">
              <a:solidFill>
                <a:schemeClr val="accent6"/>
              </a:solidFill>
              <a:latin typeface="Segoe UI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130000" y="115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1ABDB"/>
                </a:solidFill>
                <a:latin typeface="Montserrat"/>
              </a:rPr>
              <a:t>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27808" y="1080291"/>
            <a:ext cx="5900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Montserrat"/>
              </a:rPr>
              <a:t>Proposed Technical Solution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30000" y="175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00000" y="1699389"/>
            <a:ext cx="5900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Montserrat"/>
              </a:rPr>
              <a:t>Architecture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30000" y="235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00000" y="2299389"/>
            <a:ext cx="5900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Montserrat"/>
              </a:rPr>
              <a:t>Implementation Strategy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30000" y="295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00000" y="2899389"/>
            <a:ext cx="5900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Montserrat"/>
              </a:rPr>
              <a:t>Numerical Performance Analysis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30000" y="355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00000" y="3527909"/>
            <a:ext cx="5900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Montserrat"/>
              </a:rPr>
              <a:t>Remaining Work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0000" y="415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1ABDB"/>
                </a:solidFill>
                <a:latin typeface="Montserrat"/>
              </a:rPr>
              <a:t>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00000" y="4068789"/>
            <a:ext cx="5900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dirty="0">
                <a:solidFill>
                  <a:schemeClr val="bg1"/>
                </a:solidFill>
                <a:latin typeface="Montserrat"/>
              </a:rPr>
              <a:t>Expected Proof of Concept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4792" y="118463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1ABDB"/>
                </a:solidFill>
                <a:latin typeface="Montserrat"/>
              </a:rPr>
              <a:t>BEFORE WE GO TECHNICAL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763" y="5715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A Stolen Badge Still Opens The Door.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763" y="118872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dirty="0">
                <a:solidFill>
                  <a:srgbClr val="334155"/>
                </a:solidFill>
                <a:latin typeface="Montserrat"/>
              </a:rPr>
              <a:t>A good guard doesn't just check the badge - they notice when the person wearing it stops walking, working, and behaving like they always have. That's what AEGIS does for every AI agent talking to your network.</a:t>
            </a:r>
          </a:p>
        </p:txBody>
      </p:sp>
      <p:pic>
        <p:nvPicPr>
          <p:cNvPr id="5" name="Picture 4" descr="aegis_hook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74755"/>
            <a:ext cx="10607040" cy="24086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" y="4114800"/>
            <a:ext cx="3520440" cy="91440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8952" y="4114800"/>
            <a:ext cx="82296" cy="914400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9384"/>
                </a:solidFill>
                <a:latin typeface="Montserrat"/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334155"/>
                </a:solidFill>
                <a:latin typeface="Montserrat"/>
              </a:rPr>
              <a:t>Acts like itself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4114800"/>
            <a:ext cx="3520440" cy="91440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16552" y="4114800"/>
            <a:ext cx="82296" cy="91440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E0A100"/>
                </a:solidFill>
                <a:latin typeface="Montserrat"/>
              </a:rPr>
              <a:t>STEP-UP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334155"/>
                </a:solidFill>
                <a:latin typeface="Montserrat"/>
              </a:rPr>
              <a:t>Something's off - verify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4114800"/>
            <a:ext cx="3520440" cy="914400"/>
          </a:xfrm>
          <a:prstGeom prst="round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4152" y="4114800"/>
            <a:ext cx="82296" cy="914400"/>
          </a:xfrm>
          <a:prstGeom prst="rect">
            <a:avLst/>
          </a:prstGeom>
          <a:solidFill>
            <a:srgbClr val="C0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C0394B"/>
                </a:solidFill>
                <a:latin typeface="Montserrat"/>
              </a:rPr>
              <a:t>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334155"/>
                </a:solidFill>
                <a:latin typeface="Montserrat"/>
              </a:rPr>
              <a:t>Impersonator - stop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25780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020C31"/>
                </a:solidFill>
                <a:latin typeface="Montserrat"/>
              </a:rPr>
              <a:t>One idea to carry through this whole talk: </a:t>
            </a:r>
            <a:r>
              <a:rPr sz="1500" b="0">
                <a:solidFill>
                  <a:srgbClr val="020C31"/>
                </a:solidFill>
                <a:latin typeface="Montserrat"/>
              </a:rPr>
              <a:t>a badge proves who you're supposed to be. AEGIS proves whether you're still acting like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PART 1 OF 6 - TECHNICAL SOLUTION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39290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Proposed Technical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9264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dirty="0">
                <a:solidFill>
                  <a:srgbClr val="334155"/>
                </a:solidFill>
                <a:latin typeface="Montserrat"/>
              </a:rPr>
              <a:t>A stolen credential still passes authentication. AEGIS answers the question authentication never asks: is this really our agent, behaving the way it always does?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691640"/>
            <a:ext cx="10607040" cy="777240"/>
          </a:xfrm>
          <a:prstGeom prst="roundRect">
            <a:avLst>
              <a:gd name="adj" fmla="val 10000"/>
            </a:avLst>
          </a:prstGeom>
          <a:solidFill>
            <a:srgbClr val="020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“Credentials prove what you have, AEGIS verifies how you behave.”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2697480"/>
            <a:ext cx="251460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2697480"/>
            <a:ext cx="2514600" cy="7315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on_ob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52" y="2890632"/>
            <a:ext cx="500000" cy="5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1832" y="3480632"/>
            <a:ext cx="21488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020C31"/>
                </a:solidFill>
                <a:latin typeface="Montserrat"/>
              </a:rP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840632"/>
            <a:ext cx="2148840" cy="915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334155"/>
                </a:solidFill>
                <a:latin typeface="Montserrat"/>
              </a:rPr>
              <a:t>Every request an agent sends to the network is captured - who sent it, what it touched, when, and how.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992" y="3010632"/>
            <a:ext cx="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334155"/>
                </a:solidFill>
                <a:latin typeface="Montserrat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2697480"/>
            <a:ext cx="251460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56432" y="2697480"/>
            <a:ext cx="2514600" cy="73152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con_finger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732" y="2890632"/>
            <a:ext cx="500000" cy="50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39312" y="3480632"/>
            <a:ext cx="21488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020C31"/>
                </a:solidFill>
                <a:latin typeface="Montserrat"/>
              </a:rPr>
              <a:t>FINGERPRINT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840632"/>
            <a:ext cx="2148840" cy="915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334155"/>
                </a:solidFill>
                <a:latin typeface="Montserrat"/>
              </a:rPr>
              <a:t>That stream becomes a behavioural profile per agent: its normal endpoints, pace, and call sequence.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2472" y="3010632"/>
            <a:ext cx="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334155"/>
                </a:solidFill>
                <a:latin typeface="Montserrat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2697480"/>
            <a:ext cx="251460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53912" y="2697480"/>
            <a:ext cx="2514600" cy="73152"/>
          </a:xfrm>
          <a:prstGeom prst="round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con_s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212" y="2890632"/>
            <a:ext cx="500000" cy="50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36792" y="3480632"/>
            <a:ext cx="21488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020C31"/>
                </a:solidFill>
                <a:latin typeface="Montserrat"/>
              </a:rPr>
              <a:t>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3840632"/>
            <a:ext cx="2148840" cy="915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334155"/>
                </a:solidFill>
                <a:latin typeface="Montserrat"/>
              </a:rPr>
              <a:t>Live behaviour is compared to that profile in real time - fast rule checks fused with a machine-learning anomaly score.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9952" y="3010632"/>
            <a:ext cx="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334155"/>
                </a:solidFill>
                <a:latin typeface="Montserrat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1392" y="2697480"/>
            <a:ext cx="251460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51392" y="2697480"/>
            <a:ext cx="2514600" cy="73152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con_dec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692" y="2890632"/>
            <a:ext cx="500000" cy="50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34272" y="3480632"/>
            <a:ext cx="21488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020C31"/>
                </a:solidFill>
                <a:latin typeface="Montserrat"/>
              </a:rP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3840632"/>
            <a:ext cx="2148840" cy="915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334155"/>
                </a:solidFill>
                <a:latin typeface="Montserrat"/>
              </a:rPr>
              <a:t>The score becomes an action instantly: let the request through, challenge it, or shut it down.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009" y="4816858"/>
            <a:ext cx="10706120" cy="721050"/>
          </a:xfrm>
          <a:prstGeom prst="roundRect">
            <a:avLst>
              <a:gd name="adj" fmla="val 8000"/>
            </a:avLst>
          </a:prstGeom>
          <a:solidFill>
            <a:srgbClr val="020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1845" y="5041360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WORKED EXAMPLE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76928" y="4712990"/>
            <a:ext cx="2148840" cy="8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dirty="0">
                <a:solidFill>
                  <a:srgbClr val="6FCCDD"/>
                </a:solidFill>
                <a:latin typeface="Montserrat"/>
              </a:rPr>
              <a:t>Agent-07 calls NRF</a:t>
            </a:r>
          </a:p>
          <a:p>
            <a:pPr algn="ctr">
              <a:lnSpc>
                <a:spcPct val="110000"/>
              </a:lnSpc>
            </a:pPr>
            <a:r>
              <a:rPr sz="1200" b="0" dirty="0">
                <a:solidFill>
                  <a:srgbClr val="6FCCDD"/>
                </a:solidFill>
                <a:latin typeface="Montserrat"/>
              </a:rPr>
              <a:t>40x per minute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3932" y="4975375"/>
            <a:ext cx="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dirty="0">
                <a:solidFill>
                  <a:srgbClr val="6FCCDD"/>
                </a:solidFill>
                <a:latin typeface="Montserrat"/>
              </a:rPr>
              <a:t>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08648" y="4706320"/>
            <a:ext cx="2148840" cy="8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dirty="0">
                <a:solidFill>
                  <a:srgbClr val="6FCCDD"/>
                </a:solidFill>
                <a:latin typeface="Montserrat"/>
              </a:rPr>
              <a:t>Normal endpoint mix,</a:t>
            </a:r>
          </a:p>
          <a:p>
            <a:pPr algn="ctr">
              <a:lnSpc>
                <a:spcPct val="110000"/>
              </a:lnSpc>
            </a:pPr>
            <a:r>
              <a:rPr sz="1200" b="0" dirty="0">
                <a:solidFill>
                  <a:srgbClr val="6FCCDD"/>
                </a:solidFill>
                <a:latin typeface="Montserrat"/>
              </a:rPr>
              <a:t>but rate is elevated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0181" y="4980051"/>
            <a:ext cx="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dirty="0">
                <a:solidFill>
                  <a:srgbClr val="6FCCDD"/>
                </a:solidFill>
                <a:latin typeface="Montserrat"/>
              </a:rPr>
              <a:t>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63788" y="4696320"/>
            <a:ext cx="2148840" cy="8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6FCCDD"/>
                </a:solidFill>
                <a:latin typeface="Montserrat"/>
              </a:rPr>
              <a:t>Risk score: 0.71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1240" y="4991320"/>
            <a:ext cx="2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dirty="0">
                <a:solidFill>
                  <a:srgbClr val="6FCCDD"/>
                </a:solidFill>
                <a:latin typeface="Montserrat"/>
              </a:rPr>
              <a:t>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1808" y="4736156"/>
            <a:ext cx="2148840" cy="8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E0A100"/>
                </a:solidFill>
                <a:latin typeface="Montserrat"/>
              </a:rPr>
              <a:t>STEP-UP:</a:t>
            </a:r>
          </a:p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E0A100"/>
                </a:solidFill>
                <a:latin typeface="Montserrat"/>
              </a:rPr>
              <a:t>re-authenticate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PART 1 OF 6 - TECHNICAL SOLUTION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756" y="48006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The Seven Threats We Watch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756" y="1014984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dirty="0">
                <a:solidFill>
                  <a:srgbClr val="334155"/>
                </a:solidFill>
                <a:latin typeface="Montserrat"/>
              </a:rPr>
              <a:t>Same four-stage pipeline. Seven different ways an identity can go wrong - three (T1, T4, T7) also have a harder v2/slow-ramp variant, 10 attack forms in total.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713629"/>
              </p:ext>
            </p:extLst>
          </p:nvPr>
        </p:nvGraphicFramePr>
        <p:xfrm>
          <a:off x="758953" y="1472184"/>
          <a:ext cx="10396728" cy="4122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0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marL="109728" marR="109728" anchor="ctr">
                    <a:solidFill>
                      <a:srgbClr val="020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dirty="0">
                          <a:solidFill>
                            <a:srgbClr val="FFFFFF"/>
                          </a:solidFill>
                          <a:latin typeface="Montserrat"/>
                        </a:rPr>
                        <a:t>Threat</a:t>
                      </a:r>
                    </a:p>
                  </a:txBody>
                  <a:tcPr marL="109728" marR="109728" anchor="ctr">
                    <a:solidFill>
                      <a:srgbClr val="020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Behavioural signal AEGIS keys on</a:t>
                      </a:r>
                    </a:p>
                  </a:txBody>
                  <a:tcPr marL="109728" marR="109728" anchor="ctr">
                    <a:solidFill>
                      <a:srgbClr val="020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38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4B"/>
                          </a:solidFill>
                          <a:latin typeface="Montserrat"/>
                        </a:rPr>
                        <a:t>T1 v1/v2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20C31"/>
                          </a:solidFill>
                          <a:latin typeface="Montserrat"/>
                        </a:rPr>
                        <a:t>Identity spoofing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Montserrat"/>
                        </a:rPr>
                        <a:t>wrong endpoint mix, timing, sequence for that identity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38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4B"/>
                          </a:solidFill>
                          <a:latin typeface="Montserrat"/>
                        </a:rPr>
                        <a:t>T2</a:t>
                      </a:r>
                    </a:p>
                  </a:txBody>
                  <a:tcPr marL="109728" marR="109728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20C31"/>
                          </a:solidFill>
                          <a:latin typeface="Montserrat"/>
                        </a:rPr>
                        <a:t>Compromised agent</a:t>
                      </a:r>
                    </a:p>
                  </a:txBody>
                  <a:tcPr marL="109728" marR="109728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Montserrat"/>
                        </a:rPr>
                        <a:t>drift from its own baseline: new endpoints, elevated errors</a:t>
                      </a:r>
                    </a:p>
                  </a:txBody>
                  <a:tcPr marL="109728" marR="109728"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38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4B"/>
                          </a:solidFill>
                          <a:latin typeface="Montserrat"/>
                        </a:rPr>
                        <a:t>T3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20C31"/>
                          </a:solidFill>
                          <a:latin typeface="Montserrat"/>
                        </a:rPr>
                        <a:t>Reconnaissance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Montserrat"/>
                        </a:rPr>
                        <a:t>high cardinality of endpoints/targets, many 403/404s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38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4B"/>
                          </a:solidFill>
                          <a:latin typeface="Montserrat"/>
                        </a:rPr>
                        <a:t>T4 v1/v2</a:t>
                      </a:r>
                    </a:p>
                  </a:txBody>
                  <a:tcPr marL="109728" marR="109728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20C31"/>
                          </a:solidFill>
                          <a:latin typeface="Montserrat"/>
                        </a:rPr>
                        <a:t>Volumetric abuse</a:t>
                      </a:r>
                    </a:p>
                  </a:txBody>
                  <a:tcPr marL="109728" marR="109728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Montserrat"/>
                        </a:rPr>
                        <a:t>request-rate spike far above the agent's normal envelope</a:t>
                      </a:r>
                    </a:p>
                  </a:txBody>
                  <a:tcPr marL="109728" marR="109728"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38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4B"/>
                          </a:solidFill>
                          <a:latin typeface="Montserrat"/>
                        </a:rPr>
                        <a:t>T5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20C31"/>
                          </a:solidFill>
                          <a:latin typeface="Montserrat"/>
                        </a:rPr>
                        <a:t>Slow exfiltration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Montserrat"/>
                        </a:rPr>
                        <a:t>abnormal payload sizes, off-hours persistence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38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4B"/>
                          </a:solidFill>
                          <a:latin typeface="Montserrat"/>
                        </a:rPr>
                        <a:t>T6</a:t>
                      </a:r>
                    </a:p>
                  </a:txBody>
                  <a:tcPr marL="109728" marR="109728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20C31"/>
                          </a:solidFill>
                          <a:latin typeface="Montserrat"/>
                        </a:rPr>
                        <a:t>Sequence anomaly</a:t>
                      </a:r>
                    </a:p>
                  </a:txBody>
                  <a:tcPr marL="109728" marR="109728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Montserrat"/>
                        </a:rPr>
                        <a:t>broken call-sequence pattern vs the agent's normal graph</a:t>
                      </a:r>
                    </a:p>
                  </a:txBody>
                  <a:tcPr marL="109728" marR="109728" anchor="ctr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38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4B"/>
                          </a:solidFill>
                          <a:latin typeface="Montserrat"/>
                        </a:rPr>
                        <a:t>T7 v1/v2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20C31"/>
                          </a:solidFill>
                          <a:latin typeface="Montserrat"/>
                        </a:rPr>
                        <a:t>Scope creep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334155"/>
                          </a:solidFill>
                          <a:latin typeface="Montserrat"/>
                        </a:rPr>
                        <a:t>calls to NFs never in the agent's baseline scope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4792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PART 1 OF 6 - TECHNICAL SOLUTION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452628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The Gap, Our Solution, and the State of the 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691640"/>
            <a:ext cx="3456432" cy="15499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8952" y="1691640"/>
            <a:ext cx="3456432" cy="7315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3090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20C31"/>
                </a:solidFill>
                <a:latin typeface="Montserrat"/>
              </a:rP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86000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34155"/>
                </a:solidFill>
                <a:latin typeface="Montserrat"/>
              </a:rPr>
              <a:t>Credentials are checked once, at the door - never again. A stolen or misused identity passes every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691640"/>
            <a:ext cx="3456432" cy="15499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52544" y="1691640"/>
            <a:ext cx="3456432" cy="73152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1920240"/>
            <a:ext cx="3090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20C31"/>
                </a:solidFill>
                <a:latin typeface="Montserrat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86000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34155"/>
                </a:solidFill>
                <a:latin typeface="Montserrat"/>
              </a:rPr>
              <a:t>A continuous behavioural fingerprint per agent: rules + an Isolation Forest, fused, gated PASS / STEP-UP / BLOCK.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1691640"/>
            <a:ext cx="3456432" cy="15499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46136" y="1691640"/>
            <a:ext cx="3456432" cy="73152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29015" y="1920240"/>
            <a:ext cx="3090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20C31"/>
                </a:solidFill>
                <a:latin typeface="Montserrat"/>
              </a:rPr>
              <a:t>VS. STATE OF THE 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5" y="2286000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34155"/>
                </a:solidFill>
                <a:latin typeface="Montserrat"/>
              </a:rPr>
              <a:t>A Statistical Process Control baseline, run on our own data: 0.944 ROC-AUC / 63.4% recall. AEGIS: 0.965 / 90.7% - a significant gap (p=0.015).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41148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8952" y="4114800"/>
            <a:ext cx="82296" cy="914400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9384"/>
                </a:solidFill>
                <a:latin typeface="Montserrat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4155"/>
                </a:solidFill>
                <a:latin typeface="Montserrat"/>
              </a:rPr>
              <a:t>Behaves like its known-good self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41148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16552" y="4114800"/>
            <a:ext cx="82296" cy="914400"/>
          </a:xfrm>
          <a:prstGeom prst="round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451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E0A100"/>
                </a:solidFill>
                <a:latin typeface="Montserrat"/>
              </a:rPr>
              <a:t>STEP-UP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4155"/>
                </a:solidFill>
                <a:latin typeface="Montserrat"/>
              </a:rPr>
              <a:t>Challenge: re-authenticate, approve, throttle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41148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74152" y="4114800"/>
            <a:ext cx="82296" cy="914400"/>
          </a:xfrm>
          <a:prstGeom prst="roundRect">
            <a:avLst/>
          </a:prstGeom>
          <a:solidFill>
            <a:srgbClr val="C0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C0394B"/>
                </a:solidFill>
                <a:latin typeface="Montserrat"/>
              </a:rPr>
              <a:t>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4155"/>
                </a:solidFill>
                <a:latin typeface="Montserrat"/>
              </a:rPr>
              <a:t>Quarantine the identity, alert the SOC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54330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dirty="0">
                <a:solidFill>
                  <a:srgbClr val="334155"/>
                </a:solidFill>
                <a:latin typeface="Montserrat"/>
              </a:rPr>
              <a:t>Credentials prove what you have, AEGIS verifies how you behave - and we can show it beats the classic baseline.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4791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PART 2 OF 6 -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5824" y="493776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824" y="978408"/>
            <a:ext cx="9798212" cy="426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dirty="0">
                <a:solidFill>
                  <a:srgbClr val="334155"/>
                </a:solidFill>
                <a:latin typeface="Montserrat"/>
              </a:rPr>
              <a:t>A four-stage pipeline sitting in front of the network's control-plane APIs. Every request an agent sends to a Network Function is observed by the gate.</a:t>
            </a:r>
          </a:p>
        </p:txBody>
      </p:sp>
      <p:pic>
        <p:nvPicPr>
          <p:cNvPr id="5" name="Picture 4" descr="aegis_architecture_diagram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7" y="1783080"/>
            <a:ext cx="1060704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4792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PART 2 OF 6 -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452628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Scoring: Rules + ML, Fused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691639"/>
            <a:ext cx="3456432" cy="13591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8952" y="1691640"/>
            <a:ext cx="3456432" cy="7315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3090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20C31"/>
                </a:solidFill>
                <a:latin typeface="Montserrat"/>
              </a:rPr>
              <a:t>RULES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86000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ontserrat"/>
              </a:rPr>
              <a:t>Fast, explainable. Flags out-of-scope calls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691640"/>
            <a:ext cx="3456432" cy="13591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52544" y="1691640"/>
            <a:ext cx="3456432" cy="73152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1920240"/>
            <a:ext cx="3090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20C31"/>
                </a:solidFill>
                <a:latin typeface="Montserrat"/>
              </a:rPr>
              <a:t>ML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86000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34155"/>
                </a:solidFill>
                <a:latin typeface="Montserrat"/>
              </a:rPr>
              <a:t>An Isolation Forest, trained only on legitimate traffic - no labelled attacks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1691640"/>
            <a:ext cx="3456432" cy="135913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46136" y="1691640"/>
            <a:ext cx="3456432" cy="73152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29015" y="1920240"/>
            <a:ext cx="3090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20C31"/>
                </a:solidFill>
                <a:latin typeface="Montserrat"/>
              </a:rPr>
              <a:t>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5" y="2286000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34155"/>
                </a:solidFill>
                <a:latin typeface="Montserrat"/>
              </a:rPr>
              <a:t>risk = max(rule_score, ml_score) - rules veto hard violations, ML catches subtler drift.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41148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8952" y="4114800"/>
            <a:ext cx="82296" cy="914400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E9384"/>
                </a:solidFill>
                <a:latin typeface="Montserrat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4155"/>
                </a:solidFill>
                <a:latin typeface="Montserrat"/>
              </a:rPr>
              <a:t>Behaves like its known-good self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41148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16552" y="4114800"/>
            <a:ext cx="82296" cy="914400"/>
          </a:xfrm>
          <a:prstGeom prst="round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451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0A100"/>
                </a:solidFill>
                <a:latin typeface="Montserrat"/>
              </a:rPr>
              <a:t>STEP-UP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4155"/>
                </a:solidFill>
                <a:latin typeface="Montserrat"/>
              </a:rPr>
              <a:t>Challenge: re-authenticate, approve, throttle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41148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74152" y="4114800"/>
            <a:ext cx="82296" cy="914400"/>
          </a:xfrm>
          <a:prstGeom prst="roundRect">
            <a:avLst/>
          </a:prstGeom>
          <a:solidFill>
            <a:srgbClr val="C0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C0394B"/>
                </a:solidFill>
                <a:latin typeface="Montserrat"/>
              </a:rPr>
              <a:t>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4155"/>
                </a:solidFill>
                <a:latin typeface="Montserrat"/>
              </a:rPr>
              <a:t>Quarantine the identity, alert the SOC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342900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dirty="0">
                <a:solidFill>
                  <a:srgbClr val="334155"/>
                </a:solidFill>
                <a:latin typeface="Montserrat"/>
              </a:rPr>
              <a:t>Tuned for a ~1.5% false-positive budget, not maximum sensitivity - detection is intentionally uneven across threats.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3599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dirty="0">
                <a:solidFill>
                  <a:srgbClr val="01ABDB"/>
                </a:solidFill>
                <a:latin typeface="Montserrat"/>
              </a:rPr>
              <a:t>PART 3 OF 6 - IMPLEMENTATION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6691" y="402336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dirty="0">
                <a:solidFill>
                  <a:srgbClr val="020C31"/>
                </a:solidFill>
                <a:latin typeface="Montserrat"/>
              </a:rPr>
              <a:t>How Isolation Forest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6691" y="8595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dirty="0">
                <a:solidFill>
                  <a:srgbClr val="334155"/>
                </a:solidFill>
                <a:latin typeface="Montserrat"/>
              </a:rPr>
              <a:t>The model that does the heavy lifting in the ML layer - no labelled attacks, just a simple idea applied many times 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425" y="4554958"/>
            <a:ext cx="8792371" cy="1820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irty="0">
                <a:solidFill>
                  <a:srgbClr val="01ABDB"/>
                </a:solidFill>
                <a:latin typeface="Montserrat"/>
              </a:rPr>
              <a:t>-  </a:t>
            </a:r>
            <a:r>
              <a:rPr sz="1600" b="0" dirty="0">
                <a:solidFill>
                  <a:srgbClr val="334155"/>
                </a:solidFill>
                <a:latin typeface="Montserrat"/>
              </a:rPr>
              <a:t>Builds many random-split trees: each node picks a random feature and a random split value.</a:t>
            </a:r>
          </a:p>
          <a:p>
            <a:pPr algn="l">
              <a:lnSpc>
                <a:spcPct val="125000"/>
              </a:lnSpc>
            </a:pPr>
            <a:r>
              <a:rPr sz="1600" b="1" dirty="0">
                <a:solidFill>
                  <a:srgbClr val="01ABDB"/>
                </a:solidFill>
                <a:latin typeface="Montserrat"/>
              </a:rPr>
              <a:t>-  </a:t>
            </a:r>
            <a:r>
              <a:rPr sz="1600" b="0" dirty="0">
                <a:solidFill>
                  <a:srgbClr val="334155"/>
                </a:solidFill>
                <a:latin typeface="Montserrat"/>
              </a:rPr>
              <a:t>Anomalies sit apart, so a few random splits isolate them. Normal points, surrounded by similar ones, take many more splits.</a:t>
            </a:r>
          </a:p>
          <a:p>
            <a:pPr algn="l">
              <a:lnSpc>
                <a:spcPct val="125000"/>
              </a:lnSpc>
            </a:pPr>
            <a:r>
              <a:rPr sz="1600" b="1" dirty="0">
                <a:solidFill>
                  <a:srgbClr val="01ABDB"/>
                </a:solidFill>
                <a:latin typeface="Montserrat"/>
              </a:rPr>
              <a:t>-  </a:t>
            </a:r>
            <a:r>
              <a:rPr sz="1600" b="0" dirty="0">
                <a:solidFill>
                  <a:srgbClr val="334155"/>
                </a:solidFill>
                <a:latin typeface="Montserrat"/>
              </a:rPr>
              <a:t>Score = how short the average isolation path is, normalised to 0..1. Short path -&gt; high score -&gt; looks like an attack.</a:t>
            </a:r>
          </a:p>
        </p:txBody>
      </p:sp>
      <p:pic>
        <p:nvPicPr>
          <p:cNvPr id="7" name="Picture 6" descr="aegis_isolation_forest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425" y="1155054"/>
            <a:ext cx="6982515" cy="31255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0" y="13258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dirty="0">
                <a:solidFill>
                  <a:srgbClr val="01ABDB"/>
                </a:solidFill>
                <a:latin typeface="Montserrat"/>
              </a:rPr>
              <a:t>PART 3 OF 6 - IMPLEMENTATION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2450" y="58064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dirty="0">
                <a:solidFill>
                  <a:srgbClr val="020C31"/>
                </a:solidFill>
                <a:latin typeface="Montserrat"/>
              </a:rPr>
              <a:t>Training, Features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43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334155"/>
                </a:solidFill>
                <a:latin typeface="Montserrat"/>
              </a:rPr>
              <a:t>Unsupervised by design - the gate has to recognise drift from agents it has never seen attacked, not just the attacks in our synthetic catalogue.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73736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D67B1"/>
                </a:solidFill>
                <a:latin typeface="Montserrat"/>
              </a:rPr>
              <a:t>10 INPUT FEATURES PER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48840"/>
            <a:ext cx="50749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1ABDB"/>
                </a:solidFill>
                <a:latin typeface="Montserrat"/>
              </a:rPr>
              <a:t>-  </a:t>
            </a:r>
            <a:r>
              <a:rPr sz="1300" b="0">
                <a:solidFill>
                  <a:srgbClr val="334155"/>
                </a:solidFill>
                <a:latin typeface="Montserrat"/>
              </a:rPr>
              <a:t>n - request count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1ABDB"/>
                </a:solidFill>
                <a:latin typeface="Montserrat"/>
              </a:rPr>
              <a:t>-  </a:t>
            </a:r>
            <a:r>
              <a:rPr sz="1300" b="0">
                <a:solidFill>
                  <a:srgbClr val="334155"/>
                </a:solidFill>
                <a:latin typeface="Montserrat"/>
              </a:rPr>
              <a:t>distinct_nf - Network Functions touched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1ABDB"/>
                </a:solidFill>
                <a:latin typeface="Montserrat"/>
              </a:rPr>
              <a:t>-  </a:t>
            </a:r>
            <a:r>
              <a:rPr sz="1300" b="0">
                <a:solidFill>
                  <a:srgbClr val="334155"/>
                </a:solidFill>
                <a:latin typeface="Montserrat"/>
              </a:rPr>
              <a:t>distinct_ep - distinct endpoints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1ABDB"/>
                </a:solidFill>
                <a:latin typeface="Montserrat"/>
              </a:rPr>
              <a:t>-  </a:t>
            </a:r>
            <a:r>
              <a:rPr sz="1300" b="0">
                <a:solidFill>
                  <a:srgbClr val="334155"/>
                </a:solidFill>
                <a:latin typeface="Montserrat"/>
              </a:rPr>
              <a:t>err_rate - fraction of 4xx/5xx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1ABDB"/>
                </a:solidFill>
                <a:latin typeface="Montserrat"/>
              </a:rPr>
              <a:t>-  </a:t>
            </a:r>
            <a:r>
              <a:rPr sz="1300" b="0">
                <a:solidFill>
                  <a:srgbClr val="334155"/>
                </a:solidFill>
                <a:latin typeface="Montserrat"/>
              </a:rPr>
              <a:t>get_frac / write_frac - method mix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1ABDB"/>
                </a:solidFill>
                <a:latin typeface="Montserrat"/>
              </a:rPr>
              <a:t>-  </a:t>
            </a:r>
            <a:r>
              <a:rPr sz="1300" b="0">
                <a:solidFill>
                  <a:srgbClr val="334155"/>
                </a:solidFill>
                <a:latin typeface="Montserrat"/>
              </a:rPr>
              <a:t>mean_resp / max_resp - payload size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1ABDB"/>
                </a:solidFill>
                <a:latin typeface="Montserrat"/>
              </a:rPr>
              <a:t>-  </a:t>
            </a:r>
            <a:r>
              <a:rPr sz="1300" b="0">
                <a:solidFill>
                  <a:srgbClr val="334155"/>
                </a:solidFill>
                <a:latin typeface="Montserrat"/>
              </a:rPr>
              <a:t>hour - time of day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1ABDB"/>
                </a:solidFill>
                <a:latin typeface="Montserrat"/>
              </a:rPr>
              <a:t>-  </a:t>
            </a:r>
            <a:r>
              <a:rPr sz="1300" b="0">
                <a:solidFill>
                  <a:srgbClr val="334155"/>
                </a:solidFill>
                <a:latin typeface="Montserrat"/>
              </a:rPr>
              <a:t>distinct_target_roll - rolling subscriber/record breadth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373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1ABDB"/>
                </a:solidFill>
                <a:latin typeface="Montserrat"/>
              </a:rPr>
              <a:t>WHY IT FITS A ZERO-TRUST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48840"/>
            <a:ext cx="52120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2148840"/>
            <a:ext cx="64008" cy="868680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221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No labelled attacks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87168"/>
            <a:ext cx="484632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Montserrat"/>
              </a:rPr>
              <a:t>Fit only on each agent's own legit traffic - an unlabelled 'normal', which is all a new agent's own history ever gives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90672"/>
            <a:ext cx="52120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72200" y="3090672"/>
            <a:ext cx="64008" cy="868680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16382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Per-agent identity, one-hot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29000"/>
            <a:ext cx="484632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Montserrat"/>
              </a:rPr>
              <a:t>The model learns each agent's own normal, so impersonation (T1) shows up as unlike-itself, not unlike-everyone-else.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032504"/>
            <a:ext cx="5212080" cy="10631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4032503"/>
            <a:ext cx="64008" cy="1063197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10565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300 trees, contamination 0.02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70832"/>
            <a:ext cx="484632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Montserrat"/>
              </a:rPr>
              <a:t>scikit-learn IsolationForest: 300 trees, contamination 0.02. Engages after 10+ requests in 5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5191714"/>
            <a:ext cx="5193792" cy="10856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72200" y="5191714"/>
            <a:ext cx="69827" cy="1091252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534924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Calibrated on held-out legit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597167"/>
            <a:ext cx="484632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334155"/>
                </a:solidFill>
                <a:latin typeface="Montserrat"/>
              </a:rPr>
              <a:t>Scores are mapped to 0..1 using a legit split the model never trained on - avoids understating the tail and inflating false positives.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3F6AD-5D7B-1BC6-7E72-4F393B5A2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914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dirty="0">
                <a:solidFill>
                  <a:srgbClr val="01ABDB"/>
                </a:solidFill>
                <a:latin typeface="Montserrat"/>
              </a:rPr>
              <a:t>PART 3 OF 6 - IMPLEMENTATION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2076" y="448056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dirty="0">
                <a:solidFill>
                  <a:srgbClr val="020C31"/>
                </a:solidFill>
                <a:latin typeface="Montserrat"/>
              </a:rPr>
              <a:t>Beyond Synthetic: A Real 5G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076" y="923544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dirty="0">
                <a:solidFill>
                  <a:srgbClr val="334155"/>
                </a:solidFill>
                <a:latin typeface="Montserrat"/>
              </a:rPr>
              <a:t>A core validation question for any synthetic-first approach: does detection still hold up against real M2M / API-gateway traffic, not just the generator?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3736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91072" y="1737360"/>
            <a:ext cx="64008" cy="914400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1828800"/>
            <a:ext cx="47091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20C31"/>
                </a:solidFill>
                <a:latin typeface="Montserrat"/>
              </a:rPr>
              <a:t>Stood up a real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1" y="2042172"/>
            <a:ext cx="4709159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334155"/>
                </a:solidFill>
                <a:latin typeface="Montserrat"/>
              </a:rPr>
              <a:t>A full Open5GS SA deployment (14 NFs) plus a UERANSIM </a:t>
            </a:r>
            <a:r>
              <a:rPr sz="1200" b="0" dirty="0" err="1">
                <a:solidFill>
                  <a:srgbClr val="334155"/>
                </a:solidFill>
                <a:latin typeface="Montserrat"/>
              </a:rPr>
              <a:t>gNB</a:t>
            </a:r>
            <a:r>
              <a:rPr sz="1200" b="0" dirty="0">
                <a:solidFill>
                  <a:srgbClr val="334155"/>
                </a:solidFill>
                <a:latin typeface="Montserrat"/>
              </a:rPr>
              <a:t>/UE - a genuine registration and PDU session, not simulated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74320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91072" y="2743200"/>
            <a:ext cx="64008" cy="914400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834640"/>
            <a:ext cx="47091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20C31"/>
                </a:solidFill>
                <a:latin typeface="Montserrat"/>
              </a:rPr>
              <a:t>Captured real SBI traffic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127248"/>
            <a:ext cx="4709159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Montserrat"/>
              </a:rPr>
              <a:t>tcpdump on the AMF's network namespace, parsed into the same schema AEGIS's detector already expects.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3749039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91072" y="3749039"/>
            <a:ext cx="64008" cy="914400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3840479"/>
            <a:ext cx="47091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20C31"/>
                </a:solidFill>
                <a:latin typeface="Montserrat"/>
              </a:rPr>
              <a:t>Schema matches, 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0" y="4034016"/>
            <a:ext cx="4709159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334155"/>
                </a:solidFill>
                <a:latin typeface="Montserrat"/>
              </a:rPr>
              <a:t>Real captured paths (/</a:t>
            </a:r>
            <a:r>
              <a:rPr sz="1200" b="0" dirty="0" err="1">
                <a:solidFill>
                  <a:srgbClr val="334155"/>
                </a:solidFill>
                <a:latin typeface="Montserrat"/>
              </a:rPr>
              <a:t>nudm-sdm</a:t>
            </a:r>
            <a:r>
              <a:rPr sz="1200" b="0" dirty="0">
                <a:solidFill>
                  <a:srgbClr val="334155"/>
                </a:solidFill>
                <a:latin typeface="Montserrat"/>
              </a:rPr>
              <a:t>/v2/..., /</a:t>
            </a:r>
            <a:r>
              <a:rPr sz="1200" b="0" dirty="0" err="1">
                <a:solidFill>
                  <a:srgbClr val="334155"/>
                </a:solidFill>
                <a:latin typeface="Montserrat"/>
              </a:rPr>
              <a:t>nsmf-pdusession</a:t>
            </a:r>
            <a:r>
              <a:rPr sz="1200" b="0" dirty="0">
                <a:solidFill>
                  <a:srgbClr val="334155"/>
                </a:solidFill>
                <a:latin typeface="Montserrat"/>
              </a:rPr>
              <a:t>/v1/</a:t>
            </a:r>
            <a:r>
              <a:rPr sz="1200" b="0" dirty="0" err="1">
                <a:solidFill>
                  <a:srgbClr val="334155"/>
                </a:solidFill>
                <a:latin typeface="Montserrat"/>
              </a:rPr>
              <a:t>sm</a:t>
            </a:r>
            <a:r>
              <a:rPr sz="1200" b="0" dirty="0">
                <a:solidFill>
                  <a:srgbClr val="334155"/>
                </a:solidFill>
                <a:latin typeface="Montserrat"/>
              </a:rPr>
              <a:t>-contexts) line up with our synthetic generator's naming convention almost exactly.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475488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91072" y="4754880"/>
            <a:ext cx="64008" cy="914400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4846320"/>
            <a:ext cx="47091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20C31"/>
                </a:solidFill>
                <a:latin typeface="Montserrat"/>
              </a:rPr>
              <a:t>Detection validated on real traffic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5138928"/>
            <a:ext cx="4709159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Montserrat"/>
              </a:rPr>
              <a:t>AEGIS's own unmodified detection code: 2 of 2 real attack-like windows correctly flagged BLOCK.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1706" y="6001489"/>
            <a:ext cx="8567410" cy="443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dirty="0">
                <a:solidFill>
                  <a:srgbClr val="334155"/>
                </a:solidFill>
                <a:latin typeface="Montserrat"/>
              </a:rPr>
              <a:t>Honest scope: a short, single-agent capture - rules-dominant, not a replacement for the full synthetic evaluation's statistical rigor.</a:t>
            </a:r>
          </a:p>
        </p:txBody>
      </p:sp>
      <p:pic>
        <p:nvPicPr>
          <p:cNvPr id="23" name="Picture 22" descr="aegis_open5gs_validation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40" y="1920240"/>
            <a:ext cx="6012596" cy="300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608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PART 4 OF 6 - NUMERICAL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State of the Art, Head-to-Head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776" y="479332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dirty="0">
                <a:solidFill>
                  <a:srgbClr val="334155"/>
                </a:solidFill>
                <a:latin typeface="Montserrat"/>
              </a:rPr>
              <a:t>SPC, the classic control-chart baseline, run on the same split as AEGIS: strong on loud signals (T4 100%, T1 100%), blind to subtler ones (T2 34%, T3 45%, T6 31%) - the measured case for behavioural fingerprinting + fusion.</a:t>
            </a:r>
          </a:p>
        </p:txBody>
      </p:sp>
      <p:pic>
        <p:nvPicPr>
          <p:cNvPr id="6" name="Picture 5" descr="aegis_bas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76" y="902335"/>
            <a:ext cx="10169640" cy="38909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PART 4 OF 6 - NUMERICAL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Detection Rate Per Threat - Deliberately Not Uniform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35" y="495229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irty="0">
                <a:solidFill>
                  <a:srgbClr val="334155"/>
                </a:solidFill>
                <a:latin typeface="Montserrat"/>
              </a:rPr>
              <a:t>T1, T4 and T7 (plus their harder v2 / slow-ramp variants) sit at 100% - deterministic policy or rate checks, not statistical inference. The other four span a genuine 72-95% range: loud beats subtle, and low-and-slow attacks are hardest.</a:t>
            </a:r>
          </a:p>
        </p:txBody>
      </p:sp>
      <p:pic>
        <p:nvPicPr>
          <p:cNvPr id="6" name="Picture 5" descr="aegis_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18" y="902335"/>
            <a:ext cx="10607040" cy="40499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6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PART 4 OF 6 - NUMERICAL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9446" y="36576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ROC Operating-Point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636" y="8229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dirty="0">
                <a:solidFill>
                  <a:srgbClr val="334155"/>
                </a:solidFill>
                <a:latin typeface="Montserrat"/>
              </a:rPr>
              <a:t>The chosen threshold is justified with respect to a stated, checkable statistical objective.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7631" y="4997265"/>
            <a:ext cx="10607040" cy="5156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dirty="0">
                <a:solidFill>
                  <a:srgbClr val="334155"/>
                </a:solidFill>
                <a:latin typeface="Montserrat"/>
              </a:rPr>
              <a:t>0.60 is Pareto-efficient - no alternative threshold beats it on both recall and FPR - and sits within 0.2 points of the Neyman-Pearson frontier. It minimises a stated cost function, not an unlabelled 'optimal'.</a:t>
            </a:r>
          </a:p>
        </p:txBody>
      </p:sp>
      <p:pic>
        <p:nvPicPr>
          <p:cNvPr id="7" name="Picture 6" descr="aegis_bayes_risk_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631" y="1525386"/>
            <a:ext cx="9093015" cy="34718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PART 5 OF 6 - REMAINING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51206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20C31"/>
                </a:solidFill>
                <a:latin typeface="Montserrat"/>
              </a:rPr>
              <a:t>Remaining Work Before Final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828800"/>
            <a:ext cx="10607040" cy="577452"/>
          </a:xfrm>
          <a:prstGeom prst="roundRect">
            <a:avLst>
              <a:gd name="adj" fmla="val 8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8952" y="1828800"/>
            <a:ext cx="67056" cy="577452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99628"/>
            <a:ext cx="9966960" cy="2042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dirty="0">
                <a:solidFill/>
                <a:latin typeface="Montserrat"/>
              </a:rPr>
              <a:t>Record and edit the final video demonstration from the live demo script - storyboard and supporting animations are already built.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2703612"/>
            <a:ext cx="10607040" cy="577452"/>
          </a:xfrm>
          <a:prstGeom prst="roundRect">
            <a:avLst>
              <a:gd name="adj" fmla="val 8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1332" y="2703612"/>
            <a:ext cx="82296" cy="530352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703612"/>
            <a:ext cx="9966960" cy="12269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50" dirty="0">
                <a:solidFill/>
                <a:latin typeface="Montserrat"/>
              </a:rPr>
              <a:t>Continue hardening the two remaining softer spots, T5 exfiltration (72%) and T6 sequence (76%), with further rolling-signal refinement.</a:t>
            </a:r>
          </a:p>
          <a:p>
            <a:pPr algn="l">
              <a:lnSpc>
                <a:spcPct val="120000"/>
              </a:lnSpc>
            </a:pPr>
            <a:endParaRPr lang="en-IN" sz="1350" b="0" dirty="0">
              <a:latin typeface="Montserrat"/>
            </a:endParaRPr>
          </a:p>
          <a:p>
            <a:pPr algn="l">
              <a:lnSpc>
                <a:spcPct val="120000"/>
              </a:lnSpc>
            </a:pPr>
            <a:endParaRPr lang="en-IN" sz="1350" dirty="0">
              <a:latin typeface="Montserrat"/>
            </a:endParaRPr>
          </a:p>
          <a:p>
            <a:pPr algn="l">
              <a:lnSpc>
                <a:spcPct val="120000"/>
              </a:lnSpc>
            </a:pPr>
            <a:r>
              <a:rPr sz="1350" b="0" dirty="0">
                <a:solidFill/>
                <a:latin typeface="Montserrat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790" y="3495491"/>
            <a:ext cx="10607040" cy="577452"/>
          </a:xfrm>
          <a:prstGeom prst="roundRect">
            <a:avLst>
              <a:gd name="adj" fmla="val 8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8952" y="3495491"/>
            <a:ext cx="82296" cy="577452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615733"/>
            <a:ext cx="9966960" cy="2297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50">
                <a:solidFill/>
                <a:latin typeface="Montserrat"/>
              </a:rPr>
              <a:t>Deploy the project on AWS once credentials are received</a:t>
            </a:r>
            <a:endParaRPr sz="1350" b="0" dirty="0">
              <a:latin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4792" y="13258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PART 6 OF 6 - EXPECTED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475488"/>
            <a:ext cx="9601200" cy="44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Live Demo </a:t>
            </a:r>
            <a:r>
              <a:rPr lang="en-US" sz="2800" b="1" dirty="0">
                <a:solidFill>
                  <a:srgbClr val="020C31"/>
                </a:solidFill>
                <a:latin typeface="Montserrat"/>
              </a:rPr>
              <a:t>Details</a:t>
            </a:r>
            <a:endParaRPr sz="2800" b="1" dirty="0">
              <a:solidFill>
                <a:srgbClr val="020C31"/>
              </a:solidFill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952" y="1044332"/>
            <a:ext cx="10607040" cy="198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dirty="0">
                <a:solidFill>
                  <a:srgbClr val="334155"/>
                </a:solidFill>
                <a:latin typeface="Montserrat"/>
              </a:rPr>
              <a:t>AEGIS has a working, demonstrable baseline - this is not a forward-looking description, it's a walkthrough of what exists today.</a:t>
            </a:r>
          </a:p>
        </p:txBody>
      </p:sp>
      <p:pic>
        <p:nvPicPr>
          <p:cNvPr id="5" name="AEGIS_Live_Demo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35834" y="1382656"/>
            <a:ext cx="8860166" cy="47069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 mute="1">
                <p:cTn id="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35">
            <a:extLst>
              <a:ext uri="{FF2B5EF4-FFF2-40B4-BE49-F238E27FC236}">
                <a16:creationId xmlns:a16="http://schemas.microsoft.com/office/drawing/2014/main" id="{F79DFFFD-69BC-67D0-2F6C-8A2757687FD5}"/>
              </a:ext>
            </a:extLst>
          </p:cNvPr>
          <p:cNvSpPr txBox="1"/>
          <p:nvPr/>
        </p:nvSpPr>
        <p:spPr>
          <a:xfrm>
            <a:off x="625129" y="5554809"/>
            <a:ext cx="5738726" cy="382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1628"/>
              </a:lnSpc>
            </a:pPr>
            <a:r>
              <a:rPr lang="en-US" sz="1100" spc="13">
                <a:solidFill>
                  <a:srgbClr val="FFFFFF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This presentation contains information that may be privileged or confidential and is the property of 5G Academy 2025/26.</a:t>
            </a:r>
            <a:r>
              <a:rPr lang="en-US" sz="1100" spc="13">
                <a:solidFill>
                  <a:srgbClr val="000000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​</a:t>
            </a:r>
          </a:p>
          <a:p>
            <a:pPr defTabSz="609630">
              <a:lnSpc>
                <a:spcPts val="1628"/>
              </a:lnSpc>
            </a:pPr>
            <a:r>
              <a:rPr lang="en-US" sz="1100" spc="13">
                <a:solidFill>
                  <a:srgbClr val="FFFFFF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Copyright © 2025/26 5G Academy. All rights reserved.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545127C7-0F46-8704-D4BA-AF96F51AAE7E}"/>
              </a:ext>
            </a:extLst>
          </p:cNvPr>
          <p:cNvSpPr txBox="1"/>
          <p:nvPr/>
        </p:nvSpPr>
        <p:spPr>
          <a:xfrm>
            <a:off x="788526" y="4480530"/>
            <a:ext cx="5307474" cy="1179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09630">
              <a:defRPr/>
            </a:pPr>
            <a:r>
              <a:rPr lang="en-GB" sz="7667" spc="-13">
                <a:solidFill>
                  <a:prstClr val="white"/>
                </a:solidFill>
                <a:latin typeface="Montserrat Bold" panose="00000800000000000000" pitchFamily="2" charset="0"/>
                <a:cs typeface="Arial"/>
              </a:rPr>
              <a:t>Thank</a:t>
            </a:r>
            <a:r>
              <a:rPr lang="en-GB" sz="7667" spc="-13">
                <a:solidFill>
                  <a:prstClr val="white"/>
                </a:solidFill>
                <a:latin typeface="TIM Sans Thin" panose="02020503040602060503" pitchFamily="18" charset="0"/>
                <a:cs typeface="Arial"/>
              </a:rPr>
              <a:t> </a:t>
            </a:r>
            <a:r>
              <a:rPr lang="en-GB" sz="7667" spc="-13">
                <a:solidFill>
                  <a:prstClr val="white"/>
                </a:solidFill>
                <a:latin typeface="Montserrat Light" panose="00000400000000000000" pitchFamily="2" charset="0"/>
                <a:cs typeface="Arial"/>
              </a:rPr>
              <a:t>you</a:t>
            </a:r>
            <a:endParaRPr lang="fr-FR" sz="7667" spc="200">
              <a:solidFill>
                <a:prstClr val="white"/>
              </a:solidFill>
              <a:latin typeface="Montserrat Light" panose="00000400000000000000" pitchFamily="2" charset="0"/>
              <a:cs typeface="Arial"/>
            </a:endParaRPr>
          </a:p>
        </p:txBody>
      </p:sp>
      <p:pic>
        <p:nvPicPr>
          <p:cNvPr id="5" name="Immagine 4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98455F16-3EC6-AA39-263F-05660E1A16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5553971" y="324906"/>
            <a:ext cx="6638029" cy="4269628"/>
          </a:xfrm>
          <a:prstGeom prst="rect">
            <a:avLst/>
          </a:prstGeom>
        </p:spPr>
      </p:pic>
      <p:grpSp>
        <p:nvGrpSpPr>
          <p:cNvPr id="7" name="Gruppo 6">
            <a:extLst>
              <a:ext uri="{FF2B5EF4-FFF2-40B4-BE49-F238E27FC236}">
                <a16:creationId xmlns:a16="http://schemas.microsoft.com/office/drawing/2014/main" id="{997479B7-0E49-F31C-36F7-EE773C122418}"/>
              </a:ext>
            </a:extLst>
          </p:cNvPr>
          <p:cNvGrpSpPr/>
          <p:nvPr/>
        </p:nvGrpSpPr>
        <p:grpSpPr>
          <a:xfrm>
            <a:off x="127559" y="400092"/>
            <a:ext cx="7434251" cy="1259234"/>
            <a:chOff x="371318" y="651646"/>
            <a:chExt cx="7434251" cy="1259234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6F1D3B6C-2814-C3D5-D940-E19FF3A116FF}"/>
                </a:ext>
              </a:extLst>
            </p:cNvPr>
            <p:cNvSpPr txBox="1"/>
            <p:nvPr/>
          </p:nvSpPr>
          <p:spPr>
            <a:xfrm>
              <a:off x="371318" y="651646"/>
              <a:ext cx="4102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pc="100">
                  <a:solidFill>
                    <a:srgbClr val="4F81BD">
                      <a:lumMod val="40000"/>
                      <a:lumOff val="60000"/>
                    </a:srgbClr>
                  </a:solidFill>
                  <a:latin typeface="Montserrat Medium" panose="00000600000000000000" pitchFamily="2" charset="0"/>
                </a:rPr>
                <a:t>ADVANCED STEM PROGRAM</a:t>
              </a: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7445FC7E-1EBC-2CFC-DA3F-BD1CA8CF1391}"/>
                </a:ext>
              </a:extLst>
            </p:cNvPr>
            <p:cNvSpPr txBox="1"/>
            <p:nvPr/>
          </p:nvSpPr>
          <p:spPr>
            <a:xfrm>
              <a:off x="371318" y="801819"/>
              <a:ext cx="64075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4800" b="1" spc="-100">
                  <a:solidFill>
                    <a:prstClr val="white"/>
                  </a:solidFill>
                  <a:latin typeface="Montserrat Bold" panose="00000800000000000000" pitchFamily="2" charset="0"/>
                </a:rPr>
                <a:t>AI-Native Networks:</a:t>
              </a: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24F6550C-87E5-F77F-BC5A-B2720984862A}"/>
                </a:ext>
              </a:extLst>
            </p:cNvPr>
            <p:cNvSpPr txBox="1"/>
            <p:nvPr/>
          </p:nvSpPr>
          <p:spPr>
            <a:xfrm>
              <a:off x="371318" y="1449215"/>
              <a:ext cx="74342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z="2400" spc="110" dirty="0">
                  <a:solidFill>
                    <a:srgbClr val="E6F0FF"/>
                  </a:solidFill>
                  <a:latin typeface="Proxima Nova:"/>
                </a:rPr>
                <a:t>Engineering the Infrastructure of the AI Era</a:t>
              </a:r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0DB533A8-695C-0589-EE61-7B7835E7359C}"/>
              </a:ext>
            </a:extLst>
          </p:cNvPr>
          <p:cNvGrpSpPr/>
          <p:nvPr/>
        </p:nvGrpSpPr>
        <p:grpSpPr>
          <a:xfrm>
            <a:off x="9034438" y="4847283"/>
            <a:ext cx="2628172" cy="1676493"/>
            <a:chOff x="1040621" y="3487333"/>
            <a:chExt cx="2628172" cy="1676493"/>
          </a:xfrm>
        </p:grpSpPr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473DBE2A-D16D-3CFA-D458-A36131CFF447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21" name="Elemento grafico 20">
              <a:extLst>
                <a:ext uri="{FF2B5EF4-FFF2-40B4-BE49-F238E27FC236}">
                  <a16:creationId xmlns:a16="http://schemas.microsoft.com/office/drawing/2014/main" id="{69BCE9B7-B7D1-DD0B-6074-9D68302200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22" name="Elemento grafico 21">
              <a:extLst>
                <a:ext uri="{FF2B5EF4-FFF2-40B4-BE49-F238E27FC236}">
                  <a16:creationId xmlns:a16="http://schemas.microsoft.com/office/drawing/2014/main" id="{4D03E4CC-2C12-2AD1-A2E3-B1F6D2E057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30913D8-9114-1F9F-A42D-0726E864D251}"/>
              </a:ext>
            </a:extLst>
          </p:cNvPr>
          <p:cNvSpPr txBox="1"/>
          <p:nvPr/>
        </p:nvSpPr>
        <p:spPr>
          <a:xfrm>
            <a:off x="127559" y="2156931"/>
            <a:ext cx="55362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/>
              </a:rPr>
              <a:t>GITHUB : </a:t>
            </a:r>
            <a:r>
              <a:rPr lang="en-US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https://github.com/fauzan111/AEGIS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/>
              </a:rPr>
              <a:t>GITHUB Live : 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https://fauzan111.github.io/AEGIS/#gate1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/>
              </a:rPr>
              <a:t>Dashboard Live : </a:t>
            </a:r>
            <a:r>
              <a:rPr lang="en-US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https://aegis5gacademy.streamlit.app/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507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APPENDIX - EXTRA STATISTICAL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Appendix: Bootstrap Confidence Intervals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35" y="495229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ontserrat"/>
              </a:rPr>
              <a:t>Point estimates alone overstate precision on a ~350-window attack sample. Stratified bootstrap (3,000 replicates): ROC-AUC 0.965 [0.951, 0.977], recall 90.7% [87.6%, 93.5%], FPR 1.43% [1.21%, 1.64%] - and the AEGIS-vs-SPC AUC gap is significant at p=0.015.</a:t>
            </a:r>
          </a:p>
        </p:txBody>
      </p:sp>
      <p:pic>
        <p:nvPicPr>
          <p:cNvPr id="6" name="Picture 5" descr="aegis_bootstr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75" y="902335"/>
            <a:ext cx="10585125" cy="404996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APPENDIX - EXTRA STATISTICAL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Appendix: Cross-Validated Threshold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35" y="495229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ontserrat"/>
              </a:rPr>
              <a:t>The 0.60 threshold was picked on the same test set final numbers are reported on - a fair concern. 5-fold CV (threshold picked on 4 folds, evaluated on the 5th): threshold 0.604 +/- 0.005, recall 91.6% +/- 3.3%, FPR 1.43% +/- 0.16% - not cherry-picked to one slice of data.</a:t>
            </a:r>
          </a:p>
        </p:txBody>
      </p:sp>
      <p:pic>
        <p:nvPicPr>
          <p:cNvPr id="6" name="Picture 5" descr="aegis_cv_threshold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87" y="902335"/>
            <a:ext cx="10124902" cy="40499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APPENDIX - EXTRA STATISTICAL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Appendix: Temporal Split 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35" y="495229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ontserrat"/>
              </a:rPr>
              <a:t>The main pipeline splits legit windows randomly across the week; real deployment fits on the past and scores the future. Rerun with a strict chronological split (1 day training, 4 days test): ROC-AUC 0.969, recall 90.1%, FPR 1.24% - held up, even with far less training data.</a:t>
            </a:r>
          </a:p>
        </p:txBody>
      </p:sp>
      <p:pic>
        <p:nvPicPr>
          <p:cNvPr id="6" name="Picture 5" descr="aegis_temporal_split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75" y="902335"/>
            <a:ext cx="10585125" cy="404996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APPENDIX - EXTRA STATISTICAL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Appendix: Concept-Drift / Stationarity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35" y="495229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ontserrat"/>
              </a:rPr>
              <a:t>Does an agent's 'normal' stay stable long enough for a one-time baseline to hold? KS-tests (day 1 vs. last day, FDR-corrected): 6 of 20 agent/feature pairs show real drift even within 5 synthetic days - motivating a periodic re-baselining cadence as an explicit requirement, not an assumption.</a:t>
            </a:r>
          </a:p>
        </p:txBody>
      </p:sp>
      <p:pic>
        <p:nvPicPr>
          <p:cNvPr id="6" name="Picture 5" descr="aegis_concept_drift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369" y="902335"/>
            <a:ext cx="6479937" cy="404996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1ABDB"/>
                </a:solidFill>
                <a:latin typeface="Montserrat"/>
              </a:rPr>
              <a:t>APPENDIX - EXTRA STATISTICAL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Appendix: Adversarial Evasion Stress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35" y="495229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ontserrat"/>
              </a:rPr>
              <a:t>All seven threats in the main evaluation are naive - none paced against our thresholds deliberately. Pacing the same T4 flood volume over 24 hours instead of 1 drops detection 100% to 0%. A real, demonstrated gap - the direct fix (a rolling volumetric accumulator, mirroring T3/T5) is now a named priority.</a:t>
            </a:r>
          </a:p>
        </p:txBody>
      </p:sp>
      <p:pic>
        <p:nvPicPr>
          <p:cNvPr id="6" name="Picture 5" descr="aegis_evasion_stres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87" y="902335"/>
            <a:ext cx="10124902" cy="40499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 Sans"/>
        <a:ea typeface=""/>
        <a:cs typeface=""/>
      </a:majorFont>
      <a:minorFont>
        <a:latin typeface="TI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2D7E2E766E274BA85FFEF303FE3B84" ma:contentTypeVersion="11" ma:contentTypeDescription="Create a new document." ma:contentTypeScope="" ma:versionID="161f57f8e4da8c53066cecce20e1cf28">
  <xsd:schema xmlns:xsd="http://www.w3.org/2001/XMLSchema" xmlns:xs="http://www.w3.org/2001/XMLSchema" xmlns:p="http://schemas.microsoft.com/office/2006/metadata/properties" xmlns:ns2="df1bf422-076b-4923-a343-86f92e681c13" xmlns:ns3="17320c4f-b4d7-4a2f-a568-c234bef09358" targetNamespace="http://schemas.microsoft.com/office/2006/metadata/properties" ma:root="true" ma:fieldsID="3f75c0bee81b84287f3a5e0ecbeaea68" ns2:_="" ns3:_="">
    <xsd:import namespace="df1bf422-076b-4923-a343-86f92e681c13"/>
    <xsd:import namespace="17320c4f-b4d7-4a2f-a568-c234bef093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bf422-076b-4923-a343-86f92e681c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5195dc1-fe89-472b-8717-1a06404882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20c4f-b4d7-4a2f-a568-c234bef0935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0e469e3-2d6b-4f07-ba7f-94947d0b2f8c}" ma:internalName="TaxCatchAll" ma:showField="CatchAllData" ma:web="17320c4f-b4d7-4a2f-a568-c234bef093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1bf422-076b-4923-a343-86f92e681c13">
      <Terms xmlns="http://schemas.microsoft.com/office/infopath/2007/PartnerControls"/>
    </lcf76f155ced4ddcb4097134ff3c332f>
    <TaxCatchAll xmlns="17320c4f-b4d7-4a2f-a568-c234bef09358" xsi:nil="true"/>
  </documentManagement>
</p:properties>
</file>

<file path=customXml/itemProps1.xml><?xml version="1.0" encoding="utf-8"?>
<ds:datastoreItem xmlns:ds="http://schemas.openxmlformats.org/officeDocument/2006/customXml" ds:itemID="{4556ADC4-199E-44DC-A523-D8744D7BC3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CF2E81-C883-4B0C-8083-6D912302FD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1bf422-076b-4923-a343-86f92e681c13"/>
    <ds:schemaRef ds:uri="17320c4f-b4d7-4a2f-a568-c234bef093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41EC5D-E343-4D44-BBD8-CEB67CBC2CC1}">
  <ds:schemaRefs>
    <ds:schemaRef ds:uri="0956c7b6-d154-4c2f-a855-f749c344b973"/>
    <ds:schemaRef ds:uri="85ac3166-3b04-459f-810a-4a1a3b1043f5"/>
    <ds:schemaRef ds:uri="9838d0a8-28ce-4517-850f-cd68f65e9223"/>
    <ds:schemaRef ds:uri="http://schemas.microsoft.com/office/2006/metadata/properties"/>
    <ds:schemaRef ds:uri="http://schemas.microsoft.com/office/infopath/2007/PartnerControls"/>
    <ds:schemaRef ds:uri="df1bf422-076b-4923-a343-86f92e681c13"/>
    <ds:schemaRef ds:uri="17320c4f-b4d7-4a2f-a568-c234bef093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2000</Words>
  <Application>Microsoft Office PowerPoint</Application>
  <PresentationFormat>Widescreen</PresentationFormat>
  <Paragraphs>211</Paragraphs>
  <Slides>22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Arial</vt:lpstr>
      <vt:lpstr>Calibri</vt:lpstr>
      <vt:lpstr>Montserrat</vt:lpstr>
      <vt:lpstr>Montserrat Bold</vt:lpstr>
      <vt:lpstr>Montserrat Light</vt:lpstr>
      <vt:lpstr>Montserrat Medium</vt:lpstr>
      <vt:lpstr>Proxima Nova:</vt:lpstr>
      <vt:lpstr>Segoe UI</vt:lpstr>
      <vt:lpstr>TIM Sans</vt:lpstr>
      <vt:lpstr>TIM Sans Light</vt:lpstr>
      <vt:lpstr>TIM Sans Thin</vt:lpstr>
      <vt:lpstr>Tema di Office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CYBORG ACADEMY</dc:title>
  <dc:creator>Microsoft Office User</dc:creator>
  <cp:lastModifiedBy>FAUZAN EJAZ</cp:lastModifiedBy>
  <cp:revision>100</cp:revision>
  <cp:lastPrinted>2019-09-27T11:11:51Z</cp:lastPrinted>
  <dcterms:created xsi:type="dcterms:W3CDTF">2019-09-25T16:06:26Z</dcterms:created>
  <dcterms:modified xsi:type="dcterms:W3CDTF">2026-10-11T18:03:09Z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e397fc-1581-4f20-a09a-f1b2dd53ab2e_Enabled">
    <vt:lpwstr>true</vt:lpwstr>
  </property>
  <property fmtid="{D5CDD505-2E9C-101B-9397-08002B2CF9AE}" pid="3" name="MSIP_Label_d5e397fc-1581-4f20-a09a-f1b2dd53ab2e_SetDate">
    <vt:lpwstr>2021-11-17T09:55:24Z</vt:lpwstr>
  </property>
  <property fmtid="{D5CDD505-2E9C-101B-9397-08002B2CF9AE}" pid="4" name="MSIP_Label_d5e397fc-1581-4f20-a09a-f1b2dd53ab2e_Method">
    <vt:lpwstr>Privileged</vt:lpwstr>
  </property>
  <property fmtid="{D5CDD505-2E9C-101B-9397-08002B2CF9AE}" pid="5" name="MSIP_Label_d5e397fc-1581-4f20-a09a-f1b2dd53ab2e_Name">
    <vt:lpwstr>PUBBLICO</vt:lpwstr>
  </property>
  <property fmtid="{D5CDD505-2E9C-101B-9397-08002B2CF9AE}" pid="6" name="MSIP_Label_d5e397fc-1581-4f20-a09a-f1b2dd53ab2e_SiteId">
    <vt:lpwstr>6815f468-021c-48f2-a6b2-d65c8e979dfb</vt:lpwstr>
  </property>
  <property fmtid="{D5CDD505-2E9C-101B-9397-08002B2CF9AE}" pid="7" name="MSIP_Label_d5e397fc-1581-4f20-a09a-f1b2dd53ab2e_ActionId">
    <vt:lpwstr>7b197b8f-7652-45e1-ab4f-07a24c18b5db</vt:lpwstr>
  </property>
  <property fmtid="{D5CDD505-2E9C-101B-9397-08002B2CF9AE}" pid="8" name="MSIP_Label_d5e397fc-1581-4f20-a09a-f1b2dd53ab2e_ContentBits">
    <vt:lpwstr>0</vt:lpwstr>
  </property>
  <property fmtid="{D5CDD505-2E9C-101B-9397-08002B2CF9AE}" pid="9" name="ContentTypeId">
    <vt:lpwstr>0x010100942D7E2E766E274BA85FFEF303FE3B84</vt:lpwstr>
  </property>
  <property fmtid="{D5CDD505-2E9C-101B-9397-08002B2CF9AE}" pid="10" name="MSIP_Label_2ad0b24d-6422-44b0-b3de-abb3a9e8c81a_Enabled">
    <vt:lpwstr>true</vt:lpwstr>
  </property>
  <property fmtid="{D5CDD505-2E9C-101B-9397-08002B2CF9AE}" pid="11" name="MSIP_Label_2ad0b24d-6422-44b0-b3de-abb3a9e8c81a_SetDate">
    <vt:lpwstr>2026-07-01T14:43:44Z</vt:lpwstr>
  </property>
  <property fmtid="{D5CDD505-2E9C-101B-9397-08002B2CF9AE}" pid="12" name="MSIP_Label_2ad0b24d-6422-44b0-b3de-abb3a9e8c81a_Method">
    <vt:lpwstr>Standard</vt:lpwstr>
  </property>
  <property fmtid="{D5CDD505-2E9C-101B-9397-08002B2CF9AE}" pid="13" name="MSIP_Label_2ad0b24d-6422-44b0-b3de-abb3a9e8c81a_Name">
    <vt:lpwstr>defa4170-0d19-0005-0004-bc88714345d2</vt:lpwstr>
  </property>
  <property fmtid="{D5CDD505-2E9C-101B-9397-08002B2CF9AE}" pid="14" name="MSIP_Label_2ad0b24d-6422-44b0-b3de-abb3a9e8c81a_SiteId">
    <vt:lpwstr>2fcfe26a-bb62-46b0-b1e3-28f9da0c45fd</vt:lpwstr>
  </property>
  <property fmtid="{D5CDD505-2E9C-101B-9397-08002B2CF9AE}" pid="15" name="MSIP_Label_2ad0b24d-6422-44b0-b3de-abb3a9e8c81a_ActionId">
    <vt:lpwstr>bd5a7b6a-91db-4137-b6db-996924422879</vt:lpwstr>
  </property>
  <property fmtid="{D5CDD505-2E9C-101B-9397-08002B2CF9AE}" pid="16" name="MSIP_Label_2ad0b24d-6422-44b0-b3de-abb3a9e8c81a_ContentBits">
    <vt:lpwstr>0</vt:lpwstr>
  </property>
  <property fmtid="{D5CDD505-2E9C-101B-9397-08002B2CF9AE}" pid="17" name="MSIP_Label_2ad0b24d-6422-44b0-b3de-abb3a9e8c81a_Tag">
    <vt:lpwstr>10, 3, 0, 1</vt:lpwstr>
  </property>
  <property fmtid="{D5CDD505-2E9C-101B-9397-08002B2CF9AE}" pid="18" name="MediaServiceImageTags">
    <vt:lpwstr/>
  </property>
</Properties>
</file>