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8" r:id="rId6"/>
    <p:sldId id="264" r:id="rId7"/>
    <p:sldId id="263" r:id="rId8"/>
    <p:sldId id="265" r:id="rId9"/>
    <p:sldId id="261" r:id="rId10"/>
    <p:sldId id="266" r:id="rId11"/>
    <p:sldId id="260" r:id="rId12"/>
    <p:sldId id="570" r:id="rId13"/>
  </p:sldIdLst>
  <p:sldSz cx="10688638" cy="756285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ULIA GRIECO" initials="GG" lastIdx="1" clrIdx="0">
    <p:extLst>
      <p:ext uri="{19B8F6BF-5375-455C-9EA6-DF929625EA0E}">
        <p15:presenceInfo xmlns:p15="http://schemas.microsoft.com/office/powerpoint/2012/main" userId="S::giulia.grieco@studenti.unina.it::5b354c5b-8914-4630-8986-cc9dd4bd34e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07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lagami  Tedi" userId="20ef48d9-6a35-495c-88fc-ccc566c819a3" providerId="ADAL" clId="{25EE7F72-420A-4401-B1E4-84A3C2BC54B5}"/>
    <pc:docChg chg="modSld">
      <pc:chgData name="Llagami  Tedi" userId="20ef48d9-6a35-495c-88fc-ccc566c819a3" providerId="ADAL" clId="{25EE7F72-420A-4401-B1E4-84A3C2BC54B5}" dt="2026-09-25T11:06:19.436" v="1" actId="1036"/>
      <pc:docMkLst>
        <pc:docMk/>
      </pc:docMkLst>
      <pc:sldChg chg="modSp mod">
        <pc:chgData name="Llagami  Tedi" userId="20ef48d9-6a35-495c-88fc-ccc566c819a3" providerId="ADAL" clId="{25EE7F72-420A-4401-B1E4-84A3C2BC54B5}" dt="2026-09-25T11:06:19.436" v="1" actId="1036"/>
        <pc:sldMkLst>
          <pc:docMk/>
          <pc:sldMk cId="1722896570" sldId="256"/>
        </pc:sldMkLst>
        <pc:spChg chg="mod">
          <ac:chgData name="Llagami  Tedi" userId="20ef48d9-6a35-495c-88fc-ccc566c819a3" providerId="ADAL" clId="{25EE7F72-420A-4401-B1E4-84A3C2BC54B5}" dt="2026-09-25T11:06:19.436" v="1" actId="1036"/>
          <ac:spMkLst>
            <pc:docMk/>
            <pc:sldMk cId="1722896570" sldId="256"/>
            <ac:spMk id="6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648" y="1237717"/>
            <a:ext cx="9085342" cy="2632992"/>
          </a:xfrm>
        </p:spPr>
        <p:txBody>
          <a:bodyPr anchor="b"/>
          <a:lstStyle>
            <a:lvl1pPr algn="ctr">
              <a:defRPr sz="661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080" y="3972247"/>
            <a:ext cx="8016479" cy="1825938"/>
          </a:xfrm>
        </p:spPr>
        <p:txBody>
          <a:bodyPr/>
          <a:lstStyle>
            <a:lvl1pPr marL="0" indent="0" algn="ctr">
              <a:buNone/>
              <a:defRPr sz="2647"/>
            </a:lvl1pPr>
            <a:lvl2pPr marL="504200" indent="0" algn="ctr">
              <a:buNone/>
              <a:defRPr sz="2206"/>
            </a:lvl2pPr>
            <a:lvl3pPr marL="1008400" indent="0" algn="ctr">
              <a:buNone/>
              <a:defRPr sz="1985"/>
            </a:lvl3pPr>
            <a:lvl4pPr marL="1512600" indent="0" algn="ctr">
              <a:buNone/>
              <a:defRPr sz="1764"/>
            </a:lvl4pPr>
            <a:lvl5pPr marL="2016801" indent="0" algn="ctr">
              <a:buNone/>
              <a:defRPr sz="1764"/>
            </a:lvl5pPr>
            <a:lvl6pPr marL="2521001" indent="0" algn="ctr">
              <a:buNone/>
              <a:defRPr sz="1764"/>
            </a:lvl6pPr>
            <a:lvl7pPr marL="3025201" indent="0" algn="ctr">
              <a:buNone/>
              <a:defRPr sz="1764"/>
            </a:lvl7pPr>
            <a:lvl8pPr marL="3529401" indent="0" algn="ctr">
              <a:buNone/>
              <a:defRPr sz="1764"/>
            </a:lvl8pPr>
            <a:lvl9pPr marL="4033601" indent="0" algn="ctr">
              <a:buNone/>
              <a:defRPr sz="176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8D6ED-15E6-4001-B56C-DCB8D028DE7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B022-EE7E-4BAC-A76C-5E5554B6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98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8D6ED-15E6-4001-B56C-DCB8D028DE7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B022-EE7E-4BAC-A76C-5E5554B6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00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278" y="1885463"/>
            <a:ext cx="9218950" cy="3145935"/>
          </a:xfrm>
        </p:spPr>
        <p:txBody>
          <a:bodyPr anchor="b"/>
          <a:lstStyle>
            <a:lvl1pPr>
              <a:defRPr sz="661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278" y="5061159"/>
            <a:ext cx="9218950" cy="1654373"/>
          </a:xfrm>
        </p:spPr>
        <p:txBody>
          <a:bodyPr/>
          <a:lstStyle>
            <a:lvl1pPr marL="0" indent="0">
              <a:buNone/>
              <a:defRPr sz="2647">
                <a:solidFill>
                  <a:schemeClr val="tx1"/>
                </a:solidFill>
              </a:defRPr>
            </a:lvl1pPr>
            <a:lvl2pPr marL="504200" indent="0">
              <a:buNone/>
              <a:defRPr sz="2206">
                <a:solidFill>
                  <a:schemeClr val="tx1">
                    <a:tint val="75000"/>
                  </a:schemeClr>
                </a:solidFill>
              </a:defRPr>
            </a:lvl2pPr>
            <a:lvl3pPr marL="100840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260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6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210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52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94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36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8D6ED-15E6-4001-B56C-DCB8D028DE7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B022-EE7E-4BAC-A76C-5E5554B6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0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4844" y="2013259"/>
            <a:ext cx="4542671" cy="4798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1123" y="2013259"/>
            <a:ext cx="4542671" cy="4798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8D6ED-15E6-4001-B56C-DCB8D028DE7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B022-EE7E-4BAC-A76C-5E5554B6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1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236" y="402654"/>
            <a:ext cx="9218950" cy="1461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237" y="1853949"/>
            <a:ext cx="4521794" cy="908592"/>
          </a:xfrm>
        </p:spPr>
        <p:txBody>
          <a:bodyPr anchor="b"/>
          <a:lstStyle>
            <a:lvl1pPr marL="0" indent="0">
              <a:buNone/>
              <a:defRPr sz="2647" b="1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237" y="2762541"/>
            <a:ext cx="4521794" cy="4063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1124" y="1853949"/>
            <a:ext cx="4544063" cy="908592"/>
          </a:xfrm>
        </p:spPr>
        <p:txBody>
          <a:bodyPr anchor="b"/>
          <a:lstStyle>
            <a:lvl1pPr marL="0" indent="0">
              <a:buNone/>
              <a:defRPr sz="2647" b="1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1124" y="2762541"/>
            <a:ext cx="4544063" cy="4063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8D6ED-15E6-4001-B56C-DCB8D028DE7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B022-EE7E-4BAC-A76C-5E5554B6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235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8D6ED-15E6-4001-B56C-DCB8D028DE7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B022-EE7E-4BAC-A76C-5E5554B6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53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8D6ED-15E6-4001-B56C-DCB8D028DE7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B022-EE7E-4BAC-A76C-5E5554B6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19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236" y="504190"/>
            <a:ext cx="3447364" cy="1764665"/>
          </a:xfrm>
        </p:spPr>
        <p:txBody>
          <a:bodyPr anchor="b"/>
          <a:lstStyle>
            <a:lvl1pPr>
              <a:defRPr sz="352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4063" y="1088912"/>
            <a:ext cx="5411123" cy="5374525"/>
          </a:xfrm>
        </p:spPr>
        <p:txBody>
          <a:bodyPr/>
          <a:lstStyle>
            <a:lvl1pPr>
              <a:defRPr sz="3529"/>
            </a:lvl1pPr>
            <a:lvl2pPr>
              <a:defRPr sz="3088"/>
            </a:lvl2pPr>
            <a:lvl3pPr>
              <a:defRPr sz="2647"/>
            </a:lvl3pPr>
            <a:lvl4pPr>
              <a:defRPr sz="2206"/>
            </a:lvl4pPr>
            <a:lvl5pPr>
              <a:defRPr sz="2206"/>
            </a:lvl5pPr>
            <a:lvl6pPr>
              <a:defRPr sz="2206"/>
            </a:lvl6pPr>
            <a:lvl7pPr>
              <a:defRPr sz="2206"/>
            </a:lvl7pPr>
            <a:lvl8pPr>
              <a:defRPr sz="2206"/>
            </a:lvl8pPr>
            <a:lvl9pPr>
              <a:defRPr sz="22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236" y="2268855"/>
            <a:ext cx="3447364" cy="4203335"/>
          </a:xfrm>
        </p:spPr>
        <p:txBody>
          <a:bodyPr/>
          <a:lstStyle>
            <a:lvl1pPr marL="0" indent="0">
              <a:buNone/>
              <a:defRPr sz="1764"/>
            </a:lvl1pPr>
            <a:lvl2pPr marL="504200" indent="0">
              <a:buNone/>
              <a:defRPr sz="1544"/>
            </a:lvl2pPr>
            <a:lvl3pPr marL="1008400" indent="0">
              <a:buNone/>
              <a:defRPr sz="1323"/>
            </a:lvl3pPr>
            <a:lvl4pPr marL="1512600" indent="0">
              <a:buNone/>
              <a:defRPr sz="1103"/>
            </a:lvl4pPr>
            <a:lvl5pPr marL="2016801" indent="0">
              <a:buNone/>
              <a:defRPr sz="1103"/>
            </a:lvl5pPr>
            <a:lvl6pPr marL="2521001" indent="0">
              <a:buNone/>
              <a:defRPr sz="1103"/>
            </a:lvl6pPr>
            <a:lvl7pPr marL="3025201" indent="0">
              <a:buNone/>
              <a:defRPr sz="1103"/>
            </a:lvl7pPr>
            <a:lvl8pPr marL="3529401" indent="0">
              <a:buNone/>
              <a:defRPr sz="1103"/>
            </a:lvl8pPr>
            <a:lvl9pPr marL="4033601" indent="0">
              <a:buNone/>
              <a:defRPr sz="11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8D6ED-15E6-4001-B56C-DCB8D028DE7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B022-EE7E-4BAC-A76C-5E5554B6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96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236" y="504190"/>
            <a:ext cx="3447364" cy="1764665"/>
          </a:xfrm>
        </p:spPr>
        <p:txBody>
          <a:bodyPr anchor="b"/>
          <a:lstStyle>
            <a:lvl1pPr>
              <a:defRPr sz="352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4063" y="1088912"/>
            <a:ext cx="5411123" cy="5374525"/>
          </a:xfrm>
        </p:spPr>
        <p:txBody>
          <a:bodyPr anchor="t"/>
          <a:lstStyle>
            <a:lvl1pPr marL="0" indent="0">
              <a:buNone/>
              <a:defRPr sz="3529"/>
            </a:lvl1pPr>
            <a:lvl2pPr marL="504200" indent="0">
              <a:buNone/>
              <a:defRPr sz="3088"/>
            </a:lvl2pPr>
            <a:lvl3pPr marL="1008400" indent="0">
              <a:buNone/>
              <a:defRPr sz="2647"/>
            </a:lvl3pPr>
            <a:lvl4pPr marL="1512600" indent="0">
              <a:buNone/>
              <a:defRPr sz="2206"/>
            </a:lvl4pPr>
            <a:lvl5pPr marL="2016801" indent="0">
              <a:buNone/>
              <a:defRPr sz="2206"/>
            </a:lvl5pPr>
            <a:lvl6pPr marL="2521001" indent="0">
              <a:buNone/>
              <a:defRPr sz="2206"/>
            </a:lvl6pPr>
            <a:lvl7pPr marL="3025201" indent="0">
              <a:buNone/>
              <a:defRPr sz="2206"/>
            </a:lvl7pPr>
            <a:lvl8pPr marL="3529401" indent="0">
              <a:buNone/>
              <a:defRPr sz="2206"/>
            </a:lvl8pPr>
            <a:lvl9pPr marL="4033601" indent="0">
              <a:buNone/>
              <a:defRPr sz="2206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236" y="2268855"/>
            <a:ext cx="3447364" cy="4203335"/>
          </a:xfrm>
        </p:spPr>
        <p:txBody>
          <a:bodyPr/>
          <a:lstStyle>
            <a:lvl1pPr marL="0" indent="0">
              <a:buNone/>
              <a:defRPr sz="1764"/>
            </a:lvl1pPr>
            <a:lvl2pPr marL="504200" indent="0">
              <a:buNone/>
              <a:defRPr sz="1544"/>
            </a:lvl2pPr>
            <a:lvl3pPr marL="1008400" indent="0">
              <a:buNone/>
              <a:defRPr sz="1323"/>
            </a:lvl3pPr>
            <a:lvl4pPr marL="1512600" indent="0">
              <a:buNone/>
              <a:defRPr sz="1103"/>
            </a:lvl4pPr>
            <a:lvl5pPr marL="2016801" indent="0">
              <a:buNone/>
              <a:defRPr sz="1103"/>
            </a:lvl5pPr>
            <a:lvl6pPr marL="2521001" indent="0">
              <a:buNone/>
              <a:defRPr sz="1103"/>
            </a:lvl6pPr>
            <a:lvl7pPr marL="3025201" indent="0">
              <a:buNone/>
              <a:defRPr sz="1103"/>
            </a:lvl7pPr>
            <a:lvl8pPr marL="3529401" indent="0">
              <a:buNone/>
              <a:defRPr sz="1103"/>
            </a:lvl8pPr>
            <a:lvl9pPr marL="4033601" indent="0">
              <a:buNone/>
              <a:defRPr sz="11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8D6ED-15E6-4001-B56C-DCB8D028DE7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B022-EE7E-4BAC-A76C-5E5554B6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27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8D6ED-15E6-4001-B56C-DCB8D028DE7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B022-EE7E-4BAC-A76C-5E5554B6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5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49057" y="402652"/>
            <a:ext cx="2304738" cy="64091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4844" y="402652"/>
            <a:ext cx="6780605" cy="64091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8D6ED-15E6-4001-B56C-DCB8D028DE7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B022-EE7E-4BAC-A76C-5E5554B6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35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392" y="1752"/>
          <a:ext cx="1391" cy="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" y="1752"/>
                        <a:ext cx="1391" cy="1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56" y="0"/>
            <a:ext cx="4861963" cy="1218790"/>
          </a:xfrm>
        </p:spPr>
        <p:txBody>
          <a:bodyPr vert="horz" lIns="0" tIns="180000" rIns="0" bIns="0" rtlCol="0" anchor="t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FC167F68-3FC3-4701-BAEB-9C33CAC70AE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297" y="-282930"/>
            <a:ext cx="1265341" cy="159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549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4844" y="402654"/>
            <a:ext cx="9218950" cy="146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4844" y="2013259"/>
            <a:ext cx="9218950" cy="4798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4844" y="7009643"/>
            <a:ext cx="2404944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8D6ED-15E6-4001-B56C-DCB8D028DE7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0612" y="7009643"/>
            <a:ext cx="3607415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8850" y="7009643"/>
            <a:ext cx="2404944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7B022-EE7E-4BAC-A76C-5E5554B6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8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1008400" rtl="0" eaLnBrk="1" latinLnBrk="0" hangingPunct="1">
        <a:lnSpc>
          <a:spcPct val="90000"/>
        </a:lnSpc>
        <a:spcBef>
          <a:spcPct val="0"/>
        </a:spcBef>
        <a:buNone/>
        <a:defRPr sz="48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100" indent="-252100" algn="l" defTabSz="1008400" rtl="0" eaLnBrk="1" latinLnBrk="0" hangingPunct="1">
        <a:lnSpc>
          <a:spcPct val="90000"/>
        </a:lnSpc>
        <a:spcBef>
          <a:spcPts val="1103"/>
        </a:spcBef>
        <a:buFont typeface="Arial" panose="020B0604020202020204" pitchFamily="34" charset="0"/>
        <a:buChar char="•"/>
        <a:defRPr sz="3088" kern="1200">
          <a:solidFill>
            <a:schemeClr val="tx1"/>
          </a:solidFill>
          <a:latin typeface="+mn-lt"/>
          <a:ea typeface="+mn-ea"/>
          <a:cs typeface="+mn-cs"/>
        </a:defRPr>
      </a:lvl1pPr>
      <a:lvl2pPr marL="756300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7" kern="1200">
          <a:solidFill>
            <a:schemeClr val="tx1"/>
          </a:solidFill>
          <a:latin typeface="+mn-lt"/>
          <a:ea typeface="+mn-ea"/>
          <a:cs typeface="+mn-cs"/>
        </a:defRPr>
      </a:lvl2pPr>
      <a:lvl3pPr marL="1260500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6" kern="1200">
          <a:solidFill>
            <a:schemeClr val="tx1"/>
          </a:solidFill>
          <a:latin typeface="+mn-lt"/>
          <a:ea typeface="+mn-ea"/>
          <a:cs typeface="+mn-cs"/>
        </a:defRPr>
      </a:lvl3pPr>
      <a:lvl4pPr marL="17647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9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31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73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15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57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2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4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6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8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10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52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94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36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microsoft.com/office/2007/relationships/media" Target="../media/media5.mp4"/><Relationship Id="rId6" Type="http://schemas.openxmlformats.org/officeDocument/2006/relationships/video" Target="../media/media5.mp4"/><Relationship Id="rId7" Type="http://schemas.openxmlformats.org/officeDocument/2006/relationships/image" Target="../media/image16.png"/><Relationship Id="rId8" Type="http://schemas.microsoft.com/office/2007/relationships/media" Target="../media/media6.mp4"/><Relationship Id="rId9" Type="http://schemas.openxmlformats.org/officeDocument/2006/relationships/video" Target="../media/media6.mp4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microsoft.com/office/2007/relationships/media" Target="../media/media7.mp4"/><Relationship Id="rId5" Type="http://schemas.openxmlformats.org/officeDocument/2006/relationships/video" Target="../media/media7.mp4"/><Relationship Id="rId6" Type="http://schemas.openxmlformats.org/officeDocument/2006/relationships/image" Target="../media/image16.png"/><Relationship Id="rId7" Type="http://schemas.microsoft.com/office/2007/relationships/media" Target="../media/media8.mp4"/><Relationship Id="rId8" Type="http://schemas.openxmlformats.org/officeDocument/2006/relationships/video" Target="../media/media8.mp4"/><Relationship Id="rId9" Type="http://schemas.microsoft.com/office/2007/relationships/media" Target="../media/media9.mp4"/><Relationship Id="rId10" Type="http://schemas.openxmlformats.org/officeDocument/2006/relationships/video" Target="../media/media9.mp4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microsoft.com/office/2007/relationships/media" Target="../media/media10.mp4"/><Relationship Id="rId5" Type="http://schemas.openxmlformats.org/officeDocument/2006/relationships/video" Target="../media/media10.mp4"/><Relationship Id="rId6" Type="http://schemas.openxmlformats.org/officeDocument/2006/relationships/image" Target="../media/image16.png"/><Relationship Id="rId7" Type="http://schemas.microsoft.com/office/2007/relationships/media" Target="../media/media11.mp4"/><Relationship Id="rId8" Type="http://schemas.openxmlformats.org/officeDocument/2006/relationships/video" Target="../media/media11.mp4"/><Relationship Id="rId9" Type="http://schemas.microsoft.com/office/2007/relationships/media" Target="../media/media12.mp4"/><Relationship Id="rId10" Type="http://schemas.openxmlformats.org/officeDocument/2006/relationships/video" Target="../media/media12.mp4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12.jpg"/><Relationship Id="rId7" Type="http://schemas.microsoft.com/office/2007/relationships/media" Target="../media/media2.mp4"/><Relationship Id="rId8" Type="http://schemas.openxmlformats.org/officeDocument/2006/relationships/video" Target="../media/media2.mp4"/><Relationship Id="rId9" Type="http://schemas.openxmlformats.org/officeDocument/2006/relationships/image" Target="../media/image13.jpg"/><Relationship Id="rId10" Type="http://schemas.microsoft.com/office/2007/relationships/media" Target="../media/media3.mp4"/><Relationship Id="rId11" Type="http://schemas.openxmlformats.org/officeDocument/2006/relationships/video" Target="../media/media3.mp4"/><Relationship Id="rId12" Type="http://schemas.openxmlformats.org/officeDocument/2006/relationships/image" Target="../media/image14.jpg"/><Relationship Id="rId13" Type="http://schemas.microsoft.com/office/2007/relationships/media" Target="../media/media4.mp4"/><Relationship Id="rId14" Type="http://schemas.openxmlformats.org/officeDocument/2006/relationships/video" Target="../media/media4.mp4"/><Relationship Id="rId15" Type="http://schemas.openxmlformats.org/officeDocument/2006/relationships/image" Target="../media/image15.jpg"/><Relationship Id="rId16" Type="http://schemas.microsoft.com/office/2007/relationships/media" Target="../media/media13.mp4"/><Relationship Id="rId17" Type="http://schemas.openxmlformats.org/officeDocument/2006/relationships/video" Target="../media/media13.mp4"/><Relationship Id="rId18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microsoft.com/office/2007/relationships/media" Target="../media/media14.mp4"/><Relationship Id="rId6" Type="http://schemas.openxmlformats.org/officeDocument/2006/relationships/video" Target="../media/media14.mp4"/><Relationship Id="rId7" Type="http://schemas.openxmlformats.org/officeDocument/2006/relationships/image" Target="../media/image16.png"/><Relationship Id="rId8" Type="http://schemas.microsoft.com/office/2007/relationships/media" Target="../media/media15.mp4"/><Relationship Id="rId9" Type="http://schemas.openxmlformats.org/officeDocument/2006/relationships/video" Target="../media/media15.mp4"/><Relationship Id="rId10" Type="http://schemas.microsoft.com/office/2007/relationships/media" Target="../media/media16.mp4"/><Relationship Id="rId11" Type="http://schemas.openxmlformats.org/officeDocument/2006/relationships/video" Target="../media/media16.mp4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microsoft.com/office/2007/relationships/media" Target="../media/media17.mp4"/><Relationship Id="rId4" Type="http://schemas.openxmlformats.org/officeDocument/2006/relationships/video" Target="../media/media17.mp4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microsoft.com/office/2007/relationships/media" Target="../media/media18.mp4"/><Relationship Id="rId8" Type="http://schemas.openxmlformats.org/officeDocument/2006/relationships/video" Target="../media/media18.mp4"/><Relationship Id="rId9" Type="http://schemas.microsoft.com/office/2007/relationships/media" Target="../media/media19.mp4"/><Relationship Id="rId10" Type="http://schemas.openxmlformats.org/officeDocument/2006/relationships/video" Target="../media/media19.mp4"/><Relationship Id="rId11" Type="http://schemas.microsoft.com/office/2007/relationships/media" Target="../media/media20.mp4"/><Relationship Id="rId12" Type="http://schemas.openxmlformats.org/officeDocument/2006/relationships/video" Target="../media/media20.mp4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microsoft.com/office/2007/relationships/media" Target="../media/media21.mp4"/><Relationship Id="rId4" Type="http://schemas.openxmlformats.org/officeDocument/2006/relationships/video" Target="../media/media21.mp4"/><Relationship Id="rId5" Type="http://schemas.openxmlformats.org/officeDocument/2006/relationships/image" Target="../media/image16.png"/><Relationship Id="rId6" Type="http://schemas.microsoft.com/office/2007/relationships/media" Target="../media/media22.mp4"/><Relationship Id="rId7" Type="http://schemas.openxmlformats.org/officeDocument/2006/relationships/video" Target="../media/media22.mp4"/><Relationship Id="rId8" Type="http://schemas.microsoft.com/office/2007/relationships/media" Target="../media/media23.mp4"/><Relationship Id="rId9" Type="http://schemas.openxmlformats.org/officeDocument/2006/relationships/video" Target="../media/media23.mp4"/><Relationship Id="rId10" Type="http://schemas.microsoft.com/office/2007/relationships/media" Target="../media/media8.mp4"/><Relationship Id="rId11" Type="http://schemas.openxmlformats.org/officeDocument/2006/relationships/video" Target="../media/media8.mp4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242570" y="2845754"/>
            <a:ext cx="3177540" cy="233044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it-IT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bject 4"/>
          <p:cNvSpPr/>
          <p:nvPr/>
        </p:nvSpPr>
        <p:spPr>
          <a:xfrm>
            <a:off x="2425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" name="object 5"/>
          <p:cNvSpPr/>
          <p:nvPr/>
        </p:nvSpPr>
        <p:spPr>
          <a:xfrm>
            <a:off x="242570" y="347168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7" name="object 6"/>
          <p:cNvSpPr/>
          <p:nvPr/>
        </p:nvSpPr>
        <p:spPr>
          <a:xfrm>
            <a:off x="2425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8" name="object 7"/>
          <p:cNvSpPr/>
          <p:nvPr/>
        </p:nvSpPr>
        <p:spPr>
          <a:xfrm>
            <a:off x="2374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9" name="object 8"/>
          <p:cNvSpPr txBox="1"/>
          <p:nvPr/>
        </p:nvSpPr>
        <p:spPr>
          <a:xfrm>
            <a:off x="2374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1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8249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1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237490" y="696594"/>
            <a:ext cx="3187700" cy="298451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2" name="object 11"/>
          <p:cNvSpPr/>
          <p:nvPr/>
        </p:nvSpPr>
        <p:spPr>
          <a:xfrm>
            <a:off x="2425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3" name="object 12"/>
          <p:cNvSpPr/>
          <p:nvPr/>
        </p:nvSpPr>
        <p:spPr>
          <a:xfrm>
            <a:off x="2425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4" name="object 13"/>
          <p:cNvSpPr/>
          <p:nvPr/>
        </p:nvSpPr>
        <p:spPr>
          <a:xfrm>
            <a:off x="2425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5" name="object 15"/>
          <p:cNvSpPr/>
          <p:nvPr/>
        </p:nvSpPr>
        <p:spPr>
          <a:xfrm>
            <a:off x="2374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6" name="object 16"/>
          <p:cNvSpPr txBox="1"/>
          <p:nvPr/>
        </p:nvSpPr>
        <p:spPr>
          <a:xfrm>
            <a:off x="2374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4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249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4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74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9" name="object 19"/>
          <p:cNvSpPr/>
          <p:nvPr/>
        </p:nvSpPr>
        <p:spPr>
          <a:xfrm>
            <a:off x="3735070" y="2845754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it-IT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350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t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44753" y="3452433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2" name="object 22"/>
          <p:cNvSpPr/>
          <p:nvPr/>
        </p:nvSpPr>
        <p:spPr>
          <a:xfrm>
            <a:off x="3735070" y="3921819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3" name="object 23"/>
          <p:cNvSpPr/>
          <p:nvPr/>
        </p:nvSpPr>
        <p:spPr>
          <a:xfrm>
            <a:off x="37299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37299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2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174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2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29990" y="6965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7" name="object 27"/>
          <p:cNvSpPr/>
          <p:nvPr/>
        </p:nvSpPr>
        <p:spPr>
          <a:xfrm>
            <a:off x="37350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8" name="object 28"/>
          <p:cNvSpPr/>
          <p:nvPr/>
        </p:nvSpPr>
        <p:spPr>
          <a:xfrm>
            <a:off x="37350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9" name="object 29"/>
          <p:cNvSpPr/>
          <p:nvPr/>
        </p:nvSpPr>
        <p:spPr>
          <a:xfrm>
            <a:off x="37350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0" name="object 30"/>
          <p:cNvSpPr/>
          <p:nvPr/>
        </p:nvSpPr>
        <p:spPr>
          <a:xfrm>
            <a:off x="3735070" y="68878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1" name="object 31"/>
          <p:cNvSpPr/>
          <p:nvPr/>
        </p:nvSpPr>
        <p:spPr>
          <a:xfrm>
            <a:off x="37299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2" name="object 32"/>
          <p:cNvSpPr txBox="1"/>
          <p:nvPr/>
        </p:nvSpPr>
        <p:spPr>
          <a:xfrm>
            <a:off x="37299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5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174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5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750165" y="3955279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5" name="object 35"/>
          <p:cNvSpPr/>
          <p:nvPr/>
        </p:nvSpPr>
        <p:spPr>
          <a:xfrm>
            <a:off x="7266940" y="286378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sz="1200" dirty="0"/>
          </a:p>
        </p:txBody>
      </p:sp>
      <p:sp>
        <p:nvSpPr>
          <p:cNvPr id="36" name="object 36"/>
          <p:cNvSpPr/>
          <p:nvPr/>
        </p:nvSpPr>
        <p:spPr>
          <a:xfrm>
            <a:off x="72402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7" name="object 37"/>
          <p:cNvSpPr/>
          <p:nvPr/>
        </p:nvSpPr>
        <p:spPr>
          <a:xfrm>
            <a:off x="72402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8" name="object 38"/>
          <p:cNvSpPr/>
          <p:nvPr/>
        </p:nvSpPr>
        <p:spPr>
          <a:xfrm>
            <a:off x="72402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9" name="object 39"/>
          <p:cNvSpPr/>
          <p:nvPr/>
        </p:nvSpPr>
        <p:spPr>
          <a:xfrm>
            <a:off x="72351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0" name="object 40"/>
          <p:cNvSpPr txBox="1"/>
          <p:nvPr/>
        </p:nvSpPr>
        <p:spPr>
          <a:xfrm>
            <a:off x="72351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3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8226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3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235190" y="6965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3" name="object 43"/>
          <p:cNvSpPr/>
          <p:nvPr/>
        </p:nvSpPr>
        <p:spPr>
          <a:xfrm>
            <a:off x="72402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4" name="object 44"/>
          <p:cNvSpPr/>
          <p:nvPr/>
        </p:nvSpPr>
        <p:spPr>
          <a:xfrm>
            <a:off x="72402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t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2402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6" name="object 46"/>
          <p:cNvSpPr/>
          <p:nvPr/>
        </p:nvSpPr>
        <p:spPr>
          <a:xfrm>
            <a:off x="7240270" y="68878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7" name="object 47"/>
          <p:cNvSpPr/>
          <p:nvPr/>
        </p:nvSpPr>
        <p:spPr>
          <a:xfrm>
            <a:off x="72351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8" name="object 48"/>
          <p:cNvSpPr txBox="1"/>
          <p:nvPr/>
        </p:nvSpPr>
        <p:spPr>
          <a:xfrm>
            <a:off x="72351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6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8226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6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2351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4" name="object 13"/>
          <p:cNvSpPr/>
          <p:nvPr/>
        </p:nvSpPr>
        <p:spPr>
          <a:xfrm>
            <a:off x="240665" y="689483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6" name="object 2"/>
          <p:cNvSpPr/>
          <p:nvPr/>
        </p:nvSpPr>
        <p:spPr>
          <a:xfrm>
            <a:off x="285750" y="7163435"/>
            <a:ext cx="939800" cy="215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0" name="object 43">
            <a:extLst>
              <a:ext uri="{FF2B5EF4-FFF2-40B4-BE49-F238E27FC236}">
                <a16:creationId xmlns:a16="http://schemas.microsoft.com/office/drawing/2014/main" id="{E52C13FE-E357-A74A-B36E-FC9F563538D0}"/>
              </a:ext>
            </a:extLst>
          </p:cNvPr>
          <p:cNvSpPr txBox="1"/>
          <p:nvPr/>
        </p:nvSpPr>
        <p:spPr>
          <a:xfrm>
            <a:off x="6836736" y="7188980"/>
            <a:ext cx="3607744" cy="184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 algn="r">
              <a:spcBef>
                <a:spcPts val="100"/>
              </a:spcBef>
            </a:pPr>
            <a:r>
              <a:rPr lang="en-US" sz="1100" spc="30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Get </a:t>
            </a:r>
            <a:r>
              <a:rPr lang="en-US" sz="1100" spc="-15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free </a:t>
            </a:r>
            <a:r>
              <a:rPr lang="en-US" sz="1100" spc="15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storyboard </a:t>
            </a:r>
            <a:r>
              <a:rPr lang="en-US" sz="1100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templates at </a:t>
            </a:r>
            <a:r>
              <a:rPr lang="en-US" sz="1100" err="1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Boords.com</a:t>
            </a:r>
            <a:endParaRPr lang="en-US" sz="110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1" name="object 3">
            <a:extLst>
              <a:ext uri="{FF2B5EF4-FFF2-40B4-BE49-F238E27FC236}">
                <a16:creationId xmlns:a16="http://schemas.microsoft.com/office/drawing/2014/main" id="{C50C7CF4-8939-6A42-B825-3F0086ADAABC}"/>
              </a:ext>
            </a:extLst>
          </p:cNvPr>
          <p:cNvSpPr/>
          <p:nvPr/>
        </p:nvSpPr>
        <p:spPr>
          <a:xfrm>
            <a:off x="252765" y="198387"/>
            <a:ext cx="10165045" cy="292100"/>
          </a:xfrm>
          <a:custGeom>
            <a:avLst/>
            <a:gdLst/>
            <a:ahLst/>
            <a:cxnLst/>
            <a:rect l="l" t="t" r="r" b="b"/>
            <a:pathLst>
              <a:path w="10198100" h="292100">
                <a:moveTo>
                  <a:pt x="0" y="0"/>
                </a:moveTo>
                <a:lnTo>
                  <a:pt x="10198100" y="0"/>
                </a:lnTo>
                <a:lnTo>
                  <a:pt x="10198100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r>
              <a:rPr lang="en-US"/>
              <a:t>          Promo – 5g Academy – Project Vision         </a:t>
            </a:r>
            <a:r>
              <a:rPr lang="en-US" err="1"/>
              <a:t>Introduzione</a:t>
            </a:r>
            <a:r>
              <a:rPr lang="en-US"/>
              <a:t>                                                         20/30 secondi</a:t>
            </a:r>
          </a:p>
        </p:txBody>
      </p:sp>
      <p:sp>
        <p:nvSpPr>
          <p:cNvPr id="62" name="object 4">
            <a:extLst>
              <a:ext uri="{FF2B5EF4-FFF2-40B4-BE49-F238E27FC236}">
                <a16:creationId xmlns:a16="http://schemas.microsoft.com/office/drawing/2014/main" id="{946EC202-0A31-544B-A5EB-E6236CEC5C32}"/>
              </a:ext>
            </a:extLst>
          </p:cNvPr>
          <p:cNvSpPr/>
          <p:nvPr/>
        </p:nvSpPr>
        <p:spPr>
          <a:xfrm>
            <a:off x="9373270" y="190839"/>
            <a:ext cx="45719" cy="299648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0"/>
                </a:moveTo>
                <a:lnTo>
                  <a:pt x="0" y="255143"/>
                </a:lnTo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4" name="object 5">
            <a:extLst>
              <a:ext uri="{FF2B5EF4-FFF2-40B4-BE49-F238E27FC236}">
                <a16:creationId xmlns:a16="http://schemas.microsoft.com/office/drawing/2014/main" id="{E6CC7FE7-E316-B44C-A800-2DE6E459D268}"/>
              </a:ext>
            </a:extLst>
          </p:cNvPr>
          <p:cNvSpPr txBox="1"/>
          <p:nvPr/>
        </p:nvSpPr>
        <p:spPr>
          <a:xfrm>
            <a:off x="9376410" y="247564"/>
            <a:ext cx="1041400" cy="187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marR="0">
              <a:spcBef>
                <a:spcPts val="100"/>
              </a:spcBef>
              <a:spcAft>
                <a:spcPts val="0"/>
              </a:spcAft>
            </a:pPr>
            <a:r>
              <a:rPr lang="en-US" sz="1100" kern="1200" spc="1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Page: 1</a:t>
            </a:r>
            <a:endParaRPr lang="en-US" sz="110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8F8FC0D-7B23-751F-2595-A77D31F735AA}"/>
              </a:ext>
            </a:extLst>
          </p:cNvPr>
          <p:cNvSpPr txBox="1"/>
          <p:nvPr/>
        </p:nvSpPr>
        <p:spPr>
          <a:xfrm>
            <a:off x="3318933" y="2868288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it-IT" dirty="0"/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3AE17033-5112-FC9A-3A60-BA0912840F22}"/>
              </a:ext>
            </a:extLst>
          </p:cNvPr>
          <p:cNvSpPr txBox="1"/>
          <p:nvPr/>
        </p:nvSpPr>
        <p:spPr>
          <a:xfrm>
            <a:off x="111052" y="2704803"/>
            <a:ext cx="340126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endParaRPr lang="it-IT" dirty="0">
              <a:ea typeface="Calibri"/>
              <a:cs typeface="Calibri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374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Close-up: ID badge scan at an office door, green light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"A stolen ID badge still opens the door."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NEW: live-action B-roll (badge scan)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299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Door opens, person walks through - ordinary, unremarkable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"The badge is valid."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NEW: live-action B-roll (same shot, continued)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351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Match-cut: laptop screen, 5G network diagram appears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"But is the person behind it really who they claim to be?"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assets/architecture.png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74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AI/automation agent icon connects into the 5G core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AI agents and automations now call the network directly.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reports/GATE-2/aegis_hook_analogy.png (right panel, "THE NETWORK")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299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Green checkmark overlay: "credential: valid"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A stolen or misused credential still passes every check.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reports/GATE-2/aegis_hook_analogy.png (checkmark line)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351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Cut to red alert icon / question mark, AEGIS title reveal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"AEGIS" title card reveal.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slides/GATE-2/AEGIS_Gate2_Official.pptx, Slide 3 (hook slide)</a:t>
            </a:r>
          </a:p>
        </p:txBody>
      </p:sp>
      <p:pic>
        <p:nvPicPr>
          <p:cNvPr id="71" name="Picture 70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083712" y="818673"/>
            <a:ext cx="1490655" cy="2070100"/>
          </a:xfrm>
          <a:prstGeom prst="rect">
            <a:avLst/>
          </a:prstGeom>
        </p:spPr>
      </p:pic>
      <p:pic>
        <p:nvPicPr>
          <p:cNvPr id="72" name="Picture 71" descr="aegis_hook_analo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63" y="4619083"/>
            <a:ext cx="3023553" cy="723856"/>
          </a:xfrm>
          <a:prstGeom prst="rect">
            <a:avLst/>
          </a:prstGeom>
        </p:spPr>
      </p:pic>
      <p:pic>
        <p:nvPicPr>
          <p:cNvPr id="73" name="badge-credential-valid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729990" y="4124741"/>
            <a:ext cx="3187700" cy="1793831"/>
          </a:xfrm>
          <a:prstGeom prst="rect">
            <a:avLst/>
          </a:prstGeom>
        </p:spPr>
      </p:pic>
      <p:pic>
        <p:nvPicPr>
          <p:cNvPr id="74" name="logo-reveal-hook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235190" y="4124741"/>
            <a:ext cx="3187700" cy="179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9657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3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242570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b="1" dirty="0"/>
          </a:p>
        </p:txBody>
      </p:sp>
      <p:sp>
        <p:nvSpPr>
          <p:cNvPr id="5" name="object 4"/>
          <p:cNvSpPr/>
          <p:nvPr/>
        </p:nvSpPr>
        <p:spPr>
          <a:xfrm>
            <a:off x="2425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" name="object 5"/>
          <p:cNvSpPr/>
          <p:nvPr/>
        </p:nvSpPr>
        <p:spPr>
          <a:xfrm>
            <a:off x="2425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7" name="object 6"/>
          <p:cNvSpPr/>
          <p:nvPr/>
        </p:nvSpPr>
        <p:spPr>
          <a:xfrm>
            <a:off x="2425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8" name="object 7"/>
          <p:cNvSpPr/>
          <p:nvPr/>
        </p:nvSpPr>
        <p:spPr>
          <a:xfrm>
            <a:off x="2374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9" name="object 8"/>
          <p:cNvSpPr txBox="1"/>
          <p:nvPr/>
        </p:nvSpPr>
        <p:spPr>
          <a:xfrm>
            <a:off x="2374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1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8249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1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237490" y="696594"/>
            <a:ext cx="3187700" cy="298451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2" name="object 11"/>
          <p:cNvSpPr/>
          <p:nvPr/>
        </p:nvSpPr>
        <p:spPr>
          <a:xfrm>
            <a:off x="2425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3" name="object 12"/>
          <p:cNvSpPr/>
          <p:nvPr/>
        </p:nvSpPr>
        <p:spPr>
          <a:xfrm>
            <a:off x="2425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4" name="object 13"/>
          <p:cNvSpPr/>
          <p:nvPr/>
        </p:nvSpPr>
        <p:spPr>
          <a:xfrm>
            <a:off x="2425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5" name="object 15"/>
          <p:cNvSpPr/>
          <p:nvPr/>
        </p:nvSpPr>
        <p:spPr>
          <a:xfrm>
            <a:off x="2374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6" name="object 16"/>
          <p:cNvSpPr txBox="1"/>
          <p:nvPr/>
        </p:nvSpPr>
        <p:spPr>
          <a:xfrm>
            <a:off x="2374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4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249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4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74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9" name="object 19"/>
          <p:cNvSpPr/>
          <p:nvPr/>
        </p:nvSpPr>
        <p:spPr>
          <a:xfrm>
            <a:off x="3735070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0" name="object 20"/>
          <p:cNvSpPr/>
          <p:nvPr/>
        </p:nvSpPr>
        <p:spPr>
          <a:xfrm>
            <a:off x="37350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1" name="object 21"/>
          <p:cNvSpPr/>
          <p:nvPr/>
        </p:nvSpPr>
        <p:spPr>
          <a:xfrm>
            <a:off x="37350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2" name="object 22"/>
          <p:cNvSpPr/>
          <p:nvPr/>
        </p:nvSpPr>
        <p:spPr>
          <a:xfrm>
            <a:off x="37350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3" name="object 23"/>
          <p:cNvSpPr/>
          <p:nvPr/>
        </p:nvSpPr>
        <p:spPr>
          <a:xfrm>
            <a:off x="37299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37299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2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174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2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29990" y="6965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7" name="object 27"/>
          <p:cNvSpPr/>
          <p:nvPr/>
        </p:nvSpPr>
        <p:spPr>
          <a:xfrm>
            <a:off x="37350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8" name="object 28"/>
          <p:cNvSpPr/>
          <p:nvPr/>
        </p:nvSpPr>
        <p:spPr>
          <a:xfrm>
            <a:off x="37350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9" name="object 29"/>
          <p:cNvSpPr/>
          <p:nvPr/>
        </p:nvSpPr>
        <p:spPr>
          <a:xfrm>
            <a:off x="37350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0" name="object 30"/>
          <p:cNvSpPr/>
          <p:nvPr/>
        </p:nvSpPr>
        <p:spPr>
          <a:xfrm>
            <a:off x="3735070" y="68878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1" name="object 31"/>
          <p:cNvSpPr/>
          <p:nvPr/>
        </p:nvSpPr>
        <p:spPr>
          <a:xfrm>
            <a:off x="37299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2" name="object 32"/>
          <p:cNvSpPr txBox="1"/>
          <p:nvPr/>
        </p:nvSpPr>
        <p:spPr>
          <a:xfrm>
            <a:off x="37299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5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174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5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7299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5" name="object 35"/>
          <p:cNvSpPr/>
          <p:nvPr/>
        </p:nvSpPr>
        <p:spPr>
          <a:xfrm>
            <a:off x="7240270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6" name="object 36"/>
          <p:cNvSpPr/>
          <p:nvPr/>
        </p:nvSpPr>
        <p:spPr>
          <a:xfrm>
            <a:off x="72402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7" name="object 37"/>
          <p:cNvSpPr/>
          <p:nvPr/>
        </p:nvSpPr>
        <p:spPr>
          <a:xfrm>
            <a:off x="72402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8" name="object 38"/>
          <p:cNvSpPr/>
          <p:nvPr/>
        </p:nvSpPr>
        <p:spPr>
          <a:xfrm>
            <a:off x="72402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9" name="object 39"/>
          <p:cNvSpPr/>
          <p:nvPr/>
        </p:nvSpPr>
        <p:spPr>
          <a:xfrm>
            <a:off x="72351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0" name="object 40"/>
          <p:cNvSpPr txBox="1"/>
          <p:nvPr/>
        </p:nvSpPr>
        <p:spPr>
          <a:xfrm>
            <a:off x="72351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3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8226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3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235190" y="6965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3" name="object 43"/>
          <p:cNvSpPr/>
          <p:nvPr/>
        </p:nvSpPr>
        <p:spPr>
          <a:xfrm>
            <a:off x="72402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4" name="object 44"/>
          <p:cNvSpPr/>
          <p:nvPr/>
        </p:nvSpPr>
        <p:spPr>
          <a:xfrm>
            <a:off x="72402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5" name="object 45"/>
          <p:cNvSpPr/>
          <p:nvPr/>
        </p:nvSpPr>
        <p:spPr>
          <a:xfrm>
            <a:off x="72402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6" name="object 46"/>
          <p:cNvSpPr/>
          <p:nvPr/>
        </p:nvSpPr>
        <p:spPr>
          <a:xfrm>
            <a:off x="7240270" y="68878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7" name="object 47"/>
          <p:cNvSpPr/>
          <p:nvPr/>
        </p:nvSpPr>
        <p:spPr>
          <a:xfrm>
            <a:off x="72351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8" name="object 48"/>
          <p:cNvSpPr txBox="1"/>
          <p:nvPr/>
        </p:nvSpPr>
        <p:spPr>
          <a:xfrm>
            <a:off x="72351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6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8226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6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2351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4" name="object 13"/>
          <p:cNvSpPr/>
          <p:nvPr/>
        </p:nvSpPr>
        <p:spPr>
          <a:xfrm>
            <a:off x="240665" y="689483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6" name="object 2"/>
          <p:cNvSpPr/>
          <p:nvPr/>
        </p:nvSpPr>
        <p:spPr>
          <a:xfrm>
            <a:off x="285750" y="7163435"/>
            <a:ext cx="939800" cy="215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0" name="object 43">
            <a:extLst>
              <a:ext uri="{FF2B5EF4-FFF2-40B4-BE49-F238E27FC236}">
                <a16:creationId xmlns:a16="http://schemas.microsoft.com/office/drawing/2014/main" id="{E52C13FE-E357-A74A-B36E-FC9F563538D0}"/>
              </a:ext>
            </a:extLst>
          </p:cNvPr>
          <p:cNvSpPr txBox="1"/>
          <p:nvPr/>
        </p:nvSpPr>
        <p:spPr>
          <a:xfrm>
            <a:off x="6836736" y="7188980"/>
            <a:ext cx="3607744" cy="184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 algn="r">
              <a:spcBef>
                <a:spcPts val="100"/>
              </a:spcBef>
            </a:pPr>
            <a:r>
              <a:rPr lang="en-US" sz="1100" spc="30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Get </a:t>
            </a:r>
            <a:r>
              <a:rPr lang="en-US" sz="1100" spc="-15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free </a:t>
            </a:r>
            <a:r>
              <a:rPr lang="en-US" sz="1100" spc="15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storyboard </a:t>
            </a:r>
            <a:r>
              <a:rPr lang="en-US" sz="1100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templates at </a:t>
            </a:r>
            <a:r>
              <a:rPr lang="en-US" sz="1100" err="1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Boords.com</a:t>
            </a:r>
            <a:endParaRPr lang="en-US" sz="110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1" name="object 3">
            <a:extLst>
              <a:ext uri="{FF2B5EF4-FFF2-40B4-BE49-F238E27FC236}">
                <a16:creationId xmlns:a16="http://schemas.microsoft.com/office/drawing/2014/main" id="{C50C7CF4-8939-6A42-B825-3F0086ADAABC}"/>
              </a:ext>
            </a:extLst>
          </p:cNvPr>
          <p:cNvSpPr/>
          <p:nvPr/>
        </p:nvSpPr>
        <p:spPr>
          <a:xfrm>
            <a:off x="252765" y="198387"/>
            <a:ext cx="10165045" cy="292100"/>
          </a:xfrm>
          <a:custGeom>
            <a:avLst/>
            <a:gdLst/>
            <a:ahLst/>
            <a:cxnLst/>
            <a:rect l="l" t="t" r="r" b="b"/>
            <a:pathLst>
              <a:path w="10198100" h="292100">
                <a:moveTo>
                  <a:pt x="0" y="0"/>
                </a:moveTo>
                <a:lnTo>
                  <a:pt x="10198100" y="0"/>
                </a:lnTo>
                <a:lnTo>
                  <a:pt x="10198100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r>
              <a:rPr lang="en-US"/>
              <a:t>          Promo – 5g Academy – Project Vision                                                                       </a:t>
            </a:r>
          </a:p>
        </p:txBody>
      </p:sp>
      <p:sp>
        <p:nvSpPr>
          <p:cNvPr id="62" name="object 4">
            <a:extLst>
              <a:ext uri="{FF2B5EF4-FFF2-40B4-BE49-F238E27FC236}">
                <a16:creationId xmlns:a16="http://schemas.microsoft.com/office/drawing/2014/main" id="{946EC202-0A31-544B-A5EB-E6236CEC5C32}"/>
              </a:ext>
            </a:extLst>
          </p:cNvPr>
          <p:cNvSpPr/>
          <p:nvPr/>
        </p:nvSpPr>
        <p:spPr>
          <a:xfrm>
            <a:off x="9373270" y="190839"/>
            <a:ext cx="45719" cy="299648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0"/>
                </a:moveTo>
                <a:lnTo>
                  <a:pt x="0" y="255143"/>
                </a:lnTo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4" name="object 5">
            <a:extLst>
              <a:ext uri="{FF2B5EF4-FFF2-40B4-BE49-F238E27FC236}">
                <a16:creationId xmlns:a16="http://schemas.microsoft.com/office/drawing/2014/main" id="{E6CC7FE7-E316-B44C-A800-2DE6E459D268}"/>
              </a:ext>
            </a:extLst>
          </p:cNvPr>
          <p:cNvSpPr txBox="1"/>
          <p:nvPr/>
        </p:nvSpPr>
        <p:spPr>
          <a:xfrm>
            <a:off x="9376410" y="247564"/>
            <a:ext cx="1041400" cy="187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marR="0">
              <a:spcBef>
                <a:spcPts val="100"/>
              </a:spcBef>
              <a:spcAft>
                <a:spcPts val="0"/>
              </a:spcAft>
            </a:pPr>
            <a:r>
              <a:rPr lang="en-US" sz="1100" kern="1200" spc="1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Page: 2</a:t>
            </a:r>
            <a:endParaRPr lang="en-US" sz="110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374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AEGIS logo settles center frame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"This is AEGIS."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slides/GATE-2/AEGIS_Gate2_Official.pptx, Slide 1 (cover)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299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Quick architecture teaser: 4 icons in a row (no labels yet)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A zero-trust identity gate for AI agents on the network.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assets/architecture.png (cropped/teased)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351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Team members at laptops / workstation B-roll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Built by Team 4, 5G Academy 2026.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NEW: live-action B-roll (team working)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74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5G Academy + Fastweb + Vodafone logos, brief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In partnership with Fastweb and Vodafone.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slides/GATE-2/AEGIS_Gate2_Official.pptx, Slide 1 (branding)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299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Transition wipe to network operations center visual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Bridge into the problem.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NEW: transition graphic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351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Fade to black / section break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N/A - transition only</a:t>
            </a:r>
          </a:p>
        </p:txBody>
      </p:sp>
      <p:pic>
        <p:nvPicPr>
          <p:cNvPr id="71" name="Picture 70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572162" y="805819"/>
            <a:ext cx="1490655" cy="2070100"/>
          </a:xfrm>
          <a:prstGeom prst="rect">
            <a:avLst/>
          </a:prstGeom>
        </p:spPr>
      </p:pic>
      <p:pic>
        <p:nvPicPr>
          <p:cNvPr id="72" name="logo-reveal-plain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37490" y="886241"/>
            <a:ext cx="3187700" cy="1793831"/>
          </a:xfrm>
          <a:prstGeom prst="rect">
            <a:avLst/>
          </a:prstGeom>
        </p:spPr>
      </p:pic>
      <p:pic>
        <p:nvPicPr>
          <p:cNvPr id="73" name="textcard-branding.mp4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37490" y="4124741"/>
            <a:ext cx="3187700" cy="1793831"/>
          </a:xfrm>
          <a:prstGeom prst="rect">
            <a:avLst/>
          </a:prstGeom>
        </p:spPr>
      </p:pic>
      <p:pic>
        <p:nvPicPr>
          <p:cNvPr id="74" name="transition-noc-bridge.mp4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729990" y="4124741"/>
            <a:ext cx="3187700" cy="179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1266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2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3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7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240665" y="2888821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2425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" name="object 5"/>
          <p:cNvSpPr/>
          <p:nvPr/>
        </p:nvSpPr>
        <p:spPr>
          <a:xfrm>
            <a:off x="23622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7" name="object 6"/>
          <p:cNvSpPr/>
          <p:nvPr/>
        </p:nvSpPr>
        <p:spPr>
          <a:xfrm>
            <a:off x="2425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8" name="object 7"/>
          <p:cNvSpPr/>
          <p:nvPr/>
        </p:nvSpPr>
        <p:spPr>
          <a:xfrm>
            <a:off x="2374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9" name="object 8"/>
          <p:cNvSpPr txBox="1"/>
          <p:nvPr/>
        </p:nvSpPr>
        <p:spPr>
          <a:xfrm>
            <a:off x="2374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1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8249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1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237490" y="696594"/>
            <a:ext cx="3187700" cy="298451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2" name="object 11"/>
          <p:cNvSpPr/>
          <p:nvPr/>
        </p:nvSpPr>
        <p:spPr>
          <a:xfrm>
            <a:off x="2425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3" name="object 12"/>
          <p:cNvSpPr/>
          <p:nvPr/>
        </p:nvSpPr>
        <p:spPr>
          <a:xfrm>
            <a:off x="2425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4" name="object 13"/>
          <p:cNvSpPr/>
          <p:nvPr/>
        </p:nvSpPr>
        <p:spPr>
          <a:xfrm>
            <a:off x="2425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5" name="object 15"/>
          <p:cNvSpPr/>
          <p:nvPr/>
        </p:nvSpPr>
        <p:spPr>
          <a:xfrm>
            <a:off x="2374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6" name="object 16"/>
          <p:cNvSpPr txBox="1"/>
          <p:nvPr/>
        </p:nvSpPr>
        <p:spPr>
          <a:xfrm>
            <a:off x="2374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4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249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4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74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9" name="object 19"/>
          <p:cNvSpPr/>
          <p:nvPr/>
        </p:nvSpPr>
        <p:spPr>
          <a:xfrm>
            <a:off x="3755549" y="291425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sz="1400" dirty="0"/>
          </a:p>
        </p:txBody>
      </p:sp>
      <p:sp>
        <p:nvSpPr>
          <p:cNvPr id="20" name="object 20"/>
          <p:cNvSpPr/>
          <p:nvPr/>
        </p:nvSpPr>
        <p:spPr>
          <a:xfrm>
            <a:off x="37350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1" name="object 21"/>
          <p:cNvSpPr/>
          <p:nvPr/>
        </p:nvSpPr>
        <p:spPr>
          <a:xfrm>
            <a:off x="37350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2" name="object 22"/>
          <p:cNvSpPr/>
          <p:nvPr/>
        </p:nvSpPr>
        <p:spPr>
          <a:xfrm>
            <a:off x="37350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3" name="object 23"/>
          <p:cNvSpPr/>
          <p:nvPr/>
        </p:nvSpPr>
        <p:spPr>
          <a:xfrm>
            <a:off x="37299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37299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2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174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2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29990" y="6965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7" name="object 27"/>
          <p:cNvSpPr/>
          <p:nvPr/>
        </p:nvSpPr>
        <p:spPr>
          <a:xfrm>
            <a:off x="3755549" y="61379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it-IT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7350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9" name="object 29"/>
          <p:cNvSpPr/>
          <p:nvPr/>
        </p:nvSpPr>
        <p:spPr>
          <a:xfrm>
            <a:off x="37350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0" name="object 30"/>
          <p:cNvSpPr/>
          <p:nvPr/>
        </p:nvSpPr>
        <p:spPr>
          <a:xfrm>
            <a:off x="3735070" y="68878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1" name="object 31"/>
          <p:cNvSpPr/>
          <p:nvPr/>
        </p:nvSpPr>
        <p:spPr>
          <a:xfrm>
            <a:off x="37299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2" name="object 32"/>
          <p:cNvSpPr txBox="1"/>
          <p:nvPr/>
        </p:nvSpPr>
        <p:spPr>
          <a:xfrm>
            <a:off x="37299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5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174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5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7299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5" name="object 35"/>
          <p:cNvSpPr/>
          <p:nvPr/>
        </p:nvSpPr>
        <p:spPr>
          <a:xfrm>
            <a:off x="7240270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6" name="object 36"/>
          <p:cNvSpPr/>
          <p:nvPr/>
        </p:nvSpPr>
        <p:spPr>
          <a:xfrm>
            <a:off x="72402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7" name="object 37"/>
          <p:cNvSpPr/>
          <p:nvPr/>
        </p:nvSpPr>
        <p:spPr>
          <a:xfrm>
            <a:off x="72402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8" name="object 38"/>
          <p:cNvSpPr/>
          <p:nvPr/>
        </p:nvSpPr>
        <p:spPr>
          <a:xfrm>
            <a:off x="72402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9" name="object 39"/>
          <p:cNvSpPr/>
          <p:nvPr/>
        </p:nvSpPr>
        <p:spPr>
          <a:xfrm>
            <a:off x="7111586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0" name="object 40"/>
          <p:cNvSpPr txBox="1"/>
          <p:nvPr/>
        </p:nvSpPr>
        <p:spPr>
          <a:xfrm>
            <a:off x="7141453" y="696595"/>
            <a:ext cx="919237" cy="218008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3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8226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3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141453" y="696594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3" name="object 43"/>
          <p:cNvSpPr/>
          <p:nvPr/>
        </p:nvSpPr>
        <p:spPr>
          <a:xfrm>
            <a:off x="72402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4" name="object 44"/>
          <p:cNvSpPr/>
          <p:nvPr/>
        </p:nvSpPr>
        <p:spPr>
          <a:xfrm>
            <a:off x="72402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5" name="object 45"/>
          <p:cNvSpPr/>
          <p:nvPr/>
        </p:nvSpPr>
        <p:spPr>
          <a:xfrm>
            <a:off x="72402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6" name="object 46"/>
          <p:cNvSpPr/>
          <p:nvPr/>
        </p:nvSpPr>
        <p:spPr>
          <a:xfrm>
            <a:off x="7240270" y="68878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7" name="object 47"/>
          <p:cNvSpPr/>
          <p:nvPr/>
        </p:nvSpPr>
        <p:spPr>
          <a:xfrm>
            <a:off x="72351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8" name="object 48"/>
          <p:cNvSpPr txBox="1"/>
          <p:nvPr/>
        </p:nvSpPr>
        <p:spPr>
          <a:xfrm>
            <a:off x="72351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6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8226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6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2351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4" name="object 13"/>
          <p:cNvSpPr/>
          <p:nvPr/>
        </p:nvSpPr>
        <p:spPr>
          <a:xfrm>
            <a:off x="240665" y="689483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6" name="object 2"/>
          <p:cNvSpPr/>
          <p:nvPr/>
        </p:nvSpPr>
        <p:spPr>
          <a:xfrm>
            <a:off x="285750" y="7163435"/>
            <a:ext cx="939800" cy="215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0" name="object 43">
            <a:extLst>
              <a:ext uri="{FF2B5EF4-FFF2-40B4-BE49-F238E27FC236}">
                <a16:creationId xmlns:a16="http://schemas.microsoft.com/office/drawing/2014/main" id="{E52C13FE-E357-A74A-B36E-FC9F563538D0}"/>
              </a:ext>
            </a:extLst>
          </p:cNvPr>
          <p:cNvSpPr txBox="1"/>
          <p:nvPr/>
        </p:nvSpPr>
        <p:spPr>
          <a:xfrm>
            <a:off x="6836736" y="7188980"/>
            <a:ext cx="3607744" cy="184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 algn="r">
              <a:spcBef>
                <a:spcPts val="100"/>
              </a:spcBef>
            </a:pPr>
            <a:r>
              <a:rPr lang="en-US" sz="1100" spc="30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Get </a:t>
            </a:r>
            <a:r>
              <a:rPr lang="en-US" sz="1100" spc="-15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free </a:t>
            </a:r>
            <a:r>
              <a:rPr lang="en-US" sz="1100" spc="15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storyboard </a:t>
            </a:r>
            <a:r>
              <a:rPr lang="en-US" sz="1100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templates at </a:t>
            </a:r>
            <a:r>
              <a:rPr lang="en-US" sz="1100" err="1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Boords.com</a:t>
            </a:r>
            <a:endParaRPr lang="en-US" sz="110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1" name="object 3">
            <a:extLst>
              <a:ext uri="{FF2B5EF4-FFF2-40B4-BE49-F238E27FC236}">
                <a16:creationId xmlns:a16="http://schemas.microsoft.com/office/drawing/2014/main" id="{C50C7CF4-8939-6A42-B825-3F0086ADAABC}"/>
              </a:ext>
            </a:extLst>
          </p:cNvPr>
          <p:cNvSpPr/>
          <p:nvPr/>
        </p:nvSpPr>
        <p:spPr>
          <a:xfrm>
            <a:off x="252765" y="198387"/>
            <a:ext cx="10165045" cy="292100"/>
          </a:xfrm>
          <a:custGeom>
            <a:avLst/>
            <a:gdLst/>
            <a:ahLst/>
            <a:cxnLst/>
            <a:rect l="l" t="t" r="r" b="b"/>
            <a:pathLst>
              <a:path w="10198100" h="292100">
                <a:moveTo>
                  <a:pt x="0" y="0"/>
                </a:moveTo>
                <a:lnTo>
                  <a:pt x="10198100" y="0"/>
                </a:lnTo>
                <a:lnTo>
                  <a:pt x="10198100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r>
              <a:rPr lang="en-US" dirty="0"/>
              <a:t>         Promo – 5g Academy – Project Vision                </a:t>
            </a:r>
            <a:r>
              <a:rPr lang="en-US" dirty="0" err="1"/>
              <a:t>presentazione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/ e business                                                      </a:t>
            </a:r>
          </a:p>
        </p:txBody>
      </p:sp>
      <p:sp>
        <p:nvSpPr>
          <p:cNvPr id="62" name="object 4">
            <a:extLst>
              <a:ext uri="{FF2B5EF4-FFF2-40B4-BE49-F238E27FC236}">
                <a16:creationId xmlns:a16="http://schemas.microsoft.com/office/drawing/2014/main" id="{946EC202-0A31-544B-A5EB-E6236CEC5C32}"/>
              </a:ext>
            </a:extLst>
          </p:cNvPr>
          <p:cNvSpPr/>
          <p:nvPr/>
        </p:nvSpPr>
        <p:spPr>
          <a:xfrm>
            <a:off x="9373270" y="190839"/>
            <a:ext cx="45719" cy="299648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0"/>
                </a:moveTo>
                <a:lnTo>
                  <a:pt x="0" y="255143"/>
                </a:lnTo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4" name="object 5">
            <a:extLst>
              <a:ext uri="{FF2B5EF4-FFF2-40B4-BE49-F238E27FC236}">
                <a16:creationId xmlns:a16="http://schemas.microsoft.com/office/drawing/2014/main" id="{E6CC7FE7-E316-B44C-A800-2DE6E459D268}"/>
              </a:ext>
            </a:extLst>
          </p:cNvPr>
          <p:cNvSpPr txBox="1"/>
          <p:nvPr/>
        </p:nvSpPr>
        <p:spPr>
          <a:xfrm>
            <a:off x="9376410" y="247564"/>
            <a:ext cx="1041400" cy="187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marR="0">
              <a:spcBef>
                <a:spcPts val="100"/>
              </a:spcBef>
              <a:spcAft>
                <a:spcPts val="0"/>
              </a:spcAft>
            </a:pPr>
            <a:r>
              <a:rPr lang="en-US" sz="1100" kern="1200" spc="1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Page: 3</a:t>
            </a:r>
            <a:endParaRPr lang="en-US" sz="110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374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Graphic: orchestration tool calling AMF/SMF/UDM APIs directly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Orchestration and automation tools now call 5G Network Functions directly.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slides/GATE-2/AEGIS_Gate2_Official.pptx, Slide 4 (pipeline cards)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299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Split screen: valid credential vs. abnormal behavior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Authentication proves you have the right key.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reports/GATE-2/aegis_hook_analogy.png (full graphic)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351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Text overlay, large: "It never asks if you're still you."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It never asks whether you're still behaving like yourself.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slides/GATE-2/AEGIS_Gate2_Official.pptx, Slide 6 ("THE GAP" panel text)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74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NOC/SOC operator looking concerned at a dashboard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A compromised or stolen credential can sit undetected for weeks.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NEW: live-action B-roll (operator at screen)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299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Business-impact graphic: cost/risk of an undetected breach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The business cost of a one-time-only identity check.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NEW: graphic - pull from Gate 1 deck's economic/business analysis if available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351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Transition: question mark resolves into AEGIS logo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"There's a better way."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NEW: transition graphic</a:t>
            </a:r>
          </a:p>
        </p:txBody>
      </p:sp>
      <p:pic>
        <p:nvPicPr>
          <p:cNvPr id="71" name="Picture 70" descr="aegis_hook_ana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990" y="1369717"/>
            <a:ext cx="3187700" cy="723856"/>
          </a:xfrm>
          <a:prstGeom prst="rect">
            <a:avLst/>
          </a:prstGeom>
        </p:spPr>
      </p:pic>
      <p:pic>
        <p:nvPicPr>
          <p:cNvPr id="72" name="textcard-neveraskyou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235190" y="886241"/>
            <a:ext cx="3187700" cy="1793831"/>
          </a:xfrm>
          <a:prstGeom prst="rect">
            <a:avLst/>
          </a:prstGeom>
        </p:spPr>
      </p:pic>
      <p:pic>
        <p:nvPicPr>
          <p:cNvPr id="73" name="textcard-businessimpact.mp4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729990" y="4124741"/>
            <a:ext cx="3187700" cy="1793831"/>
          </a:xfrm>
          <a:prstGeom prst="rect">
            <a:avLst/>
          </a:prstGeom>
        </p:spPr>
      </p:pic>
      <p:pic>
        <p:nvPicPr>
          <p:cNvPr id="74" name="transition-question-to-logo.mp4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235190" y="4124741"/>
            <a:ext cx="3187700" cy="179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9236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2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3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7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242570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" name="object 4"/>
          <p:cNvSpPr/>
          <p:nvPr/>
        </p:nvSpPr>
        <p:spPr>
          <a:xfrm>
            <a:off x="2425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" name="object 5"/>
          <p:cNvSpPr/>
          <p:nvPr/>
        </p:nvSpPr>
        <p:spPr>
          <a:xfrm>
            <a:off x="2425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7" name="object 6"/>
          <p:cNvSpPr/>
          <p:nvPr/>
        </p:nvSpPr>
        <p:spPr>
          <a:xfrm>
            <a:off x="2425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8" name="object 7"/>
          <p:cNvSpPr/>
          <p:nvPr/>
        </p:nvSpPr>
        <p:spPr>
          <a:xfrm>
            <a:off x="2374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9" name="object 8"/>
          <p:cNvSpPr txBox="1"/>
          <p:nvPr/>
        </p:nvSpPr>
        <p:spPr>
          <a:xfrm>
            <a:off x="2374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1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8249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1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237490" y="696594"/>
            <a:ext cx="3187700" cy="298451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2" name="object 11"/>
          <p:cNvSpPr/>
          <p:nvPr/>
        </p:nvSpPr>
        <p:spPr>
          <a:xfrm>
            <a:off x="2425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3" name="object 12"/>
          <p:cNvSpPr/>
          <p:nvPr/>
        </p:nvSpPr>
        <p:spPr>
          <a:xfrm>
            <a:off x="2425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4" name="object 13"/>
          <p:cNvSpPr/>
          <p:nvPr/>
        </p:nvSpPr>
        <p:spPr>
          <a:xfrm>
            <a:off x="2425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5" name="object 15"/>
          <p:cNvSpPr/>
          <p:nvPr/>
        </p:nvSpPr>
        <p:spPr>
          <a:xfrm>
            <a:off x="2374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6" name="object 16"/>
          <p:cNvSpPr txBox="1"/>
          <p:nvPr/>
        </p:nvSpPr>
        <p:spPr>
          <a:xfrm>
            <a:off x="2374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4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249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4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74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9" name="object 19"/>
          <p:cNvSpPr/>
          <p:nvPr/>
        </p:nvSpPr>
        <p:spPr>
          <a:xfrm>
            <a:off x="3735070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0" name="object 20"/>
          <p:cNvSpPr/>
          <p:nvPr/>
        </p:nvSpPr>
        <p:spPr>
          <a:xfrm>
            <a:off x="37350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1" name="object 21"/>
          <p:cNvSpPr/>
          <p:nvPr/>
        </p:nvSpPr>
        <p:spPr>
          <a:xfrm>
            <a:off x="37350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2" name="object 22"/>
          <p:cNvSpPr/>
          <p:nvPr/>
        </p:nvSpPr>
        <p:spPr>
          <a:xfrm>
            <a:off x="37350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3" name="object 23"/>
          <p:cNvSpPr/>
          <p:nvPr/>
        </p:nvSpPr>
        <p:spPr>
          <a:xfrm>
            <a:off x="37299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37299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2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174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2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29990" y="6965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7" name="object 27"/>
          <p:cNvSpPr/>
          <p:nvPr/>
        </p:nvSpPr>
        <p:spPr>
          <a:xfrm>
            <a:off x="3755549" y="61379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it-IT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7350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9" name="object 29"/>
          <p:cNvSpPr/>
          <p:nvPr/>
        </p:nvSpPr>
        <p:spPr>
          <a:xfrm>
            <a:off x="37350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0" name="object 30"/>
          <p:cNvSpPr/>
          <p:nvPr/>
        </p:nvSpPr>
        <p:spPr>
          <a:xfrm>
            <a:off x="3735070" y="68878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1" name="object 31"/>
          <p:cNvSpPr/>
          <p:nvPr/>
        </p:nvSpPr>
        <p:spPr>
          <a:xfrm>
            <a:off x="37299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2" name="object 32"/>
          <p:cNvSpPr txBox="1"/>
          <p:nvPr/>
        </p:nvSpPr>
        <p:spPr>
          <a:xfrm>
            <a:off x="37299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5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174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5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7299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5" name="object 35"/>
          <p:cNvSpPr/>
          <p:nvPr/>
        </p:nvSpPr>
        <p:spPr>
          <a:xfrm>
            <a:off x="7240270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6" name="object 36"/>
          <p:cNvSpPr/>
          <p:nvPr/>
        </p:nvSpPr>
        <p:spPr>
          <a:xfrm>
            <a:off x="72402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7" name="object 37"/>
          <p:cNvSpPr/>
          <p:nvPr/>
        </p:nvSpPr>
        <p:spPr>
          <a:xfrm>
            <a:off x="72402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8" name="object 38"/>
          <p:cNvSpPr/>
          <p:nvPr/>
        </p:nvSpPr>
        <p:spPr>
          <a:xfrm>
            <a:off x="72402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9" name="object 39"/>
          <p:cNvSpPr/>
          <p:nvPr/>
        </p:nvSpPr>
        <p:spPr>
          <a:xfrm>
            <a:off x="72351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0" name="object 40"/>
          <p:cNvSpPr txBox="1"/>
          <p:nvPr/>
        </p:nvSpPr>
        <p:spPr>
          <a:xfrm>
            <a:off x="72351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3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8226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3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235190" y="6965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3" name="object 43"/>
          <p:cNvSpPr/>
          <p:nvPr/>
        </p:nvSpPr>
        <p:spPr>
          <a:xfrm>
            <a:off x="72402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4" name="object 44"/>
          <p:cNvSpPr/>
          <p:nvPr/>
        </p:nvSpPr>
        <p:spPr>
          <a:xfrm>
            <a:off x="72402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5" name="object 45"/>
          <p:cNvSpPr/>
          <p:nvPr/>
        </p:nvSpPr>
        <p:spPr>
          <a:xfrm>
            <a:off x="72402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6" name="object 46"/>
          <p:cNvSpPr/>
          <p:nvPr/>
        </p:nvSpPr>
        <p:spPr>
          <a:xfrm>
            <a:off x="7240270" y="68878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7" name="object 47"/>
          <p:cNvSpPr/>
          <p:nvPr/>
        </p:nvSpPr>
        <p:spPr>
          <a:xfrm>
            <a:off x="72351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8" name="object 48"/>
          <p:cNvSpPr txBox="1"/>
          <p:nvPr/>
        </p:nvSpPr>
        <p:spPr>
          <a:xfrm>
            <a:off x="72351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6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8226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6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2351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4" name="object 13"/>
          <p:cNvSpPr/>
          <p:nvPr/>
        </p:nvSpPr>
        <p:spPr>
          <a:xfrm>
            <a:off x="240665" y="689483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6" name="object 2"/>
          <p:cNvSpPr/>
          <p:nvPr/>
        </p:nvSpPr>
        <p:spPr>
          <a:xfrm>
            <a:off x="285750" y="7163435"/>
            <a:ext cx="939800" cy="215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0" name="object 43">
            <a:extLst>
              <a:ext uri="{FF2B5EF4-FFF2-40B4-BE49-F238E27FC236}">
                <a16:creationId xmlns:a16="http://schemas.microsoft.com/office/drawing/2014/main" id="{E52C13FE-E357-A74A-B36E-FC9F563538D0}"/>
              </a:ext>
            </a:extLst>
          </p:cNvPr>
          <p:cNvSpPr txBox="1"/>
          <p:nvPr/>
        </p:nvSpPr>
        <p:spPr>
          <a:xfrm>
            <a:off x="6836736" y="7188980"/>
            <a:ext cx="3607744" cy="184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 algn="r">
              <a:spcBef>
                <a:spcPts val="100"/>
              </a:spcBef>
            </a:pPr>
            <a:r>
              <a:rPr lang="en-US" sz="1100" spc="30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Get </a:t>
            </a:r>
            <a:r>
              <a:rPr lang="en-US" sz="1100" spc="-15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free </a:t>
            </a:r>
            <a:r>
              <a:rPr lang="en-US" sz="1100" spc="15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storyboard </a:t>
            </a:r>
            <a:r>
              <a:rPr lang="en-US" sz="1100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templates at </a:t>
            </a:r>
            <a:r>
              <a:rPr lang="en-US" sz="1100" err="1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Boords.com</a:t>
            </a:r>
            <a:endParaRPr lang="en-US" sz="110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1" name="object 3">
            <a:extLst>
              <a:ext uri="{FF2B5EF4-FFF2-40B4-BE49-F238E27FC236}">
                <a16:creationId xmlns:a16="http://schemas.microsoft.com/office/drawing/2014/main" id="{C50C7CF4-8939-6A42-B825-3F0086ADAABC}"/>
              </a:ext>
            </a:extLst>
          </p:cNvPr>
          <p:cNvSpPr/>
          <p:nvPr/>
        </p:nvSpPr>
        <p:spPr>
          <a:xfrm>
            <a:off x="252765" y="198387"/>
            <a:ext cx="10165045" cy="292100"/>
          </a:xfrm>
          <a:custGeom>
            <a:avLst/>
            <a:gdLst/>
            <a:ahLst/>
            <a:cxnLst/>
            <a:rect l="l" t="t" r="r" b="b"/>
            <a:pathLst>
              <a:path w="10198100" h="292100">
                <a:moveTo>
                  <a:pt x="0" y="0"/>
                </a:moveTo>
                <a:lnTo>
                  <a:pt x="10198100" y="0"/>
                </a:lnTo>
                <a:lnTo>
                  <a:pt x="10198100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r>
              <a:rPr lang="en-US" dirty="0"/>
              <a:t>          Promo – 5g Academy – Project Vision               </a:t>
            </a:r>
            <a:r>
              <a:rPr lang="en-US" dirty="0" err="1"/>
              <a:t>presentazione</a:t>
            </a:r>
            <a:r>
              <a:rPr lang="en-US" dirty="0"/>
              <a:t> </a:t>
            </a:r>
            <a:r>
              <a:rPr lang="en-US" dirty="0" err="1"/>
              <a:t>soluzione</a:t>
            </a:r>
            <a:r>
              <a:rPr lang="en-US" dirty="0"/>
              <a:t> </a:t>
            </a:r>
            <a:r>
              <a:rPr lang="en-US" dirty="0" err="1"/>
              <a:t>futura</a:t>
            </a:r>
            <a:endParaRPr lang="en-US" dirty="0"/>
          </a:p>
        </p:txBody>
      </p:sp>
      <p:sp>
        <p:nvSpPr>
          <p:cNvPr id="62" name="object 4">
            <a:extLst>
              <a:ext uri="{FF2B5EF4-FFF2-40B4-BE49-F238E27FC236}">
                <a16:creationId xmlns:a16="http://schemas.microsoft.com/office/drawing/2014/main" id="{946EC202-0A31-544B-A5EB-E6236CEC5C32}"/>
              </a:ext>
            </a:extLst>
          </p:cNvPr>
          <p:cNvSpPr/>
          <p:nvPr/>
        </p:nvSpPr>
        <p:spPr>
          <a:xfrm>
            <a:off x="9373270" y="190839"/>
            <a:ext cx="45719" cy="299648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0"/>
                </a:moveTo>
                <a:lnTo>
                  <a:pt x="0" y="255143"/>
                </a:lnTo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4" name="object 5">
            <a:extLst>
              <a:ext uri="{FF2B5EF4-FFF2-40B4-BE49-F238E27FC236}">
                <a16:creationId xmlns:a16="http://schemas.microsoft.com/office/drawing/2014/main" id="{E6CC7FE7-E316-B44C-A800-2DE6E459D268}"/>
              </a:ext>
            </a:extLst>
          </p:cNvPr>
          <p:cNvSpPr txBox="1"/>
          <p:nvPr/>
        </p:nvSpPr>
        <p:spPr>
          <a:xfrm>
            <a:off x="9376410" y="247564"/>
            <a:ext cx="1041400" cy="187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marR="0">
              <a:spcBef>
                <a:spcPts val="100"/>
              </a:spcBef>
              <a:spcAft>
                <a:spcPts val="0"/>
              </a:spcAft>
            </a:pPr>
            <a:r>
              <a:rPr lang="en-US" sz="1100" kern="1200" spc="1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Page: 4</a:t>
            </a:r>
            <a:endParaRPr lang="en-US" sz="110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374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AEGIS architecture diagram, full reveal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AEGIS builds a behavioural fingerprint for every agent.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assets/architecture.png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299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Animated: OBSERVE stage highlighted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OBSERVE - every request is captured: who, what, when, how.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slides/GATE-2/AEGIS_Gate2_Official.pptx, Slide 4 (OBSERVE card)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351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Animated: FINGERPRINT stage highlighted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FINGERPRINT - that stream becomes a behavioural profile.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slides/GATE-2/AEGIS_Gate2_Official.pptx, Slide 4 (FINGERPRINT card)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74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Animated: SCORE stage highlighted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SCORE - live behaviour is compared to that profile, in real time.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slides/GATE-2/AEGIS_Gate2_Official.pptx, Slide 8 (Scoring: Rules+ML Fused)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299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Animated: DECIDE stage highlighted, PASS/STEP-UP/BLOCK gate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DECIDE - pass it, challenge it, or shut it down, instantly.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slides/GATE-2/AEGIS_Gate2_Official.pptx, Slide 6 (PASS/STEP-UP/BLOCK pills)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351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Zero-trust tagline overlay (NIST SP 800-207 callout)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Never trust. Always verify. Continuously.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NEW: text card (quote README's zero-trust framing)</a:t>
            </a:r>
          </a:p>
        </p:txBody>
      </p:sp>
      <p:pic>
        <p:nvPicPr>
          <p:cNvPr id="71" name="Picture 70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29149" y="886241"/>
            <a:ext cx="1405605" cy="1951989"/>
          </a:xfrm>
          <a:prstGeom prst="rect">
            <a:avLst/>
          </a:prstGeom>
        </p:spPr>
      </p:pic>
      <p:pic>
        <p:nvPicPr>
          <p:cNvPr id="72" name="pipeline-observe-loop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729990" y="886241"/>
            <a:ext cx="3187700" cy="1793831"/>
          </a:xfrm>
          <a:prstGeom prst="rect">
            <a:avLst/>
          </a:prstGeom>
        </p:spPr>
      </p:pic>
      <p:pic>
        <p:nvPicPr>
          <p:cNvPr id="73" name="pipeline-fingerprint-loop.mp4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235190" y="886241"/>
            <a:ext cx="3187700" cy="1793831"/>
          </a:xfrm>
          <a:prstGeom prst="rect">
            <a:avLst/>
          </a:prstGeom>
        </p:spPr>
      </p:pic>
      <p:pic>
        <p:nvPicPr>
          <p:cNvPr id="74" name="pipeline-score-loop.mp4">
            <a:hlinkClick r:id="" action="ppaction://media"/>
          </p:cNvPr>
          <p:cNvPicPr>
            <a:picLocks noChangeAspect="1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37490" y="4124741"/>
            <a:ext cx="3187700" cy="1793831"/>
          </a:xfrm>
          <a:prstGeom prst="rect">
            <a:avLst/>
          </a:prstGeom>
        </p:spPr>
      </p:pic>
      <p:pic>
        <p:nvPicPr>
          <p:cNvPr id="75" name="pipeline-decide-loop.mp4">
            <a:hlinkClick r:id="" action="ppaction://media"/>
          </p:cNvPr>
          <p:cNvPicPr>
            <a:picLocks noChangeAspect="1"/>
          </p:cNvPicPr>
          <p:nvPr>
            <a:vide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3729990" y="4124741"/>
            <a:ext cx="3187700" cy="1793831"/>
          </a:xfrm>
          <a:prstGeom prst="rect">
            <a:avLst/>
          </a:prstGeom>
        </p:spPr>
      </p:pic>
      <p:pic>
        <p:nvPicPr>
          <p:cNvPr id="76" name="textcard-zerotrust-nist.mp4">
            <a:hlinkClick r:id="" action="ppaction://media"/>
          </p:cNvPr>
          <p:cNvPicPr>
            <a:picLocks noChangeAspect="1"/>
          </p:cNvPicPr>
          <p:nvPr>
            <a:videoFile r:link="rId17"/>
            <p:extLst>
              <p:ext uri="{DAA4B4D4-6D71-4841-9C94-3DE7FCFB9230}">
                <p14:media xmlns:p14="http://schemas.microsoft.com/office/powerpoint/2010/main" r:embed="rId16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7235190" y="4124741"/>
            <a:ext cx="3187700" cy="179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3382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2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3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74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75"/>
                </p:tgtEl>
              </p:cMediaNode>
            </p:video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7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242570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sz="1400" dirty="0"/>
          </a:p>
        </p:txBody>
      </p:sp>
      <p:sp>
        <p:nvSpPr>
          <p:cNvPr id="5" name="object 4"/>
          <p:cNvSpPr/>
          <p:nvPr/>
        </p:nvSpPr>
        <p:spPr>
          <a:xfrm>
            <a:off x="2425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" name="object 5"/>
          <p:cNvSpPr/>
          <p:nvPr/>
        </p:nvSpPr>
        <p:spPr>
          <a:xfrm>
            <a:off x="2425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7" name="object 6"/>
          <p:cNvSpPr/>
          <p:nvPr/>
        </p:nvSpPr>
        <p:spPr>
          <a:xfrm>
            <a:off x="2425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8" name="object 7"/>
          <p:cNvSpPr/>
          <p:nvPr/>
        </p:nvSpPr>
        <p:spPr>
          <a:xfrm>
            <a:off x="2374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9" name="object 8"/>
          <p:cNvSpPr txBox="1"/>
          <p:nvPr/>
        </p:nvSpPr>
        <p:spPr>
          <a:xfrm>
            <a:off x="2374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1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8249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1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237490" y="696594"/>
            <a:ext cx="3187700" cy="298451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2" name="object 11"/>
          <p:cNvSpPr/>
          <p:nvPr/>
        </p:nvSpPr>
        <p:spPr>
          <a:xfrm>
            <a:off x="2425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3" name="object 12"/>
          <p:cNvSpPr/>
          <p:nvPr/>
        </p:nvSpPr>
        <p:spPr>
          <a:xfrm>
            <a:off x="2425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4" name="object 13"/>
          <p:cNvSpPr/>
          <p:nvPr/>
        </p:nvSpPr>
        <p:spPr>
          <a:xfrm>
            <a:off x="2425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5" name="object 15"/>
          <p:cNvSpPr/>
          <p:nvPr/>
        </p:nvSpPr>
        <p:spPr>
          <a:xfrm>
            <a:off x="2374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6" name="object 16"/>
          <p:cNvSpPr txBox="1"/>
          <p:nvPr/>
        </p:nvSpPr>
        <p:spPr>
          <a:xfrm>
            <a:off x="2374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4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249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4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74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9" name="object 19"/>
          <p:cNvSpPr/>
          <p:nvPr/>
        </p:nvSpPr>
        <p:spPr>
          <a:xfrm>
            <a:off x="3735070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0" name="object 20"/>
          <p:cNvSpPr/>
          <p:nvPr/>
        </p:nvSpPr>
        <p:spPr>
          <a:xfrm>
            <a:off x="3735070" y="3028802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sz="1200"/>
          </a:p>
        </p:txBody>
      </p:sp>
      <p:sp>
        <p:nvSpPr>
          <p:cNvPr id="21" name="object 21"/>
          <p:cNvSpPr/>
          <p:nvPr/>
        </p:nvSpPr>
        <p:spPr>
          <a:xfrm>
            <a:off x="37350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2" name="object 22"/>
          <p:cNvSpPr/>
          <p:nvPr/>
        </p:nvSpPr>
        <p:spPr>
          <a:xfrm>
            <a:off x="37350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3" name="object 23"/>
          <p:cNvSpPr/>
          <p:nvPr/>
        </p:nvSpPr>
        <p:spPr>
          <a:xfrm>
            <a:off x="37299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37299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2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174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2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29990" y="6965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7" name="object 27"/>
          <p:cNvSpPr/>
          <p:nvPr/>
        </p:nvSpPr>
        <p:spPr>
          <a:xfrm>
            <a:off x="3755549" y="61379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it-IT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7350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9" name="object 29"/>
          <p:cNvSpPr/>
          <p:nvPr/>
        </p:nvSpPr>
        <p:spPr>
          <a:xfrm>
            <a:off x="37350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0" name="object 30"/>
          <p:cNvSpPr/>
          <p:nvPr/>
        </p:nvSpPr>
        <p:spPr>
          <a:xfrm>
            <a:off x="3735070" y="68878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1" name="object 31"/>
          <p:cNvSpPr/>
          <p:nvPr/>
        </p:nvSpPr>
        <p:spPr>
          <a:xfrm>
            <a:off x="37299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2" name="object 32"/>
          <p:cNvSpPr txBox="1"/>
          <p:nvPr/>
        </p:nvSpPr>
        <p:spPr>
          <a:xfrm>
            <a:off x="37299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5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174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5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7299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5" name="object 35"/>
          <p:cNvSpPr/>
          <p:nvPr/>
        </p:nvSpPr>
        <p:spPr>
          <a:xfrm>
            <a:off x="7276115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sz="1200"/>
          </a:p>
        </p:txBody>
      </p:sp>
      <p:sp>
        <p:nvSpPr>
          <p:cNvPr id="36" name="object 36"/>
          <p:cNvSpPr/>
          <p:nvPr/>
        </p:nvSpPr>
        <p:spPr>
          <a:xfrm>
            <a:off x="72402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37" name="object 37"/>
          <p:cNvSpPr/>
          <p:nvPr/>
        </p:nvSpPr>
        <p:spPr>
          <a:xfrm>
            <a:off x="72402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8" name="object 38"/>
          <p:cNvSpPr/>
          <p:nvPr/>
        </p:nvSpPr>
        <p:spPr>
          <a:xfrm>
            <a:off x="72402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9" name="object 39"/>
          <p:cNvSpPr/>
          <p:nvPr/>
        </p:nvSpPr>
        <p:spPr>
          <a:xfrm>
            <a:off x="72351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0" name="object 40"/>
          <p:cNvSpPr txBox="1"/>
          <p:nvPr/>
        </p:nvSpPr>
        <p:spPr>
          <a:xfrm>
            <a:off x="72351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3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8226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3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235190" y="6965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3" name="object 43"/>
          <p:cNvSpPr/>
          <p:nvPr/>
        </p:nvSpPr>
        <p:spPr>
          <a:xfrm>
            <a:off x="72402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4" name="object 44"/>
          <p:cNvSpPr/>
          <p:nvPr/>
        </p:nvSpPr>
        <p:spPr>
          <a:xfrm>
            <a:off x="72402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5" name="object 45"/>
          <p:cNvSpPr/>
          <p:nvPr/>
        </p:nvSpPr>
        <p:spPr>
          <a:xfrm>
            <a:off x="72402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6" name="object 46"/>
          <p:cNvSpPr/>
          <p:nvPr/>
        </p:nvSpPr>
        <p:spPr>
          <a:xfrm>
            <a:off x="7240270" y="68878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7" name="object 47"/>
          <p:cNvSpPr/>
          <p:nvPr/>
        </p:nvSpPr>
        <p:spPr>
          <a:xfrm>
            <a:off x="72351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8" name="object 48"/>
          <p:cNvSpPr txBox="1"/>
          <p:nvPr/>
        </p:nvSpPr>
        <p:spPr>
          <a:xfrm>
            <a:off x="72351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6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8226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6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2351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4" name="object 13"/>
          <p:cNvSpPr/>
          <p:nvPr/>
        </p:nvSpPr>
        <p:spPr>
          <a:xfrm>
            <a:off x="240665" y="689483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6" name="object 2"/>
          <p:cNvSpPr/>
          <p:nvPr/>
        </p:nvSpPr>
        <p:spPr>
          <a:xfrm>
            <a:off x="285750" y="7163435"/>
            <a:ext cx="939800" cy="215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0" name="object 43">
            <a:extLst>
              <a:ext uri="{FF2B5EF4-FFF2-40B4-BE49-F238E27FC236}">
                <a16:creationId xmlns:a16="http://schemas.microsoft.com/office/drawing/2014/main" id="{E52C13FE-E357-A74A-B36E-FC9F563538D0}"/>
              </a:ext>
            </a:extLst>
          </p:cNvPr>
          <p:cNvSpPr txBox="1"/>
          <p:nvPr/>
        </p:nvSpPr>
        <p:spPr>
          <a:xfrm>
            <a:off x="6836736" y="7188980"/>
            <a:ext cx="3607744" cy="184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 algn="r">
              <a:spcBef>
                <a:spcPts val="100"/>
              </a:spcBef>
            </a:pPr>
            <a:r>
              <a:rPr lang="en-US" sz="1100" spc="30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Get </a:t>
            </a:r>
            <a:r>
              <a:rPr lang="en-US" sz="1100" spc="-15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free </a:t>
            </a:r>
            <a:r>
              <a:rPr lang="en-US" sz="1100" spc="15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storyboard </a:t>
            </a:r>
            <a:r>
              <a:rPr lang="en-US" sz="1100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templates at </a:t>
            </a:r>
            <a:r>
              <a:rPr lang="en-US" sz="1100" err="1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Boords.com</a:t>
            </a:r>
            <a:endParaRPr lang="en-US" sz="110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1" name="object 3">
            <a:extLst>
              <a:ext uri="{FF2B5EF4-FFF2-40B4-BE49-F238E27FC236}">
                <a16:creationId xmlns:a16="http://schemas.microsoft.com/office/drawing/2014/main" id="{C50C7CF4-8939-6A42-B825-3F0086ADAABC}"/>
              </a:ext>
            </a:extLst>
          </p:cNvPr>
          <p:cNvSpPr/>
          <p:nvPr/>
        </p:nvSpPr>
        <p:spPr>
          <a:xfrm>
            <a:off x="252765" y="198387"/>
            <a:ext cx="10165045" cy="292100"/>
          </a:xfrm>
          <a:custGeom>
            <a:avLst/>
            <a:gdLst/>
            <a:ahLst/>
            <a:cxnLst/>
            <a:rect l="l" t="t" r="r" b="b"/>
            <a:pathLst>
              <a:path w="10198100" h="292100">
                <a:moveTo>
                  <a:pt x="0" y="0"/>
                </a:moveTo>
                <a:lnTo>
                  <a:pt x="10198100" y="0"/>
                </a:lnTo>
                <a:lnTo>
                  <a:pt x="10198100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r>
              <a:rPr lang="en-US"/>
              <a:t>          Promo – 5g Academy – Project Vision             </a:t>
            </a:r>
            <a:r>
              <a:rPr lang="en-US" err="1"/>
              <a:t>parte</a:t>
            </a:r>
            <a:r>
              <a:rPr lang="en-US"/>
              <a:t> test</a:t>
            </a:r>
          </a:p>
        </p:txBody>
      </p:sp>
      <p:sp>
        <p:nvSpPr>
          <p:cNvPr id="62" name="object 4">
            <a:extLst>
              <a:ext uri="{FF2B5EF4-FFF2-40B4-BE49-F238E27FC236}">
                <a16:creationId xmlns:a16="http://schemas.microsoft.com/office/drawing/2014/main" id="{946EC202-0A31-544B-A5EB-E6236CEC5C32}"/>
              </a:ext>
            </a:extLst>
          </p:cNvPr>
          <p:cNvSpPr/>
          <p:nvPr/>
        </p:nvSpPr>
        <p:spPr>
          <a:xfrm>
            <a:off x="9373270" y="190839"/>
            <a:ext cx="45719" cy="299648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0"/>
                </a:moveTo>
                <a:lnTo>
                  <a:pt x="0" y="255143"/>
                </a:lnTo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4" name="object 5">
            <a:extLst>
              <a:ext uri="{FF2B5EF4-FFF2-40B4-BE49-F238E27FC236}">
                <a16:creationId xmlns:a16="http://schemas.microsoft.com/office/drawing/2014/main" id="{E6CC7FE7-E316-B44C-A800-2DE6E459D268}"/>
              </a:ext>
            </a:extLst>
          </p:cNvPr>
          <p:cNvSpPr txBox="1"/>
          <p:nvPr/>
        </p:nvSpPr>
        <p:spPr>
          <a:xfrm>
            <a:off x="9376410" y="247564"/>
            <a:ext cx="1041400" cy="187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marR="0">
              <a:spcBef>
                <a:spcPts val="100"/>
              </a:spcBef>
              <a:spcAft>
                <a:spcPts val="0"/>
              </a:spcAft>
            </a:pPr>
            <a:r>
              <a:rPr lang="en-US" sz="1100" kern="1200" spc="1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Page: 5</a:t>
            </a:r>
            <a:endParaRPr lang="en-US" sz="110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374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Screen capture: AEGIS live dashboard home / topology view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Here it is, live - not a mockup.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live screen recording of aegis5gacademy.streamlit.app, OR slides/GATE-2/AEGIS_Live_Demo.mp4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299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Click "Launch Live Attack" on the dashboard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Watch what happens when an agent starts behaving like an attacker.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slides/GATE-2/AEGIS_Live_Demo.mp4 (attack-injection segment)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351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Risk score climbing in real time on screen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Probing endpoints it's never touched, at a rate it's never used.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slides/GATE-2/AEGIS_Live_Demo.mp4 (same segment, continued)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74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Incident inspector panel: plain-language explanation appears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AEGIS explains exactly why, in language a security analyst can act on.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live screen recording - incident inspector panel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299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Decision badge flips to BLOCK, red highlight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And shuts it down before real damage is done.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slides/GATE-2/AEGIS_Live_Demo.mp4 (decision moment)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351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Before/After AEGIS comparison view on screen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This is the difference AEGIS makes.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slides/GATE-2/AEGIS_Live_Demo.mp4 (before/after segment)</a:t>
            </a:r>
          </a:p>
        </p:txBody>
      </p:sp>
      <p:pic>
        <p:nvPicPr>
          <p:cNvPr id="71" name="Picture 70" descr="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14" y="1083640"/>
            <a:ext cx="2388751" cy="1658855"/>
          </a:xfrm>
          <a:prstGeom prst="rect">
            <a:avLst/>
          </a:prstGeom>
        </p:spPr>
      </p:pic>
      <p:pic>
        <p:nvPicPr>
          <p:cNvPr id="72" name="Picture 71" descr="aegis_ev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190" y="4361584"/>
            <a:ext cx="3187700" cy="1217121"/>
          </a:xfrm>
          <a:prstGeom prst="rect">
            <a:avLst/>
          </a:prstGeom>
        </p:spPr>
      </p:pic>
      <p:pic>
        <p:nvPicPr>
          <p:cNvPr id="73" name="Picture 72" descr="dash_live_att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8314" y="1053268"/>
            <a:ext cx="2774898" cy="1560880"/>
          </a:xfrm>
          <a:prstGeom prst="rect">
            <a:avLst/>
          </a:prstGeom>
        </p:spPr>
      </p:pic>
      <p:pic>
        <p:nvPicPr>
          <p:cNvPr id="74" name="Picture 73" descr="dash_topolog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2800" y="1053268"/>
            <a:ext cx="2799780" cy="1574876"/>
          </a:xfrm>
          <a:prstGeom prst="rect">
            <a:avLst/>
          </a:prstGeom>
        </p:spPr>
      </p:pic>
      <p:pic>
        <p:nvPicPr>
          <p:cNvPr id="75" name="Picture 74" descr="dash_incident_inspec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292" y="4321529"/>
            <a:ext cx="2725394" cy="1533034"/>
          </a:xfrm>
          <a:prstGeom prst="rect">
            <a:avLst/>
          </a:prstGeom>
        </p:spPr>
      </p:pic>
      <p:pic>
        <p:nvPicPr>
          <p:cNvPr id="76" name="Picture 75" descr="dash_block_decision_close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9990" y="4511624"/>
            <a:ext cx="3187700" cy="102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71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242570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" name="object 4"/>
          <p:cNvSpPr/>
          <p:nvPr/>
        </p:nvSpPr>
        <p:spPr>
          <a:xfrm>
            <a:off x="2425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" name="object 5"/>
          <p:cNvSpPr/>
          <p:nvPr/>
        </p:nvSpPr>
        <p:spPr>
          <a:xfrm>
            <a:off x="2425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7" name="object 6"/>
          <p:cNvSpPr/>
          <p:nvPr/>
        </p:nvSpPr>
        <p:spPr>
          <a:xfrm>
            <a:off x="2425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8" name="object 7"/>
          <p:cNvSpPr/>
          <p:nvPr/>
        </p:nvSpPr>
        <p:spPr>
          <a:xfrm>
            <a:off x="2374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9" name="object 8"/>
          <p:cNvSpPr txBox="1"/>
          <p:nvPr/>
        </p:nvSpPr>
        <p:spPr>
          <a:xfrm>
            <a:off x="2374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1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8249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1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237490" y="696594"/>
            <a:ext cx="3187700" cy="298451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2" name="object 11"/>
          <p:cNvSpPr/>
          <p:nvPr/>
        </p:nvSpPr>
        <p:spPr>
          <a:xfrm>
            <a:off x="2425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3" name="object 12"/>
          <p:cNvSpPr/>
          <p:nvPr/>
        </p:nvSpPr>
        <p:spPr>
          <a:xfrm>
            <a:off x="2425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4" name="object 13"/>
          <p:cNvSpPr/>
          <p:nvPr/>
        </p:nvSpPr>
        <p:spPr>
          <a:xfrm>
            <a:off x="2425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5" name="object 15"/>
          <p:cNvSpPr/>
          <p:nvPr/>
        </p:nvSpPr>
        <p:spPr>
          <a:xfrm>
            <a:off x="2374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6" name="object 16"/>
          <p:cNvSpPr txBox="1"/>
          <p:nvPr/>
        </p:nvSpPr>
        <p:spPr>
          <a:xfrm>
            <a:off x="2374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4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249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4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74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9" name="object 19"/>
          <p:cNvSpPr/>
          <p:nvPr/>
        </p:nvSpPr>
        <p:spPr>
          <a:xfrm>
            <a:off x="3735070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0" name="object 20"/>
          <p:cNvSpPr/>
          <p:nvPr/>
        </p:nvSpPr>
        <p:spPr>
          <a:xfrm>
            <a:off x="37350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1" name="object 21"/>
          <p:cNvSpPr/>
          <p:nvPr/>
        </p:nvSpPr>
        <p:spPr>
          <a:xfrm>
            <a:off x="37350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2" name="object 22"/>
          <p:cNvSpPr/>
          <p:nvPr/>
        </p:nvSpPr>
        <p:spPr>
          <a:xfrm>
            <a:off x="37350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3" name="object 23"/>
          <p:cNvSpPr/>
          <p:nvPr/>
        </p:nvSpPr>
        <p:spPr>
          <a:xfrm>
            <a:off x="37299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37299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2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174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2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29990" y="6965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7" name="object 27"/>
          <p:cNvSpPr/>
          <p:nvPr/>
        </p:nvSpPr>
        <p:spPr>
          <a:xfrm>
            <a:off x="37350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8" name="object 28"/>
          <p:cNvSpPr/>
          <p:nvPr/>
        </p:nvSpPr>
        <p:spPr>
          <a:xfrm>
            <a:off x="37350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9" name="object 29"/>
          <p:cNvSpPr/>
          <p:nvPr/>
        </p:nvSpPr>
        <p:spPr>
          <a:xfrm>
            <a:off x="37350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0" name="object 30"/>
          <p:cNvSpPr/>
          <p:nvPr/>
        </p:nvSpPr>
        <p:spPr>
          <a:xfrm>
            <a:off x="3735070" y="68878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1" name="object 31"/>
          <p:cNvSpPr/>
          <p:nvPr/>
        </p:nvSpPr>
        <p:spPr>
          <a:xfrm>
            <a:off x="37299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2" name="object 32"/>
          <p:cNvSpPr txBox="1"/>
          <p:nvPr/>
        </p:nvSpPr>
        <p:spPr>
          <a:xfrm>
            <a:off x="37299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5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174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5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7299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5" name="object 35"/>
          <p:cNvSpPr/>
          <p:nvPr/>
        </p:nvSpPr>
        <p:spPr>
          <a:xfrm>
            <a:off x="7240270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6" name="object 36"/>
          <p:cNvSpPr/>
          <p:nvPr/>
        </p:nvSpPr>
        <p:spPr>
          <a:xfrm>
            <a:off x="72402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7" name="object 37"/>
          <p:cNvSpPr/>
          <p:nvPr/>
        </p:nvSpPr>
        <p:spPr>
          <a:xfrm>
            <a:off x="72402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8" name="object 38"/>
          <p:cNvSpPr/>
          <p:nvPr/>
        </p:nvSpPr>
        <p:spPr>
          <a:xfrm>
            <a:off x="72402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9" name="object 39"/>
          <p:cNvSpPr/>
          <p:nvPr/>
        </p:nvSpPr>
        <p:spPr>
          <a:xfrm>
            <a:off x="72351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0" name="object 40"/>
          <p:cNvSpPr txBox="1"/>
          <p:nvPr/>
        </p:nvSpPr>
        <p:spPr>
          <a:xfrm>
            <a:off x="72351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3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8226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3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235190" y="6965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3" name="object 43"/>
          <p:cNvSpPr/>
          <p:nvPr/>
        </p:nvSpPr>
        <p:spPr>
          <a:xfrm>
            <a:off x="72402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4" name="object 44"/>
          <p:cNvSpPr/>
          <p:nvPr/>
        </p:nvSpPr>
        <p:spPr>
          <a:xfrm>
            <a:off x="72402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5" name="object 45"/>
          <p:cNvSpPr/>
          <p:nvPr/>
        </p:nvSpPr>
        <p:spPr>
          <a:xfrm>
            <a:off x="72402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6" name="object 46"/>
          <p:cNvSpPr/>
          <p:nvPr/>
        </p:nvSpPr>
        <p:spPr>
          <a:xfrm>
            <a:off x="7240270" y="68878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7" name="object 47"/>
          <p:cNvSpPr/>
          <p:nvPr/>
        </p:nvSpPr>
        <p:spPr>
          <a:xfrm>
            <a:off x="72351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8" name="object 48"/>
          <p:cNvSpPr txBox="1"/>
          <p:nvPr/>
        </p:nvSpPr>
        <p:spPr>
          <a:xfrm>
            <a:off x="72351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6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8226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6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2351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4" name="object 13"/>
          <p:cNvSpPr/>
          <p:nvPr/>
        </p:nvSpPr>
        <p:spPr>
          <a:xfrm>
            <a:off x="240665" y="689483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6" name="object 2"/>
          <p:cNvSpPr/>
          <p:nvPr/>
        </p:nvSpPr>
        <p:spPr>
          <a:xfrm>
            <a:off x="285750" y="7163435"/>
            <a:ext cx="939800" cy="215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0" name="object 43">
            <a:extLst>
              <a:ext uri="{FF2B5EF4-FFF2-40B4-BE49-F238E27FC236}">
                <a16:creationId xmlns:a16="http://schemas.microsoft.com/office/drawing/2014/main" id="{E52C13FE-E357-A74A-B36E-FC9F563538D0}"/>
              </a:ext>
            </a:extLst>
          </p:cNvPr>
          <p:cNvSpPr txBox="1"/>
          <p:nvPr/>
        </p:nvSpPr>
        <p:spPr>
          <a:xfrm>
            <a:off x="6836736" y="7188980"/>
            <a:ext cx="3607744" cy="184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 algn="r">
              <a:spcBef>
                <a:spcPts val="100"/>
              </a:spcBef>
            </a:pPr>
            <a:r>
              <a:rPr lang="en-US" sz="1100" spc="30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Get </a:t>
            </a:r>
            <a:r>
              <a:rPr lang="en-US" sz="1100" spc="-15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free </a:t>
            </a:r>
            <a:r>
              <a:rPr lang="en-US" sz="1100" spc="15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storyboard </a:t>
            </a:r>
            <a:r>
              <a:rPr lang="en-US" sz="1100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templates at </a:t>
            </a:r>
            <a:r>
              <a:rPr lang="en-US" sz="1100" err="1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Boords.com</a:t>
            </a:r>
            <a:endParaRPr lang="en-US" sz="110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1" name="object 3">
            <a:extLst>
              <a:ext uri="{FF2B5EF4-FFF2-40B4-BE49-F238E27FC236}">
                <a16:creationId xmlns:a16="http://schemas.microsoft.com/office/drawing/2014/main" id="{C50C7CF4-8939-6A42-B825-3F0086ADAABC}"/>
              </a:ext>
            </a:extLst>
          </p:cNvPr>
          <p:cNvSpPr/>
          <p:nvPr/>
        </p:nvSpPr>
        <p:spPr>
          <a:xfrm>
            <a:off x="252765" y="198387"/>
            <a:ext cx="10165045" cy="292100"/>
          </a:xfrm>
          <a:custGeom>
            <a:avLst/>
            <a:gdLst/>
            <a:ahLst/>
            <a:cxnLst/>
            <a:rect l="l" t="t" r="r" b="b"/>
            <a:pathLst>
              <a:path w="10198100" h="292100">
                <a:moveTo>
                  <a:pt x="0" y="0"/>
                </a:moveTo>
                <a:lnTo>
                  <a:pt x="10198100" y="0"/>
                </a:lnTo>
                <a:lnTo>
                  <a:pt x="10198100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r>
              <a:rPr lang="en-US"/>
              <a:t>          Promo – 5g Academy – Project Vision                              test</a:t>
            </a:r>
          </a:p>
        </p:txBody>
      </p:sp>
      <p:sp>
        <p:nvSpPr>
          <p:cNvPr id="62" name="object 4">
            <a:extLst>
              <a:ext uri="{FF2B5EF4-FFF2-40B4-BE49-F238E27FC236}">
                <a16:creationId xmlns:a16="http://schemas.microsoft.com/office/drawing/2014/main" id="{946EC202-0A31-544B-A5EB-E6236CEC5C32}"/>
              </a:ext>
            </a:extLst>
          </p:cNvPr>
          <p:cNvSpPr/>
          <p:nvPr/>
        </p:nvSpPr>
        <p:spPr>
          <a:xfrm>
            <a:off x="9373270" y="190839"/>
            <a:ext cx="45719" cy="299648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0"/>
                </a:moveTo>
                <a:lnTo>
                  <a:pt x="0" y="255143"/>
                </a:lnTo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4" name="object 5">
            <a:extLst>
              <a:ext uri="{FF2B5EF4-FFF2-40B4-BE49-F238E27FC236}">
                <a16:creationId xmlns:a16="http://schemas.microsoft.com/office/drawing/2014/main" id="{E6CC7FE7-E316-B44C-A800-2DE6E459D268}"/>
              </a:ext>
            </a:extLst>
          </p:cNvPr>
          <p:cNvSpPr txBox="1"/>
          <p:nvPr/>
        </p:nvSpPr>
        <p:spPr>
          <a:xfrm>
            <a:off x="9376410" y="247564"/>
            <a:ext cx="1041400" cy="187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marR="0">
              <a:spcBef>
                <a:spcPts val="100"/>
              </a:spcBef>
              <a:spcAft>
                <a:spcPts val="0"/>
              </a:spcAft>
            </a:pPr>
            <a:r>
              <a:rPr lang="en-US" sz="1100" kern="1200" spc="1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Page: 6</a:t>
            </a:r>
            <a:endParaRPr lang="en-US" sz="110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374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Terminal footage: Docker containers starting up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We didn't stop at simulation.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NEW: live screen recording (docker compose up on open5gs-testbed)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299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Real 5G core topology diagram (Open5GS: AMF/SMF/UDM/etc.)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We built a real 5G core.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slides/GATE-2/AEGIS_Gate2_Official.pptx, Slide 17 (Real M2M/API-gateway diagram)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351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Screen: a real device registering onto the real core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Connected a real device to it.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NEW: live screen recording (docker logs nr_ue - real UE registration)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74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Real captured network traffic on screen (terminal/Wireshark-style)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And tested AEGIS against real network traffic.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reports/GATE-3/real_sbi_capture.csv (screenshot/graphic)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299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AEGIS flags the real attack: BLOCK decision, real data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The exact same detection code. No changes. It worked.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NEW: graphic from validate_real_traffic_detection.py output (2/2 BLOCK result)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351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Stat card overlay: ROC-AUC 0.98, recall 91%, FPR 1.1%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Benchmarked, not just claimed.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reports/aegis_eval.png, updated with Gate 3 numbers</a:t>
            </a:r>
          </a:p>
        </p:txBody>
      </p:sp>
      <p:pic>
        <p:nvPicPr>
          <p:cNvPr id="71" name="Picture 70" descr="aegis_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693" y="4389813"/>
            <a:ext cx="3146460" cy="1201375"/>
          </a:xfrm>
          <a:prstGeom prst="rect">
            <a:avLst/>
          </a:prstGeom>
        </p:spPr>
      </p:pic>
      <p:pic>
        <p:nvPicPr>
          <p:cNvPr id="72" name="Picture 71" descr="open5gs_term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11" y="1201466"/>
            <a:ext cx="2895760" cy="1447880"/>
          </a:xfrm>
          <a:prstGeom prst="rect">
            <a:avLst/>
          </a:prstGeom>
        </p:spPr>
      </p:pic>
      <p:pic>
        <p:nvPicPr>
          <p:cNvPr id="73" name="open5gs-core-topology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729990" y="886241"/>
            <a:ext cx="3187700" cy="1793831"/>
          </a:xfrm>
          <a:prstGeom prst="rect">
            <a:avLst/>
          </a:prstGeom>
        </p:spPr>
      </p:pic>
      <p:pic>
        <p:nvPicPr>
          <p:cNvPr id="74" name="real-sbi-capture-terminal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37490" y="4124741"/>
            <a:ext cx="3187700" cy="1793831"/>
          </a:xfrm>
          <a:prstGeom prst="rect">
            <a:avLst/>
          </a:prstGeom>
        </p:spPr>
      </p:pic>
      <p:pic>
        <p:nvPicPr>
          <p:cNvPr id="75" name="block-real-attack-result.mp4">
            <a:hlinkClick r:id="" action="ppaction://media"/>
          </p:cNvPr>
          <p:cNvPicPr>
            <a:picLocks noChangeAspect="1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729990" y="4124741"/>
            <a:ext cx="3187700" cy="179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4620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3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4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7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242570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sz="1400" dirty="0"/>
          </a:p>
        </p:txBody>
      </p:sp>
      <p:sp>
        <p:nvSpPr>
          <p:cNvPr id="5" name="object 4"/>
          <p:cNvSpPr/>
          <p:nvPr/>
        </p:nvSpPr>
        <p:spPr>
          <a:xfrm>
            <a:off x="2425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" name="object 5"/>
          <p:cNvSpPr/>
          <p:nvPr/>
        </p:nvSpPr>
        <p:spPr>
          <a:xfrm>
            <a:off x="2425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7" name="object 6"/>
          <p:cNvSpPr/>
          <p:nvPr/>
        </p:nvSpPr>
        <p:spPr>
          <a:xfrm>
            <a:off x="2425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8" name="object 7"/>
          <p:cNvSpPr/>
          <p:nvPr/>
        </p:nvSpPr>
        <p:spPr>
          <a:xfrm>
            <a:off x="2374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9" name="object 8"/>
          <p:cNvSpPr txBox="1"/>
          <p:nvPr/>
        </p:nvSpPr>
        <p:spPr>
          <a:xfrm>
            <a:off x="2374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1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8249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1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237490" y="696594"/>
            <a:ext cx="3187700" cy="298451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2" name="object 11"/>
          <p:cNvSpPr/>
          <p:nvPr/>
        </p:nvSpPr>
        <p:spPr>
          <a:xfrm>
            <a:off x="2425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3" name="object 12"/>
          <p:cNvSpPr/>
          <p:nvPr/>
        </p:nvSpPr>
        <p:spPr>
          <a:xfrm>
            <a:off x="2425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4" name="object 13"/>
          <p:cNvSpPr/>
          <p:nvPr/>
        </p:nvSpPr>
        <p:spPr>
          <a:xfrm>
            <a:off x="2425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5" name="object 15"/>
          <p:cNvSpPr/>
          <p:nvPr/>
        </p:nvSpPr>
        <p:spPr>
          <a:xfrm>
            <a:off x="2374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6" name="object 16"/>
          <p:cNvSpPr txBox="1"/>
          <p:nvPr/>
        </p:nvSpPr>
        <p:spPr>
          <a:xfrm>
            <a:off x="2374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4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249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4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74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9" name="object 19"/>
          <p:cNvSpPr/>
          <p:nvPr/>
        </p:nvSpPr>
        <p:spPr>
          <a:xfrm>
            <a:off x="3735070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0" name="object 20"/>
          <p:cNvSpPr/>
          <p:nvPr/>
        </p:nvSpPr>
        <p:spPr>
          <a:xfrm>
            <a:off x="3735070" y="3028802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sz="1200"/>
          </a:p>
        </p:txBody>
      </p:sp>
      <p:sp>
        <p:nvSpPr>
          <p:cNvPr id="21" name="object 21"/>
          <p:cNvSpPr/>
          <p:nvPr/>
        </p:nvSpPr>
        <p:spPr>
          <a:xfrm>
            <a:off x="372872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2" name="object 22"/>
          <p:cNvSpPr/>
          <p:nvPr/>
        </p:nvSpPr>
        <p:spPr>
          <a:xfrm>
            <a:off x="37350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3" name="object 23"/>
          <p:cNvSpPr/>
          <p:nvPr/>
        </p:nvSpPr>
        <p:spPr>
          <a:xfrm>
            <a:off x="37299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37299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2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174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2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29990" y="6965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7" name="object 27"/>
          <p:cNvSpPr/>
          <p:nvPr/>
        </p:nvSpPr>
        <p:spPr>
          <a:xfrm>
            <a:off x="3755549" y="61379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2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stacco</a:t>
            </a:r>
            <a:endParaRPr lang="it-IT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7350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9" name="object 29"/>
          <p:cNvSpPr/>
          <p:nvPr/>
        </p:nvSpPr>
        <p:spPr>
          <a:xfrm>
            <a:off x="37350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0" name="object 30"/>
          <p:cNvSpPr/>
          <p:nvPr/>
        </p:nvSpPr>
        <p:spPr>
          <a:xfrm>
            <a:off x="3735070" y="68878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1" name="object 31"/>
          <p:cNvSpPr/>
          <p:nvPr/>
        </p:nvSpPr>
        <p:spPr>
          <a:xfrm>
            <a:off x="37299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2" name="object 32"/>
          <p:cNvSpPr txBox="1"/>
          <p:nvPr/>
        </p:nvSpPr>
        <p:spPr>
          <a:xfrm>
            <a:off x="37299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5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174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5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7299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5" name="object 35"/>
          <p:cNvSpPr/>
          <p:nvPr/>
        </p:nvSpPr>
        <p:spPr>
          <a:xfrm>
            <a:off x="7276115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sz="1200"/>
          </a:p>
        </p:txBody>
      </p:sp>
      <p:sp>
        <p:nvSpPr>
          <p:cNvPr id="36" name="object 36"/>
          <p:cNvSpPr/>
          <p:nvPr/>
        </p:nvSpPr>
        <p:spPr>
          <a:xfrm>
            <a:off x="72402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37" name="object 37"/>
          <p:cNvSpPr/>
          <p:nvPr/>
        </p:nvSpPr>
        <p:spPr>
          <a:xfrm>
            <a:off x="72402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8" name="object 38"/>
          <p:cNvSpPr/>
          <p:nvPr/>
        </p:nvSpPr>
        <p:spPr>
          <a:xfrm>
            <a:off x="72402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9" name="object 39"/>
          <p:cNvSpPr/>
          <p:nvPr/>
        </p:nvSpPr>
        <p:spPr>
          <a:xfrm>
            <a:off x="72351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0" name="object 40"/>
          <p:cNvSpPr txBox="1"/>
          <p:nvPr/>
        </p:nvSpPr>
        <p:spPr>
          <a:xfrm>
            <a:off x="72351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3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8226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3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235190" y="6965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3" name="object 43"/>
          <p:cNvSpPr/>
          <p:nvPr/>
        </p:nvSpPr>
        <p:spPr>
          <a:xfrm>
            <a:off x="72402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4" name="object 44"/>
          <p:cNvSpPr/>
          <p:nvPr/>
        </p:nvSpPr>
        <p:spPr>
          <a:xfrm>
            <a:off x="72402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5" name="object 45"/>
          <p:cNvSpPr/>
          <p:nvPr/>
        </p:nvSpPr>
        <p:spPr>
          <a:xfrm>
            <a:off x="72402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6" name="object 46"/>
          <p:cNvSpPr/>
          <p:nvPr/>
        </p:nvSpPr>
        <p:spPr>
          <a:xfrm>
            <a:off x="7240270" y="68878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7" name="object 47"/>
          <p:cNvSpPr/>
          <p:nvPr/>
        </p:nvSpPr>
        <p:spPr>
          <a:xfrm>
            <a:off x="72351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8" name="object 48"/>
          <p:cNvSpPr txBox="1"/>
          <p:nvPr/>
        </p:nvSpPr>
        <p:spPr>
          <a:xfrm>
            <a:off x="72351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6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8226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6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2351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4" name="object 13"/>
          <p:cNvSpPr/>
          <p:nvPr/>
        </p:nvSpPr>
        <p:spPr>
          <a:xfrm>
            <a:off x="240665" y="689483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6" name="object 2"/>
          <p:cNvSpPr/>
          <p:nvPr/>
        </p:nvSpPr>
        <p:spPr>
          <a:xfrm>
            <a:off x="285750" y="7163435"/>
            <a:ext cx="939800" cy="215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0" name="object 43">
            <a:extLst>
              <a:ext uri="{FF2B5EF4-FFF2-40B4-BE49-F238E27FC236}">
                <a16:creationId xmlns:a16="http://schemas.microsoft.com/office/drawing/2014/main" id="{E52C13FE-E357-A74A-B36E-FC9F563538D0}"/>
              </a:ext>
            </a:extLst>
          </p:cNvPr>
          <p:cNvSpPr txBox="1"/>
          <p:nvPr/>
        </p:nvSpPr>
        <p:spPr>
          <a:xfrm>
            <a:off x="6836736" y="7188980"/>
            <a:ext cx="3607744" cy="184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 algn="r">
              <a:spcBef>
                <a:spcPts val="100"/>
              </a:spcBef>
            </a:pPr>
            <a:r>
              <a:rPr lang="en-US" sz="1100" spc="30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Get </a:t>
            </a:r>
            <a:r>
              <a:rPr lang="en-US" sz="1100" spc="-15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free </a:t>
            </a:r>
            <a:r>
              <a:rPr lang="en-US" sz="1100" spc="15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storyboard </a:t>
            </a:r>
            <a:r>
              <a:rPr lang="en-US" sz="1100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templates at </a:t>
            </a:r>
            <a:r>
              <a:rPr lang="en-US" sz="1100" err="1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Boords.com</a:t>
            </a:r>
            <a:endParaRPr lang="en-US" sz="110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1" name="object 3">
            <a:extLst>
              <a:ext uri="{FF2B5EF4-FFF2-40B4-BE49-F238E27FC236}">
                <a16:creationId xmlns:a16="http://schemas.microsoft.com/office/drawing/2014/main" id="{C50C7CF4-8939-6A42-B825-3F0086ADAABC}"/>
              </a:ext>
            </a:extLst>
          </p:cNvPr>
          <p:cNvSpPr/>
          <p:nvPr/>
        </p:nvSpPr>
        <p:spPr>
          <a:xfrm>
            <a:off x="252765" y="198387"/>
            <a:ext cx="10165045" cy="292100"/>
          </a:xfrm>
          <a:custGeom>
            <a:avLst/>
            <a:gdLst/>
            <a:ahLst/>
            <a:cxnLst/>
            <a:rect l="l" t="t" r="r" b="b"/>
            <a:pathLst>
              <a:path w="10198100" h="292100">
                <a:moveTo>
                  <a:pt x="0" y="0"/>
                </a:moveTo>
                <a:lnTo>
                  <a:pt x="10198100" y="0"/>
                </a:lnTo>
                <a:lnTo>
                  <a:pt x="10198100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r>
              <a:rPr lang="en-US"/>
              <a:t> Promo – 5g Academy – Project Vision                </a:t>
            </a:r>
            <a:r>
              <a:rPr lang="en-US" err="1"/>
              <a:t>Filosofia</a:t>
            </a:r>
            <a:r>
              <a:rPr lang="en-US"/>
              <a:t> E regulation                                                   </a:t>
            </a:r>
          </a:p>
        </p:txBody>
      </p:sp>
      <p:sp>
        <p:nvSpPr>
          <p:cNvPr id="62" name="object 4">
            <a:extLst>
              <a:ext uri="{FF2B5EF4-FFF2-40B4-BE49-F238E27FC236}">
                <a16:creationId xmlns:a16="http://schemas.microsoft.com/office/drawing/2014/main" id="{946EC202-0A31-544B-A5EB-E6236CEC5C32}"/>
              </a:ext>
            </a:extLst>
          </p:cNvPr>
          <p:cNvSpPr/>
          <p:nvPr/>
        </p:nvSpPr>
        <p:spPr>
          <a:xfrm>
            <a:off x="9373270" y="190839"/>
            <a:ext cx="45719" cy="299648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0"/>
                </a:moveTo>
                <a:lnTo>
                  <a:pt x="0" y="255143"/>
                </a:lnTo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4" name="object 5">
            <a:extLst>
              <a:ext uri="{FF2B5EF4-FFF2-40B4-BE49-F238E27FC236}">
                <a16:creationId xmlns:a16="http://schemas.microsoft.com/office/drawing/2014/main" id="{E6CC7FE7-E316-B44C-A800-2DE6E459D268}"/>
              </a:ext>
            </a:extLst>
          </p:cNvPr>
          <p:cNvSpPr txBox="1"/>
          <p:nvPr/>
        </p:nvSpPr>
        <p:spPr>
          <a:xfrm>
            <a:off x="9376410" y="247564"/>
            <a:ext cx="1041400" cy="187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marR="0">
              <a:spcBef>
                <a:spcPts val="100"/>
              </a:spcBef>
              <a:spcAft>
                <a:spcPts val="0"/>
              </a:spcAft>
            </a:pPr>
            <a:r>
              <a:rPr lang="en-US" sz="1100" kern="1200" spc="1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Page: 7</a:t>
            </a:r>
            <a:endParaRPr lang="en-US" sz="110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1" name="object 21">
            <a:extLst>
              <a:ext uri="{FF2B5EF4-FFF2-40B4-BE49-F238E27FC236}">
                <a16:creationId xmlns:a16="http://schemas.microsoft.com/office/drawing/2014/main" id="{35C15BA1-02F8-4728-8F3F-E46A867076FD}"/>
              </a:ext>
            </a:extLst>
          </p:cNvPr>
          <p:cNvSpPr/>
          <p:nvPr/>
        </p:nvSpPr>
        <p:spPr>
          <a:xfrm>
            <a:off x="3754887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2374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Text card: "Explainable, not a black box"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Every decision AEGIS makes comes with a plain-language reason.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NEW: text card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299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Incident inspector close-up: reasoning text on screen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No guessing at why an alert fired.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live screen recording - incident inspector panel (reuse from scene 5)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351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Privacy/GDPR visual: subscriber ID being hashed/anonymised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Subscriber identifiers are protected, never stored raw.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NEW: graphic - concept from docs/GATE-3/real-vs-synthetic-dashboard-implications.md (privacy section)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74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[STACCO - hard cut]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N/A - transition only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299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Production vision: AEGIS gate sitting at the network edge (FASTedge)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In production, AEGIS runs at the network edge - close to the core, low latency.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NEW: graphic - concept from docs/GATE-3/real-vs-synthetic-dashboard-implications.md (production section)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351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Closing philosophy line, text on screen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Security that explains itself, built to be trusted, not just deployed.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NEW: text card</a:t>
            </a:r>
          </a:p>
        </p:txBody>
      </p:sp>
      <p:pic>
        <p:nvPicPr>
          <p:cNvPr id="78" name="textcard-explainabl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7490" y="886241"/>
            <a:ext cx="3187700" cy="1793831"/>
          </a:xfrm>
          <a:prstGeom prst="rect">
            <a:avLst/>
          </a:prstGeom>
        </p:spPr>
      </p:pic>
      <p:pic>
        <p:nvPicPr>
          <p:cNvPr id="79" name="Picture 78" descr="dash_incident_reasoning_close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9990" y="1469914"/>
            <a:ext cx="3187700" cy="626484"/>
          </a:xfrm>
          <a:prstGeom prst="rect">
            <a:avLst/>
          </a:prstGeom>
        </p:spPr>
      </p:pic>
      <p:pic>
        <p:nvPicPr>
          <p:cNvPr id="80" name="badge-gdpr-hash.mp4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235190" y="886241"/>
            <a:ext cx="3187700" cy="1793831"/>
          </a:xfrm>
          <a:prstGeom prst="rect">
            <a:avLst/>
          </a:prstGeom>
        </p:spPr>
      </p:pic>
      <p:pic>
        <p:nvPicPr>
          <p:cNvPr id="81" name="badge-network-edge.mp4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729990" y="4124741"/>
            <a:ext cx="3187700" cy="1793831"/>
          </a:xfrm>
          <a:prstGeom prst="rect">
            <a:avLst/>
          </a:prstGeom>
        </p:spPr>
      </p:pic>
      <p:pic>
        <p:nvPicPr>
          <p:cNvPr id="82" name="textcard-closing-philosophy.mp4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235190" y="4124741"/>
            <a:ext cx="3187700" cy="179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47813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8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80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81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8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242570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sz="1400" dirty="0"/>
          </a:p>
        </p:txBody>
      </p:sp>
      <p:sp>
        <p:nvSpPr>
          <p:cNvPr id="5" name="object 4"/>
          <p:cNvSpPr/>
          <p:nvPr/>
        </p:nvSpPr>
        <p:spPr>
          <a:xfrm>
            <a:off x="2425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" name="object 5"/>
          <p:cNvSpPr/>
          <p:nvPr/>
        </p:nvSpPr>
        <p:spPr>
          <a:xfrm>
            <a:off x="2425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7" name="object 6"/>
          <p:cNvSpPr/>
          <p:nvPr/>
        </p:nvSpPr>
        <p:spPr>
          <a:xfrm>
            <a:off x="2425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8" name="object 7"/>
          <p:cNvSpPr/>
          <p:nvPr/>
        </p:nvSpPr>
        <p:spPr>
          <a:xfrm>
            <a:off x="2374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9" name="object 8"/>
          <p:cNvSpPr txBox="1"/>
          <p:nvPr/>
        </p:nvSpPr>
        <p:spPr>
          <a:xfrm>
            <a:off x="2374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1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8249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1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237490" y="696594"/>
            <a:ext cx="3187700" cy="298451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2" name="object 11"/>
          <p:cNvSpPr/>
          <p:nvPr/>
        </p:nvSpPr>
        <p:spPr>
          <a:xfrm>
            <a:off x="2425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3" name="object 12"/>
          <p:cNvSpPr/>
          <p:nvPr/>
        </p:nvSpPr>
        <p:spPr>
          <a:xfrm>
            <a:off x="2425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4" name="object 13"/>
          <p:cNvSpPr/>
          <p:nvPr/>
        </p:nvSpPr>
        <p:spPr>
          <a:xfrm>
            <a:off x="2425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5" name="object 15"/>
          <p:cNvSpPr/>
          <p:nvPr/>
        </p:nvSpPr>
        <p:spPr>
          <a:xfrm>
            <a:off x="2374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6" name="object 16"/>
          <p:cNvSpPr txBox="1"/>
          <p:nvPr/>
        </p:nvSpPr>
        <p:spPr>
          <a:xfrm>
            <a:off x="2374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4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249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4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74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9" name="object 19"/>
          <p:cNvSpPr/>
          <p:nvPr/>
        </p:nvSpPr>
        <p:spPr>
          <a:xfrm>
            <a:off x="3735070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0" name="object 20"/>
          <p:cNvSpPr/>
          <p:nvPr/>
        </p:nvSpPr>
        <p:spPr>
          <a:xfrm>
            <a:off x="3735070" y="3028802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sz="1200" dirty="0"/>
          </a:p>
        </p:txBody>
      </p:sp>
      <p:sp>
        <p:nvSpPr>
          <p:cNvPr id="21" name="object 21"/>
          <p:cNvSpPr/>
          <p:nvPr/>
        </p:nvSpPr>
        <p:spPr>
          <a:xfrm>
            <a:off x="37350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2" name="object 22"/>
          <p:cNvSpPr/>
          <p:nvPr/>
        </p:nvSpPr>
        <p:spPr>
          <a:xfrm>
            <a:off x="37350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3" name="object 23"/>
          <p:cNvSpPr/>
          <p:nvPr/>
        </p:nvSpPr>
        <p:spPr>
          <a:xfrm>
            <a:off x="37299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4" name="object 24"/>
          <p:cNvSpPr txBox="1"/>
          <p:nvPr/>
        </p:nvSpPr>
        <p:spPr>
          <a:xfrm>
            <a:off x="37299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2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174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2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29990" y="6965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7" name="object 27"/>
          <p:cNvSpPr/>
          <p:nvPr/>
        </p:nvSpPr>
        <p:spPr>
          <a:xfrm>
            <a:off x="3755549" y="61379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it-IT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7350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29" name="object 29"/>
          <p:cNvSpPr/>
          <p:nvPr/>
        </p:nvSpPr>
        <p:spPr>
          <a:xfrm>
            <a:off x="37350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0" name="object 30"/>
          <p:cNvSpPr/>
          <p:nvPr/>
        </p:nvSpPr>
        <p:spPr>
          <a:xfrm>
            <a:off x="3735070" y="68878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1" name="object 31"/>
          <p:cNvSpPr/>
          <p:nvPr/>
        </p:nvSpPr>
        <p:spPr>
          <a:xfrm>
            <a:off x="37299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2" name="object 32"/>
          <p:cNvSpPr txBox="1"/>
          <p:nvPr/>
        </p:nvSpPr>
        <p:spPr>
          <a:xfrm>
            <a:off x="37299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5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174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5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7299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5" name="object 35"/>
          <p:cNvSpPr/>
          <p:nvPr/>
        </p:nvSpPr>
        <p:spPr>
          <a:xfrm>
            <a:off x="7276115" y="30270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sz="1200" dirty="0"/>
          </a:p>
        </p:txBody>
      </p:sp>
      <p:sp>
        <p:nvSpPr>
          <p:cNvPr id="36" name="object 36"/>
          <p:cNvSpPr/>
          <p:nvPr/>
        </p:nvSpPr>
        <p:spPr>
          <a:xfrm>
            <a:off x="7240270" y="32340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7" name="object 37"/>
          <p:cNvSpPr/>
          <p:nvPr/>
        </p:nvSpPr>
        <p:spPr>
          <a:xfrm>
            <a:off x="7240270" y="34417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8" name="object 38"/>
          <p:cNvSpPr/>
          <p:nvPr/>
        </p:nvSpPr>
        <p:spPr>
          <a:xfrm>
            <a:off x="7240270" y="36493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39" name="object 39"/>
          <p:cNvSpPr/>
          <p:nvPr/>
        </p:nvSpPr>
        <p:spPr>
          <a:xfrm>
            <a:off x="7235190" y="6965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0" name="object 40"/>
          <p:cNvSpPr txBox="1"/>
          <p:nvPr/>
        </p:nvSpPr>
        <p:spPr>
          <a:xfrm>
            <a:off x="7235190" y="6965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3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822690" y="6965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3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235190" y="6965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3" name="object 43"/>
          <p:cNvSpPr/>
          <p:nvPr/>
        </p:nvSpPr>
        <p:spPr>
          <a:xfrm>
            <a:off x="7240270" y="62655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4" name="object 44"/>
          <p:cNvSpPr/>
          <p:nvPr/>
        </p:nvSpPr>
        <p:spPr>
          <a:xfrm>
            <a:off x="7240270" y="647255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5" name="object 45"/>
          <p:cNvSpPr/>
          <p:nvPr/>
        </p:nvSpPr>
        <p:spPr>
          <a:xfrm>
            <a:off x="7240270" y="668020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6" name="object 46"/>
          <p:cNvSpPr/>
          <p:nvPr/>
        </p:nvSpPr>
        <p:spPr>
          <a:xfrm>
            <a:off x="7240270" y="6887845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7" name="object 47"/>
          <p:cNvSpPr/>
          <p:nvPr/>
        </p:nvSpPr>
        <p:spPr>
          <a:xfrm>
            <a:off x="7235190" y="3935095"/>
            <a:ext cx="3187700" cy="2070100"/>
          </a:xfrm>
          <a:custGeom>
            <a:avLst/>
            <a:gdLst/>
            <a:ahLst/>
            <a:cxnLst/>
            <a:rect l="l" t="t" r="r" b="b"/>
            <a:pathLst>
              <a:path w="3187700" h="2070100">
                <a:moveTo>
                  <a:pt x="0" y="0"/>
                </a:moveTo>
                <a:lnTo>
                  <a:pt x="3187700" y="0"/>
                </a:lnTo>
                <a:lnTo>
                  <a:pt x="3187700" y="2070100"/>
                </a:lnTo>
                <a:lnTo>
                  <a:pt x="0" y="2070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48" name="object 48"/>
          <p:cNvSpPr txBox="1"/>
          <p:nvPr/>
        </p:nvSpPr>
        <p:spPr>
          <a:xfrm>
            <a:off x="7235190" y="3935095"/>
            <a:ext cx="8255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 spc="-3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Scene 6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822690" y="3935095"/>
            <a:ext cx="723900" cy="298450"/>
          </a:xfrm>
          <a:prstGeom prst="rect">
            <a:avLst/>
          </a:prstGeom>
          <a:ln w="25400">
            <a:solidFill>
              <a:srgbClr val="CCCCCC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18745" marR="0">
              <a:spcBef>
                <a:spcPts val="500"/>
              </a:spcBef>
              <a:spcAft>
                <a:spcPts val="0"/>
              </a:spcAft>
            </a:pPr>
            <a:r>
              <a:rPr lang="en-US" sz="1000" kern="120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Shot 6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235190" y="3935095"/>
            <a:ext cx="3187700" cy="298450"/>
          </a:xfrm>
          <a:custGeom>
            <a:avLst/>
            <a:gdLst/>
            <a:ahLst/>
            <a:cxnLst/>
            <a:rect l="l" t="t" r="r" b="b"/>
            <a:pathLst>
              <a:path w="3187700" h="292100">
                <a:moveTo>
                  <a:pt x="0" y="0"/>
                </a:moveTo>
                <a:lnTo>
                  <a:pt x="3187700" y="0"/>
                </a:lnTo>
                <a:lnTo>
                  <a:pt x="3187700" y="292100"/>
                </a:lnTo>
                <a:lnTo>
                  <a:pt x="2527274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4" name="object 13"/>
          <p:cNvSpPr/>
          <p:nvPr/>
        </p:nvSpPr>
        <p:spPr>
          <a:xfrm>
            <a:off x="240665" y="6894830"/>
            <a:ext cx="3177540" cy="0"/>
          </a:xfrm>
          <a:custGeom>
            <a:avLst/>
            <a:gdLst/>
            <a:ahLst/>
            <a:cxnLst/>
            <a:rect l="l" t="t" r="r" b="b"/>
            <a:pathLst>
              <a:path w="3177540">
                <a:moveTo>
                  <a:pt x="0" y="0"/>
                </a:moveTo>
                <a:lnTo>
                  <a:pt x="3177295" y="0"/>
                </a:lnTo>
              </a:path>
            </a:pathLst>
          </a:custGeom>
          <a:ln w="12700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56" name="object 2"/>
          <p:cNvSpPr/>
          <p:nvPr/>
        </p:nvSpPr>
        <p:spPr>
          <a:xfrm>
            <a:off x="285750" y="7163435"/>
            <a:ext cx="939800" cy="215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0" name="object 43">
            <a:extLst>
              <a:ext uri="{FF2B5EF4-FFF2-40B4-BE49-F238E27FC236}">
                <a16:creationId xmlns:a16="http://schemas.microsoft.com/office/drawing/2014/main" id="{E52C13FE-E357-A74A-B36E-FC9F563538D0}"/>
              </a:ext>
            </a:extLst>
          </p:cNvPr>
          <p:cNvSpPr txBox="1"/>
          <p:nvPr/>
        </p:nvSpPr>
        <p:spPr>
          <a:xfrm>
            <a:off x="6836736" y="7188980"/>
            <a:ext cx="3607744" cy="184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 algn="r">
              <a:spcBef>
                <a:spcPts val="100"/>
              </a:spcBef>
            </a:pPr>
            <a:r>
              <a:rPr lang="en-US" sz="1100" spc="30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Get </a:t>
            </a:r>
            <a:r>
              <a:rPr lang="en-US" sz="1100" spc="-15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free </a:t>
            </a:r>
            <a:r>
              <a:rPr lang="en-US" sz="1100" spc="15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storyboard </a:t>
            </a:r>
            <a:r>
              <a:rPr lang="en-US" sz="1100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templates at </a:t>
            </a:r>
            <a:r>
              <a:rPr lang="en-US" sz="1100" err="1">
                <a:solidFill>
                  <a:srgbClr val="9B9B9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Boords.com</a:t>
            </a:r>
            <a:endParaRPr lang="en-US" sz="110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1" name="object 3">
            <a:extLst>
              <a:ext uri="{FF2B5EF4-FFF2-40B4-BE49-F238E27FC236}">
                <a16:creationId xmlns:a16="http://schemas.microsoft.com/office/drawing/2014/main" id="{C50C7CF4-8939-6A42-B825-3F0086ADAABC}"/>
              </a:ext>
            </a:extLst>
          </p:cNvPr>
          <p:cNvSpPr/>
          <p:nvPr/>
        </p:nvSpPr>
        <p:spPr>
          <a:xfrm>
            <a:off x="252765" y="198387"/>
            <a:ext cx="10165045" cy="292100"/>
          </a:xfrm>
          <a:custGeom>
            <a:avLst/>
            <a:gdLst/>
            <a:ahLst/>
            <a:cxnLst/>
            <a:rect l="l" t="t" r="r" b="b"/>
            <a:pathLst>
              <a:path w="10198100" h="292100">
                <a:moveTo>
                  <a:pt x="0" y="0"/>
                </a:moveTo>
                <a:lnTo>
                  <a:pt x="10198100" y="0"/>
                </a:lnTo>
                <a:lnTo>
                  <a:pt x="10198100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r>
              <a:rPr lang="en-US"/>
              <a:t> Promo – 5g Academy – Project Vision                finale                                                      </a:t>
            </a:r>
          </a:p>
        </p:txBody>
      </p:sp>
      <p:sp>
        <p:nvSpPr>
          <p:cNvPr id="62" name="object 4">
            <a:extLst>
              <a:ext uri="{FF2B5EF4-FFF2-40B4-BE49-F238E27FC236}">
                <a16:creationId xmlns:a16="http://schemas.microsoft.com/office/drawing/2014/main" id="{946EC202-0A31-544B-A5EB-E6236CEC5C32}"/>
              </a:ext>
            </a:extLst>
          </p:cNvPr>
          <p:cNvSpPr/>
          <p:nvPr/>
        </p:nvSpPr>
        <p:spPr>
          <a:xfrm>
            <a:off x="9373270" y="190839"/>
            <a:ext cx="45719" cy="299648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0"/>
                </a:moveTo>
                <a:lnTo>
                  <a:pt x="0" y="255143"/>
                </a:lnTo>
              </a:path>
            </a:pathLst>
          </a:custGeom>
          <a:ln w="2540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64" name="object 5">
            <a:extLst>
              <a:ext uri="{FF2B5EF4-FFF2-40B4-BE49-F238E27FC236}">
                <a16:creationId xmlns:a16="http://schemas.microsoft.com/office/drawing/2014/main" id="{E6CC7FE7-E316-B44C-A800-2DE6E459D268}"/>
              </a:ext>
            </a:extLst>
          </p:cNvPr>
          <p:cNvSpPr txBox="1"/>
          <p:nvPr/>
        </p:nvSpPr>
        <p:spPr>
          <a:xfrm>
            <a:off x="9376410" y="247564"/>
            <a:ext cx="1041400" cy="187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marR="0">
              <a:spcBef>
                <a:spcPts val="100"/>
              </a:spcBef>
              <a:spcAft>
                <a:spcPts val="0"/>
              </a:spcAft>
            </a:pPr>
            <a:r>
              <a:rPr lang="en-US" sz="1100" kern="1200" spc="10">
                <a:solidFill>
                  <a:srgbClr val="9B9B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Page: 8</a:t>
            </a:r>
            <a:endParaRPr lang="en-US" sz="110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374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Fast montage: badge scan, dashboard, real core, BLOCK decision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Recap montage - the whole story in five seconds.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re-cut of scenes 1, 5, 6 above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299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Tagline card, large text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"Trust can't be a one-time check."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NEW: text card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35190" y="28066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Tagline continues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"It has to be continuous."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NEW: text card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74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AEGIS logo, GitHub + live dashboard links on screen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aegis5gacademy.streamlit.app - see it live.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slides/GATE-2/AEGIS_Gate2_Official.pptx, Slide 19 (Thank You, has GitHub/dashboard links)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299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5G Academy + Fastweb + Vodafone branding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5G Academy 2026, in partnership with Fastweb and Vodafone.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ASSET: slides/GATE-2/AEGIS_Gate2_Official.pptx, Slide 1 (branding)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35190" y="6045195"/>
            <a:ext cx="31877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020C31"/>
                </a:solidFill>
                <a:latin typeface="Calibri"/>
              </a:rPr>
              <a:t>Fade to black, thank you</a:t>
            </a:r>
          </a:p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Thank you.</a:t>
            </a:r>
          </a:p>
          <a:p>
            <a:pPr algn="l"/>
            <a:r>
              <a:rPr sz="750" b="1">
                <a:solidFill>
                  <a:srgbClr val="0E7090"/>
                </a:solidFill>
                <a:latin typeface="Calibri"/>
              </a:rPr>
              <a:t>N/A - transition only</a:t>
            </a:r>
          </a:p>
        </p:txBody>
      </p:sp>
      <p:pic>
        <p:nvPicPr>
          <p:cNvPr id="71" name="textcard-tagline1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729990" y="886241"/>
            <a:ext cx="3187700" cy="1793831"/>
          </a:xfrm>
          <a:prstGeom prst="rect">
            <a:avLst/>
          </a:prstGeom>
        </p:spPr>
      </p:pic>
      <p:pic>
        <p:nvPicPr>
          <p:cNvPr id="72" name="textcard-tagline2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235190" y="886241"/>
            <a:ext cx="3187700" cy="1793831"/>
          </a:xfrm>
          <a:prstGeom prst="rect">
            <a:avLst/>
          </a:prstGeom>
        </p:spPr>
      </p:pic>
      <p:pic>
        <p:nvPicPr>
          <p:cNvPr id="73" name="logo-reveal-links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7490" y="4124741"/>
            <a:ext cx="3187700" cy="1793831"/>
          </a:xfrm>
          <a:prstGeom prst="rect">
            <a:avLst/>
          </a:prstGeom>
        </p:spPr>
      </p:pic>
      <p:pic>
        <p:nvPicPr>
          <p:cNvPr id="74" name="textcard-branding.mp4">
            <a:hlinkClick r:id="" action="ppaction://media"/>
          </p:cNvPr>
          <p:cNvPicPr>
            <a:picLocks noChangeAspect="1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729990" y="4124741"/>
            <a:ext cx="3187700" cy="179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25869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1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2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73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74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749;p69">
            <a:extLst>
              <a:ext uri="{FF2B5EF4-FFF2-40B4-BE49-F238E27FC236}">
                <a16:creationId xmlns:a16="http://schemas.microsoft.com/office/drawing/2014/main" id="{CBD30F07-6871-4503-B70C-03DD4C50FDD9}"/>
              </a:ext>
            </a:extLst>
          </p:cNvPr>
          <p:cNvSpPr/>
          <p:nvPr/>
        </p:nvSpPr>
        <p:spPr>
          <a:xfrm>
            <a:off x="5344319" y="2194328"/>
            <a:ext cx="2384955" cy="2392056"/>
          </a:xfrm>
          <a:prstGeom prst="ellipse">
            <a:avLst/>
          </a:prstGeom>
          <a:solidFill>
            <a:srgbClr val="B6CFE6">
              <a:alpha val="35750"/>
            </a:srgbClr>
          </a:solidFill>
          <a:ln>
            <a:noFill/>
          </a:ln>
        </p:spPr>
        <p:txBody>
          <a:bodyPr spcFirstLastPara="1" wrap="square" lIns="80152" tIns="80152" rIns="80152" bIns="80152" anchor="ctr" anchorCtr="0">
            <a:noAutofit/>
          </a:bodyPr>
          <a:lstStyle/>
          <a:p>
            <a:endParaRPr sz="1578"/>
          </a:p>
        </p:txBody>
      </p:sp>
      <p:sp>
        <p:nvSpPr>
          <p:cNvPr id="27" name="Google Shape;749;p69">
            <a:extLst>
              <a:ext uri="{FF2B5EF4-FFF2-40B4-BE49-F238E27FC236}">
                <a16:creationId xmlns:a16="http://schemas.microsoft.com/office/drawing/2014/main" id="{BCB06B9F-0035-4EAD-B976-4A1DE9730F61}"/>
              </a:ext>
            </a:extLst>
          </p:cNvPr>
          <p:cNvSpPr/>
          <p:nvPr/>
        </p:nvSpPr>
        <p:spPr>
          <a:xfrm>
            <a:off x="1196569" y="2122577"/>
            <a:ext cx="2384955" cy="2392056"/>
          </a:xfrm>
          <a:prstGeom prst="ellipse">
            <a:avLst/>
          </a:prstGeom>
          <a:solidFill>
            <a:srgbClr val="B6CFE6">
              <a:alpha val="35750"/>
            </a:srgbClr>
          </a:solidFill>
          <a:ln>
            <a:noFill/>
          </a:ln>
        </p:spPr>
        <p:txBody>
          <a:bodyPr spcFirstLastPara="1" wrap="square" lIns="80152" tIns="80152" rIns="80152" bIns="80152" anchor="ctr" anchorCtr="0">
            <a:noAutofit/>
          </a:bodyPr>
          <a:lstStyle/>
          <a:p>
            <a:endParaRPr sz="1578" dirty="0"/>
          </a:p>
        </p:txBody>
      </p:sp>
      <p:sp>
        <p:nvSpPr>
          <p:cNvPr id="24" name="Title 2">
            <a:extLst>
              <a:ext uri="{FF2B5EF4-FFF2-40B4-BE49-F238E27FC236}">
                <a16:creationId xmlns:a16="http://schemas.microsoft.com/office/drawing/2014/main" id="{3DB09636-2D95-462E-A483-C16A14C60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963" y="658858"/>
            <a:ext cx="4861381" cy="968658"/>
          </a:xfrm>
        </p:spPr>
        <p:txBody>
          <a:bodyPr/>
          <a:lstStyle/>
          <a:p>
            <a:r>
              <a:rPr lang="en-US"/>
              <a:t>Team 4 - AEGIS</a:t>
            </a:r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6DE9E673-3DDC-4839-8B8C-31223D9D32A1}"/>
              </a:ext>
            </a:extLst>
          </p:cNvPr>
          <p:cNvSpPr txBox="1">
            <a:spLocks/>
          </p:cNvSpPr>
          <p:nvPr/>
        </p:nvSpPr>
        <p:spPr>
          <a:xfrm>
            <a:off x="482357" y="1412922"/>
            <a:ext cx="9723925" cy="4419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kern="1200" spc="-110" baseline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29" dirty="0"/>
              <a:t>Meet the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6568" y="3112699"/>
            <a:ext cx="23849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020C31"/>
                </a:solidFill>
                <a:latin typeface="Calibri"/>
              </a:rPr>
              <a:t>Fauzan Ejaz (Captain)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607F4C-6C97-4729-0B02-CAFD6CD56FDC}"/>
              </a:ext>
            </a:extLst>
          </p:cNvPr>
          <p:cNvSpPr txBox="1"/>
          <p:nvPr/>
        </p:nvSpPr>
        <p:spPr>
          <a:xfrm>
            <a:off x="5682343" y="3099727"/>
            <a:ext cx="26498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>
                <a:solidFill>
                  <a:srgbClr val="020C31"/>
                </a:solidFill>
              </a:rPr>
              <a:t>Llagami</a:t>
            </a:r>
            <a:r>
              <a:rPr lang="en-IN" sz="2400" dirty="0">
                <a:solidFill>
                  <a:srgbClr val="020C31"/>
                </a:solidFill>
              </a:rPr>
              <a:t> Tedi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43681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2D7E2E766E274BA85FFEF303FE3B84" ma:contentTypeVersion="11" ma:contentTypeDescription="Create a new document." ma:contentTypeScope="" ma:versionID="161f57f8e4da8c53066cecce20e1cf28">
  <xsd:schema xmlns:xsd="http://www.w3.org/2001/XMLSchema" xmlns:xs="http://www.w3.org/2001/XMLSchema" xmlns:p="http://schemas.microsoft.com/office/2006/metadata/properties" xmlns:ns2="df1bf422-076b-4923-a343-86f92e681c13" xmlns:ns3="17320c4f-b4d7-4a2f-a568-c234bef09358" targetNamespace="http://schemas.microsoft.com/office/2006/metadata/properties" ma:root="true" ma:fieldsID="3f75c0bee81b84287f3a5e0ecbeaea68" ns2:_="" ns3:_="">
    <xsd:import namespace="df1bf422-076b-4923-a343-86f92e681c13"/>
    <xsd:import namespace="17320c4f-b4d7-4a2f-a568-c234bef093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1bf422-076b-4923-a343-86f92e681c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5195dc1-fe89-472b-8717-1a06404882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320c4f-b4d7-4a2f-a568-c234bef0935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0e469e3-2d6b-4f07-ba7f-94947d0b2f8c}" ma:internalName="TaxCatchAll" ma:showField="CatchAllData" ma:web="17320c4f-b4d7-4a2f-a568-c234bef093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f1bf422-076b-4923-a343-86f92e681c13">
      <Terms xmlns="http://schemas.microsoft.com/office/infopath/2007/PartnerControls"/>
    </lcf76f155ced4ddcb4097134ff3c332f>
    <TaxCatchAll xmlns="17320c4f-b4d7-4a2f-a568-c234bef09358" xsi:nil="true"/>
  </documentManagement>
</p:properties>
</file>

<file path=customXml/itemProps1.xml><?xml version="1.0" encoding="utf-8"?>
<ds:datastoreItem xmlns:ds="http://schemas.openxmlformats.org/officeDocument/2006/customXml" ds:itemID="{2AA5AF62-29D7-49C4-96C6-35C102D42B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E32100-327A-46D5-A299-81E97F5FBF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1bf422-076b-4923-a343-86f92e681c13"/>
    <ds:schemaRef ds:uri="17320c4f-b4d7-4a2f-a568-c234bef093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06C687-16CC-4945-AB09-B890B7CBD535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17320c4f-b4d7-4a2f-a568-c234bef09358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df1bf422-076b-4923-a343-86f92e681c13"/>
  </ds:schemaRefs>
</ds:datastoreItem>
</file>

<file path=docMetadata/LabelInfo.xml><?xml version="1.0" encoding="utf-8"?>
<clbl:labelList xmlns:clbl="http://schemas.microsoft.com/office/2020/mipLabelMetadata">
  <clbl:label id="{2ad0b24d-6422-44b0-b3de-abb3a9e8c81a}" enabled="1" method="Standard" siteId="{2fcfe26a-bb62-46b0-b1e3-28f9da0c45f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1932</Words>
  <Application>Microsoft Office PowerPoint</Application>
  <PresentationFormat>Custom</PresentationFormat>
  <Paragraphs>267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4 - AEGIS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ahsan ali</dc:creator>
  <cp:lastModifiedBy>FAUZAN EJAZ</cp:lastModifiedBy>
  <cp:revision>124</cp:revision>
  <dcterms:created xsi:type="dcterms:W3CDTF">2018-03-22T01:38:38Z</dcterms:created>
  <dcterms:modified xsi:type="dcterms:W3CDTF">2026-09-25T19:05:39Z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0x010100942D7E2E766E274BA85FFEF303FE3B84</vt:lpwstr>
  </property>
  <property fmtid="{D5CDD505-2E9C-101B-9397-08002B2CF9AE}" pid="3" name="MSIP_Label_2ad0b24d-6422-44b0-b3de-abb3a9e8c81a_Enabled">
    <vt:lpwstr>true</vt:lpwstr>
  </property>
  <property fmtid="{D5CDD505-2E9C-101B-9397-08002B2CF9AE}" pid="4" name="MSIP_Label_2ad0b24d-6422-44b0-b3de-abb3a9e8c81a_SetDate">
    <vt:lpwstr>2025-10-16T08:20:11Z</vt:lpwstr>
  </property>
  <property fmtid="{D5CDD505-2E9C-101B-9397-08002B2CF9AE}" pid="5" name="MSIP_Label_2ad0b24d-6422-44b0-b3de-abb3a9e8c81a_Method">
    <vt:lpwstr>Standard</vt:lpwstr>
  </property>
  <property fmtid="{D5CDD505-2E9C-101B-9397-08002B2CF9AE}" pid="6" name="MSIP_Label_2ad0b24d-6422-44b0-b3de-abb3a9e8c81a_Name">
    <vt:lpwstr>defa4170-0d19-0005-0004-bc88714345d2</vt:lpwstr>
  </property>
  <property fmtid="{D5CDD505-2E9C-101B-9397-08002B2CF9AE}" pid="7" name="MSIP_Label_2ad0b24d-6422-44b0-b3de-abb3a9e8c81a_SiteId">
    <vt:lpwstr>2fcfe26a-bb62-46b0-b1e3-28f9da0c45fd</vt:lpwstr>
  </property>
  <property fmtid="{D5CDD505-2E9C-101B-9397-08002B2CF9AE}" pid="8" name="MSIP_Label_2ad0b24d-6422-44b0-b3de-abb3a9e8c81a_ActionId">
    <vt:lpwstr>77718467-a7b7-4c95-a3ab-bcb31f36da42</vt:lpwstr>
  </property>
  <property fmtid="{D5CDD505-2E9C-101B-9397-08002B2CF9AE}" pid="9" name="MSIP_Label_2ad0b24d-6422-44b0-b3de-abb3a9e8c81a_ContentBits">
    <vt:lpwstr>0</vt:lpwstr>
  </property>
  <property fmtid="{D5CDD505-2E9C-101B-9397-08002B2CF9AE}" pid="10" name="MSIP_Label_2ad0b24d-6422-44b0-b3de-abb3a9e8c81a_Tag">
    <vt:lpwstr>10, 3, 0, 1</vt:lpwstr>
  </property>
  <property fmtid="{D5CDD505-2E9C-101B-9397-08002B2CF9AE}" pid="11" name="MediaServiceImageTags">
    <vt:lpwstr/>
  </property>
</Properties>
</file>