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s/modernComment_7134_34C91818.xml" ContentType="application/vnd.ms-powerpoint.comments+xml"/>
  <Override PartName="/ppt/comments/modernComment_7135_CFADE9C2.xml" ContentType="application/vnd.ms-powerpoint.comment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8.svg" ContentType="image/svg+xml"/>
  <Override PartName="/ppt/media/image19.svg" ContentType="image/svg+xml"/>
  <Override PartName="/ppt/media/image20.svg" ContentType="image/svg+xml"/>
  <Override PartName="/ppt/media/image21.svg" ContentType="image/svg+xml"/>
  <Override PartName="/ppt/media/image22.svg" ContentType="image/svg+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666" r:id="rId5"/>
  </p:sldMasterIdLst>
  <p:notesMasterIdLst>
    <p:notesMasterId r:id="rId16"/>
  </p:notesMasterIdLst>
  <p:sldIdLst>
    <p:sldId id="348" r:id="rId6"/>
    <p:sldId id="257" r:id="rId7"/>
    <p:sldId id="325" r:id="rId8"/>
    <p:sldId id="28985" r:id="rId24"/>
    <p:sldId id="28986" r:id="rId25"/>
    <p:sldId id="28987" r:id="rId26"/>
    <p:sldId id="28988" r:id="rId27"/>
    <p:sldId id="28989" r:id="rId28"/>
    <p:sldId id="28990" r:id="rId29"/>
    <p:sldId id="28991" r:id="rId30"/>
    <p:sldId id="28979" r:id="rId9"/>
    <p:sldId id="28980" r:id="rId10"/>
    <p:sldId id="28981" r:id="rId11"/>
    <p:sldId id="28982" r:id="rId12"/>
    <p:sldId id="28983" r:id="rId13"/>
    <p:sldId id="573" r:id="rId14"/>
    <p:sldId id="28984" r:id="rId15"/>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3" userDrawn="1">
          <p15:clr>
            <a:srgbClr val="A4A3A4"/>
          </p15:clr>
        </p15:guide>
        <p15:guide id="2" pos="3840" userDrawn="1">
          <p15:clr>
            <a:srgbClr val="A4A3A4"/>
          </p15:clr>
        </p15:guide>
        <p15:guide id="3" pos="438" userDrawn="1">
          <p15:clr>
            <a:srgbClr val="A4A3A4"/>
          </p15:clr>
        </p15:guide>
        <p15:guide id="4" pos="7355"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1686C97-ADD3-5CDE-B4D7-06A81A6EAA4F}" name="LUISA ANNA DAVINO-5G" initials="LD" userId="S::luisaanna.davino-5g@unina.it::e0d4f5f9-4e2d-474f-b739-88d264a4be6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17428B"/>
    <a:srgbClr val="50E517"/>
    <a:srgbClr val="3399FF"/>
    <a:srgbClr val="FC3FB2"/>
    <a:srgbClr val="0164F2"/>
    <a:srgbClr val="F18700"/>
    <a:srgbClr val="00FFFF"/>
    <a:srgbClr val="8E1473"/>
    <a:srgbClr val="DBF11E"/>
    <a:srgbClr val="00AB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46868B8-0BE0-A46D-D361-D3B1D0A8EC3B}" v="1" dt="2026-09-03T10:52:47.542"/>
  </p1510:revLst>
</p1510:revInfo>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1" d="100"/>
          <a:sy n="91" d="100"/>
        </p:scale>
        <p:origin x="341" y="58"/>
      </p:cViewPr>
      <p:guideLst>
        <p:guide orient="horz" pos="2183"/>
        <p:guide pos="3840"/>
        <p:guide pos="438"/>
        <p:guide pos="7355"/>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11.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5.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microsoft.com/office/2018/10/relationships/authors" Target="authors.xml"/><Relationship Id="rId24" Type="http://schemas.openxmlformats.org/officeDocument/2006/relationships/slide" Target="slides/slide4.xml"/><Relationship Id="rId25" Type="http://schemas.openxmlformats.org/officeDocument/2006/relationships/slide" Target="slides/slide5.xml"/><Relationship Id="rId26" Type="http://schemas.openxmlformats.org/officeDocument/2006/relationships/slide" Target="slides/slide6.xml"/><Relationship Id="rId27" Type="http://schemas.openxmlformats.org/officeDocument/2006/relationships/slide" Target="slides/slide7.xml"/><Relationship Id="rId28" Type="http://schemas.openxmlformats.org/officeDocument/2006/relationships/slide" Target="slides/slide8.xml"/><Relationship Id="rId29" Type="http://schemas.openxmlformats.org/officeDocument/2006/relationships/slide" Target="slides/slide9.xml"/><Relationship Id="rId30"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ZISH PERVAIZ GILL" userId="S::n.gill@studenti.unina.it::eb6a05ed-dbe0-4e40-a68a-bb10a52ec5a2" providerId="AD" clId="Web-{B46868B8-0BE0-A46D-D361-D3B1D0A8EC3B}"/>
    <pc:docChg chg="modSld">
      <pc:chgData name="NAZISH PERVAIZ GILL" userId="S::n.gill@studenti.unina.it::eb6a05ed-dbe0-4e40-a68a-bb10a52ec5a2" providerId="AD" clId="Web-{B46868B8-0BE0-A46D-D361-D3B1D0A8EC3B}" dt="2026-09-03T10:52:47.542" v="0" actId="1076"/>
      <pc:docMkLst>
        <pc:docMk/>
      </pc:docMkLst>
      <pc:sldChg chg="modSp">
        <pc:chgData name="NAZISH PERVAIZ GILL" userId="S::n.gill@studenti.unina.it::eb6a05ed-dbe0-4e40-a68a-bb10a52ec5a2" providerId="AD" clId="Web-{B46868B8-0BE0-A46D-D361-D3B1D0A8EC3B}" dt="2026-09-03T10:52:47.542" v="0" actId="1076"/>
        <pc:sldMkLst>
          <pc:docMk/>
          <pc:sldMk cId="3484281282" sldId="28981"/>
        </pc:sldMkLst>
        <pc:picChg chg="mod">
          <ac:chgData name="NAZISH PERVAIZ GILL" userId="S::n.gill@studenti.unina.it::eb6a05ed-dbe0-4e40-a68a-bb10a52ec5a2" providerId="AD" clId="Web-{B46868B8-0BE0-A46D-D361-D3B1D0A8EC3B}" dt="2026-09-03T10:52:47.542" v="0" actId="1076"/>
          <ac:picMkLst>
            <pc:docMk/>
            <pc:sldMk cId="3484281282" sldId="28981"/>
            <ac:picMk id="5" creationId="{32AB6F17-92B7-DD4E-AE30-7A720CBE6EB4}"/>
          </ac:picMkLst>
        </pc:picChg>
      </pc:sldChg>
    </pc:docChg>
  </pc:docChgLst>
</pc:chgInfo>
</file>

<file path=ppt/comments/modernComment_7134_34C91818.xml><?xml version="1.0" encoding="utf-8"?>
<p188:cmLst xmlns:a="http://schemas.openxmlformats.org/drawingml/2006/main" xmlns:r="http://schemas.openxmlformats.org/officeDocument/2006/relationships" xmlns:p188="http://schemas.microsoft.com/office/powerpoint/2018/8/main">
  <p188:cm id="{CEEF31C0-5E69-4261-8744-8F803DD2FCA9}" authorId="{11686C97-ADD3-5CDE-B4D7-06A81A6EAA4F}" created="2026-07-02T09:01:50.897">
    <pc:sldMkLst xmlns:pc="http://schemas.microsoft.com/office/powerpoint/2013/main/command">
      <pc:docMk/>
      <pc:sldMk cId="885594136" sldId="28980"/>
    </pc:sldMkLst>
    <p188:txBody>
      <a:bodyPr/>
      <a:lstStyle/>
      <a:p>
        <a:r>
          <a:rPr lang="it-IT"/>
          <a:t>da modificare</a:t>
        </a:r>
      </a:p>
    </p188:txBody>
  </p188:cm>
</p188:cmLst>
</file>

<file path=ppt/comments/modernComment_7135_CFADE9C2.xml><?xml version="1.0" encoding="utf-8"?>
<p188:cmLst xmlns:a="http://schemas.openxmlformats.org/drawingml/2006/main" xmlns:r="http://schemas.openxmlformats.org/officeDocument/2006/relationships" xmlns:p188="http://schemas.microsoft.com/office/powerpoint/2018/8/main">
  <p188:cm id="{12632551-562C-421E-B242-F97AC6B4AB08}" authorId="{11686C97-ADD3-5CDE-B4D7-06A81A6EAA4F}" created="2026-07-02T09:02:05.351">
    <ac:deMkLst xmlns:ac="http://schemas.microsoft.com/office/drawing/2013/main/command">
      <pc:docMk xmlns:pc="http://schemas.microsoft.com/office/powerpoint/2013/main/command"/>
      <pc:sldMk xmlns:pc="http://schemas.microsoft.com/office/powerpoint/2013/main/command" cId="3484281282" sldId="28981"/>
      <ac:picMk id="5" creationId="{32AB6F17-92B7-DD4E-AE30-7A720CBE6EB4}"/>
    </ac:deMkLst>
    <p188:txBody>
      <a:bodyPr/>
      <a:lstStyle/>
      <a:p>
        <a:r>
          <a:rPr lang="it-IT"/>
          <a:t>eliminare?</a:t>
        </a:r>
      </a:p>
    </p188:txBody>
  </p188:cm>
</p188:cmLst>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F986687-D765-004D-9A44-019C32562D25}" type="doc">
      <dgm:prSet loTypeId="urn:microsoft.com/office/officeart/2005/8/layout/chevron1" loCatId="" qsTypeId="urn:microsoft.com/office/officeart/2005/8/quickstyle/simple1#1" qsCatId="simple" csTypeId="urn:microsoft.com/office/officeart/2005/8/colors/accent1_2#1" csCatId="accent1" phldr="1"/>
      <dgm:spPr/>
      <dgm:t>
        <a:bodyPr/>
        <a:lstStyle/>
        <a:p>
          <a:endParaRPr lang="it-IT"/>
        </a:p>
      </dgm:t>
    </dgm:pt>
    <dgm:pt modelId="{ED805C60-6893-2749-8A23-20D6CE3944B2}">
      <dgm:prSet phldrT="[Testo]"/>
      <dgm:spPr>
        <a:solidFill>
          <a:srgbClr val="17428B"/>
        </a:solidFill>
      </dgm:spPr>
      <dgm:t>
        <a:bodyPr/>
        <a:lstStyle/>
        <a:p>
          <a:r>
            <a:rPr lang="it-IT"/>
            <a:t>July</a:t>
          </a:r>
        </a:p>
      </dgm:t>
    </dgm:pt>
    <dgm:pt modelId="{D15D4B9F-98E9-7246-B71E-D5225F741A13}" type="parTrans" cxnId="{E2684B9B-EB9E-D143-A8BB-2FB272D7D108}">
      <dgm:prSet/>
      <dgm:spPr/>
      <dgm:t>
        <a:bodyPr/>
        <a:lstStyle/>
        <a:p>
          <a:endParaRPr lang="it-IT"/>
        </a:p>
      </dgm:t>
    </dgm:pt>
    <dgm:pt modelId="{E27EC788-A8E5-A948-AB9A-7C4C59D73353}" type="sibTrans" cxnId="{E2684B9B-EB9E-D143-A8BB-2FB272D7D108}">
      <dgm:prSet/>
      <dgm:spPr/>
      <dgm:t>
        <a:bodyPr/>
        <a:lstStyle/>
        <a:p>
          <a:endParaRPr lang="it-IT"/>
        </a:p>
      </dgm:t>
    </dgm:pt>
    <dgm:pt modelId="{92061D65-2B93-6942-9918-64C89D2233DA}">
      <dgm:prSet phldrT="[Testo]"/>
      <dgm:spPr>
        <a:solidFill>
          <a:srgbClr val="17428B"/>
        </a:solidFill>
      </dgm:spPr>
      <dgm:t>
        <a:bodyPr/>
        <a:lstStyle/>
        <a:p>
          <a:r>
            <a:rPr lang="it-IT"/>
            <a:t>August</a:t>
          </a:r>
        </a:p>
      </dgm:t>
    </dgm:pt>
    <dgm:pt modelId="{CDBEB1F8-4A6D-BB45-94FD-A61EA8A9D8C7}" type="parTrans" cxnId="{EA21BD5F-406D-374A-852C-365E00BBAFAA}">
      <dgm:prSet/>
      <dgm:spPr/>
      <dgm:t>
        <a:bodyPr/>
        <a:lstStyle/>
        <a:p>
          <a:endParaRPr lang="it-IT"/>
        </a:p>
      </dgm:t>
    </dgm:pt>
    <dgm:pt modelId="{5EB613C7-F1A8-4D44-BCD6-D5EE10896038}" type="sibTrans" cxnId="{EA21BD5F-406D-374A-852C-365E00BBAFAA}">
      <dgm:prSet/>
      <dgm:spPr/>
      <dgm:t>
        <a:bodyPr/>
        <a:lstStyle/>
        <a:p>
          <a:endParaRPr lang="it-IT"/>
        </a:p>
      </dgm:t>
    </dgm:pt>
    <dgm:pt modelId="{69F777E7-C758-B440-855C-2496F2FFC2BC}">
      <dgm:prSet phldrT="[Testo]"/>
      <dgm:spPr>
        <a:solidFill>
          <a:srgbClr val="17428B"/>
        </a:solidFill>
      </dgm:spPr>
      <dgm:t>
        <a:bodyPr/>
        <a:lstStyle/>
        <a:p>
          <a:pPr rtl="0"/>
          <a:r>
            <a:rPr lang="it-IT">
              <a:latin typeface="TIM Sans"/>
            </a:rPr>
            <a:t>June</a:t>
          </a:r>
          <a:endParaRPr lang="it-IT"/>
        </a:p>
      </dgm:t>
    </dgm:pt>
    <dgm:pt modelId="{66B051ED-8D07-CD4B-A36E-2E4E9431F11B}" type="parTrans" cxnId="{73E3887D-AE64-A549-AB49-6222B84E3056}">
      <dgm:prSet/>
      <dgm:spPr/>
      <dgm:t>
        <a:bodyPr/>
        <a:lstStyle/>
        <a:p>
          <a:endParaRPr lang="it-IT"/>
        </a:p>
      </dgm:t>
    </dgm:pt>
    <dgm:pt modelId="{6494D961-322D-2549-B352-BB8160ABF939}" type="sibTrans" cxnId="{73E3887D-AE64-A549-AB49-6222B84E3056}">
      <dgm:prSet/>
      <dgm:spPr/>
      <dgm:t>
        <a:bodyPr/>
        <a:lstStyle/>
        <a:p>
          <a:endParaRPr lang="it-IT"/>
        </a:p>
      </dgm:t>
    </dgm:pt>
    <dgm:pt modelId="{3632F251-2A12-0B4B-9FEF-A1C0CFDE99DA}">
      <dgm:prSet phldrT="[Testo]"/>
      <dgm:spPr>
        <a:solidFill>
          <a:srgbClr val="17428B"/>
        </a:solidFill>
      </dgm:spPr>
      <dgm:t>
        <a:bodyPr/>
        <a:lstStyle/>
        <a:p>
          <a:r>
            <a:rPr lang="it-IT"/>
            <a:t>September</a:t>
          </a:r>
        </a:p>
      </dgm:t>
    </dgm:pt>
    <dgm:pt modelId="{BA3CAB69-0086-9547-AC6A-9C4A768576D5}" type="parTrans" cxnId="{CF0E4A8F-804C-924C-8D6E-3174A882C7F7}">
      <dgm:prSet/>
      <dgm:spPr/>
      <dgm:t>
        <a:bodyPr/>
        <a:lstStyle/>
        <a:p>
          <a:endParaRPr lang="it-IT"/>
        </a:p>
      </dgm:t>
    </dgm:pt>
    <dgm:pt modelId="{9E4E02A6-6838-E347-9429-CCFA65886684}" type="sibTrans" cxnId="{CF0E4A8F-804C-924C-8D6E-3174A882C7F7}">
      <dgm:prSet/>
      <dgm:spPr/>
      <dgm:t>
        <a:bodyPr/>
        <a:lstStyle/>
        <a:p>
          <a:endParaRPr lang="it-IT"/>
        </a:p>
      </dgm:t>
    </dgm:pt>
    <dgm:pt modelId="{4673738C-18DA-F44F-A7BC-5EFF070BDE2B}">
      <dgm:prSet phldrT="[Testo]"/>
      <dgm:spPr>
        <a:solidFill>
          <a:srgbClr val="17428B"/>
        </a:solidFill>
      </dgm:spPr>
      <dgm:t>
        <a:bodyPr/>
        <a:lstStyle/>
        <a:p>
          <a:r>
            <a:rPr lang="it-IT"/>
            <a:t>October</a:t>
          </a:r>
        </a:p>
      </dgm:t>
    </dgm:pt>
    <dgm:pt modelId="{EEC47C7E-A184-6946-961A-F4219095CFF8}" type="parTrans" cxnId="{8CFA91A4-2CF8-FA48-B15E-49A9B44920AC}">
      <dgm:prSet/>
      <dgm:spPr/>
      <dgm:t>
        <a:bodyPr/>
        <a:lstStyle/>
        <a:p>
          <a:endParaRPr lang="it-IT"/>
        </a:p>
      </dgm:t>
    </dgm:pt>
    <dgm:pt modelId="{F7523F20-8A7C-8D49-BA25-FF645C7ED9F3}" type="sibTrans" cxnId="{8CFA91A4-2CF8-FA48-B15E-49A9B44920AC}">
      <dgm:prSet/>
      <dgm:spPr/>
      <dgm:t>
        <a:bodyPr/>
        <a:lstStyle/>
        <a:p>
          <a:endParaRPr lang="it-IT"/>
        </a:p>
      </dgm:t>
    </dgm:pt>
    <dgm:pt modelId="{0FAECAEA-1FFC-1441-BF5B-DBE508E7AD60}">
      <dgm:prSet phldrT="[Testo]"/>
      <dgm:spPr>
        <a:solidFill>
          <a:srgbClr val="17428B"/>
        </a:solidFill>
      </dgm:spPr>
      <dgm:t>
        <a:bodyPr/>
        <a:lstStyle/>
        <a:p>
          <a:r>
            <a:rPr lang="it-IT"/>
            <a:t/>
          </a:r>
        </a:p>
      </dgm:t>
    </dgm:pt>
    <dgm:pt modelId="{EFBD1121-22A2-7842-B402-224FF974F21A}" type="parTrans" cxnId="{BCD854BE-2C70-1D44-9500-87AFFDEA1967}">
      <dgm:prSet/>
      <dgm:spPr/>
      <dgm:t>
        <a:bodyPr/>
        <a:lstStyle/>
        <a:p>
          <a:endParaRPr lang="it-IT"/>
        </a:p>
      </dgm:t>
    </dgm:pt>
    <dgm:pt modelId="{2F98E441-6F4A-D545-9CC1-261A05B58247}" type="sibTrans" cxnId="{BCD854BE-2C70-1D44-9500-87AFFDEA1967}">
      <dgm:prSet/>
      <dgm:spPr/>
      <dgm:t>
        <a:bodyPr/>
        <a:lstStyle/>
        <a:p>
          <a:endParaRPr lang="it-IT"/>
        </a:p>
      </dgm:t>
    </dgm:pt>
    <dgm:pt modelId="{BFC77D11-2544-4E41-9FE6-CA1B8613451C}">
      <dgm:prSet phldrT="[Testo]"/>
      <dgm:spPr>
        <a:solidFill>
          <a:srgbClr val="17428B"/>
        </a:solidFill>
      </dgm:spPr>
      <dgm:t>
        <a:bodyPr/>
        <a:lstStyle/>
        <a:p>
          <a:r>
            <a:rPr lang="it-IT"/>
            <a:t/>
          </a:r>
        </a:p>
      </dgm:t>
    </dgm:pt>
    <dgm:pt modelId="{FE4B84E0-34BB-2249-9792-4A8AEEB00A1D}" type="parTrans" cxnId="{48EA889E-538F-064A-862C-21F286359422}">
      <dgm:prSet/>
      <dgm:spPr/>
      <dgm:t>
        <a:bodyPr/>
        <a:lstStyle/>
        <a:p>
          <a:endParaRPr lang="it-IT"/>
        </a:p>
      </dgm:t>
    </dgm:pt>
    <dgm:pt modelId="{1CE013B5-FC4E-8241-B73F-4411A4FF0F4A}" type="sibTrans" cxnId="{48EA889E-538F-064A-862C-21F286359422}">
      <dgm:prSet/>
      <dgm:spPr/>
      <dgm:t>
        <a:bodyPr/>
        <a:lstStyle/>
        <a:p>
          <a:endParaRPr lang="it-IT"/>
        </a:p>
      </dgm:t>
    </dgm:pt>
    <dgm:pt modelId="{D2AC97C0-1B9E-B54C-87B9-1C0598E785E4}">
      <dgm:prSet phldrT="[Testo]"/>
      <dgm:spPr>
        <a:solidFill>
          <a:srgbClr val="17428B"/>
        </a:solidFill>
      </dgm:spPr>
      <dgm:t>
        <a:bodyPr/>
        <a:lstStyle/>
        <a:p>
          <a:r>
            <a:rPr lang="it-IT"/>
            <a:t/>
          </a:r>
        </a:p>
      </dgm:t>
    </dgm:pt>
    <dgm:pt modelId="{48473BC1-7733-B143-A90E-FA49E8160759}" type="parTrans" cxnId="{3CA8B979-7E33-7C43-A6E4-ADAC4761B4F0}">
      <dgm:prSet/>
      <dgm:spPr/>
      <dgm:t>
        <a:bodyPr/>
        <a:lstStyle/>
        <a:p>
          <a:endParaRPr lang="it-IT"/>
        </a:p>
      </dgm:t>
    </dgm:pt>
    <dgm:pt modelId="{1DC23697-D6B7-B445-94E7-14A472EECD68}" type="sibTrans" cxnId="{3CA8B979-7E33-7C43-A6E4-ADAC4761B4F0}">
      <dgm:prSet/>
      <dgm:spPr/>
      <dgm:t>
        <a:bodyPr/>
        <a:lstStyle/>
        <a:p>
          <a:endParaRPr lang="it-IT"/>
        </a:p>
      </dgm:t>
    </dgm:pt>
    <dgm:pt modelId="{B60183B2-527F-41D7-AEBA-FC09ED2B77A7}">
      <dgm:prSet phldrT="[Testo]" phldr="0"/>
      <dgm:spPr/>
      <dgm:t>
        <a:bodyPr/>
        <a:lstStyle/>
        <a:p>
          <a:pPr rtl="0"/>
          <a:r>
            <a:rPr lang="it-IT">
              <a:latin typeface="TIM Sans"/>
            </a:rPr>
            <a:t>May</a:t>
          </a:r>
        </a:p>
      </dgm:t>
    </dgm:pt>
    <dgm:pt modelId="{D31B1F01-3402-453F-847D-C957DE754F84}" type="parTrans" cxnId="{6FB90ADE-1853-4C28-A897-A6857B21DCD7}">
      <dgm:prSet/>
      <dgm:spPr/>
    </dgm:pt>
    <dgm:pt modelId="{6B4E08AE-53CE-4AAA-A9E3-4E8B4FCA698B}" type="sibTrans" cxnId="{6FB90ADE-1853-4C28-A897-A6857B21DCD7}">
      <dgm:prSet/>
      <dgm:spPr/>
    </dgm:pt>
    <dgm:pt modelId="{89C62689-B487-A049-8569-B27BCA8F30FA}" type="pres">
      <dgm:prSet presAssocID="{CF986687-D765-004D-9A44-019C32562D25}" presName="Name0" presStyleCnt="0">
        <dgm:presLayoutVars>
          <dgm:dir/>
          <dgm:animLvl val="lvl"/>
          <dgm:resizeHandles val="exact"/>
        </dgm:presLayoutVars>
      </dgm:prSet>
      <dgm:spPr/>
    </dgm:pt>
    <dgm:pt modelId="{2980C20A-A7DB-4FB5-B3D8-36B957E1519C}" type="pres">
      <dgm:prSet presAssocID="{B60183B2-527F-41D7-AEBA-FC09ED2B77A7}" presName="parTxOnly" presStyleLbl="node1" presStyleIdx="0" presStyleCnt="9">
        <dgm:presLayoutVars>
          <dgm:chMax val="0"/>
          <dgm:chPref val="0"/>
          <dgm:bulletEnabled val="1"/>
        </dgm:presLayoutVars>
      </dgm:prSet>
      <dgm:spPr/>
    </dgm:pt>
    <dgm:pt modelId="{0F7858DA-D476-44F6-82B6-030A6F815E74}" type="pres">
      <dgm:prSet presAssocID="{6B4E08AE-53CE-4AAA-A9E3-4E8B4FCA698B}" presName="parTxOnlySpace" presStyleCnt="0"/>
      <dgm:spPr/>
    </dgm:pt>
    <dgm:pt modelId="{BAF22C37-2133-C043-A52E-5A42A02120E7}" type="pres">
      <dgm:prSet presAssocID="{69F777E7-C758-B440-855C-2496F2FFC2BC}" presName="parTxOnly" presStyleLbl="node1" presStyleIdx="1" presStyleCnt="9">
        <dgm:presLayoutVars>
          <dgm:chMax val="0"/>
          <dgm:chPref val="0"/>
          <dgm:bulletEnabled val="1"/>
        </dgm:presLayoutVars>
      </dgm:prSet>
      <dgm:spPr/>
    </dgm:pt>
    <dgm:pt modelId="{B05C034B-649A-F144-AEAA-AFD37362156E}" type="pres">
      <dgm:prSet presAssocID="{6494D961-322D-2549-B352-BB8160ABF939}" presName="parTxOnlySpace" presStyleCnt="0"/>
      <dgm:spPr/>
    </dgm:pt>
    <dgm:pt modelId="{E2417A55-93FE-654C-9BD2-6E28A7E412BB}" type="pres">
      <dgm:prSet presAssocID="{ED805C60-6893-2749-8A23-20D6CE3944B2}" presName="parTxOnly" presStyleLbl="node1" presStyleIdx="2" presStyleCnt="9">
        <dgm:presLayoutVars>
          <dgm:chMax val="0"/>
          <dgm:chPref val="0"/>
          <dgm:bulletEnabled val="1"/>
        </dgm:presLayoutVars>
      </dgm:prSet>
      <dgm:spPr/>
    </dgm:pt>
    <dgm:pt modelId="{CA45A456-F933-F640-A877-0129E90F8B9E}" type="pres">
      <dgm:prSet presAssocID="{E27EC788-A8E5-A948-AB9A-7C4C59D73353}" presName="parTxOnlySpace" presStyleCnt="0"/>
      <dgm:spPr/>
    </dgm:pt>
    <dgm:pt modelId="{0EDC0826-BA1D-8F45-986B-242E03D47FA0}" type="pres">
      <dgm:prSet presAssocID="{92061D65-2B93-6942-9918-64C89D2233DA}" presName="parTxOnly" presStyleLbl="node1" presStyleIdx="3" presStyleCnt="9">
        <dgm:presLayoutVars>
          <dgm:chMax val="0"/>
          <dgm:chPref val="0"/>
          <dgm:bulletEnabled val="1"/>
        </dgm:presLayoutVars>
      </dgm:prSet>
      <dgm:spPr/>
    </dgm:pt>
    <dgm:pt modelId="{ADAB5C8D-60B7-E445-A6AF-F338926C26E7}" type="pres">
      <dgm:prSet presAssocID="{5EB613C7-F1A8-4D44-BCD6-D5EE10896038}" presName="parTxOnlySpace" presStyleCnt="0"/>
      <dgm:spPr/>
    </dgm:pt>
    <dgm:pt modelId="{8017B392-F3F7-5E4C-BF77-D0F1AD828915}" type="pres">
      <dgm:prSet presAssocID="{3632F251-2A12-0B4B-9FEF-A1C0CFDE99DA}" presName="parTxOnly" presStyleLbl="node1" presStyleIdx="4" presStyleCnt="9">
        <dgm:presLayoutVars>
          <dgm:chMax val="0"/>
          <dgm:chPref val="0"/>
          <dgm:bulletEnabled val="1"/>
        </dgm:presLayoutVars>
      </dgm:prSet>
      <dgm:spPr/>
    </dgm:pt>
    <dgm:pt modelId="{7C75C18D-5868-394F-8EB5-207231085020}" type="pres">
      <dgm:prSet presAssocID="{9E4E02A6-6838-E347-9429-CCFA65886684}" presName="parTxOnlySpace" presStyleCnt="0"/>
      <dgm:spPr/>
    </dgm:pt>
    <dgm:pt modelId="{D67D0D1F-3CB0-604B-AD92-75CB4CC32564}" type="pres">
      <dgm:prSet presAssocID="{4673738C-18DA-F44F-A7BC-5EFF070BDE2B}" presName="parTxOnly" presStyleLbl="node1" presStyleIdx="5" presStyleCnt="9">
        <dgm:presLayoutVars>
          <dgm:chMax val="0"/>
          <dgm:chPref val="0"/>
          <dgm:bulletEnabled val="1"/>
        </dgm:presLayoutVars>
      </dgm:prSet>
      <dgm:spPr/>
    </dgm:pt>
    <dgm:pt modelId="{E86A1AA3-735D-8A42-930B-69A0D4C4C745}" type="pres">
      <dgm:prSet presAssocID="{F7523F20-8A7C-8D49-BA25-FF645C7ED9F3}" presName="parTxOnlySpace" presStyleCnt="0"/>
      <dgm:spPr/>
    </dgm:pt>
    <dgm:pt modelId="{241CFA86-5218-0C47-825A-2A49A253577F}" type="pres">
      <dgm:prSet presAssocID="{0FAECAEA-1FFC-1441-BF5B-DBE508E7AD60}" presName="parTxOnly" presStyleLbl="node1" presStyleIdx="6" presStyleCnt="9">
        <dgm:presLayoutVars>
          <dgm:chMax val="0"/>
          <dgm:chPref val="0"/>
          <dgm:bulletEnabled val="1"/>
        </dgm:presLayoutVars>
      </dgm:prSet>
      <dgm:spPr/>
    </dgm:pt>
    <dgm:pt modelId="{47BBCC3E-0F81-B046-AD0F-CC8BCB06FFB8}" type="pres">
      <dgm:prSet presAssocID="{2F98E441-6F4A-D545-9CC1-261A05B58247}" presName="parTxOnlySpace" presStyleCnt="0"/>
      <dgm:spPr/>
    </dgm:pt>
    <dgm:pt modelId="{9000587C-4594-6843-AF5F-944054CE466A}" type="pres">
      <dgm:prSet presAssocID="{BFC77D11-2544-4E41-9FE6-CA1B8613451C}" presName="parTxOnly" presStyleLbl="node1" presStyleIdx="7" presStyleCnt="9">
        <dgm:presLayoutVars>
          <dgm:chMax val="0"/>
          <dgm:chPref val="0"/>
          <dgm:bulletEnabled val="1"/>
        </dgm:presLayoutVars>
      </dgm:prSet>
      <dgm:spPr/>
    </dgm:pt>
    <dgm:pt modelId="{1AD4EA40-36EA-3046-9737-90CC62D23ADC}" type="pres">
      <dgm:prSet presAssocID="{1CE013B5-FC4E-8241-B73F-4411A4FF0F4A}" presName="parTxOnlySpace" presStyleCnt="0"/>
      <dgm:spPr/>
    </dgm:pt>
    <dgm:pt modelId="{A1537557-F9F4-534E-B208-3FED22B15716}" type="pres">
      <dgm:prSet presAssocID="{D2AC97C0-1B9E-B54C-87B9-1C0598E785E4}" presName="parTxOnly" presStyleLbl="node1" presStyleIdx="8" presStyleCnt="9">
        <dgm:presLayoutVars>
          <dgm:chMax val="0"/>
          <dgm:chPref val="0"/>
          <dgm:bulletEnabled val="1"/>
        </dgm:presLayoutVars>
      </dgm:prSet>
      <dgm:spPr/>
    </dgm:pt>
  </dgm:ptLst>
  <dgm:cxnLst>
    <dgm:cxn modelId="{D7D35901-E709-40F9-BE01-2E1A5135B0F3}" type="presOf" srcId="{0FAECAEA-1FFC-1441-BF5B-DBE508E7AD60}" destId="{241CFA86-5218-0C47-825A-2A49A253577F}" srcOrd="0" destOrd="0" presId="urn:microsoft.com/office/officeart/2005/8/layout/chevron1"/>
    <dgm:cxn modelId="{F17DA018-62B8-416E-B807-7074FF456D27}" type="presOf" srcId="{69F777E7-C758-B440-855C-2496F2FFC2BC}" destId="{BAF22C37-2133-C043-A52E-5A42A02120E7}" srcOrd="0" destOrd="0" presId="urn:microsoft.com/office/officeart/2005/8/layout/chevron1"/>
    <dgm:cxn modelId="{2C97B528-CD0A-409D-BC6C-D4EFF59404A9}" type="presOf" srcId="{ED805C60-6893-2749-8A23-20D6CE3944B2}" destId="{E2417A55-93FE-654C-9BD2-6E28A7E412BB}" srcOrd="0" destOrd="0" presId="urn:microsoft.com/office/officeart/2005/8/layout/chevron1"/>
    <dgm:cxn modelId="{9EE29F39-D800-4744-90DF-5E2F9DABFA1D}" type="presOf" srcId="{CF986687-D765-004D-9A44-019C32562D25}" destId="{89C62689-B487-A049-8569-B27BCA8F30FA}" srcOrd="0" destOrd="0" presId="urn:microsoft.com/office/officeart/2005/8/layout/chevron1"/>
    <dgm:cxn modelId="{EA21BD5F-406D-374A-852C-365E00BBAFAA}" srcId="{CF986687-D765-004D-9A44-019C32562D25}" destId="{92061D65-2B93-6942-9918-64C89D2233DA}" srcOrd="3" destOrd="0" parTransId="{CDBEB1F8-4A6D-BB45-94FD-A61EA8A9D8C7}" sibTransId="{5EB613C7-F1A8-4D44-BCD6-D5EE10896038}"/>
    <dgm:cxn modelId="{4AE2126D-D828-48D3-9A3D-623B63F0079B}" type="presOf" srcId="{BFC77D11-2544-4E41-9FE6-CA1B8613451C}" destId="{9000587C-4594-6843-AF5F-944054CE466A}" srcOrd="0" destOrd="0" presId="urn:microsoft.com/office/officeart/2005/8/layout/chevron1"/>
    <dgm:cxn modelId="{9FF82054-EA90-4BA4-8E67-589C494F41F8}" type="presOf" srcId="{D2AC97C0-1B9E-B54C-87B9-1C0598E785E4}" destId="{A1537557-F9F4-534E-B208-3FED22B15716}" srcOrd="0" destOrd="0" presId="urn:microsoft.com/office/officeart/2005/8/layout/chevron1"/>
    <dgm:cxn modelId="{3CA8B979-7E33-7C43-A6E4-ADAC4761B4F0}" srcId="{CF986687-D765-004D-9A44-019C32562D25}" destId="{D2AC97C0-1B9E-B54C-87B9-1C0598E785E4}" srcOrd="8" destOrd="0" parTransId="{48473BC1-7733-B143-A90E-FA49E8160759}" sibTransId="{1DC23697-D6B7-B445-94E7-14A472EECD68}"/>
    <dgm:cxn modelId="{73E3887D-AE64-A549-AB49-6222B84E3056}" srcId="{CF986687-D765-004D-9A44-019C32562D25}" destId="{69F777E7-C758-B440-855C-2496F2FFC2BC}" srcOrd="1" destOrd="0" parTransId="{66B051ED-8D07-CD4B-A36E-2E4E9431F11B}" sibTransId="{6494D961-322D-2549-B352-BB8160ABF939}"/>
    <dgm:cxn modelId="{84B1E87E-EE5E-4B9E-9D9D-D4F20D250575}" type="presOf" srcId="{B60183B2-527F-41D7-AEBA-FC09ED2B77A7}" destId="{2980C20A-A7DB-4FB5-B3D8-36B957E1519C}" srcOrd="0" destOrd="0" presId="urn:microsoft.com/office/officeart/2005/8/layout/chevron1"/>
    <dgm:cxn modelId="{9C94C089-95A1-4BC5-A2A7-5D9FDC937B1F}" type="presOf" srcId="{3632F251-2A12-0B4B-9FEF-A1C0CFDE99DA}" destId="{8017B392-F3F7-5E4C-BF77-D0F1AD828915}" srcOrd="0" destOrd="0" presId="urn:microsoft.com/office/officeart/2005/8/layout/chevron1"/>
    <dgm:cxn modelId="{CF0E4A8F-804C-924C-8D6E-3174A882C7F7}" srcId="{CF986687-D765-004D-9A44-019C32562D25}" destId="{3632F251-2A12-0B4B-9FEF-A1C0CFDE99DA}" srcOrd="4" destOrd="0" parTransId="{BA3CAB69-0086-9547-AC6A-9C4A768576D5}" sibTransId="{9E4E02A6-6838-E347-9429-CCFA65886684}"/>
    <dgm:cxn modelId="{E2684B9B-EB9E-D143-A8BB-2FB272D7D108}" srcId="{CF986687-D765-004D-9A44-019C32562D25}" destId="{ED805C60-6893-2749-8A23-20D6CE3944B2}" srcOrd="2" destOrd="0" parTransId="{D15D4B9F-98E9-7246-B71E-D5225F741A13}" sibTransId="{E27EC788-A8E5-A948-AB9A-7C4C59D73353}"/>
    <dgm:cxn modelId="{48EA889E-538F-064A-862C-21F286359422}" srcId="{CF986687-D765-004D-9A44-019C32562D25}" destId="{BFC77D11-2544-4E41-9FE6-CA1B8613451C}" srcOrd="7" destOrd="0" parTransId="{FE4B84E0-34BB-2249-9792-4A8AEEB00A1D}" sibTransId="{1CE013B5-FC4E-8241-B73F-4411A4FF0F4A}"/>
    <dgm:cxn modelId="{8CFA91A4-2CF8-FA48-B15E-49A9B44920AC}" srcId="{CF986687-D765-004D-9A44-019C32562D25}" destId="{4673738C-18DA-F44F-A7BC-5EFF070BDE2B}" srcOrd="5" destOrd="0" parTransId="{EEC47C7E-A184-6946-961A-F4219095CFF8}" sibTransId="{F7523F20-8A7C-8D49-BA25-FF645C7ED9F3}"/>
    <dgm:cxn modelId="{BCD854BE-2C70-1D44-9500-87AFFDEA1967}" srcId="{CF986687-D765-004D-9A44-019C32562D25}" destId="{0FAECAEA-1FFC-1441-BF5B-DBE508E7AD60}" srcOrd="6" destOrd="0" parTransId="{EFBD1121-22A2-7842-B402-224FF974F21A}" sibTransId="{2F98E441-6F4A-D545-9CC1-261A05B58247}"/>
    <dgm:cxn modelId="{6FB90ADE-1853-4C28-A897-A6857B21DCD7}" srcId="{CF986687-D765-004D-9A44-019C32562D25}" destId="{B60183B2-527F-41D7-AEBA-FC09ED2B77A7}" srcOrd="0" destOrd="0" parTransId="{D31B1F01-3402-453F-847D-C957DE754F84}" sibTransId="{6B4E08AE-53CE-4AAA-A9E3-4E8B4FCA698B}"/>
    <dgm:cxn modelId="{E8F0B9E5-CA8D-4191-A6AE-C8D02EBC4948}" type="presOf" srcId="{4673738C-18DA-F44F-A7BC-5EFF070BDE2B}" destId="{D67D0D1F-3CB0-604B-AD92-75CB4CC32564}" srcOrd="0" destOrd="0" presId="urn:microsoft.com/office/officeart/2005/8/layout/chevron1"/>
    <dgm:cxn modelId="{1D7873F8-D931-4C19-8568-75CEA1BCE6F9}" type="presOf" srcId="{92061D65-2B93-6942-9918-64C89D2233DA}" destId="{0EDC0826-BA1D-8F45-986B-242E03D47FA0}" srcOrd="0" destOrd="0" presId="urn:microsoft.com/office/officeart/2005/8/layout/chevron1"/>
    <dgm:cxn modelId="{EAABF55A-5F03-4970-BA33-6E4613188F03}" type="presParOf" srcId="{89C62689-B487-A049-8569-B27BCA8F30FA}" destId="{2980C20A-A7DB-4FB5-B3D8-36B957E1519C}" srcOrd="0" destOrd="0" presId="urn:microsoft.com/office/officeart/2005/8/layout/chevron1"/>
    <dgm:cxn modelId="{739A897F-2AD9-495A-9ABB-7953A8AC1927}" type="presParOf" srcId="{89C62689-B487-A049-8569-B27BCA8F30FA}" destId="{0F7858DA-D476-44F6-82B6-030A6F815E74}" srcOrd="1" destOrd="0" presId="urn:microsoft.com/office/officeart/2005/8/layout/chevron1"/>
    <dgm:cxn modelId="{12082FFD-47FF-4205-9E6C-1E1142A2E861}" type="presParOf" srcId="{89C62689-B487-A049-8569-B27BCA8F30FA}" destId="{BAF22C37-2133-C043-A52E-5A42A02120E7}" srcOrd="2" destOrd="0" presId="urn:microsoft.com/office/officeart/2005/8/layout/chevron1"/>
    <dgm:cxn modelId="{E367887E-90A0-4D4C-A5DD-FB1E60C55F4B}" type="presParOf" srcId="{89C62689-B487-A049-8569-B27BCA8F30FA}" destId="{B05C034B-649A-F144-AEAA-AFD37362156E}" srcOrd="3" destOrd="0" presId="urn:microsoft.com/office/officeart/2005/8/layout/chevron1"/>
    <dgm:cxn modelId="{347F81C3-2AF1-4085-889D-D4AE9011C342}" type="presParOf" srcId="{89C62689-B487-A049-8569-B27BCA8F30FA}" destId="{E2417A55-93FE-654C-9BD2-6E28A7E412BB}" srcOrd="4" destOrd="0" presId="urn:microsoft.com/office/officeart/2005/8/layout/chevron1"/>
    <dgm:cxn modelId="{B7918166-F5F6-48AD-A6CF-B34E6C8BFFEF}" type="presParOf" srcId="{89C62689-B487-A049-8569-B27BCA8F30FA}" destId="{CA45A456-F933-F640-A877-0129E90F8B9E}" srcOrd="5" destOrd="0" presId="urn:microsoft.com/office/officeart/2005/8/layout/chevron1"/>
    <dgm:cxn modelId="{729C8161-A31B-4F5A-BD60-F8F635BB10D3}" type="presParOf" srcId="{89C62689-B487-A049-8569-B27BCA8F30FA}" destId="{0EDC0826-BA1D-8F45-986B-242E03D47FA0}" srcOrd="6" destOrd="0" presId="urn:microsoft.com/office/officeart/2005/8/layout/chevron1"/>
    <dgm:cxn modelId="{F9E16921-616E-45B0-A2B0-6A31DDC9A7D0}" type="presParOf" srcId="{89C62689-B487-A049-8569-B27BCA8F30FA}" destId="{ADAB5C8D-60B7-E445-A6AF-F338926C26E7}" srcOrd="7" destOrd="0" presId="urn:microsoft.com/office/officeart/2005/8/layout/chevron1"/>
    <dgm:cxn modelId="{F2ECAE78-D924-43F2-B448-506B405228E2}" type="presParOf" srcId="{89C62689-B487-A049-8569-B27BCA8F30FA}" destId="{8017B392-F3F7-5E4C-BF77-D0F1AD828915}" srcOrd="8" destOrd="0" presId="urn:microsoft.com/office/officeart/2005/8/layout/chevron1"/>
    <dgm:cxn modelId="{BED7264D-CE33-4B9F-B8F6-1D4A6AFEC706}" type="presParOf" srcId="{89C62689-B487-A049-8569-B27BCA8F30FA}" destId="{7C75C18D-5868-394F-8EB5-207231085020}" srcOrd="9" destOrd="0" presId="urn:microsoft.com/office/officeart/2005/8/layout/chevron1"/>
    <dgm:cxn modelId="{53752D01-1981-4691-9643-CEB2843EF1F9}" type="presParOf" srcId="{89C62689-B487-A049-8569-B27BCA8F30FA}" destId="{D67D0D1F-3CB0-604B-AD92-75CB4CC32564}" srcOrd="10" destOrd="0" presId="urn:microsoft.com/office/officeart/2005/8/layout/chevron1"/>
    <dgm:cxn modelId="{F3A15273-BE51-49E1-BB67-CD3ADF679264}" type="presParOf" srcId="{89C62689-B487-A049-8569-B27BCA8F30FA}" destId="{E86A1AA3-735D-8A42-930B-69A0D4C4C745}" srcOrd="11" destOrd="0" presId="urn:microsoft.com/office/officeart/2005/8/layout/chevron1"/>
    <dgm:cxn modelId="{A49AC20F-2C24-4633-A8C8-8F9DCA3B7E42}" type="presParOf" srcId="{89C62689-B487-A049-8569-B27BCA8F30FA}" destId="{241CFA86-5218-0C47-825A-2A49A253577F}" srcOrd="12" destOrd="0" presId="urn:microsoft.com/office/officeart/2005/8/layout/chevron1"/>
    <dgm:cxn modelId="{CD55B330-37C2-4AE6-85A1-0D7A70362044}" type="presParOf" srcId="{89C62689-B487-A049-8569-B27BCA8F30FA}" destId="{47BBCC3E-0F81-B046-AD0F-CC8BCB06FFB8}" srcOrd="13" destOrd="0" presId="urn:microsoft.com/office/officeart/2005/8/layout/chevron1"/>
    <dgm:cxn modelId="{93C03B12-3351-43C9-ABB9-FCB9370675FA}" type="presParOf" srcId="{89C62689-B487-A049-8569-B27BCA8F30FA}" destId="{9000587C-4594-6843-AF5F-944054CE466A}" srcOrd="14" destOrd="0" presId="urn:microsoft.com/office/officeart/2005/8/layout/chevron1"/>
    <dgm:cxn modelId="{B1F6AE50-0677-4A5D-B541-F1C55372E4A1}" type="presParOf" srcId="{89C62689-B487-A049-8569-B27BCA8F30FA}" destId="{1AD4EA40-36EA-3046-9737-90CC62D23ADC}" srcOrd="15" destOrd="0" presId="urn:microsoft.com/office/officeart/2005/8/layout/chevron1"/>
    <dgm:cxn modelId="{BF0A8D4A-EA9B-4A2B-8B3F-3A97BC5CD711}" type="presParOf" srcId="{89C62689-B487-A049-8569-B27BCA8F30FA}" destId="{A1537557-F9F4-534E-B208-3FED22B15716}" srcOrd="16" destOrd="0" presId="urn:microsoft.com/office/officeart/2005/8/layout/chevron1"/>
  </dgm:cxnLst>
  <dgm:bg/>
  <dgm:whole>
    <a:ln>
      <a:noFill/>
      <a:prstDash val="sysDash"/>
    </a:ln>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980C20A-A7DB-4FB5-B3D8-36B957E1519C}">
      <dsp:nvSpPr>
        <dsp:cNvPr id="0" name=""/>
        <dsp:cNvSpPr/>
      </dsp:nvSpPr>
      <dsp:spPr>
        <a:xfrm>
          <a:off x="137" y="2547574"/>
          <a:ext cx="1369708" cy="547883"/>
        </a:xfrm>
        <a:prstGeom prst="chevr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rtl="0">
            <a:lnSpc>
              <a:spcPct val="90000"/>
            </a:lnSpc>
            <a:spcBef>
              <a:spcPct val="0"/>
            </a:spcBef>
            <a:spcAft>
              <a:spcPct val="35000"/>
            </a:spcAft>
            <a:buNone/>
          </a:pPr>
          <a:r>
            <a:rPr lang="it-IT" sz="1300" kern="1200">
              <a:latin typeface="TIM Sans"/>
            </a:rPr>
            <a:t>May</a:t>
          </a:r>
        </a:p>
      </dsp:txBody>
      <dsp:txXfrm>
        <a:off x="274079" y="2547574"/>
        <a:ext cx="821825" cy="547883"/>
      </dsp:txXfrm>
    </dsp:sp>
    <dsp:sp modelId="{BAF22C37-2133-C043-A52E-5A42A02120E7}">
      <dsp:nvSpPr>
        <dsp:cNvPr id="0" name=""/>
        <dsp:cNvSpPr/>
      </dsp:nvSpPr>
      <dsp:spPr>
        <a:xfrm>
          <a:off x="1232874" y="2547574"/>
          <a:ext cx="1369708" cy="547883"/>
        </a:xfrm>
        <a:prstGeom prst="chevron">
          <a:avLst/>
        </a:prstGeom>
        <a:solidFill>
          <a:srgbClr val="17428B"/>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rtl="0">
            <a:lnSpc>
              <a:spcPct val="90000"/>
            </a:lnSpc>
            <a:spcBef>
              <a:spcPct val="0"/>
            </a:spcBef>
            <a:spcAft>
              <a:spcPct val="35000"/>
            </a:spcAft>
            <a:buNone/>
          </a:pPr>
          <a:r>
            <a:rPr lang="it-IT" sz="1300" kern="1200">
              <a:latin typeface="TIM Sans"/>
            </a:rPr>
            <a:t>June</a:t>
          </a:r>
          <a:endParaRPr lang="it-IT" sz="1300" kern="1200"/>
        </a:p>
      </dsp:txBody>
      <dsp:txXfrm>
        <a:off x="1506816" y="2547574"/>
        <a:ext cx="821825" cy="547883"/>
      </dsp:txXfrm>
    </dsp:sp>
    <dsp:sp modelId="{E2417A55-93FE-654C-9BD2-6E28A7E412BB}">
      <dsp:nvSpPr>
        <dsp:cNvPr id="0" name=""/>
        <dsp:cNvSpPr/>
      </dsp:nvSpPr>
      <dsp:spPr>
        <a:xfrm>
          <a:off x="2465611" y="2547574"/>
          <a:ext cx="1369708" cy="547883"/>
        </a:xfrm>
        <a:prstGeom prst="chevron">
          <a:avLst/>
        </a:prstGeom>
        <a:solidFill>
          <a:srgbClr val="17428B"/>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a:lnSpc>
              <a:spcPct val="90000"/>
            </a:lnSpc>
            <a:spcBef>
              <a:spcPct val="0"/>
            </a:spcBef>
            <a:spcAft>
              <a:spcPct val="35000"/>
            </a:spcAft>
            <a:buNone/>
          </a:pPr>
          <a:r>
            <a:rPr lang="it-IT" sz="1300" kern="1200"/>
            <a:t>July</a:t>
          </a:r>
        </a:p>
      </dsp:txBody>
      <dsp:txXfrm>
        <a:off x="2739553" y="2547574"/>
        <a:ext cx="821825" cy="547883"/>
      </dsp:txXfrm>
    </dsp:sp>
    <dsp:sp modelId="{0EDC0826-BA1D-8F45-986B-242E03D47FA0}">
      <dsp:nvSpPr>
        <dsp:cNvPr id="0" name=""/>
        <dsp:cNvSpPr/>
      </dsp:nvSpPr>
      <dsp:spPr>
        <a:xfrm>
          <a:off x="3698348" y="2547574"/>
          <a:ext cx="1369708" cy="547883"/>
        </a:xfrm>
        <a:prstGeom prst="chevron">
          <a:avLst/>
        </a:prstGeom>
        <a:solidFill>
          <a:srgbClr val="17428B"/>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a:lnSpc>
              <a:spcPct val="90000"/>
            </a:lnSpc>
            <a:spcBef>
              <a:spcPct val="0"/>
            </a:spcBef>
            <a:spcAft>
              <a:spcPct val="35000"/>
            </a:spcAft>
            <a:buNone/>
          </a:pPr>
          <a:r>
            <a:rPr lang="it-IT" sz="1300" kern="1200"/>
            <a:t>August</a:t>
          </a:r>
        </a:p>
      </dsp:txBody>
      <dsp:txXfrm>
        <a:off x="3972290" y="2547574"/>
        <a:ext cx="821825" cy="547883"/>
      </dsp:txXfrm>
    </dsp:sp>
    <dsp:sp modelId="{8017B392-F3F7-5E4C-BF77-D0F1AD828915}">
      <dsp:nvSpPr>
        <dsp:cNvPr id="0" name=""/>
        <dsp:cNvSpPr/>
      </dsp:nvSpPr>
      <dsp:spPr>
        <a:xfrm>
          <a:off x="4931085" y="2547574"/>
          <a:ext cx="1369708" cy="547883"/>
        </a:xfrm>
        <a:prstGeom prst="chevron">
          <a:avLst/>
        </a:prstGeom>
        <a:solidFill>
          <a:srgbClr val="17428B"/>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a:lnSpc>
              <a:spcPct val="90000"/>
            </a:lnSpc>
            <a:spcBef>
              <a:spcPct val="0"/>
            </a:spcBef>
            <a:spcAft>
              <a:spcPct val="35000"/>
            </a:spcAft>
            <a:buNone/>
          </a:pPr>
          <a:r>
            <a:rPr lang="it-IT" sz="1300" kern="1200"/>
            <a:t>September</a:t>
          </a:r>
        </a:p>
      </dsp:txBody>
      <dsp:txXfrm>
        <a:off x="5205027" y="2547574"/>
        <a:ext cx="821825" cy="547883"/>
      </dsp:txXfrm>
    </dsp:sp>
    <dsp:sp modelId="{D67D0D1F-3CB0-604B-AD92-75CB4CC32564}">
      <dsp:nvSpPr>
        <dsp:cNvPr id="0" name=""/>
        <dsp:cNvSpPr/>
      </dsp:nvSpPr>
      <dsp:spPr>
        <a:xfrm>
          <a:off x="6163823" y="2547574"/>
          <a:ext cx="1369708" cy="547883"/>
        </a:xfrm>
        <a:prstGeom prst="chevron">
          <a:avLst/>
        </a:prstGeom>
        <a:solidFill>
          <a:srgbClr val="17428B"/>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a:lnSpc>
              <a:spcPct val="90000"/>
            </a:lnSpc>
            <a:spcBef>
              <a:spcPct val="0"/>
            </a:spcBef>
            <a:spcAft>
              <a:spcPct val="35000"/>
            </a:spcAft>
            <a:buNone/>
          </a:pPr>
          <a:r>
            <a:rPr lang="it-IT" sz="1300" kern="1200"/>
            <a:t>October</a:t>
          </a:r>
        </a:p>
      </dsp:txBody>
      <dsp:txXfrm>
        <a:off x="6437765" y="2547574"/>
        <a:ext cx="821825" cy="547883"/>
      </dsp:txXfrm>
    </dsp:sp>
    <dsp:sp modelId="{241CFA86-5218-0C47-825A-2A49A253577F}">
      <dsp:nvSpPr>
        <dsp:cNvPr id="0" name=""/>
        <dsp:cNvSpPr/>
      </dsp:nvSpPr>
      <dsp:spPr>
        <a:xfrm>
          <a:off x="7396560" y="2547574"/>
          <a:ext cx="1369708" cy="547883"/>
        </a:xfrm>
        <a:prstGeom prst="chevron">
          <a:avLst/>
        </a:prstGeom>
        <a:solidFill>
          <a:srgbClr val="17428B"/>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a:lnSpc>
              <a:spcPct val="90000"/>
            </a:lnSpc>
            <a:spcBef>
              <a:spcPct val="0"/>
            </a:spcBef>
            <a:spcAft>
              <a:spcPct val="35000"/>
            </a:spcAft>
            <a:buNone/>
          </a:pPr>
          <a:r>
            <a:rPr lang="it-IT" sz="1300" kern="1200"/>
            <a:t/>
          </a:r>
        </a:p>
      </dsp:txBody>
      <dsp:txXfrm>
        <a:off x="7670502" y="2547574"/>
        <a:ext cx="821825" cy="547883"/>
      </dsp:txXfrm>
    </dsp:sp>
    <dsp:sp modelId="{9000587C-4594-6843-AF5F-944054CE466A}">
      <dsp:nvSpPr>
        <dsp:cNvPr id="0" name=""/>
        <dsp:cNvSpPr/>
      </dsp:nvSpPr>
      <dsp:spPr>
        <a:xfrm>
          <a:off x="8629297" y="2547574"/>
          <a:ext cx="1369708" cy="547883"/>
        </a:xfrm>
        <a:prstGeom prst="chevron">
          <a:avLst/>
        </a:prstGeom>
        <a:solidFill>
          <a:srgbClr val="17428B"/>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a:lnSpc>
              <a:spcPct val="90000"/>
            </a:lnSpc>
            <a:spcBef>
              <a:spcPct val="0"/>
            </a:spcBef>
            <a:spcAft>
              <a:spcPct val="35000"/>
            </a:spcAft>
            <a:buNone/>
          </a:pPr>
          <a:r>
            <a:rPr lang="it-IT" sz="1300" kern="1200"/>
            <a:t/>
          </a:r>
        </a:p>
      </dsp:txBody>
      <dsp:txXfrm>
        <a:off x="8903239" y="2547574"/>
        <a:ext cx="821825" cy="547883"/>
      </dsp:txXfrm>
    </dsp:sp>
    <dsp:sp modelId="{A1537557-F9F4-534E-B208-3FED22B15716}">
      <dsp:nvSpPr>
        <dsp:cNvPr id="0" name=""/>
        <dsp:cNvSpPr/>
      </dsp:nvSpPr>
      <dsp:spPr>
        <a:xfrm>
          <a:off x="9862034" y="2547574"/>
          <a:ext cx="1369708" cy="547883"/>
        </a:xfrm>
        <a:prstGeom prst="chevron">
          <a:avLst/>
        </a:prstGeom>
        <a:solidFill>
          <a:srgbClr val="17428B"/>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a:lnSpc>
              <a:spcPct val="90000"/>
            </a:lnSpc>
            <a:spcBef>
              <a:spcPct val="0"/>
            </a:spcBef>
            <a:spcAft>
              <a:spcPct val="35000"/>
            </a:spcAft>
            <a:buNone/>
          </a:pPr>
          <a:r>
            <a:rPr lang="it-IT" sz="1300" kern="1200"/>
            <a:t/>
          </a:r>
        </a:p>
      </dsp:txBody>
      <dsp:txXfrm>
        <a:off x="10135976" y="2547574"/>
        <a:ext cx="821825" cy="547883"/>
      </dsp:txXfrm>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8316BA8-1C26-E241-87A3-7E6D47DF2B15}" type="datetimeFigureOut">
              <a:rPr lang="it-IT" smtClean="0"/>
              <a:t>03/09/2026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it-IT"/>
              <a:t>Modifica gli stili del testo dello schema
Secondo livello
Terzo livello
Quarto livello
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8E622D-138F-DD46-A48B-F8C674FCEA9E}" type="slidenum">
              <a:rPr lang="it-IT" smtClean="0"/>
              <a:t>‹#›</a:t>
            </a:fld>
            <a:endParaRPr lang="it-IT"/>
          </a:p>
        </p:txBody>
      </p:sp>
    </p:spTree>
    <p:extLst>
      <p:ext uri="{BB962C8B-B14F-4D97-AF65-F5344CB8AC3E}">
        <p14:creationId xmlns:p14="http://schemas.microsoft.com/office/powerpoint/2010/main" val="10021604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t>FAUZAN - 1:00-2:30</a:t>
            </a:r>
          </a:p>
          <a:p>
            <a:r>
              <a:t>One line to remember us by: credentials prove what you have, AEGIS verifies how you behave. Today, an automated agent proves who it is with a password or token, and that's the only check. A stolen credential still passes that check every time. AEGIS adds a second, continuous layer: it learns how each agent normally behaves and checks every request against that pattern. It's built entirely on open-source tools, runs on a laptop, and every decision it makes comes with a plain-language reason, never a black box.</a:t>
            </a:r>
          </a:p>
        </p:txBody>
      </p:sp>
      <p:sp>
        <p:nvSpPr>
          <p:cNvPr id="4" name="Segnaposto numero diapositiva 3"/>
          <p:cNvSpPr>
            <a:spLocks noGrp="1"/>
          </p:cNvSpPr>
          <p:nvPr>
            <p:ph type="sldNum" sz="quarter" idx="10"/>
          </p:nvPr>
        </p:nvSpPr>
        <p:spPr/>
        <p:txBody>
          <a:bodyPr/>
          <a:lstStyle/>
          <a:p>
            <a:fld id="{3C8E622D-138F-DD46-A48B-F8C674FCEA9E}" type="slidenum">
              <a:rPr lang="it-IT" smtClean="0"/>
              <a:t>3</a:t>
            </a:fld>
            <a:endParaRPr lang="it-IT"/>
          </a:p>
        </p:txBody>
      </p:sp>
    </p:spTree>
    <p:extLst>
      <p:ext uri="{BB962C8B-B14F-4D97-AF65-F5344CB8AC3E}">
        <p14:creationId xmlns:p14="http://schemas.microsoft.com/office/powerpoint/2010/main" val="3796148048"/>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FAUZAN - 0:00-0:30</a:t>
            </a:r>
          </a:p>
          <a:p>
            <a:r>
              <a:t>Good morning, we're Team 4, presenting AEGIS: a zero-trust identity check for the AI agents and automations that now operate the 5G network.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FAUZAN - 0:30-1:00</a:t>
            </a:r>
          </a:p>
          <a:p>
            <a:r>
              <a:t>Here's how we'll walk through this: first, we'll explain what AEGIS actually is and how it works in plain language, no assumed background needed. Then in the last section we'll cover our project schedule, feasibility, and the business case, which is exactly what Gate 1 asks us to demonstrate.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ADITHYA - 2:30-4:00</a:t>
            </a:r>
          </a:p>
          <a:p>
            <a:r>
              <a:t>Before we go further, quick grounding: a 5G network isn't one big machine, it's six specialised systems, each handling one job, like departments in a company. AMF tracks where a device is. SMF manages sessions. NRF is the internal directory. PCF enforces policy. UDM holds subscriber data. NEF is the controlled front door for outside automations. Every agent we model talks to these six systems, and that's the surface AEGIS protects.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ADITHYA - 4:00-5:30</a:t>
            </a:r>
          </a:p>
          <a:p>
            <a:r>
              <a:t>We modelled five distinct automated agents, each with its own job, schedule, and normal routine: a session orchestrator running around the clock, a nightly inventory job, a closed-loop monitoring agent, a simple NRF heartbeat service, and a business-hours provisioning agent. This matters because AEGIS doesn't look for 'bad behaviour' in the abstract, it looks for behaviour that doesn't match what that specific agent normally does, so each needed a genuinely distinct personality to prove the idea works.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ADITHYA - 5:30-7:00</a:t>
            </a:r>
          </a:p>
          <a:p>
            <a:r>
              <a:t>We built this in three parts. First, a traffic simulator we wrote ourselves, not AI, a scripted program that generated about 210,000 realistic requests for a virtual week. Second, we injected seven kinds of attacks into that traffic, each labelled, so we know exactly which requests are attacks, only possible because the data is simulated. Third, the actual detection engine, this is where real machine learning, an Isolation Forest, is used to spot the attacks we hid inside.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ADITHYA - 7:00-8:30</a:t>
            </a:r>
          </a:p>
          <a:p>
            <a:r>
              <a:t>Quick word on what this actually runs on, since it matters for feasibility: everything is open-source, Python, pandas and numpy for the data, scikit-learn for the Isolation Forest model, and Streamlit for the live dashboard you'll see in a moment. No licensing cost, no specialised hardware, it runs on a standard laptop. And to be precise about the synthetic data itself: we modelled all six Network Functions with realistic SBI endpoints, five agent profiles playing out a full simulated week, about 210,000 requests total, then injected the seven attack types on top, each one ground-truth labelled. If Fastweb or Vodafone can share real M2M or API-gateway logs later, they plug into the exact same pipeline, this is an upgrade path, not a rebuild.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GHAZANFAR - 8:30-10:30</a:t>
            </a:r>
          </a:p>
          <a:p>
            <a:r>
              <a:t>We assume the attacker already has a valid credential, the realistic, hard case, so what changes is behaviour, not the password. We modelled seven attacks: impersonation, a compromised agent drifting into new behaviour, reconnaissance scanning, a volumetric flood, slow data exfiltration, a broken call sequence, and scope creep. All seven are built into our prototype, and as we'll show, all seven are currently detected.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GHAZANFAR - 10:30-13:00</a:t>
            </a:r>
          </a:p>
          <a:p>
            <a:r>
              <a:t>Here's how the gate actually decides, four steps, fully automatic, no person watching in real time. Observe: every request gets logged. Fingerprint: we compare the last 60 seconds of an agent's activity against its own normal pattern. Score: hard rules plus a machine-learning model, trained only on legitimate traffic, combine into one risk number. Decide: fixed thresholds turn that number into pass, step-up, or block. A human only gets involved afterwards, reviewing a step-up or block once it's already been raised.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GHAZANFAR - 13:00-15:00</a:t>
            </a:r>
          </a:p>
          <a:p>
            <a:r>
              <a:t>This isn't a design target, it's a working prototype with real numbers. On over eleven thousand test windows the model never trained on: 0.99 ROC-AUC, 98% of injected attacks caught, only 0.8% of legitimate traffic wrongly flagged, all seven threats detected. The honest caveat: this proves the method works on data we built ourselves, real traffic validation is the next step, which is exactly what we're asking Fastweb and Vodafone for.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LLAGAMI - 15:00-16:30</a:t>
            </a:r>
          </a:p>
          <a:p>
            <a:r>
              <a:t>Now the part Gate 1 specifically asks us to cover: our schedule, feasibility and business case. Here's our full timeline. Everything up to and including today's Gate 1 milestone is already complete, this isn't a plan, it's work already done.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LLAGAMI - 16:30-18:00</a:t>
            </a:r>
          </a:p>
          <a:p>
            <a:r>
              <a:t>Breaking that down by phase: the data foundation and baseline detector you just saw results from are complete. From here, we harden the detector, submit Gate 2 on 22 September, integrate real data if it's granted, and deliver the full live demo at Gate 3 on 15 October.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LLAGAMI - 18:00-19:30</a:t>
            </a:r>
          </a:p>
          <a:p>
            <a:r>
              <a:t>And here's that same schedule as a Gantt chart. Green is done, blue is upcoming work, amber is the optional real-data integration track. We're currently ahead of where we need to be for Gate 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LLAGAMI - 19:30-22:00</a:t>
            </a:r>
          </a:p>
          <a:p>
            <a:r>
              <a:t>On feasibility: we identified five real risks and a mitigation for each, from data not being shared in time, to FASTedge not exposing an inline hook, to the detector not generalising to real traffic noise. The biggest one, data access, is fully mitigated already: we're synthetic-first, so no data approval process blocks us from having a working system today. Real data only makes the result stronger, it isn't a dependency.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LLAGAMI - 22:00-25:00</a:t>
            </a:r>
          </a:p>
          <a:p>
            <a:r>
              <a:t>On business value: this cuts detection time from hours to seconds, it's the guardrail that lets an operator safely expand network automation, and every decision is logged and explainable, which is direct audit evidence for NIS2, GDPR, and the EU AI Act. We're tracking this work area by area, financial, engineering, communication, and next steps, so nothing falls through the cracks before Gate 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FAUZAN - 25:00-27:30</a:t>
            </a:r>
          </a:p>
          <a:p>
            <a:r>
              <a:t>So, week by week from here: hardening the detector, finishing the numerical performance analysis for Gate 2, then integrating real data if granted, and finally the live end-to-end dashboard demo for Gate 3 on 15 October.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FAUZAN - 27:30-29:30</a:t>
            </a:r>
          </a:p>
          <a:p>
            <a:r>
              <a:t>To close: the hardest part, proving the detection method actually works, is already done, working, and in front of you today. We're confident in this direction and looking forward to your questions.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 Id="rId4"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jpeg"/><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Vuota">
    <p:spTree>
      <p:nvGrpSpPr>
        <p:cNvPr id="1" name=""/>
        <p:cNvGrpSpPr/>
        <p:nvPr/>
      </p:nvGrpSpPr>
      <p:grpSpPr>
        <a:xfrm>
          <a:off x="0" y="0"/>
          <a:ext cx="0" cy="0"/>
          <a:chOff x="0" y="0"/>
          <a:chExt cx="0" cy="0"/>
        </a:xfrm>
      </p:grpSpPr>
      <p:sp>
        <p:nvSpPr>
          <p:cNvPr id="10" name="TextBox 36">
            <a:extLst>
              <a:ext uri="{FF2B5EF4-FFF2-40B4-BE49-F238E27FC236}">
                <a16:creationId xmlns:a16="http://schemas.microsoft.com/office/drawing/2014/main" id="{1DE15293-BBE7-C8E1-2DF8-30CAECC22826}"/>
              </a:ext>
            </a:extLst>
          </p:cNvPr>
          <p:cNvSpPr txBox="1"/>
          <p:nvPr userDrawn="1"/>
        </p:nvSpPr>
        <p:spPr>
          <a:xfrm>
            <a:off x="182210" y="78645"/>
            <a:ext cx="7959435" cy="246221"/>
          </a:xfrm>
          <a:prstGeom prst="rect">
            <a:avLst/>
          </a:prstGeom>
        </p:spPr>
        <p:txBody>
          <a:bodyPr wrap="square" lIns="0" tIns="0" rIns="0" bIns="0" rtlCol="0" anchor="t">
            <a:spAutoFit/>
          </a:bodyPr>
          <a:lstStyle/>
          <a:p>
            <a:pPr marL="0" marR="0" lvl="0" indent="0" algn="l" defTabSz="914400" rtl="0" eaLnBrk="1" fontAlgn="auto" latinLnBrk="0" hangingPunct="1">
              <a:spcBef>
                <a:spcPts val="0"/>
              </a:spcBef>
              <a:spcAft>
                <a:spcPts val="0"/>
              </a:spcAft>
              <a:buClrTx/>
              <a:buSzTx/>
              <a:buFontTx/>
              <a:buNone/>
              <a:tabLst/>
              <a:defRPr/>
            </a:pPr>
            <a:r>
              <a:rPr lang="en-US" sz="1600" b="1">
                <a:solidFill>
                  <a:srgbClr val="0033A1"/>
                </a:solidFill>
                <a:latin typeface="Montserrat" panose="00000500000000000000" pitchFamily="2" charset="0"/>
                <a:ea typeface="Arimo Bold"/>
                <a:cs typeface="Arimo Bold"/>
                <a:sym typeface="Arimo Bold"/>
              </a:rPr>
              <a:t>5G Academy</a:t>
            </a:r>
            <a:endParaRPr kumimoji="0" lang="en-US" sz="1600" b="0" i="0" u="none" strike="noStrike" kern="1200" cap="none" spc="0" normalizeH="0" baseline="0" noProof="0">
              <a:ln>
                <a:noFill/>
              </a:ln>
              <a:solidFill>
                <a:srgbClr val="0033A1"/>
              </a:solidFill>
              <a:effectLst/>
              <a:uLnTx/>
              <a:uFillTx/>
              <a:latin typeface="Montserrat" panose="00000500000000000000" pitchFamily="2" charset="0"/>
              <a:ea typeface="Arimo"/>
              <a:cs typeface="Arimo"/>
              <a:sym typeface="Arimo"/>
            </a:endParaRPr>
          </a:p>
        </p:txBody>
      </p:sp>
      <p:pic>
        <p:nvPicPr>
          <p:cNvPr id="15" name="Immagine 14">
            <a:extLst>
              <a:ext uri="{FF2B5EF4-FFF2-40B4-BE49-F238E27FC236}">
                <a16:creationId xmlns:a16="http://schemas.microsoft.com/office/drawing/2014/main" id="{C86583FA-552E-6B94-F508-9154D86402F6}"/>
              </a:ext>
            </a:extLst>
          </p:cNvPr>
          <p:cNvPicPr>
            <a:picLocks noChangeAspect="1"/>
          </p:cNvPicPr>
          <p:nvPr userDrawn="1"/>
        </p:nvPicPr>
        <p:blipFill>
          <a:blip r:embed="rId2">
            <a:extLst>
              <a:ext uri="{BEBA8EAE-BF5A-486C-A8C5-ECC9F3942E4B}">
                <a14:imgProps xmlns:a14="http://schemas.microsoft.com/office/drawing/2010/main">
                  <a14:imgLayer r:embed="rId3">
                    <a14:imgEffect>
                      <a14:backgroundRemoval t="6087" b="93913" l="9878" r="89948">
                        <a14:foregroundMark x1="41608" y1="9043" x2="56556" y2="6087"/>
                        <a14:foregroundMark x1="56556" y1="6087" x2="59091" y2="8870"/>
                        <a14:foregroundMark x1="57255" y1="8870" x2="50787" y2="8348"/>
                        <a14:foregroundMark x1="30944" y1="90609" x2="39423" y2="88522"/>
                        <a14:foregroundMark x1="64073" y1="89913" x2="69668" y2="89913"/>
                        <a14:foregroundMark x1="66608" y1="93913" x2="68269" y2="93565"/>
                        <a14:foregroundMark x1="65035" y1="93739" x2="68619" y2="93217"/>
                        <a14:foregroundMark x1="40035" y1="93043" x2="52185" y2="92696"/>
                        <a14:foregroundMark x1="52185" y1="92696" x2="52273" y2="92696"/>
                      </a14:backgroundRemoval>
                    </a14:imgEffect>
                  </a14:imgLayer>
                </a14:imgProps>
              </a:ext>
            </a:extLst>
          </a:blip>
          <a:stretch>
            <a:fillRect/>
          </a:stretch>
        </p:blipFill>
        <p:spPr>
          <a:xfrm>
            <a:off x="10043269" y="0"/>
            <a:ext cx="2148731" cy="1080000"/>
          </a:xfrm>
          <a:prstGeom prst="rect">
            <a:avLst/>
          </a:prstGeom>
        </p:spPr>
      </p:pic>
      <p:pic>
        <p:nvPicPr>
          <p:cNvPr id="17" name="Immagine 16">
            <a:extLst>
              <a:ext uri="{FF2B5EF4-FFF2-40B4-BE49-F238E27FC236}">
                <a16:creationId xmlns:a16="http://schemas.microsoft.com/office/drawing/2014/main" id="{00DE8E5E-6283-0987-D10B-B434F14E4987}"/>
              </a:ext>
            </a:extLst>
          </p:cNvPr>
          <p:cNvPicPr>
            <a:picLocks noChangeAspect="1"/>
          </p:cNvPicPr>
          <p:nvPr userDrawn="1"/>
        </p:nvPicPr>
        <p:blipFill>
          <a:blip r:embed="rId4"/>
          <a:stretch>
            <a:fillRect/>
          </a:stretch>
        </p:blipFill>
        <p:spPr>
          <a:xfrm>
            <a:off x="182210" y="5699355"/>
            <a:ext cx="1713047" cy="1080000"/>
          </a:xfrm>
          <a:prstGeom prst="rect">
            <a:avLst/>
          </a:prstGeom>
        </p:spPr>
      </p:pic>
    </p:spTree>
    <p:extLst>
      <p:ext uri="{BB962C8B-B14F-4D97-AF65-F5344CB8AC3E}">
        <p14:creationId xmlns:p14="http://schemas.microsoft.com/office/powerpoint/2010/main" val="34213262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dice">
    <p:spTree>
      <p:nvGrpSpPr>
        <p:cNvPr id="1" name=""/>
        <p:cNvGrpSpPr/>
        <p:nvPr/>
      </p:nvGrpSpPr>
      <p:grpSpPr>
        <a:xfrm>
          <a:off x="0" y="0"/>
          <a:ext cx="0" cy="0"/>
          <a:chOff x="0" y="0"/>
          <a:chExt cx="0" cy="0"/>
        </a:xfrm>
      </p:grpSpPr>
      <p:pic>
        <p:nvPicPr>
          <p:cNvPr id="4" name="Elemento grafico 3">
            <a:extLst>
              <a:ext uri="{FF2B5EF4-FFF2-40B4-BE49-F238E27FC236}">
                <a16:creationId xmlns:a16="http://schemas.microsoft.com/office/drawing/2014/main" id="{827652F9-EFE9-44A5-8988-DD8A57D5946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0" y="0"/>
            <a:ext cx="5891851" cy="6858000"/>
          </a:xfrm>
          <a:prstGeom prst="rect">
            <a:avLst/>
          </a:prstGeom>
        </p:spPr>
      </p:pic>
      <p:pic>
        <p:nvPicPr>
          <p:cNvPr id="10" name="Picture 9">
            <a:extLst>
              <a:ext uri="{FF2B5EF4-FFF2-40B4-BE49-F238E27FC236}">
                <a16:creationId xmlns:a16="http://schemas.microsoft.com/office/drawing/2014/main" id="{E1F00401-1613-4904-9E88-330024758853}"/>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l="22183" r="20122"/>
          <a:stretch/>
        </p:blipFill>
        <p:spPr>
          <a:xfrm>
            <a:off x="5891851" y="0"/>
            <a:ext cx="6310344" cy="6161903"/>
          </a:xfrm>
          <a:prstGeom prst="rect">
            <a:avLst/>
          </a:prstGeom>
        </p:spPr>
      </p:pic>
      <p:sp>
        <p:nvSpPr>
          <p:cNvPr id="9" name="Rettangolo 8">
            <a:extLst>
              <a:ext uri="{FF2B5EF4-FFF2-40B4-BE49-F238E27FC236}">
                <a16:creationId xmlns:a16="http://schemas.microsoft.com/office/drawing/2014/main" id="{A6F41FCF-E5DC-4DFC-9EC4-9A2DB9ACD48B}"/>
              </a:ext>
            </a:extLst>
          </p:cNvPr>
          <p:cNvSpPr/>
          <p:nvPr userDrawn="1"/>
        </p:nvSpPr>
        <p:spPr>
          <a:xfrm>
            <a:off x="0" y="6161903"/>
            <a:ext cx="12192000" cy="696097"/>
          </a:xfrm>
          <a:prstGeom prst="rect">
            <a:avLst/>
          </a:prstGeom>
          <a:solidFill>
            <a:srgbClr val="0033A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1" name="Segnaposto data 7">
            <a:extLst>
              <a:ext uri="{FF2B5EF4-FFF2-40B4-BE49-F238E27FC236}">
                <a16:creationId xmlns:a16="http://schemas.microsoft.com/office/drawing/2014/main" id="{28FC1009-BB95-4A95-B0B4-F62D9482D448}"/>
              </a:ext>
            </a:extLst>
          </p:cNvPr>
          <p:cNvSpPr txBox="1">
            <a:spLocks/>
          </p:cNvSpPr>
          <p:nvPr userDrawn="1"/>
        </p:nvSpPr>
        <p:spPr>
          <a:xfrm>
            <a:off x="5882236" y="6323015"/>
            <a:ext cx="5689600" cy="211137"/>
          </a:xfrm>
          <a:prstGeom prst="rect">
            <a:avLst/>
          </a:prstGeom>
        </p:spPr>
        <p:txBody>
          <a:bodyPr/>
          <a:lstStyle>
            <a:defPPr>
              <a:defRPr lang="it-IT"/>
            </a:defPPr>
            <a:lvl1pPr marL="0" algn="r" defTabSz="914400" rtl="0" eaLnBrk="1" latinLnBrk="0" hangingPunct="1">
              <a:defRPr sz="8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r>
              <a:rPr lang="it-IT" b="1">
                <a:solidFill>
                  <a:schemeClr val="bg1"/>
                </a:solidFill>
                <a:latin typeface="TIM Sans" panose="02020503040602060503" pitchFamily="18" charset="77"/>
              </a:rPr>
              <a:t>5G Academy</a:t>
            </a:r>
          </a:p>
        </p:txBody>
      </p:sp>
      <p:sp>
        <p:nvSpPr>
          <p:cNvPr id="18" name="Shape 12">
            <a:extLst>
              <a:ext uri="{FF2B5EF4-FFF2-40B4-BE49-F238E27FC236}">
                <a16:creationId xmlns:a16="http://schemas.microsoft.com/office/drawing/2014/main" id="{40801821-83B6-4071-904F-3FF70C150930}"/>
              </a:ext>
            </a:extLst>
          </p:cNvPr>
          <p:cNvSpPr txBox="1"/>
          <p:nvPr userDrawn="1"/>
        </p:nvSpPr>
        <p:spPr>
          <a:xfrm>
            <a:off x="11718524" y="6514635"/>
            <a:ext cx="229953" cy="125612"/>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None/>
            </a:pPr>
            <a:fld id="{00000000-1234-1234-1234-123412341234}" type="slidenum">
              <a:rPr lang="en-US" sz="800" b="0" i="0" u="none" strike="noStrike" cap="none">
                <a:solidFill>
                  <a:schemeClr val="bg1"/>
                </a:solidFill>
                <a:latin typeface="TIM Sans" panose="02020503040602060503" pitchFamily="18" charset="77"/>
                <a:ea typeface="Arial"/>
                <a:cs typeface="Arial"/>
                <a:sym typeface="Arial"/>
              </a:rPr>
              <a:t>‹#›</a:t>
            </a:fld>
            <a:endParaRPr sz="800" b="0" i="0" u="none" strike="noStrike" cap="none">
              <a:solidFill>
                <a:schemeClr val="bg1"/>
              </a:solidFill>
              <a:latin typeface="TIM Sans" panose="02020503040602060503" pitchFamily="18" charset="77"/>
              <a:ea typeface="Arial"/>
              <a:cs typeface="Arial"/>
              <a:sym typeface="Arial"/>
            </a:endParaRPr>
          </a:p>
        </p:txBody>
      </p:sp>
      <p:cxnSp>
        <p:nvCxnSpPr>
          <p:cNvPr id="20" name="Shape 13">
            <a:extLst>
              <a:ext uri="{FF2B5EF4-FFF2-40B4-BE49-F238E27FC236}">
                <a16:creationId xmlns:a16="http://schemas.microsoft.com/office/drawing/2014/main" id="{02A19192-2819-48DA-BE5F-DDDAFE72CBEB}"/>
              </a:ext>
            </a:extLst>
          </p:cNvPr>
          <p:cNvCxnSpPr/>
          <p:nvPr userDrawn="1"/>
        </p:nvCxnSpPr>
        <p:spPr>
          <a:xfrm>
            <a:off x="11650345" y="6345848"/>
            <a:ext cx="0" cy="260350"/>
          </a:xfrm>
          <a:prstGeom prst="straightConnector1">
            <a:avLst/>
          </a:prstGeom>
          <a:noFill/>
          <a:ln w="9525" cap="flat" cmpd="sng">
            <a:solidFill>
              <a:schemeClr val="bg1"/>
            </a:solidFill>
            <a:prstDash val="solid"/>
            <a:round/>
            <a:headEnd type="none" w="sm" len="sm"/>
            <a:tailEnd type="none" w="sm" len="sm"/>
          </a:ln>
        </p:spPr>
      </p:cxnSp>
      <p:sp>
        <p:nvSpPr>
          <p:cNvPr id="14" name="Segnaposto piè di pagina 8">
            <a:extLst>
              <a:ext uri="{FF2B5EF4-FFF2-40B4-BE49-F238E27FC236}">
                <a16:creationId xmlns:a16="http://schemas.microsoft.com/office/drawing/2014/main" id="{B9628792-1808-40FB-81A8-B4A1607E2439}"/>
              </a:ext>
            </a:extLst>
          </p:cNvPr>
          <p:cNvSpPr txBox="1">
            <a:spLocks/>
          </p:cNvSpPr>
          <p:nvPr userDrawn="1"/>
        </p:nvSpPr>
        <p:spPr>
          <a:xfrm>
            <a:off x="8615082" y="6481767"/>
            <a:ext cx="2956754" cy="220663"/>
          </a:xfrm>
          <a:prstGeom prst="rect">
            <a:avLst/>
          </a:prstGeom>
        </p:spPr>
        <p:txBody>
          <a:bodyPr/>
          <a:lstStyle>
            <a:defPPr>
              <a:defRPr lang="it-IT"/>
            </a:defPPr>
            <a:lvl1pPr marL="0" algn="r" defTabSz="914400" rtl="0" eaLnBrk="1" latinLnBrk="0" hangingPunct="1">
              <a:defRPr sz="800" kern="1200">
                <a:solidFill>
                  <a:schemeClr val="accent3"/>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r>
              <a:rPr lang="it-IT">
                <a:solidFill>
                  <a:schemeClr val="bg1"/>
                </a:solidFill>
                <a:latin typeface="TIM Sans" panose="02020503040602060503" pitchFamily="18" charset="77"/>
              </a:rPr>
              <a:t>Nome del Relatore, Nome Struttura</a:t>
            </a:r>
          </a:p>
        </p:txBody>
      </p:sp>
      <p:pic>
        <p:nvPicPr>
          <p:cNvPr id="12" name="Picture 2">
            <a:extLst>
              <a:ext uri="{FF2B5EF4-FFF2-40B4-BE49-F238E27FC236}">
                <a16:creationId xmlns:a16="http://schemas.microsoft.com/office/drawing/2014/main" id="{BB677C4A-9D55-8A4E-A6E3-A13696593F77}"/>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62233" y="6232146"/>
            <a:ext cx="1979470" cy="5977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77652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Vuoto">
    <p:spTree>
      <p:nvGrpSpPr>
        <p:cNvPr id="1" name=""/>
        <p:cNvGrpSpPr/>
        <p:nvPr/>
      </p:nvGrpSpPr>
      <p:grpSpPr>
        <a:xfrm>
          <a:off x="0" y="0"/>
          <a:ext cx="0" cy="0"/>
          <a:chOff x="0" y="0"/>
          <a:chExt cx="0" cy="0"/>
        </a:xfrm>
      </p:grpSpPr>
      <p:sp>
        <p:nvSpPr>
          <p:cNvPr id="4" name="Rettangolo 3">
            <a:extLst>
              <a:ext uri="{FF2B5EF4-FFF2-40B4-BE49-F238E27FC236}">
                <a16:creationId xmlns:a16="http://schemas.microsoft.com/office/drawing/2014/main" id="{CA75DD54-AA16-4D96-BA18-46F0B18EC3E2}"/>
              </a:ext>
            </a:extLst>
          </p:cNvPr>
          <p:cNvSpPr/>
          <p:nvPr userDrawn="1"/>
        </p:nvSpPr>
        <p:spPr>
          <a:xfrm>
            <a:off x="0" y="6161903"/>
            <a:ext cx="12192000" cy="696097"/>
          </a:xfrm>
          <a:prstGeom prst="rect">
            <a:avLst/>
          </a:prstGeom>
          <a:solidFill>
            <a:srgbClr val="0033A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5" name="Segnaposto data 7">
            <a:extLst>
              <a:ext uri="{FF2B5EF4-FFF2-40B4-BE49-F238E27FC236}">
                <a16:creationId xmlns:a16="http://schemas.microsoft.com/office/drawing/2014/main" id="{9D7EBFE4-05D3-41B4-83CD-A8E0A8380DF0}"/>
              </a:ext>
            </a:extLst>
          </p:cNvPr>
          <p:cNvSpPr txBox="1">
            <a:spLocks/>
          </p:cNvSpPr>
          <p:nvPr userDrawn="1"/>
        </p:nvSpPr>
        <p:spPr>
          <a:xfrm>
            <a:off x="5882236" y="6323015"/>
            <a:ext cx="5689600" cy="211137"/>
          </a:xfrm>
          <a:prstGeom prst="rect">
            <a:avLst/>
          </a:prstGeom>
        </p:spPr>
        <p:txBody>
          <a:bodyPr/>
          <a:lstStyle>
            <a:defPPr>
              <a:defRPr lang="it-IT"/>
            </a:defPPr>
            <a:lvl1pPr marL="0" algn="r" defTabSz="914400" rtl="0" eaLnBrk="1" latinLnBrk="0" hangingPunct="1">
              <a:defRPr sz="8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r>
              <a:rPr lang="it-IT" b="1">
                <a:solidFill>
                  <a:schemeClr val="bg1"/>
                </a:solidFill>
                <a:latin typeface="TIM Sans" panose="02020503040602060503" pitchFamily="18" charset="77"/>
              </a:rPr>
              <a:t>5G Academy</a:t>
            </a:r>
          </a:p>
        </p:txBody>
      </p:sp>
      <p:sp>
        <p:nvSpPr>
          <p:cNvPr id="6" name="Segnaposto piè di pagina 8">
            <a:extLst>
              <a:ext uri="{FF2B5EF4-FFF2-40B4-BE49-F238E27FC236}">
                <a16:creationId xmlns:a16="http://schemas.microsoft.com/office/drawing/2014/main" id="{0E4C0DEB-D89B-46C1-A686-9BEAB456F5BD}"/>
              </a:ext>
            </a:extLst>
          </p:cNvPr>
          <p:cNvSpPr txBox="1">
            <a:spLocks/>
          </p:cNvSpPr>
          <p:nvPr userDrawn="1"/>
        </p:nvSpPr>
        <p:spPr>
          <a:xfrm>
            <a:off x="8615082" y="6481767"/>
            <a:ext cx="2956754" cy="220663"/>
          </a:xfrm>
          <a:prstGeom prst="rect">
            <a:avLst/>
          </a:prstGeom>
        </p:spPr>
        <p:txBody>
          <a:bodyPr/>
          <a:lstStyle>
            <a:defPPr>
              <a:defRPr lang="it-IT"/>
            </a:defPPr>
            <a:lvl1pPr marL="0" algn="r" defTabSz="914400" rtl="0" eaLnBrk="1" latinLnBrk="0" hangingPunct="1">
              <a:defRPr sz="800" kern="1200">
                <a:solidFill>
                  <a:schemeClr val="accent3"/>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r>
              <a:rPr lang="it-IT">
                <a:solidFill>
                  <a:schemeClr val="bg1"/>
                </a:solidFill>
                <a:latin typeface="TIM Sans" panose="02020503040602060503" pitchFamily="18" charset="77"/>
              </a:rPr>
              <a:t>Nome del Relatore, Nome Struttura</a:t>
            </a:r>
          </a:p>
        </p:txBody>
      </p:sp>
      <p:sp>
        <p:nvSpPr>
          <p:cNvPr id="7" name="Shape 12">
            <a:extLst>
              <a:ext uri="{FF2B5EF4-FFF2-40B4-BE49-F238E27FC236}">
                <a16:creationId xmlns:a16="http://schemas.microsoft.com/office/drawing/2014/main" id="{32DA9C46-95C1-48D2-8E74-90EAB517A255}"/>
              </a:ext>
            </a:extLst>
          </p:cNvPr>
          <p:cNvSpPr txBox="1"/>
          <p:nvPr userDrawn="1"/>
        </p:nvSpPr>
        <p:spPr>
          <a:xfrm>
            <a:off x="11718524" y="6514635"/>
            <a:ext cx="229953" cy="125612"/>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None/>
            </a:pPr>
            <a:fld id="{00000000-1234-1234-1234-123412341234}" type="slidenum">
              <a:rPr lang="en-US" sz="800" b="0" i="0" u="none" strike="noStrike" cap="none">
                <a:solidFill>
                  <a:schemeClr val="bg1"/>
                </a:solidFill>
                <a:latin typeface="TIM Sans" panose="02020503040602060503" pitchFamily="18" charset="77"/>
                <a:ea typeface="Arial"/>
                <a:cs typeface="Arial"/>
                <a:sym typeface="Arial"/>
              </a:rPr>
              <a:t>‹#›</a:t>
            </a:fld>
            <a:endParaRPr sz="800" b="0" i="0" u="none" strike="noStrike" cap="none">
              <a:solidFill>
                <a:schemeClr val="bg1"/>
              </a:solidFill>
              <a:latin typeface="TIM Sans" panose="02020503040602060503" pitchFamily="18" charset="77"/>
              <a:ea typeface="Arial"/>
              <a:cs typeface="Arial"/>
              <a:sym typeface="Arial"/>
            </a:endParaRPr>
          </a:p>
        </p:txBody>
      </p:sp>
      <p:cxnSp>
        <p:nvCxnSpPr>
          <p:cNvPr id="8" name="Shape 13">
            <a:extLst>
              <a:ext uri="{FF2B5EF4-FFF2-40B4-BE49-F238E27FC236}">
                <a16:creationId xmlns:a16="http://schemas.microsoft.com/office/drawing/2014/main" id="{F9B0D099-433E-47D6-85BF-04A95EB2594A}"/>
              </a:ext>
            </a:extLst>
          </p:cNvPr>
          <p:cNvCxnSpPr/>
          <p:nvPr userDrawn="1"/>
        </p:nvCxnSpPr>
        <p:spPr>
          <a:xfrm>
            <a:off x="11650345" y="6345848"/>
            <a:ext cx="0" cy="260350"/>
          </a:xfrm>
          <a:prstGeom prst="straightConnector1">
            <a:avLst/>
          </a:prstGeom>
          <a:noFill/>
          <a:ln w="9525" cap="flat" cmpd="sng">
            <a:solidFill>
              <a:schemeClr val="bg1"/>
            </a:solidFill>
            <a:prstDash val="solid"/>
            <a:round/>
            <a:headEnd type="none" w="sm" len="sm"/>
            <a:tailEnd type="none" w="sm" len="sm"/>
          </a:ln>
        </p:spPr>
      </p:cxnSp>
      <p:pic>
        <p:nvPicPr>
          <p:cNvPr id="13" name="Picture 2">
            <a:extLst>
              <a:ext uri="{FF2B5EF4-FFF2-40B4-BE49-F238E27FC236}">
                <a16:creationId xmlns:a16="http://schemas.microsoft.com/office/drawing/2014/main" id="{3B1CA809-7FB2-A647-8C49-995400A94852}"/>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62233" y="6232146"/>
            <a:ext cx="1979470" cy="5977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55109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Vuoto">
    <p:spTree>
      <p:nvGrpSpPr>
        <p:cNvPr id="1" name=""/>
        <p:cNvGrpSpPr/>
        <p:nvPr/>
      </p:nvGrpSpPr>
      <p:grpSpPr>
        <a:xfrm>
          <a:off x="0" y="0"/>
          <a:ext cx="0" cy="0"/>
          <a:chOff x="0" y="0"/>
          <a:chExt cx="0" cy="0"/>
        </a:xfrm>
      </p:grpSpPr>
      <p:sp>
        <p:nvSpPr>
          <p:cNvPr id="5" name="Segnaposto data 7">
            <a:extLst>
              <a:ext uri="{FF2B5EF4-FFF2-40B4-BE49-F238E27FC236}">
                <a16:creationId xmlns:a16="http://schemas.microsoft.com/office/drawing/2014/main" id="{9D7EBFE4-05D3-41B4-83CD-A8E0A8380DF0}"/>
              </a:ext>
            </a:extLst>
          </p:cNvPr>
          <p:cNvSpPr txBox="1">
            <a:spLocks/>
          </p:cNvSpPr>
          <p:nvPr userDrawn="1"/>
        </p:nvSpPr>
        <p:spPr>
          <a:xfrm>
            <a:off x="5882236" y="6323015"/>
            <a:ext cx="5689600" cy="211137"/>
          </a:xfrm>
          <a:prstGeom prst="rect">
            <a:avLst/>
          </a:prstGeom>
        </p:spPr>
        <p:txBody>
          <a:bodyPr/>
          <a:lstStyle>
            <a:defPPr>
              <a:defRPr lang="it-IT"/>
            </a:defPPr>
            <a:lvl1pPr marL="0" algn="r" defTabSz="914400" rtl="0" eaLnBrk="1" latinLnBrk="0" hangingPunct="1">
              <a:defRPr sz="8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r>
              <a:rPr lang="it-IT" b="1">
                <a:solidFill>
                  <a:schemeClr val="bg1"/>
                </a:solidFill>
                <a:latin typeface="TIM Sans" panose="02020503040602060503" pitchFamily="18" charset="77"/>
              </a:rPr>
              <a:t>5G Academy</a:t>
            </a:r>
          </a:p>
        </p:txBody>
      </p:sp>
      <p:sp>
        <p:nvSpPr>
          <p:cNvPr id="6" name="Segnaposto piè di pagina 8">
            <a:extLst>
              <a:ext uri="{FF2B5EF4-FFF2-40B4-BE49-F238E27FC236}">
                <a16:creationId xmlns:a16="http://schemas.microsoft.com/office/drawing/2014/main" id="{0E4C0DEB-D89B-46C1-A686-9BEAB456F5BD}"/>
              </a:ext>
            </a:extLst>
          </p:cNvPr>
          <p:cNvSpPr txBox="1">
            <a:spLocks/>
          </p:cNvSpPr>
          <p:nvPr userDrawn="1"/>
        </p:nvSpPr>
        <p:spPr>
          <a:xfrm>
            <a:off x="8615082" y="6481767"/>
            <a:ext cx="2956754" cy="220663"/>
          </a:xfrm>
          <a:prstGeom prst="rect">
            <a:avLst/>
          </a:prstGeom>
        </p:spPr>
        <p:txBody>
          <a:bodyPr/>
          <a:lstStyle>
            <a:defPPr>
              <a:defRPr lang="it-IT"/>
            </a:defPPr>
            <a:lvl1pPr marL="0" algn="r" defTabSz="914400" rtl="0" eaLnBrk="1" latinLnBrk="0" hangingPunct="1">
              <a:defRPr sz="800" kern="1200">
                <a:solidFill>
                  <a:schemeClr val="accent3"/>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r>
              <a:rPr lang="it-IT">
                <a:solidFill>
                  <a:schemeClr val="bg1"/>
                </a:solidFill>
                <a:latin typeface="TIM Sans" panose="02020503040602060503" pitchFamily="18" charset="77"/>
              </a:rPr>
              <a:t>Nome del Relatore, Nome Struttura</a:t>
            </a:r>
          </a:p>
        </p:txBody>
      </p:sp>
      <p:sp>
        <p:nvSpPr>
          <p:cNvPr id="7" name="Shape 12">
            <a:extLst>
              <a:ext uri="{FF2B5EF4-FFF2-40B4-BE49-F238E27FC236}">
                <a16:creationId xmlns:a16="http://schemas.microsoft.com/office/drawing/2014/main" id="{32DA9C46-95C1-48D2-8E74-90EAB517A255}"/>
              </a:ext>
            </a:extLst>
          </p:cNvPr>
          <p:cNvSpPr txBox="1"/>
          <p:nvPr userDrawn="1"/>
        </p:nvSpPr>
        <p:spPr>
          <a:xfrm>
            <a:off x="11718524" y="6514635"/>
            <a:ext cx="229953" cy="125612"/>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None/>
            </a:pPr>
            <a:fld id="{00000000-1234-1234-1234-123412341234}" type="slidenum">
              <a:rPr lang="en-US" sz="800" b="0" i="0" u="none" strike="noStrike" cap="none">
                <a:solidFill>
                  <a:schemeClr val="bg1"/>
                </a:solidFill>
                <a:latin typeface="TIM Sans" panose="02020503040602060503" pitchFamily="18" charset="77"/>
                <a:ea typeface="Arial"/>
                <a:cs typeface="Arial"/>
                <a:sym typeface="Arial"/>
              </a:rPr>
              <a:t>‹#›</a:t>
            </a:fld>
            <a:endParaRPr sz="800" b="0" i="0" u="none" strike="noStrike" cap="none">
              <a:solidFill>
                <a:schemeClr val="bg1"/>
              </a:solidFill>
              <a:latin typeface="TIM Sans" panose="02020503040602060503" pitchFamily="18" charset="77"/>
              <a:ea typeface="Arial"/>
              <a:cs typeface="Arial"/>
              <a:sym typeface="Arial"/>
            </a:endParaRPr>
          </a:p>
        </p:txBody>
      </p:sp>
      <p:cxnSp>
        <p:nvCxnSpPr>
          <p:cNvPr id="8" name="Shape 13">
            <a:extLst>
              <a:ext uri="{FF2B5EF4-FFF2-40B4-BE49-F238E27FC236}">
                <a16:creationId xmlns:a16="http://schemas.microsoft.com/office/drawing/2014/main" id="{F9B0D099-433E-47D6-85BF-04A95EB2594A}"/>
              </a:ext>
            </a:extLst>
          </p:cNvPr>
          <p:cNvCxnSpPr/>
          <p:nvPr userDrawn="1"/>
        </p:nvCxnSpPr>
        <p:spPr>
          <a:xfrm>
            <a:off x="11650345" y="6345848"/>
            <a:ext cx="0" cy="260350"/>
          </a:xfrm>
          <a:prstGeom prst="straightConnector1">
            <a:avLst/>
          </a:prstGeom>
          <a:noFill/>
          <a:ln w="9525" cap="flat" cmpd="sng">
            <a:solidFill>
              <a:schemeClr val="bg1"/>
            </a:solidFill>
            <a:prstDash val="solid"/>
            <a:round/>
            <a:headEnd type="none" w="sm" len="sm"/>
            <a:tailEnd type="none" w="sm" len="sm"/>
          </a:ln>
        </p:spPr>
      </p:cxnSp>
      <p:pic>
        <p:nvPicPr>
          <p:cNvPr id="5122" name="Picture 2">
            <a:extLst>
              <a:ext uri="{FF2B5EF4-FFF2-40B4-BE49-F238E27FC236}">
                <a16:creationId xmlns:a16="http://schemas.microsoft.com/office/drawing/2014/main" id="{209BFF25-38BB-9B48-B869-084262A4D1DE}"/>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243523" y="6215062"/>
            <a:ext cx="1812818" cy="548919"/>
          </a:xfrm>
          <a:prstGeom prst="rect">
            <a:avLst/>
          </a:prstGeom>
          <a:noFill/>
          <a:extLst>
            <a:ext uri="{909E8E84-426E-40DD-AFC4-6F175D3DCCD1}">
              <a14:hiddenFill xmlns:a14="http://schemas.microsoft.com/office/drawing/2010/main">
                <a:solidFill>
                  <a:srgbClr val="FFFFFF"/>
                </a:solidFill>
              </a14:hiddenFill>
            </a:ext>
          </a:extLst>
        </p:spPr>
      </p:pic>
      <p:sp>
        <p:nvSpPr>
          <p:cNvPr id="11" name="Segnaposto data 7">
            <a:extLst>
              <a:ext uri="{FF2B5EF4-FFF2-40B4-BE49-F238E27FC236}">
                <a16:creationId xmlns:a16="http://schemas.microsoft.com/office/drawing/2014/main" id="{E46776ED-56DD-CD48-95A3-4A00B81FDB6F}"/>
              </a:ext>
            </a:extLst>
          </p:cNvPr>
          <p:cNvSpPr txBox="1">
            <a:spLocks/>
          </p:cNvSpPr>
          <p:nvPr userDrawn="1"/>
        </p:nvSpPr>
        <p:spPr>
          <a:xfrm>
            <a:off x="6034636" y="6475415"/>
            <a:ext cx="5689600" cy="211137"/>
          </a:xfrm>
          <a:prstGeom prst="rect">
            <a:avLst/>
          </a:prstGeom>
        </p:spPr>
        <p:txBody>
          <a:bodyPr/>
          <a:lstStyle>
            <a:defPPr>
              <a:defRPr lang="it-IT"/>
            </a:defPPr>
            <a:lvl1pPr marL="0" algn="r" defTabSz="914400" rtl="0" eaLnBrk="1" latinLnBrk="0" hangingPunct="1">
              <a:defRPr sz="8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r>
              <a:rPr lang="it-IT" b="1">
                <a:solidFill>
                  <a:srgbClr val="17428B"/>
                </a:solidFill>
                <a:latin typeface="TIM Sans" panose="02020503040602060503" pitchFamily="18" charset="77"/>
              </a:rPr>
              <a:t>5G Academy</a:t>
            </a:r>
          </a:p>
        </p:txBody>
      </p:sp>
      <p:sp>
        <p:nvSpPr>
          <p:cNvPr id="13" name="Segnaposto piè di pagina 8">
            <a:extLst>
              <a:ext uri="{FF2B5EF4-FFF2-40B4-BE49-F238E27FC236}">
                <a16:creationId xmlns:a16="http://schemas.microsoft.com/office/drawing/2014/main" id="{C8F8ED44-83FD-D141-B369-1B7D67D8C26A}"/>
              </a:ext>
            </a:extLst>
          </p:cNvPr>
          <p:cNvSpPr txBox="1">
            <a:spLocks/>
          </p:cNvSpPr>
          <p:nvPr userDrawn="1"/>
        </p:nvSpPr>
        <p:spPr>
          <a:xfrm>
            <a:off x="8767482" y="6634167"/>
            <a:ext cx="2956754" cy="220663"/>
          </a:xfrm>
          <a:prstGeom prst="rect">
            <a:avLst/>
          </a:prstGeom>
        </p:spPr>
        <p:txBody>
          <a:bodyPr/>
          <a:lstStyle>
            <a:defPPr>
              <a:defRPr lang="it-IT"/>
            </a:defPPr>
            <a:lvl1pPr marL="0" algn="r" defTabSz="914400" rtl="0" eaLnBrk="1" latinLnBrk="0" hangingPunct="1">
              <a:defRPr sz="800" kern="1200">
                <a:solidFill>
                  <a:schemeClr val="accent3"/>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r>
              <a:rPr lang="it-IT">
                <a:solidFill>
                  <a:srgbClr val="17428B"/>
                </a:solidFill>
                <a:latin typeface="TIM Sans" panose="02020503040602060503" pitchFamily="18" charset="77"/>
              </a:rPr>
              <a:t>Nome del Relatore, Nome Struttura</a:t>
            </a:r>
          </a:p>
        </p:txBody>
      </p:sp>
      <p:cxnSp>
        <p:nvCxnSpPr>
          <p:cNvPr id="14" name="Shape 13">
            <a:extLst>
              <a:ext uri="{FF2B5EF4-FFF2-40B4-BE49-F238E27FC236}">
                <a16:creationId xmlns:a16="http://schemas.microsoft.com/office/drawing/2014/main" id="{724C64B5-2135-D44C-AAA0-6D642DB8801B}"/>
              </a:ext>
            </a:extLst>
          </p:cNvPr>
          <p:cNvCxnSpPr/>
          <p:nvPr userDrawn="1"/>
        </p:nvCxnSpPr>
        <p:spPr>
          <a:xfrm>
            <a:off x="11802745" y="6498248"/>
            <a:ext cx="0" cy="260350"/>
          </a:xfrm>
          <a:prstGeom prst="straightConnector1">
            <a:avLst/>
          </a:prstGeom>
          <a:noFill/>
          <a:ln w="9525" cap="flat" cmpd="sng">
            <a:solidFill>
              <a:srgbClr val="17428B"/>
            </a:solidFill>
            <a:prstDash val="solid"/>
            <a:round/>
            <a:headEnd type="none" w="sm" len="sm"/>
            <a:tailEnd type="none" w="sm" len="sm"/>
          </a:ln>
        </p:spPr>
      </p:cxnSp>
    </p:spTree>
    <p:extLst>
      <p:ext uri="{BB962C8B-B14F-4D97-AF65-F5344CB8AC3E}">
        <p14:creationId xmlns:p14="http://schemas.microsoft.com/office/powerpoint/2010/main" val="21808539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8_Diapositiva titolo">
    <p:spTree>
      <p:nvGrpSpPr>
        <p:cNvPr id="1" name=""/>
        <p:cNvGrpSpPr/>
        <p:nvPr/>
      </p:nvGrpSpPr>
      <p:grpSpPr>
        <a:xfrm>
          <a:off x="0" y="0"/>
          <a:ext cx="0" cy="0"/>
          <a:chOff x="0" y="0"/>
          <a:chExt cx="0" cy="0"/>
        </a:xfrm>
      </p:grpSpPr>
      <p:pic>
        <p:nvPicPr>
          <p:cNvPr id="10" name="Immagine 9">
            <a:extLst>
              <a:ext uri="{FF2B5EF4-FFF2-40B4-BE49-F238E27FC236}">
                <a16:creationId xmlns:a16="http://schemas.microsoft.com/office/drawing/2014/main" id="{7E2266D7-7A33-094B-B198-C964BD357B14}"/>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2373746" y="-120920"/>
            <a:ext cx="9301018" cy="6292603"/>
          </a:xfrm>
          <a:prstGeom prst="rect">
            <a:avLst/>
          </a:prstGeom>
        </p:spPr>
      </p:pic>
      <p:sp>
        <p:nvSpPr>
          <p:cNvPr id="13" name="Figura a mano libera 12">
            <a:extLst>
              <a:ext uri="{FF2B5EF4-FFF2-40B4-BE49-F238E27FC236}">
                <a16:creationId xmlns:a16="http://schemas.microsoft.com/office/drawing/2014/main" id="{02FE016D-82AA-144C-9BEB-6C7641E4C1DD}"/>
              </a:ext>
            </a:extLst>
          </p:cNvPr>
          <p:cNvSpPr/>
          <p:nvPr userDrawn="1"/>
        </p:nvSpPr>
        <p:spPr>
          <a:xfrm>
            <a:off x="299000" y="-10886"/>
            <a:ext cx="304800" cy="642257"/>
          </a:xfrm>
          <a:custGeom>
            <a:avLst/>
            <a:gdLst>
              <a:gd name="connsiteX0" fmla="*/ 0 w 304800"/>
              <a:gd name="connsiteY0" fmla="*/ 0 h 642257"/>
              <a:gd name="connsiteX1" fmla="*/ 0 w 304800"/>
              <a:gd name="connsiteY1" fmla="*/ 642257 h 642257"/>
              <a:gd name="connsiteX2" fmla="*/ 304800 w 304800"/>
              <a:gd name="connsiteY2" fmla="*/ 642257 h 642257"/>
            </a:gdLst>
            <a:ahLst/>
            <a:cxnLst>
              <a:cxn ang="0">
                <a:pos x="connsiteX0" y="connsiteY0"/>
              </a:cxn>
              <a:cxn ang="0">
                <a:pos x="connsiteX1" y="connsiteY1"/>
              </a:cxn>
              <a:cxn ang="0">
                <a:pos x="connsiteX2" y="connsiteY2"/>
              </a:cxn>
            </a:cxnLst>
            <a:rect l="l" t="t" r="r" b="b"/>
            <a:pathLst>
              <a:path w="304800" h="642257">
                <a:moveTo>
                  <a:pt x="0" y="0"/>
                </a:moveTo>
                <a:lnTo>
                  <a:pt x="0" y="642257"/>
                </a:lnTo>
                <a:lnTo>
                  <a:pt x="304800" y="642257"/>
                </a:lnTo>
              </a:path>
            </a:pathLst>
          </a:custGeom>
          <a:noFill/>
          <a:ln w="50800">
            <a:solidFill>
              <a:srgbClr val="DAF21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1" name="Rettangolo 10">
            <a:extLst>
              <a:ext uri="{FF2B5EF4-FFF2-40B4-BE49-F238E27FC236}">
                <a16:creationId xmlns:a16="http://schemas.microsoft.com/office/drawing/2014/main" id="{937DA939-308A-4597-9793-C9E9A974CE6E}"/>
              </a:ext>
            </a:extLst>
          </p:cNvPr>
          <p:cNvSpPr/>
          <p:nvPr userDrawn="1"/>
        </p:nvSpPr>
        <p:spPr>
          <a:xfrm>
            <a:off x="0" y="6161903"/>
            <a:ext cx="12192000" cy="696097"/>
          </a:xfrm>
          <a:prstGeom prst="rect">
            <a:avLst/>
          </a:prstGeom>
          <a:solidFill>
            <a:srgbClr val="0033A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4" name="Segnaposto data 7">
            <a:extLst>
              <a:ext uri="{FF2B5EF4-FFF2-40B4-BE49-F238E27FC236}">
                <a16:creationId xmlns:a16="http://schemas.microsoft.com/office/drawing/2014/main" id="{FA6D9DE1-66BC-46BD-AA34-23617AA9C41F}"/>
              </a:ext>
            </a:extLst>
          </p:cNvPr>
          <p:cNvSpPr txBox="1">
            <a:spLocks/>
          </p:cNvSpPr>
          <p:nvPr userDrawn="1"/>
        </p:nvSpPr>
        <p:spPr>
          <a:xfrm>
            <a:off x="5882236" y="6323015"/>
            <a:ext cx="5689600" cy="211137"/>
          </a:xfrm>
          <a:prstGeom prst="rect">
            <a:avLst/>
          </a:prstGeom>
        </p:spPr>
        <p:txBody>
          <a:bodyPr/>
          <a:lstStyle>
            <a:defPPr>
              <a:defRPr lang="it-IT"/>
            </a:defPPr>
            <a:lvl1pPr marL="0" algn="r" defTabSz="914400" rtl="0" eaLnBrk="1" latinLnBrk="0" hangingPunct="1">
              <a:defRPr sz="8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r>
              <a:rPr lang="it-IT" b="1">
                <a:solidFill>
                  <a:schemeClr val="bg1"/>
                </a:solidFill>
                <a:latin typeface="TIM Sans" panose="02020503040602060503" pitchFamily="18" charset="77"/>
              </a:rPr>
              <a:t>5G Academy</a:t>
            </a:r>
          </a:p>
        </p:txBody>
      </p:sp>
      <p:sp>
        <p:nvSpPr>
          <p:cNvPr id="15" name="Segnaposto piè di pagina 8">
            <a:extLst>
              <a:ext uri="{FF2B5EF4-FFF2-40B4-BE49-F238E27FC236}">
                <a16:creationId xmlns:a16="http://schemas.microsoft.com/office/drawing/2014/main" id="{F89DCB51-4813-44E7-9DAE-DB8966014287}"/>
              </a:ext>
            </a:extLst>
          </p:cNvPr>
          <p:cNvSpPr txBox="1">
            <a:spLocks/>
          </p:cNvSpPr>
          <p:nvPr userDrawn="1"/>
        </p:nvSpPr>
        <p:spPr>
          <a:xfrm>
            <a:off x="8615082" y="6481767"/>
            <a:ext cx="2956754" cy="220663"/>
          </a:xfrm>
          <a:prstGeom prst="rect">
            <a:avLst/>
          </a:prstGeom>
        </p:spPr>
        <p:txBody>
          <a:bodyPr/>
          <a:lstStyle>
            <a:defPPr>
              <a:defRPr lang="it-IT"/>
            </a:defPPr>
            <a:lvl1pPr marL="0" algn="r" defTabSz="914400" rtl="0" eaLnBrk="1" latinLnBrk="0" hangingPunct="1">
              <a:defRPr sz="800" kern="1200">
                <a:solidFill>
                  <a:schemeClr val="accent3"/>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r>
              <a:rPr lang="it-IT">
                <a:solidFill>
                  <a:schemeClr val="bg1"/>
                </a:solidFill>
                <a:latin typeface="TIM Sans" panose="02020503040602060503" pitchFamily="18" charset="77"/>
              </a:rPr>
              <a:t>Nome del Relatore, Nome Struttura</a:t>
            </a:r>
          </a:p>
        </p:txBody>
      </p:sp>
      <p:sp>
        <p:nvSpPr>
          <p:cNvPr id="16" name="Shape 12">
            <a:extLst>
              <a:ext uri="{FF2B5EF4-FFF2-40B4-BE49-F238E27FC236}">
                <a16:creationId xmlns:a16="http://schemas.microsoft.com/office/drawing/2014/main" id="{3193EF4F-7929-48F5-9DCF-325B2B7685D9}"/>
              </a:ext>
            </a:extLst>
          </p:cNvPr>
          <p:cNvSpPr txBox="1"/>
          <p:nvPr userDrawn="1"/>
        </p:nvSpPr>
        <p:spPr>
          <a:xfrm>
            <a:off x="11718524" y="6514635"/>
            <a:ext cx="229953" cy="125612"/>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None/>
            </a:pPr>
            <a:fld id="{00000000-1234-1234-1234-123412341234}" type="slidenum">
              <a:rPr lang="en-US" sz="800" b="0" i="0" u="none" strike="noStrike" cap="none">
                <a:solidFill>
                  <a:schemeClr val="bg1"/>
                </a:solidFill>
                <a:latin typeface="TIM Sans" panose="02020503040602060503" pitchFamily="18" charset="77"/>
                <a:ea typeface="Arial"/>
                <a:cs typeface="Arial"/>
                <a:sym typeface="Arial"/>
              </a:rPr>
              <a:t>‹#›</a:t>
            </a:fld>
            <a:endParaRPr sz="800" b="0" i="0" u="none" strike="noStrike" cap="none">
              <a:solidFill>
                <a:schemeClr val="bg1"/>
              </a:solidFill>
              <a:latin typeface="TIM Sans" panose="02020503040602060503" pitchFamily="18" charset="77"/>
              <a:ea typeface="Arial"/>
              <a:cs typeface="Arial"/>
              <a:sym typeface="Arial"/>
            </a:endParaRPr>
          </a:p>
        </p:txBody>
      </p:sp>
      <p:cxnSp>
        <p:nvCxnSpPr>
          <p:cNvPr id="17" name="Shape 13">
            <a:extLst>
              <a:ext uri="{FF2B5EF4-FFF2-40B4-BE49-F238E27FC236}">
                <a16:creationId xmlns:a16="http://schemas.microsoft.com/office/drawing/2014/main" id="{13145520-2C98-47BB-8396-5BC4190FF8D3}"/>
              </a:ext>
            </a:extLst>
          </p:cNvPr>
          <p:cNvCxnSpPr/>
          <p:nvPr userDrawn="1"/>
        </p:nvCxnSpPr>
        <p:spPr>
          <a:xfrm>
            <a:off x="11650345" y="6345848"/>
            <a:ext cx="0" cy="260350"/>
          </a:xfrm>
          <a:prstGeom prst="straightConnector1">
            <a:avLst/>
          </a:prstGeom>
          <a:noFill/>
          <a:ln w="9525" cap="flat" cmpd="sng">
            <a:solidFill>
              <a:schemeClr val="bg1"/>
            </a:solidFill>
            <a:prstDash val="solid"/>
            <a:round/>
            <a:headEnd type="none" w="sm" len="sm"/>
            <a:tailEnd type="none" w="sm" len="sm"/>
          </a:ln>
        </p:spPr>
      </p:cxnSp>
      <p:pic>
        <p:nvPicPr>
          <p:cNvPr id="12" name="Picture 11">
            <a:extLst>
              <a:ext uri="{FF2B5EF4-FFF2-40B4-BE49-F238E27FC236}">
                <a16:creationId xmlns:a16="http://schemas.microsoft.com/office/drawing/2014/main" id="{6661FF91-1E64-408D-8467-B6CFC2BB7819}"/>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t="67562" r="68923"/>
          <a:stretch/>
        </p:blipFill>
        <p:spPr>
          <a:xfrm>
            <a:off x="304810" y="6296025"/>
            <a:ext cx="1412865" cy="341550"/>
          </a:xfrm>
          <a:prstGeom prst="rect">
            <a:avLst/>
          </a:prstGeom>
        </p:spPr>
      </p:pic>
      <p:pic>
        <p:nvPicPr>
          <p:cNvPr id="19" name="Picture 18">
            <a:extLst>
              <a:ext uri="{FF2B5EF4-FFF2-40B4-BE49-F238E27FC236}">
                <a16:creationId xmlns:a16="http://schemas.microsoft.com/office/drawing/2014/main" id="{98A8C316-4765-4C66-9C43-C643A1A9BD01}"/>
              </a:ext>
            </a:extLst>
          </p:cNvPr>
          <p:cNvPicPr>
            <a:picLocks noChangeAspect="1"/>
          </p:cNvPicPr>
          <p:nvPr userDrawn="1"/>
        </p:nvPicPr>
        <p:blipFill rotWithShape="1">
          <a:blip r:embed="rId4"/>
          <a:srcRect l="42053" t="68030" r="36792"/>
          <a:stretch/>
        </p:blipFill>
        <p:spPr>
          <a:xfrm>
            <a:off x="2398168" y="6311949"/>
            <a:ext cx="855737" cy="390481"/>
          </a:xfrm>
          <a:prstGeom prst="rect">
            <a:avLst/>
          </a:prstGeom>
        </p:spPr>
      </p:pic>
      <p:pic>
        <p:nvPicPr>
          <p:cNvPr id="20" name="Picture 19">
            <a:extLst>
              <a:ext uri="{FF2B5EF4-FFF2-40B4-BE49-F238E27FC236}">
                <a16:creationId xmlns:a16="http://schemas.microsoft.com/office/drawing/2014/main" id="{6BE4EE4E-E94C-42B4-9C55-2181A704D16B}"/>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l="81207" t="72041" b="-1"/>
          <a:stretch/>
        </p:blipFill>
        <p:spPr>
          <a:xfrm>
            <a:off x="3996700" y="6345847"/>
            <a:ext cx="854391" cy="294399"/>
          </a:xfrm>
          <a:prstGeom prst="rect">
            <a:avLst/>
          </a:prstGeom>
        </p:spPr>
      </p:pic>
    </p:spTree>
    <p:extLst>
      <p:ext uri="{BB962C8B-B14F-4D97-AF65-F5344CB8AC3E}">
        <p14:creationId xmlns:p14="http://schemas.microsoft.com/office/powerpoint/2010/main" val="18520365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ono - Ciano">
    <p:spTree>
      <p:nvGrpSpPr>
        <p:cNvPr id="1" name=""/>
        <p:cNvGrpSpPr/>
        <p:nvPr/>
      </p:nvGrpSpPr>
      <p:grpSpPr>
        <a:xfrm>
          <a:off x="0" y="0"/>
          <a:ext cx="0" cy="0"/>
          <a:chOff x="0" y="0"/>
          <a:chExt cx="0" cy="0"/>
        </a:xfrm>
      </p:grpSpPr>
      <p:sp>
        <p:nvSpPr>
          <p:cNvPr id="3" name="Rettangolo 2">
            <a:extLst>
              <a:ext uri="{FF2B5EF4-FFF2-40B4-BE49-F238E27FC236}">
                <a16:creationId xmlns:a16="http://schemas.microsoft.com/office/drawing/2014/main" id="{ABD284CF-5A53-7E4C-A0FF-4F6F5FC5934D}"/>
              </a:ext>
            </a:extLst>
          </p:cNvPr>
          <p:cNvSpPr/>
          <p:nvPr userDrawn="1"/>
        </p:nvSpPr>
        <p:spPr>
          <a:xfrm>
            <a:off x="0" y="6167245"/>
            <a:ext cx="12192000" cy="696097"/>
          </a:xfrm>
          <a:prstGeom prst="rect">
            <a:avLst/>
          </a:prstGeom>
          <a:solidFill>
            <a:srgbClr val="0033A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5" name="Segnaposto data 7">
            <a:extLst>
              <a:ext uri="{FF2B5EF4-FFF2-40B4-BE49-F238E27FC236}">
                <a16:creationId xmlns:a16="http://schemas.microsoft.com/office/drawing/2014/main" id="{6B8FA853-C8E7-C54C-8B6F-4E6BDB270CEA}"/>
              </a:ext>
            </a:extLst>
          </p:cNvPr>
          <p:cNvSpPr txBox="1">
            <a:spLocks/>
          </p:cNvSpPr>
          <p:nvPr userDrawn="1"/>
        </p:nvSpPr>
        <p:spPr>
          <a:xfrm>
            <a:off x="5882236" y="6323015"/>
            <a:ext cx="5689600" cy="211137"/>
          </a:xfrm>
          <a:prstGeom prst="rect">
            <a:avLst/>
          </a:prstGeom>
        </p:spPr>
        <p:txBody>
          <a:bodyPr/>
          <a:lstStyle>
            <a:defPPr>
              <a:defRPr lang="it-IT"/>
            </a:defPPr>
            <a:lvl1pPr marL="0" algn="r" defTabSz="914400" rtl="0" eaLnBrk="1" latinLnBrk="0" hangingPunct="1">
              <a:defRPr sz="8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r>
              <a:rPr lang="it-IT" b="1">
                <a:solidFill>
                  <a:schemeClr val="bg1"/>
                </a:solidFill>
                <a:latin typeface="TIM Sans" panose="02020503040602060503" pitchFamily="18" charset="77"/>
              </a:rPr>
              <a:t>5G Academy</a:t>
            </a:r>
          </a:p>
        </p:txBody>
      </p:sp>
      <p:sp>
        <p:nvSpPr>
          <p:cNvPr id="6" name="Segnaposto piè di pagina 8">
            <a:extLst>
              <a:ext uri="{FF2B5EF4-FFF2-40B4-BE49-F238E27FC236}">
                <a16:creationId xmlns:a16="http://schemas.microsoft.com/office/drawing/2014/main" id="{93BC1F67-F758-3842-BA3B-779704EBBAD3}"/>
              </a:ext>
            </a:extLst>
          </p:cNvPr>
          <p:cNvSpPr txBox="1">
            <a:spLocks/>
          </p:cNvSpPr>
          <p:nvPr userDrawn="1"/>
        </p:nvSpPr>
        <p:spPr>
          <a:xfrm>
            <a:off x="8615082" y="6481767"/>
            <a:ext cx="2956754" cy="220663"/>
          </a:xfrm>
          <a:prstGeom prst="rect">
            <a:avLst/>
          </a:prstGeom>
        </p:spPr>
        <p:txBody>
          <a:bodyPr/>
          <a:lstStyle>
            <a:defPPr>
              <a:defRPr lang="it-IT"/>
            </a:defPPr>
            <a:lvl1pPr marL="0" algn="r" defTabSz="914400" rtl="0" eaLnBrk="1" latinLnBrk="0" hangingPunct="1">
              <a:defRPr sz="800" kern="1200">
                <a:solidFill>
                  <a:schemeClr val="accent3"/>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r>
              <a:rPr lang="it-IT" err="1">
                <a:solidFill>
                  <a:schemeClr val="bg1"/>
                </a:solidFill>
                <a:latin typeface="TIM Sans" panose="02020503040602060503" pitchFamily="18" charset="77"/>
              </a:rPr>
              <a:t>Lecturer</a:t>
            </a:r>
            <a:r>
              <a:rPr lang="it-IT">
                <a:solidFill>
                  <a:schemeClr val="bg1"/>
                </a:solidFill>
                <a:latin typeface="TIM Sans" panose="02020503040602060503" pitchFamily="18" charset="77"/>
              </a:rPr>
              <a:t> </a:t>
            </a:r>
            <a:r>
              <a:rPr lang="it-IT" err="1">
                <a:solidFill>
                  <a:schemeClr val="bg1"/>
                </a:solidFill>
                <a:latin typeface="TIM Sans" panose="02020503040602060503" pitchFamily="18" charset="77"/>
              </a:rPr>
              <a:t>name</a:t>
            </a:r>
            <a:r>
              <a:rPr lang="it-IT">
                <a:solidFill>
                  <a:schemeClr val="bg1"/>
                </a:solidFill>
                <a:latin typeface="TIM Sans" panose="02020503040602060503" pitchFamily="18" charset="77"/>
              </a:rPr>
              <a:t>, Company/</a:t>
            </a:r>
            <a:r>
              <a:rPr lang="it-IT" err="1">
                <a:solidFill>
                  <a:schemeClr val="bg1"/>
                </a:solidFill>
                <a:latin typeface="TIM Sans" panose="02020503040602060503" pitchFamily="18" charset="77"/>
              </a:rPr>
              <a:t>Univerisity</a:t>
            </a:r>
            <a:r>
              <a:rPr lang="it-IT">
                <a:solidFill>
                  <a:schemeClr val="bg1"/>
                </a:solidFill>
                <a:latin typeface="TIM Sans" panose="02020503040602060503" pitchFamily="18" charset="77"/>
              </a:rPr>
              <a:t> </a:t>
            </a:r>
            <a:r>
              <a:rPr lang="it-IT" err="1">
                <a:solidFill>
                  <a:schemeClr val="bg1"/>
                </a:solidFill>
                <a:latin typeface="TIM Sans" panose="02020503040602060503" pitchFamily="18" charset="77"/>
              </a:rPr>
              <a:t>name</a:t>
            </a:r>
            <a:endParaRPr lang="it-IT">
              <a:solidFill>
                <a:schemeClr val="bg1"/>
              </a:solidFill>
              <a:latin typeface="TIM Sans" panose="02020503040602060503" pitchFamily="18" charset="77"/>
            </a:endParaRPr>
          </a:p>
        </p:txBody>
      </p:sp>
      <p:sp>
        <p:nvSpPr>
          <p:cNvPr id="7" name="Shape 12">
            <a:extLst>
              <a:ext uri="{FF2B5EF4-FFF2-40B4-BE49-F238E27FC236}">
                <a16:creationId xmlns:a16="http://schemas.microsoft.com/office/drawing/2014/main" id="{FC9D4B3B-DA08-D14A-A469-C98FFEDB75D5}"/>
              </a:ext>
            </a:extLst>
          </p:cNvPr>
          <p:cNvSpPr txBox="1"/>
          <p:nvPr userDrawn="1"/>
        </p:nvSpPr>
        <p:spPr>
          <a:xfrm>
            <a:off x="11718524" y="6514635"/>
            <a:ext cx="229953" cy="125612"/>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None/>
            </a:pPr>
            <a:fld id="{00000000-1234-1234-1234-123412341234}" type="slidenum">
              <a:rPr lang="en-US" sz="800" b="0" i="0" u="none" strike="noStrike" cap="none">
                <a:solidFill>
                  <a:schemeClr val="bg1"/>
                </a:solidFill>
                <a:latin typeface="TIM Sans" panose="02020503040602060503" pitchFamily="18" charset="77"/>
                <a:ea typeface="Arial"/>
                <a:cs typeface="Arial"/>
                <a:sym typeface="Arial"/>
              </a:rPr>
              <a:t>‹#›</a:t>
            </a:fld>
            <a:endParaRPr sz="800" b="0" i="0" u="none" strike="noStrike" cap="none">
              <a:solidFill>
                <a:schemeClr val="bg1"/>
              </a:solidFill>
              <a:latin typeface="TIM Sans" panose="02020503040602060503" pitchFamily="18" charset="77"/>
              <a:ea typeface="Arial"/>
              <a:cs typeface="Arial"/>
              <a:sym typeface="Arial"/>
            </a:endParaRPr>
          </a:p>
        </p:txBody>
      </p:sp>
      <p:cxnSp>
        <p:nvCxnSpPr>
          <p:cNvPr id="8" name="Shape 13">
            <a:extLst>
              <a:ext uri="{FF2B5EF4-FFF2-40B4-BE49-F238E27FC236}">
                <a16:creationId xmlns:a16="http://schemas.microsoft.com/office/drawing/2014/main" id="{3E706A71-5D21-9B43-9D04-E97A62E6B13E}"/>
              </a:ext>
            </a:extLst>
          </p:cNvPr>
          <p:cNvCxnSpPr/>
          <p:nvPr userDrawn="1"/>
        </p:nvCxnSpPr>
        <p:spPr>
          <a:xfrm>
            <a:off x="11650345" y="6345848"/>
            <a:ext cx="0" cy="260350"/>
          </a:xfrm>
          <a:prstGeom prst="straightConnector1">
            <a:avLst/>
          </a:prstGeom>
          <a:noFill/>
          <a:ln w="9525" cap="flat" cmpd="sng">
            <a:solidFill>
              <a:schemeClr val="bg1"/>
            </a:solidFill>
            <a:prstDash val="solid"/>
            <a:round/>
            <a:headEnd type="none" w="sm" len="sm"/>
            <a:tailEnd type="none" w="sm" len="sm"/>
          </a:ln>
        </p:spPr>
      </p:cxnSp>
      <p:sp>
        <p:nvSpPr>
          <p:cNvPr id="11" name="Figura a mano libera 10">
            <a:extLst>
              <a:ext uri="{FF2B5EF4-FFF2-40B4-BE49-F238E27FC236}">
                <a16:creationId xmlns:a16="http://schemas.microsoft.com/office/drawing/2014/main" id="{DE9495C1-B9F7-CF46-8454-707638B66872}"/>
              </a:ext>
            </a:extLst>
          </p:cNvPr>
          <p:cNvSpPr/>
          <p:nvPr userDrawn="1"/>
        </p:nvSpPr>
        <p:spPr>
          <a:xfrm>
            <a:off x="299000" y="-10886"/>
            <a:ext cx="304800" cy="642257"/>
          </a:xfrm>
          <a:custGeom>
            <a:avLst/>
            <a:gdLst>
              <a:gd name="connsiteX0" fmla="*/ 0 w 304800"/>
              <a:gd name="connsiteY0" fmla="*/ 0 h 642257"/>
              <a:gd name="connsiteX1" fmla="*/ 0 w 304800"/>
              <a:gd name="connsiteY1" fmla="*/ 642257 h 642257"/>
              <a:gd name="connsiteX2" fmla="*/ 304800 w 304800"/>
              <a:gd name="connsiteY2" fmla="*/ 642257 h 642257"/>
            </a:gdLst>
            <a:ahLst/>
            <a:cxnLst>
              <a:cxn ang="0">
                <a:pos x="connsiteX0" y="connsiteY0"/>
              </a:cxn>
              <a:cxn ang="0">
                <a:pos x="connsiteX1" y="connsiteY1"/>
              </a:cxn>
              <a:cxn ang="0">
                <a:pos x="connsiteX2" y="connsiteY2"/>
              </a:cxn>
            </a:cxnLst>
            <a:rect l="l" t="t" r="r" b="b"/>
            <a:pathLst>
              <a:path w="304800" h="642257">
                <a:moveTo>
                  <a:pt x="0" y="0"/>
                </a:moveTo>
                <a:lnTo>
                  <a:pt x="0" y="642257"/>
                </a:lnTo>
                <a:lnTo>
                  <a:pt x="304800" y="642257"/>
                </a:lnTo>
              </a:path>
            </a:pathLst>
          </a:custGeom>
          <a:noFill/>
          <a:ln w="508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pic>
        <p:nvPicPr>
          <p:cNvPr id="14" name="Picture 2">
            <a:extLst>
              <a:ext uri="{FF2B5EF4-FFF2-40B4-BE49-F238E27FC236}">
                <a16:creationId xmlns:a16="http://schemas.microsoft.com/office/drawing/2014/main" id="{B8CC1A6A-2927-6145-A5C7-DC53DF46320E}"/>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62233" y="6232146"/>
            <a:ext cx="1979470" cy="5977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5563224"/>
      </p:ext>
    </p:extLst>
  </p:cSld>
  <p:clrMapOvr>
    <a:masterClrMapping/>
  </p:clrMapOvr>
  <p:extLst>
    <p:ext uri="{DCECCB84-F9BA-43D5-87BE-67443E8EF086}">
      <p15:sldGuideLst xmlns:p15="http://schemas.microsoft.com/office/powerpoint/2012/main">
        <p15:guide id="1" pos="189"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ono - Magenta">
    <p:spTree>
      <p:nvGrpSpPr>
        <p:cNvPr id="1" name=""/>
        <p:cNvGrpSpPr/>
        <p:nvPr/>
      </p:nvGrpSpPr>
      <p:grpSpPr>
        <a:xfrm>
          <a:off x="0" y="0"/>
          <a:ext cx="0" cy="0"/>
          <a:chOff x="0" y="0"/>
          <a:chExt cx="0" cy="0"/>
        </a:xfrm>
      </p:grpSpPr>
      <p:sp>
        <p:nvSpPr>
          <p:cNvPr id="11" name="Figura a mano libera 10">
            <a:extLst>
              <a:ext uri="{FF2B5EF4-FFF2-40B4-BE49-F238E27FC236}">
                <a16:creationId xmlns:a16="http://schemas.microsoft.com/office/drawing/2014/main" id="{DE9495C1-B9F7-CF46-8454-707638B66872}"/>
              </a:ext>
            </a:extLst>
          </p:cNvPr>
          <p:cNvSpPr/>
          <p:nvPr userDrawn="1"/>
        </p:nvSpPr>
        <p:spPr>
          <a:xfrm>
            <a:off x="299000" y="-10886"/>
            <a:ext cx="304800" cy="642257"/>
          </a:xfrm>
          <a:custGeom>
            <a:avLst/>
            <a:gdLst>
              <a:gd name="connsiteX0" fmla="*/ 0 w 304800"/>
              <a:gd name="connsiteY0" fmla="*/ 0 h 642257"/>
              <a:gd name="connsiteX1" fmla="*/ 0 w 304800"/>
              <a:gd name="connsiteY1" fmla="*/ 642257 h 642257"/>
              <a:gd name="connsiteX2" fmla="*/ 304800 w 304800"/>
              <a:gd name="connsiteY2" fmla="*/ 642257 h 642257"/>
            </a:gdLst>
            <a:ahLst/>
            <a:cxnLst>
              <a:cxn ang="0">
                <a:pos x="connsiteX0" y="connsiteY0"/>
              </a:cxn>
              <a:cxn ang="0">
                <a:pos x="connsiteX1" y="connsiteY1"/>
              </a:cxn>
              <a:cxn ang="0">
                <a:pos x="connsiteX2" y="connsiteY2"/>
              </a:cxn>
            </a:cxnLst>
            <a:rect l="l" t="t" r="r" b="b"/>
            <a:pathLst>
              <a:path w="304800" h="642257">
                <a:moveTo>
                  <a:pt x="0" y="0"/>
                </a:moveTo>
                <a:lnTo>
                  <a:pt x="0" y="642257"/>
                </a:lnTo>
                <a:lnTo>
                  <a:pt x="304800" y="642257"/>
                </a:lnTo>
              </a:path>
            </a:pathLst>
          </a:custGeom>
          <a:noFill/>
          <a:ln w="50800">
            <a:solidFill>
              <a:srgbClr val="FF40B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9" name="Rettangolo 8">
            <a:extLst>
              <a:ext uri="{FF2B5EF4-FFF2-40B4-BE49-F238E27FC236}">
                <a16:creationId xmlns:a16="http://schemas.microsoft.com/office/drawing/2014/main" id="{72EE59C3-2158-4C5C-8F9C-12D4DC8173F3}"/>
              </a:ext>
            </a:extLst>
          </p:cNvPr>
          <p:cNvSpPr/>
          <p:nvPr userDrawn="1"/>
        </p:nvSpPr>
        <p:spPr>
          <a:xfrm>
            <a:off x="0" y="6161903"/>
            <a:ext cx="12192000" cy="696097"/>
          </a:xfrm>
          <a:prstGeom prst="rect">
            <a:avLst/>
          </a:prstGeom>
          <a:solidFill>
            <a:srgbClr val="0033A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Segnaposto data 7">
            <a:extLst>
              <a:ext uri="{FF2B5EF4-FFF2-40B4-BE49-F238E27FC236}">
                <a16:creationId xmlns:a16="http://schemas.microsoft.com/office/drawing/2014/main" id="{F56FEBE0-8B4E-4769-9B06-8EC9FCB30F73}"/>
              </a:ext>
            </a:extLst>
          </p:cNvPr>
          <p:cNvSpPr txBox="1">
            <a:spLocks/>
          </p:cNvSpPr>
          <p:nvPr userDrawn="1"/>
        </p:nvSpPr>
        <p:spPr>
          <a:xfrm>
            <a:off x="5882236" y="6323015"/>
            <a:ext cx="5689600" cy="211137"/>
          </a:xfrm>
          <a:prstGeom prst="rect">
            <a:avLst/>
          </a:prstGeom>
        </p:spPr>
        <p:txBody>
          <a:bodyPr/>
          <a:lstStyle>
            <a:defPPr>
              <a:defRPr lang="it-IT"/>
            </a:defPPr>
            <a:lvl1pPr marL="0" algn="r" defTabSz="914400" rtl="0" eaLnBrk="1" latinLnBrk="0" hangingPunct="1">
              <a:defRPr sz="8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r>
              <a:rPr lang="it-IT" b="1">
                <a:solidFill>
                  <a:schemeClr val="bg1"/>
                </a:solidFill>
                <a:latin typeface="TIM Sans" panose="02020503040602060503" pitchFamily="18" charset="77"/>
              </a:rPr>
              <a:t>5G Academy</a:t>
            </a:r>
          </a:p>
        </p:txBody>
      </p:sp>
      <p:sp>
        <p:nvSpPr>
          <p:cNvPr id="13" name="Segnaposto piè di pagina 8">
            <a:extLst>
              <a:ext uri="{FF2B5EF4-FFF2-40B4-BE49-F238E27FC236}">
                <a16:creationId xmlns:a16="http://schemas.microsoft.com/office/drawing/2014/main" id="{F423495D-F89D-49C6-89F6-C7E044B3EBAE}"/>
              </a:ext>
            </a:extLst>
          </p:cNvPr>
          <p:cNvSpPr txBox="1">
            <a:spLocks/>
          </p:cNvSpPr>
          <p:nvPr userDrawn="1"/>
        </p:nvSpPr>
        <p:spPr>
          <a:xfrm>
            <a:off x="8615082" y="6481767"/>
            <a:ext cx="2956754" cy="220663"/>
          </a:xfrm>
          <a:prstGeom prst="rect">
            <a:avLst/>
          </a:prstGeom>
        </p:spPr>
        <p:txBody>
          <a:bodyPr/>
          <a:lstStyle>
            <a:defPPr>
              <a:defRPr lang="it-IT"/>
            </a:defPPr>
            <a:lvl1pPr marL="0" algn="r" defTabSz="914400" rtl="0" eaLnBrk="1" latinLnBrk="0" hangingPunct="1">
              <a:defRPr sz="800" kern="1200">
                <a:solidFill>
                  <a:schemeClr val="accent3"/>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r>
              <a:rPr lang="it-IT">
                <a:solidFill>
                  <a:schemeClr val="bg1"/>
                </a:solidFill>
                <a:latin typeface="TIM Sans" panose="02020503040602060503" pitchFamily="18" charset="77"/>
              </a:rPr>
              <a:t>Nome del Relatore, Nome Struttura</a:t>
            </a:r>
          </a:p>
        </p:txBody>
      </p:sp>
      <p:sp>
        <p:nvSpPr>
          <p:cNvPr id="14" name="Shape 12">
            <a:extLst>
              <a:ext uri="{FF2B5EF4-FFF2-40B4-BE49-F238E27FC236}">
                <a16:creationId xmlns:a16="http://schemas.microsoft.com/office/drawing/2014/main" id="{747161C9-66BE-4806-91C1-9180C1A3A822}"/>
              </a:ext>
            </a:extLst>
          </p:cNvPr>
          <p:cNvSpPr txBox="1"/>
          <p:nvPr userDrawn="1"/>
        </p:nvSpPr>
        <p:spPr>
          <a:xfrm>
            <a:off x="11718524" y="6514635"/>
            <a:ext cx="229953" cy="125612"/>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None/>
            </a:pPr>
            <a:fld id="{00000000-1234-1234-1234-123412341234}" type="slidenum">
              <a:rPr lang="en-US" sz="800" b="0" i="0" u="none" strike="noStrike" cap="none">
                <a:solidFill>
                  <a:schemeClr val="bg1"/>
                </a:solidFill>
                <a:latin typeface="TIM Sans" panose="02020503040602060503" pitchFamily="18" charset="77"/>
                <a:ea typeface="Arial"/>
                <a:cs typeface="Arial"/>
                <a:sym typeface="Arial"/>
              </a:rPr>
              <a:t>‹#›</a:t>
            </a:fld>
            <a:endParaRPr sz="800" b="0" i="0" u="none" strike="noStrike" cap="none">
              <a:solidFill>
                <a:schemeClr val="bg1"/>
              </a:solidFill>
              <a:latin typeface="TIM Sans" panose="02020503040602060503" pitchFamily="18" charset="77"/>
              <a:ea typeface="Arial"/>
              <a:cs typeface="Arial"/>
              <a:sym typeface="Arial"/>
            </a:endParaRPr>
          </a:p>
        </p:txBody>
      </p:sp>
      <p:cxnSp>
        <p:nvCxnSpPr>
          <p:cNvPr id="15" name="Shape 13">
            <a:extLst>
              <a:ext uri="{FF2B5EF4-FFF2-40B4-BE49-F238E27FC236}">
                <a16:creationId xmlns:a16="http://schemas.microsoft.com/office/drawing/2014/main" id="{40CF238A-1C41-4AC9-9070-8F54C8B7D93D}"/>
              </a:ext>
            </a:extLst>
          </p:cNvPr>
          <p:cNvCxnSpPr/>
          <p:nvPr userDrawn="1"/>
        </p:nvCxnSpPr>
        <p:spPr>
          <a:xfrm>
            <a:off x="11650345" y="6345848"/>
            <a:ext cx="0" cy="260350"/>
          </a:xfrm>
          <a:prstGeom prst="straightConnector1">
            <a:avLst/>
          </a:prstGeom>
          <a:noFill/>
          <a:ln w="9525" cap="flat" cmpd="sng">
            <a:solidFill>
              <a:schemeClr val="bg1"/>
            </a:solidFill>
            <a:prstDash val="solid"/>
            <a:round/>
            <a:headEnd type="none" w="sm" len="sm"/>
            <a:tailEnd type="none" w="sm" len="sm"/>
          </a:ln>
        </p:spPr>
      </p:cxnSp>
      <p:pic>
        <p:nvPicPr>
          <p:cNvPr id="16" name="Picture 2">
            <a:extLst>
              <a:ext uri="{FF2B5EF4-FFF2-40B4-BE49-F238E27FC236}">
                <a16:creationId xmlns:a16="http://schemas.microsoft.com/office/drawing/2014/main" id="{6AA263EC-FE94-FC48-A576-EB5DF4C8D54E}"/>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62233" y="6232146"/>
            <a:ext cx="1979470" cy="5977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683129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ono - Giallo">
    <p:spTree>
      <p:nvGrpSpPr>
        <p:cNvPr id="1" name=""/>
        <p:cNvGrpSpPr/>
        <p:nvPr/>
      </p:nvGrpSpPr>
      <p:grpSpPr>
        <a:xfrm>
          <a:off x="0" y="0"/>
          <a:ext cx="0" cy="0"/>
          <a:chOff x="0" y="0"/>
          <a:chExt cx="0" cy="0"/>
        </a:xfrm>
      </p:grpSpPr>
      <p:sp>
        <p:nvSpPr>
          <p:cNvPr id="11" name="Figura a mano libera 10">
            <a:extLst>
              <a:ext uri="{FF2B5EF4-FFF2-40B4-BE49-F238E27FC236}">
                <a16:creationId xmlns:a16="http://schemas.microsoft.com/office/drawing/2014/main" id="{DE9495C1-B9F7-CF46-8454-707638B66872}"/>
              </a:ext>
            </a:extLst>
          </p:cNvPr>
          <p:cNvSpPr/>
          <p:nvPr userDrawn="1"/>
        </p:nvSpPr>
        <p:spPr>
          <a:xfrm>
            <a:off x="299000" y="0"/>
            <a:ext cx="304800" cy="642257"/>
          </a:xfrm>
          <a:custGeom>
            <a:avLst/>
            <a:gdLst>
              <a:gd name="connsiteX0" fmla="*/ 0 w 304800"/>
              <a:gd name="connsiteY0" fmla="*/ 0 h 642257"/>
              <a:gd name="connsiteX1" fmla="*/ 0 w 304800"/>
              <a:gd name="connsiteY1" fmla="*/ 642257 h 642257"/>
              <a:gd name="connsiteX2" fmla="*/ 304800 w 304800"/>
              <a:gd name="connsiteY2" fmla="*/ 642257 h 642257"/>
            </a:gdLst>
            <a:ahLst/>
            <a:cxnLst>
              <a:cxn ang="0">
                <a:pos x="connsiteX0" y="connsiteY0"/>
              </a:cxn>
              <a:cxn ang="0">
                <a:pos x="connsiteX1" y="connsiteY1"/>
              </a:cxn>
              <a:cxn ang="0">
                <a:pos x="connsiteX2" y="connsiteY2"/>
              </a:cxn>
            </a:cxnLst>
            <a:rect l="l" t="t" r="r" b="b"/>
            <a:pathLst>
              <a:path w="304800" h="642257">
                <a:moveTo>
                  <a:pt x="0" y="0"/>
                </a:moveTo>
                <a:lnTo>
                  <a:pt x="0" y="642257"/>
                </a:lnTo>
                <a:lnTo>
                  <a:pt x="304800" y="642257"/>
                </a:lnTo>
              </a:path>
            </a:pathLst>
          </a:custGeom>
          <a:noFill/>
          <a:ln w="50800">
            <a:solidFill>
              <a:srgbClr val="FFC00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9" name="Rettangolo 8">
            <a:extLst>
              <a:ext uri="{FF2B5EF4-FFF2-40B4-BE49-F238E27FC236}">
                <a16:creationId xmlns:a16="http://schemas.microsoft.com/office/drawing/2014/main" id="{18770C84-C4A1-4B18-8280-6D4B3C5A55E5}"/>
              </a:ext>
            </a:extLst>
          </p:cNvPr>
          <p:cNvSpPr/>
          <p:nvPr userDrawn="1"/>
        </p:nvSpPr>
        <p:spPr>
          <a:xfrm>
            <a:off x="0" y="6161903"/>
            <a:ext cx="12192000" cy="696097"/>
          </a:xfrm>
          <a:prstGeom prst="rect">
            <a:avLst/>
          </a:prstGeom>
          <a:solidFill>
            <a:srgbClr val="0033A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Segnaposto data 7">
            <a:extLst>
              <a:ext uri="{FF2B5EF4-FFF2-40B4-BE49-F238E27FC236}">
                <a16:creationId xmlns:a16="http://schemas.microsoft.com/office/drawing/2014/main" id="{0AE3FDCE-918D-4007-BB01-464A9B573236}"/>
              </a:ext>
            </a:extLst>
          </p:cNvPr>
          <p:cNvSpPr txBox="1">
            <a:spLocks/>
          </p:cNvSpPr>
          <p:nvPr userDrawn="1"/>
        </p:nvSpPr>
        <p:spPr>
          <a:xfrm>
            <a:off x="5882236" y="6323015"/>
            <a:ext cx="5689600" cy="211137"/>
          </a:xfrm>
          <a:prstGeom prst="rect">
            <a:avLst/>
          </a:prstGeom>
        </p:spPr>
        <p:txBody>
          <a:bodyPr/>
          <a:lstStyle>
            <a:defPPr>
              <a:defRPr lang="it-IT"/>
            </a:defPPr>
            <a:lvl1pPr marL="0" algn="r" defTabSz="914400" rtl="0" eaLnBrk="1" latinLnBrk="0" hangingPunct="1">
              <a:defRPr sz="8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r>
              <a:rPr lang="it-IT" b="1">
                <a:solidFill>
                  <a:schemeClr val="bg1"/>
                </a:solidFill>
                <a:latin typeface="TIM Sans" panose="02020503040602060503" pitchFamily="18" charset="77"/>
              </a:rPr>
              <a:t>5G Academy</a:t>
            </a:r>
          </a:p>
        </p:txBody>
      </p:sp>
      <p:sp>
        <p:nvSpPr>
          <p:cNvPr id="13" name="Segnaposto piè di pagina 8">
            <a:extLst>
              <a:ext uri="{FF2B5EF4-FFF2-40B4-BE49-F238E27FC236}">
                <a16:creationId xmlns:a16="http://schemas.microsoft.com/office/drawing/2014/main" id="{A42F6AC0-CAEC-4C31-8598-6B0EB48D7D54}"/>
              </a:ext>
            </a:extLst>
          </p:cNvPr>
          <p:cNvSpPr txBox="1">
            <a:spLocks/>
          </p:cNvSpPr>
          <p:nvPr userDrawn="1"/>
        </p:nvSpPr>
        <p:spPr>
          <a:xfrm>
            <a:off x="8615082" y="6481767"/>
            <a:ext cx="2956754" cy="220663"/>
          </a:xfrm>
          <a:prstGeom prst="rect">
            <a:avLst/>
          </a:prstGeom>
        </p:spPr>
        <p:txBody>
          <a:bodyPr/>
          <a:lstStyle>
            <a:defPPr>
              <a:defRPr lang="it-IT"/>
            </a:defPPr>
            <a:lvl1pPr marL="0" algn="r" defTabSz="914400" rtl="0" eaLnBrk="1" latinLnBrk="0" hangingPunct="1">
              <a:defRPr sz="800" kern="1200">
                <a:solidFill>
                  <a:schemeClr val="accent3"/>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r>
              <a:rPr lang="it-IT">
                <a:solidFill>
                  <a:schemeClr val="bg1"/>
                </a:solidFill>
                <a:latin typeface="TIM Sans" panose="02020503040602060503" pitchFamily="18" charset="77"/>
              </a:rPr>
              <a:t>Nome del Relatore, Nome Struttura</a:t>
            </a:r>
          </a:p>
        </p:txBody>
      </p:sp>
      <p:sp>
        <p:nvSpPr>
          <p:cNvPr id="14" name="Shape 12">
            <a:extLst>
              <a:ext uri="{FF2B5EF4-FFF2-40B4-BE49-F238E27FC236}">
                <a16:creationId xmlns:a16="http://schemas.microsoft.com/office/drawing/2014/main" id="{99DD902A-D84E-45EE-A0DF-B635D107DCA1}"/>
              </a:ext>
            </a:extLst>
          </p:cNvPr>
          <p:cNvSpPr txBox="1"/>
          <p:nvPr userDrawn="1"/>
        </p:nvSpPr>
        <p:spPr>
          <a:xfrm>
            <a:off x="11718524" y="6514635"/>
            <a:ext cx="229953" cy="125612"/>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None/>
            </a:pPr>
            <a:fld id="{00000000-1234-1234-1234-123412341234}" type="slidenum">
              <a:rPr lang="en-US" sz="800" b="0" i="0" u="none" strike="noStrike" cap="none">
                <a:solidFill>
                  <a:schemeClr val="bg1"/>
                </a:solidFill>
                <a:latin typeface="TIM Sans" panose="02020503040602060503" pitchFamily="18" charset="77"/>
                <a:ea typeface="Arial"/>
                <a:cs typeface="Arial"/>
                <a:sym typeface="Arial"/>
              </a:rPr>
              <a:t>‹#›</a:t>
            </a:fld>
            <a:endParaRPr sz="800" b="0" i="0" u="none" strike="noStrike" cap="none">
              <a:solidFill>
                <a:schemeClr val="bg1"/>
              </a:solidFill>
              <a:latin typeface="TIM Sans" panose="02020503040602060503" pitchFamily="18" charset="77"/>
              <a:ea typeface="Arial"/>
              <a:cs typeface="Arial"/>
              <a:sym typeface="Arial"/>
            </a:endParaRPr>
          </a:p>
        </p:txBody>
      </p:sp>
      <p:cxnSp>
        <p:nvCxnSpPr>
          <p:cNvPr id="15" name="Shape 13">
            <a:extLst>
              <a:ext uri="{FF2B5EF4-FFF2-40B4-BE49-F238E27FC236}">
                <a16:creationId xmlns:a16="http://schemas.microsoft.com/office/drawing/2014/main" id="{7B47C9DD-7C78-465D-85EB-90802589E5EE}"/>
              </a:ext>
            </a:extLst>
          </p:cNvPr>
          <p:cNvCxnSpPr/>
          <p:nvPr userDrawn="1"/>
        </p:nvCxnSpPr>
        <p:spPr>
          <a:xfrm>
            <a:off x="11650345" y="6345848"/>
            <a:ext cx="0" cy="260350"/>
          </a:xfrm>
          <a:prstGeom prst="straightConnector1">
            <a:avLst/>
          </a:prstGeom>
          <a:noFill/>
          <a:ln w="9525" cap="flat" cmpd="sng">
            <a:solidFill>
              <a:schemeClr val="bg1"/>
            </a:solidFill>
            <a:prstDash val="solid"/>
            <a:round/>
            <a:headEnd type="none" w="sm" len="sm"/>
            <a:tailEnd type="none" w="sm" len="sm"/>
          </a:ln>
        </p:spPr>
      </p:cxnSp>
      <p:pic>
        <p:nvPicPr>
          <p:cNvPr id="16" name="Picture 2">
            <a:extLst>
              <a:ext uri="{FF2B5EF4-FFF2-40B4-BE49-F238E27FC236}">
                <a16:creationId xmlns:a16="http://schemas.microsoft.com/office/drawing/2014/main" id="{F77C323C-B55C-7848-8848-79B4755A4562}"/>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62233" y="6232146"/>
            <a:ext cx="1979470" cy="5977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61789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ono - Rosso">
    <p:spTree>
      <p:nvGrpSpPr>
        <p:cNvPr id="1" name=""/>
        <p:cNvGrpSpPr/>
        <p:nvPr/>
      </p:nvGrpSpPr>
      <p:grpSpPr>
        <a:xfrm>
          <a:off x="0" y="0"/>
          <a:ext cx="0" cy="0"/>
          <a:chOff x="0" y="0"/>
          <a:chExt cx="0" cy="0"/>
        </a:xfrm>
      </p:grpSpPr>
      <p:sp>
        <p:nvSpPr>
          <p:cNvPr id="11" name="Figura a mano libera 10">
            <a:extLst>
              <a:ext uri="{FF2B5EF4-FFF2-40B4-BE49-F238E27FC236}">
                <a16:creationId xmlns:a16="http://schemas.microsoft.com/office/drawing/2014/main" id="{DE9495C1-B9F7-CF46-8454-707638B66872}"/>
              </a:ext>
            </a:extLst>
          </p:cNvPr>
          <p:cNvSpPr/>
          <p:nvPr userDrawn="1"/>
        </p:nvSpPr>
        <p:spPr>
          <a:xfrm>
            <a:off x="299000" y="-10886"/>
            <a:ext cx="304800" cy="642257"/>
          </a:xfrm>
          <a:custGeom>
            <a:avLst/>
            <a:gdLst>
              <a:gd name="connsiteX0" fmla="*/ 0 w 304800"/>
              <a:gd name="connsiteY0" fmla="*/ 0 h 642257"/>
              <a:gd name="connsiteX1" fmla="*/ 0 w 304800"/>
              <a:gd name="connsiteY1" fmla="*/ 642257 h 642257"/>
              <a:gd name="connsiteX2" fmla="*/ 304800 w 304800"/>
              <a:gd name="connsiteY2" fmla="*/ 642257 h 642257"/>
            </a:gdLst>
            <a:ahLst/>
            <a:cxnLst>
              <a:cxn ang="0">
                <a:pos x="connsiteX0" y="connsiteY0"/>
              </a:cxn>
              <a:cxn ang="0">
                <a:pos x="connsiteX1" y="connsiteY1"/>
              </a:cxn>
              <a:cxn ang="0">
                <a:pos x="connsiteX2" y="connsiteY2"/>
              </a:cxn>
            </a:cxnLst>
            <a:rect l="l" t="t" r="r" b="b"/>
            <a:pathLst>
              <a:path w="304800" h="642257">
                <a:moveTo>
                  <a:pt x="0" y="0"/>
                </a:moveTo>
                <a:lnTo>
                  <a:pt x="0" y="642257"/>
                </a:lnTo>
                <a:lnTo>
                  <a:pt x="304800" y="642257"/>
                </a:lnTo>
              </a:path>
            </a:pathLst>
          </a:custGeom>
          <a:noFill/>
          <a:ln w="508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9" name="Rettangolo 8">
            <a:extLst>
              <a:ext uri="{FF2B5EF4-FFF2-40B4-BE49-F238E27FC236}">
                <a16:creationId xmlns:a16="http://schemas.microsoft.com/office/drawing/2014/main" id="{72A0C9D1-2396-410F-A920-FAD1C2A10AD5}"/>
              </a:ext>
            </a:extLst>
          </p:cNvPr>
          <p:cNvSpPr/>
          <p:nvPr userDrawn="1"/>
        </p:nvSpPr>
        <p:spPr>
          <a:xfrm>
            <a:off x="0" y="6161903"/>
            <a:ext cx="12192000" cy="696097"/>
          </a:xfrm>
          <a:prstGeom prst="rect">
            <a:avLst/>
          </a:prstGeom>
          <a:solidFill>
            <a:srgbClr val="0033A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Segnaposto data 7">
            <a:extLst>
              <a:ext uri="{FF2B5EF4-FFF2-40B4-BE49-F238E27FC236}">
                <a16:creationId xmlns:a16="http://schemas.microsoft.com/office/drawing/2014/main" id="{457C81E1-3B0B-4493-B5F3-666F46D59EBF}"/>
              </a:ext>
            </a:extLst>
          </p:cNvPr>
          <p:cNvSpPr txBox="1">
            <a:spLocks/>
          </p:cNvSpPr>
          <p:nvPr userDrawn="1"/>
        </p:nvSpPr>
        <p:spPr>
          <a:xfrm>
            <a:off x="5882236" y="6323015"/>
            <a:ext cx="5689600" cy="211137"/>
          </a:xfrm>
          <a:prstGeom prst="rect">
            <a:avLst/>
          </a:prstGeom>
        </p:spPr>
        <p:txBody>
          <a:bodyPr/>
          <a:lstStyle>
            <a:defPPr>
              <a:defRPr lang="it-IT"/>
            </a:defPPr>
            <a:lvl1pPr marL="0" algn="r" defTabSz="914400" rtl="0" eaLnBrk="1" latinLnBrk="0" hangingPunct="1">
              <a:defRPr sz="8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r>
              <a:rPr lang="it-IT" b="1">
                <a:solidFill>
                  <a:schemeClr val="bg1"/>
                </a:solidFill>
                <a:latin typeface="TIM Sans" panose="02020503040602060503" pitchFamily="18" charset="77"/>
              </a:rPr>
              <a:t>5G Academy</a:t>
            </a:r>
          </a:p>
        </p:txBody>
      </p:sp>
      <p:sp>
        <p:nvSpPr>
          <p:cNvPr id="13" name="Segnaposto piè di pagina 8">
            <a:extLst>
              <a:ext uri="{FF2B5EF4-FFF2-40B4-BE49-F238E27FC236}">
                <a16:creationId xmlns:a16="http://schemas.microsoft.com/office/drawing/2014/main" id="{875599AE-43AD-4130-A3AD-F717FAF07DBD}"/>
              </a:ext>
            </a:extLst>
          </p:cNvPr>
          <p:cNvSpPr txBox="1">
            <a:spLocks/>
          </p:cNvSpPr>
          <p:nvPr userDrawn="1"/>
        </p:nvSpPr>
        <p:spPr>
          <a:xfrm>
            <a:off x="8615082" y="6481767"/>
            <a:ext cx="2956754" cy="220663"/>
          </a:xfrm>
          <a:prstGeom prst="rect">
            <a:avLst/>
          </a:prstGeom>
        </p:spPr>
        <p:txBody>
          <a:bodyPr/>
          <a:lstStyle>
            <a:defPPr>
              <a:defRPr lang="it-IT"/>
            </a:defPPr>
            <a:lvl1pPr marL="0" algn="r" defTabSz="914400" rtl="0" eaLnBrk="1" latinLnBrk="0" hangingPunct="1">
              <a:defRPr sz="800" kern="1200">
                <a:solidFill>
                  <a:schemeClr val="accent3"/>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r>
              <a:rPr lang="it-IT">
                <a:solidFill>
                  <a:schemeClr val="bg1"/>
                </a:solidFill>
                <a:latin typeface="TIM Sans" panose="02020503040602060503" pitchFamily="18" charset="77"/>
              </a:rPr>
              <a:t>Nome del Relatore, Nome Struttura</a:t>
            </a:r>
          </a:p>
        </p:txBody>
      </p:sp>
      <p:sp>
        <p:nvSpPr>
          <p:cNvPr id="14" name="Shape 12">
            <a:extLst>
              <a:ext uri="{FF2B5EF4-FFF2-40B4-BE49-F238E27FC236}">
                <a16:creationId xmlns:a16="http://schemas.microsoft.com/office/drawing/2014/main" id="{F266FF8C-3CC0-4458-9CAB-9F073955C70C}"/>
              </a:ext>
            </a:extLst>
          </p:cNvPr>
          <p:cNvSpPr txBox="1"/>
          <p:nvPr userDrawn="1"/>
        </p:nvSpPr>
        <p:spPr>
          <a:xfrm>
            <a:off x="11718524" y="6514635"/>
            <a:ext cx="229953" cy="125612"/>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None/>
            </a:pPr>
            <a:fld id="{00000000-1234-1234-1234-123412341234}" type="slidenum">
              <a:rPr lang="en-US" sz="800" b="0" i="0" u="none" strike="noStrike" cap="none">
                <a:solidFill>
                  <a:schemeClr val="bg1"/>
                </a:solidFill>
                <a:latin typeface="TIM Sans" panose="02020503040602060503" pitchFamily="18" charset="77"/>
                <a:ea typeface="Arial"/>
                <a:cs typeface="Arial"/>
                <a:sym typeface="Arial"/>
              </a:rPr>
              <a:t>‹#›</a:t>
            </a:fld>
            <a:endParaRPr sz="800" b="0" i="0" u="none" strike="noStrike" cap="none">
              <a:solidFill>
                <a:schemeClr val="bg1"/>
              </a:solidFill>
              <a:latin typeface="TIM Sans" panose="02020503040602060503" pitchFamily="18" charset="77"/>
              <a:ea typeface="Arial"/>
              <a:cs typeface="Arial"/>
              <a:sym typeface="Arial"/>
            </a:endParaRPr>
          </a:p>
        </p:txBody>
      </p:sp>
      <p:cxnSp>
        <p:nvCxnSpPr>
          <p:cNvPr id="15" name="Shape 13">
            <a:extLst>
              <a:ext uri="{FF2B5EF4-FFF2-40B4-BE49-F238E27FC236}">
                <a16:creationId xmlns:a16="http://schemas.microsoft.com/office/drawing/2014/main" id="{503FEE4B-E28F-4992-ABAD-13F0AFE7C052}"/>
              </a:ext>
            </a:extLst>
          </p:cNvPr>
          <p:cNvCxnSpPr/>
          <p:nvPr userDrawn="1"/>
        </p:nvCxnSpPr>
        <p:spPr>
          <a:xfrm>
            <a:off x="11650345" y="6345848"/>
            <a:ext cx="0" cy="260350"/>
          </a:xfrm>
          <a:prstGeom prst="straightConnector1">
            <a:avLst/>
          </a:prstGeom>
          <a:noFill/>
          <a:ln w="9525" cap="flat" cmpd="sng">
            <a:solidFill>
              <a:schemeClr val="bg1"/>
            </a:solidFill>
            <a:prstDash val="solid"/>
            <a:round/>
            <a:headEnd type="none" w="sm" len="sm"/>
            <a:tailEnd type="none" w="sm" len="sm"/>
          </a:ln>
        </p:spPr>
      </p:cxnSp>
    </p:spTree>
    <p:extLst>
      <p:ext uri="{BB962C8B-B14F-4D97-AF65-F5344CB8AC3E}">
        <p14:creationId xmlns:p14="http://schemas.microsoft.com/office/powerpoint/2010/main" val="25439626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ono - Verde">
    <p:spTree>
      <p:nvGrpSpPr>
        <p:cNvPr id="1" name=""/>
        <p:cNvGrpSpPr/>
        <p:nvPr/>
      </p:nvGrpSpPr>
      <p:grpSpPr>
        <a:xfrm>
          <a:off x="0" y="0"/>
          <a:ext cx="0" cy="0"/>
          <a:chOff x="0" y="0"/>
          <a:chExt cx="0" cy="0"/>
        </a:xfrm>
      </p:grpSpPr>
      <p:sp>
        <p:nvSpPr>
          <p:cNvPr id="11" name="Figura a mano libera 10">
            <a:extLst>
              <a:ext uri="{FF2B5EF4-FFF2-40B4-BE49-F238E27FC236}">
                <a16:creationId xmlns:a16="http://schemas.microsoft.com/office/drawing/2014/main" id="{DE9495C1-B9F7-CF46-8454-707638B66872}"/>
              </a:ext>
            </a:extLst>
          </p:cNvPr>
          <p:cNvSpPr/>
          <p:nvPr userDrawn="1"/>
        </p:nvSpPr>
        <p:spPr>
          <a:xfrm>
            <a:off x="299000" y="-10886"/>
            <a:ext cx="304800" cy="642257"/>
          </a:xfrm>
          <a:custGeom>
            <a:avLst/>
            <a:gdLst>
              <a:gd name="connsiteX0" fmla="*/ 0 w 304800"/>
              <a:gd name="connsiteY0" fmla="*/ 0 h 642257"/>
              <a:gd name="connsiteX1" fmla="*/ 0 w 304800"/>
              <a:gd name="connsiteY1" fmla="*/ 642257 h 642257"/>
              <a:gd name="connsiteX2" fmla="*/ 304800 w 304800"/>
              <a:gd name="connsiteY2" fmla="*/ 642257 h 642257"/>
            </a:gdLst>
            <a:ahLst/>
            <a:cxnLst>
              <a:cxn ang="0">
                <a:pos x="connsiteX0" y="connsiteY0"/>
              </a:cxn>
              <a:cxn ang="0">
                <a:pos x="connsiteX1" y="connsiteY1"/>
              </a:cxn>
              <a:cxn ang="0">
                <a:pos x="connsiteX2" y="connsiteY2"/>
              </a:cxn>
            </a:cxnLst>
            <a:rect l="l" t="t" r="r" b="b"/>
            <a:pathLst>
              <a:path w="304800" h="642257">
                <a:moveTo>
                  <a:pt x="0" y="0"/>
                </a:moveTo>
                <a:lnTo>
                  <a:pt x="0" y="642257"/>
                </a:lnTo>
                <a:lnTo>
                  <a:pt x="304800" y="642257"/>
                </a:lnTo>
              </a:path>
            </a:pathLst>
          </a:custGeom>
          <a:noFill/>
          <a:ln w="50800">
            <a:solidFill>
              <a:srgbClr val="DAF21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9" name="Rettangolo 8">
            <a:extLst>
              <a:ext uri="{FF2B5EF4-FFF2-40B4-BE49-F238E27FC236}">
                <a16:creationId xmlns:a16="http://schemas.microsoft.com/office/drawing/2014/main" id="{7BB51B97-A265-4118-A8E7-67D36A07DC4C}"/>
              </a:ext>
            </a:extLst>
          </p:cNvPr>
          <p:cNvSpPr/>
          <p:nvPr userDrawn="1"/>
        </p:nvSpPr>
        <p:spPr>
          <a:xfrm>
            <a:off x="0" y="6161903"/>
            <a:ext cx="12192000" cy="696097"/>
          </a:xfrm>
          <a:prstGeom prst="rect">
            <a:avLst/>
          </a:prstGeom>
          <a:solidFill>
            <a:srgbClr val="0033A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Segnaposto data 7">
            <a:extLst>
              <a:ext uri="{FF2B5EF4-FFF2-40B4-BE49-F238E27FC236}">
                <a16:creationId xmlns:a16="http://schemas.microsoft.com/office/drawing/2014/main" id="{0814D68B-BE4E-4C63-B73A-462911E6E294}"/>
              </a:ext>
            </a:extLst>
          </p:cNvPr>
          <p:cNvSpPr txBox="1">
            <a:spLocks/>
          </p:cNvSpPr>
          <p:nvPr userDrawn="1"/>
        </p:nvSpPr>
        <p:spPr>
          <a:xfrm>
            <a:off x="5882236" y="6323015"/>
            <a:ext cx="5689600" cy="211137"/>
          </a:xfrm>
          <a:prstGeom prst="rect">
            <a:avLst/>
          </a:prstGeom>
        </p:spPr>
        <p:txBody>
          <a:bodyPr/>
          <a:lstStyle>
            <a:defPPr>
              <a:defRPr lang="it-IT"/>
            </a:defPPr>
            <a:lvl1pPr marL="0" algn="r" defTabSz="914400" rtl="0" eaLnBrk="1" latinLnBrk="0" hangingPunct="1">
              <a:defRPr sz="8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r>
              <a:rPr lang="it-IT" b="1">
                <a:solidFill>
                  <a:schemeClr val="bg1"/>
                </a:solidFill>
                <a:latin typeface="TIM Sans" panose="02020503040602060503" pitchFamily="18" charset="77"/>
              </a:rPr>
              <a:t>5G Academy</a:t>
            </a:r>
          </a:p>
        </p:txBody>
      </p:sp>
      <p:sp>
        <p:nvSpPr>
          <p:cNvPr id="13" name="Segnaposto piè di pagina 8">
            <a:extLst>
              <a:ext uri="{FF2B5EF4-FFF2-40B4-BE49-F238E27FC236}">
                <a16:creationId xmlns:a16="http://schemas.microsoft.com/office/drawing/2014/main" id="{ACBBF35D-2BC3-45E0-83BB-E428F1B69D18}"/>
              </a:ext>
            </a:extLst>
          </p:cNvPr>
          <p:cNvSpPr txBox="1">
            <a:spLocks/>
          </p:cNvSpPr>
          <p:nvPr userDrawn="1"/>
        </p:nvSpPr>
        <p:spPr>
          <a:xfrm>
            <a:off x="8615082" y="6481767"/>
            <a:ext cx="2956754" cy="220663"/>
          </a:xfrm>
          <a:prstGeom prst="rect">
            <a:avLst/>
          </a:prstGeom>
        </p:spPr>
        <p:txBody>
          <a:bodyPr/>
          <a:lstStyle>
            <a:defPPr>
              <a:defRPr lang="it-IT"/>
            </a:defPPr>
            <a:lvl1pPr marL="0" algn="r" defTabSz="914400" rtl="0" eaLnBrk="1" latinLnBrk="0" hangingPunct="1">
              <a:defRPr sz="800" kern="1200">
                <a:solidFill>
                  <a:schemeClr val="accent3"/>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r>
              <a:rPr lang="it-IT">
                <a:solidFill>
                  <a:schemeClr val="bg1"/>
                </a:solidFill>
                <a:latin typeface="TIM Sans" panose="02020503040602060503" pitchFamily="18" charset="77"/>
              </a:rPr>
              <a:t>Nome del Relatore, Nome Struttura</a:t>
            </a:r>
          </a:p>
        </p:txBody>
      </p:sp>
      <p:sp>
        <p:nvSpPr>
          <p:cNvPr id="14" name="Shape 12">
            <a:extLst>
              <a:ext uri="{FF2B5EF4-FFF2-40B4-BE49-F238E27FC236}">
                <a16:creationId xmlns:a16="http://schemas.microsoft.com/office/drawing/2014/main" id="{D53EB5D3-FB71-4345-A864-2458AB9D1F78}"/>
              </a:ext>
            </a:extLst>
          </p:cNvPr>
          <p:cNvSpPr txBox="1"/>
          <p:nvPr userDrawn="1"/>
        </p:nvSpPr>
        <p:spPr>
          <a:xfrm>
            <a:off x="11718524" y="6514635"/>
            <a:ext cx="229953" cy="125612"/>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None/>
            </a:pPr>
            <a:fld id="{00000000-1234-1234-1234-123412341234}" type="slidenum">
              <a:rPr lang="en-US" sz="800" b="0" i="0" u="none" strike="noStrike" cap="none">
                <a:solidFill>
                  <a:schemeClr val="bg1"/>
                </a:solidFill>
                <a:latin typeface="TIM Sans" panose="02020503040602060503" pitchFamily="18" charset="77"/>
                <a:ea typeface="Arial"/>
                <a:cs typeface="Arial"/>
                <a:sym typeface="Arial"/>
              </a:rPr>
              <a:t>‹#›</a:t>
            </a:fld>
            <a:endParaRPr sz="800" b="0" i="0" u="none" strike="noStrike" cap="none">
              <a:solidFill>
                <a:schemeClr val="bg1"/>
              </a:solidFill>
              <a:latin typeface="TIM Sans" panose="02020503040602060503" pitchFamily="18" charset="77"/>
              <a:ea typeface="Arial"/>
              <a:cs typeface="Arial"/>
              <a:sym typeface="Arial"/>
            </a:endParaRPr>
          </a:p>
        </p:txBody>
      </p:sp>
      <p:cxnSp>
        <p:nvCxnSpPr>
          <p:cNvPr id="15" name="Shape 13">
            <a:extLst>
              <a:ext uri="{FF2B5EF4-FFF2-40B4-BE49-F238E27FC236}">
                <a16:creationId xmlns:a16="http://schemas.microsoft.com/office/drawing/2014/main" id="{17A154B9-8251-413C-AEFC-1632EC7E0943}"/>
              </a:ext>
            </a:extLst>
          </p:cNvPr>
          <p:cNvCxnSpPr/>
          <p:nvPr userDrawn="1"/>
        </p:nvCxnSpPr>
        <p:spPr>
          <a:xfrm>
            <a:off x="11650345" y="6345848"/>
            <a:ext cx="0" cy="260350"/>
          </a:xfrm>
          <a:prstGeom prst="straightConnector1">
            <a:avLst/>
          </a:prstGeom>
          <a:noFill/>
          <a:ln w="9525" cap="flat" cmpd="sng">
            <a:solidFill>
              <a:schemeClr val="bg1"/>
            </a:solidFill>
            <a:prstDash val="solid"/>
            <a:round/>
            <a:headEnd type="none" w="sm" len="sm"/>
            <a:tailEnd type="none" w="sm" len="sm"/>
          </a:ln>
        </p:spPr>
      </p:cxnSp>
      <p:pic>
        <p:nvPicPr>
          <p:cNvPr id="16" name="Picture 2">
            <a:extLst>
              <a:ext uri="{FF2B5EF4-FFF2-40B4-BE49-F238E27FC236}">
                <a16:creationId xmlns:a16="http://schemas.microsoft.com/office/drawing/2014/main" id="{6D4F2583-BB63-144F-92EC-264C680DA6B4}"/>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62233" y="6232146"/>
            <a:ext cx="1979470" cy="5977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422293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4" name="TextBox 37">
            <a:extLst>
              <a:ext uri="{FF2B5EF4-FFF2-40B4-BE49-F238E27FC236}">
                <a16:creationId xmlns:a16="http://schemas.microsoft.com/office/drawing/2014/main" id="{E79329A4-E11A-8A4B-6A05-6785ADF2D604}"/>
              </a:ext>
            </a:extLst>
          </p:cNvPr>
          <p:cNvSpPr txBox="1"/>
          <p:nvPr userDrawn="1"/>
        </p:nvSpPr>
        <p:spPr>
          <a:xfrm>
            <a:off x="11226800" y="6447040"/>
            <a:ext cx="678689" cy="128240"/>
          </a:xfrm>
          <a:prstGeom prst="rect">
            <a:avLst/>
          </a:prstGeom>
        </p:spPr>
        <p:txBody>
          <a:bodyPr wrap="square" lIns="0" tIns="0" rIns="0" bIns="0" rtlCol="0" anchor="t">
            <a:spAutoFit/>
          </a:bodyPr>
          <a:lstStyle/>
          <a:p>
            <a:pPr algn="r">
              <a:lnSpc>
                <a:spcPts val="959"/>
              </a:lnSpc>
            </a:pPr>
            <a:fld id="{9D069B2F-4B80-4BD9-B833-B84155CAE399}" type="slidenum">
              <a:rPr lang="en-US" sz="933" smtClean="0">
                <a:solidFill>
                  <a:srgbClr val="122AC2"/>
                </a:solidFill>
                <a:latin typeface="TIM Sans" panose="02020503040602060503" pitchFamily="18" charset="0"/>
                <a:ea typeface="Arimo"/>
                <a:cs typeface="Arimo"/>
                <a:sym typeface="Arimo"/>
              </a:rPr>
              <a:pPr algn="r">
                <a:lnSpc>
                  <a:spcPts val="959"/>
                </a:lnSpc>
              </a:pPr>
              <a:t>‹#›</a:t>
            </a:fld>
            <a:endParaRPr lang="en-US" sz="933">
              <a:solidFill>
                <a:srgbClr val="122AC2"/>
              </a:solidFill>
              <a:latin typeface="TIM Sans" panose="02020503040602060503" pitchFamily="18" charset="0"/>
              <a:ea typeface="Arimo"/>
              <a:cs typeface="Arimo"/>
              <a:sym typeface="Arimo"/>
            </a:endParaRPr>
          </a:p>
        </p:txBody>
      </p:sp>
    </p:spTree>
    <p:extLst>
      <p:ext uri="{BB962C8B-B14F-4D97-AF65-F5344CB8AC3E}">
        <p14:creationId xmlns:p14="http://schemas.microsoft.com/office/powerpoint/2010/main" val="203008712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05649541"/>
      </p:ext>
    </p:extLst>
  </p:cSld>
  <p:clrMap bg1="lt1" tx1="dk1" bg2="lt2" tx2="dk2" accent1="accent1" accent2="accent2" accent3="accent3" accent4="accent4" accent5="accent5" accent6="accent6" hlink="hlink" folHlink="folHlink"/>
  <p:sldLayoutIdLst>
    <p:sldLayoutId id="2147483658" r:id="rId1"/>
    <p:sldLayoutId id="2147483656" r:id="rId2"/>
    <p:sldLayoutId id="2147483664" r:id="rId3"/>
    <p:sldLayoutId id="2147483665" r:id="rId4"/>
    <p:sldLayoutId id="2147483659" r:id="rId5"/>
    <p:sldLayoutId id="2147483650" r:id="rId6"/>
    <p:sldLayoutId id="2147483660" r:id="rId7"/>
    <p:sldLayoutId id="2147483661" r:id="rId8"/>
    <p:sldLayoutId id="2147483662" r:id="rId9"/>
    <p:sldLayoutId id="2147483663"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4800" y="183092"/>
            <a:ext cx="5486400" cy="762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04800" y="1066800"/>
            <a:ext cx="5486400" cy="301730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04800" y="4237567"/>
            <a:ext cx="1422400" cy="243417"/>
          </a:xfrm>
          <a:prstGeom prst="rect">
            <a:avLst/>
          </a:prstGeom>
        </p:spPr>
        <p:txBody>
          <a:bodyPr vert="horz" lIns="91440" tIns="45720" rIns="91440" bIns="45720" rtlCol="0" anchor="ctr"/>
          <a:lstStyle>
            <a:lvl1pPr algn="l">
              <a:defRPr sz="800">
                <a:solidFill>
                  <a:schemeClr val="tx1">
                    <a:tint val="75000"/>
                  </a:schemeClr>
                </a:solidFill>
              </a:defRPr>
            </a:lvl1pPr>
          </a:lstStyle>
          <a:p>
            <a:fld id="{1D8BD707-D9CF-40AE-B4C6-C98DA3205C09}" type="datetimeFigureOut">
              <a:rPr lang="en-US" smtClean="0"/>
              <a:pPr/>
              <a:t>9/3/2026</a:t>
            </a:fld>
            <a:endParaRPr lang="en-US"/>
          </a:p>
        </p:txBody>
      </p:sp>
      <p:sp>
        <p:nvSpPr>
          <p:cNvPr id="5" name="Footer Placeholder 4"/>
          <p:cNvSpPr>
            <a:spLocks noGrp="1"/>
          </p:cNvSpPr>
          <p:nvPr>
            <p:ph type="ftr" sz="quarter" idx="3"/>
          </p:nvPr>
        </p:nvSpPr>
        <p:spPr>
          <a:xfrm>
            <a:off x="2082800" y="4237567"/>
            <a:ext cx="1930400" cy="243417"/>
          </a:xfrm>
          <a:prstGeom prst="rect">
            <a:avLst/>
          </a:prstGeom>
        </p:spPr>
        <p:txBody>
          <a:bodyPr vert="horz" lIns="91440" tIns="45720" rIns="91440" bIns="45720" rtlCol="0" anchor="ctr"/>
          <a:lstStyle>
            <a:lvl1pPr algn="ctr">
              <a:defRPr sz="8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368800" y="4237567"/>
            <a:ext cx="1422400" cy="243417"/>
          </a:xfrm>
          <a:prstGeom prst="rect">
            <a:avLst/>
          </a:prstGeom>
        </p:spPr>
        <p:txBody>
          <a:bodyPr vert="horz" lIns="91440" tIns="45720" rIns="91440" bIns="45720" rtlCol="0" anchor="ctr"/>
          <a:lstStyle>
            <a:lvl1pPr algn="r">
              <a:defRPr sz="800">
                <a:solidFill>
                  <a:schemeClr val="tx1">
                    <a:tint val="75000"/>
                  </a:schemeClr>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2811388220"/>
      </p:ext>
    </p:extLst>
  </p:cSld>
  <p:clrMap bg1="lt1" tx1="dk1" bg2="lt2" tx2="dk2" accent1="accent1" accent2="accent2" accent3="accent3" accent4="accent4" accent5="accent5" accent6="accent6" hlink="hlink" folHlink="folHlink"/>
  <p:sldLayoutIdLst>
    <p:sldLayoutId id="2147483667" r:id="rId1"/>
  </p:sldLayoutIdLst>
  <p:txStyles>
    <p:titleStyle>
      <a:lvl1pPr algn="ctr" defTabSz="609630" rtl="0" eaLnBrk="1" latinLnBrk="0" hangingPunct="1">
        <a:spcBef>
          <a:spcPct val="0"/>
        </a:spcBef>
        <a:buNone/>
        <a:defRPr sz="2933" kern="1200">
          <a:solidFill>
            <a:schemeClr val="tx1"/>
          </a:solidFill>
          <a:latin typeface="+mj-lt"/>
          <a:ea typeface="+mj-ea"/>
          <a:cs typeface="+mj-cs"/>
        </a:defRPr>
      </a:lvl1pPr>
    </p:titleStyle>
    <p:bodyStyle>
      <a:lvl1pPr marL="228611" indent="-228611" algn="l" defTabSz="609630" rtl="0" eaLnBrk="1" latinLnBrk="0" hangingPunct="1">
        <a:spcBef>
          <a:spcPct val="20000"/>
        </a:spcBef>
        <a:buFont typeface="Arial" pitchFamily="34" charset="0"/>
        <a:buChar char="•"/>
        <a:defRPr sz="2133" kern="1200">
          <a:solidFill>
            <a:schemeClr val="tx1"/>
          </a:solidFill>
          <a:latin typeface="+mn-lt"/>
          <a:ea typeface="+mn-ea"/>
          <a:cs typeface="+mn-cs"/>
        </a:defRPr>
      </a:lvl1pPr>
      <a:lvl2pPr marL="495325" indent="-190510" algn="l" defTabSz="609630" rtl="0" eaLnBrk="1" latinLnBrk="0" hangingPunct="1">
        <a:spcBef>
          <a:spcPct val="20000"/>
        </a:spcBef>
        <a:buFont typeface="Arial" pitchFamily="34" charset="0"/>
        <a:buChar char="–"/>
        <a:defRPr sz="1867" kern="1200">
          <a:solidFill>
            <a:schemeClr val="tx1"/>
          </a:solidFill>
          <a:latin typeface="+mn-lt"/>
          <a:ea typeface="+mn-ea"/>
          <a:cs typeface="+mn-cs"/>
        </a:defRPr>
      </a:lvl2pPr>
      <a:lvl3pPr marL="762038" indent="-152408" algn="l" defTabSz="609630" rtl="0" eaLnBrk="1" latinLnBrk="0" hangingPunct="1">
        <a:spcBef>
          <a:spcPct val="20000"/>
        </a:spcBef>
        <a:buFont typeface="Arial" pitchFamily="34" charset="0"/>
        <a:buChar char="•"/>
        <a:defRPr sz="1600" kern="1200">
          <a:solidFill>
            <a:schemeClr val="tx1"/>
          </a:solidFill>
          <a:latin typeface="+mn-lt"/>
          <a:ea typeface="+mn-ea"/>
          <a:cs typeface="+mn-cs"/>
        </a:defRPr>
      </a:lvl3pPr>
      <a:lvl4pPr marL="1066853"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4pPr>
      <a:lvl5pPr marL="137166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5pPr>
      <a:lvl6pPr marL="167648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6pPr>
      <a:lvl7pPr marL="198129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7pPr>
      <a:lvl8pPr marL="228611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8pPr>
      <a:lvl9pPr marL="2590930"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9pPr>
    </p:bodyStyle>
    <p:otherStyle>
      <a:defPPr>
        <a:defRPr lang="en-US"/>
      </a:defPPr>
      <a:lvl1pPr marL="0" algn="l" defTabSz="609630" rtl="0" eaLnBrk="1" latinLnBrk="0" hangingPunct="1">
        <a:defRPr sz="1200" kern="1200">
          <a:solidFill>
            <a:schemeClr val="tx1"/>
          </a:solidFill>
          <a:latin typeface="+mn-lt"/>
          <a:ea typeface="+mn-ea"/>
          <a:cs typeface="+mn-cs"/>
        </a:defRPr>
      </a:lvl1pPr>
      <a:lvl2pPr marL="304815" algn="l" defTabSz="609630" rtl="0" eaLnBrk="1" latinLnBrk="0" hangingPunct="1">
        <a:defRPr sz="1200" kern="1200">
          <a:solidFill>
            <a:schemeClr val="tx1"/>
          </a:solidFill>
          <a:latin typeface="+mn-lt"/>
          <a:ea typeface="+mn-ea"/>
          <a:cs typeface="+mn-cs"/>
        </a:defRPr>
      </a:lvl2pPr>
      <a:lvl3pPr marL="609630" algn="l" defTabSz="609630" rtl="0" eaLnBrk="1" latinLnBrk="0" hangingPunct="1">
        <a:defRPr sz="1200" kern="1200">
          <a:solidFill>
            <a:schemeClr val="tx1"/>
          </a:solidFill>
          <a:latin typeface="+mn-lt"/>
          <a:ea typeface="+mn-ea"/>
          <a:cs typeface="+mn-cs"/>
        </a:defRPr>
      </a:lvl3pPr>
      <a:lvl4pPr marL="914446" algn="l" defTabSz="609630" rtl="0" eaLnBrk="1" latinLnBrk="0" hangingPunct="1">
        <a:defRPr sz="1200" kern="1200">
          <a:solidFill>
            <a:schemeClr val="tx1"/>
          </a:solidFill>
          <a:latin typeface="+mn-lt"/>
          <a:ea typeface="+mn-ea"/>
          <a:cs typeface="+mn-cs"/>
        </a:defRPr>
      </a:lvl4pPr>
      <a:lvl5pPr marL="1219261" algn="l" defTabSz="609630" rtl="0" eaLnBrk="1" latinLnBrk="0" hangingPunct="1">
        <a:defRPr sz="1200" kern="1200">
          <a:solidFill>
            <a:schemeClr val="tx1"/>
          </a:solidFill>
          <a:latin typeface="+mn-lt"/>
          <a:ea typeface="+mn-ea"/>
          <a:cs typeface="+mn-cs"/>
        </a:defRPr>
      </a:lvl5pPr>
      <a:lvl6pPr marL="1524076" algn="l" defTabSz="609630" rtl="0" eaLnBrk="1" latinLnBrk="0" hangingPunct="1">
        <a:defRPr sz="1200" kern="1200">
          <a:solidFill>
            <a:schemeClr val="tx1"/>
          </a:solidFill>
          <a:latin typeface="+mn-lt"/>
          <a:ea typeface="+mn-ea"/>
          <a:cs typeface="+mn-cs"/>
        </a:defRPr>
      </a:lvl6pPr>
      <a:lvl7pPr marL="1828891" algn="l" defTabSz="609630" rtl="0" eaLnBrk="1" latinLnBrk="0" hangingPunct="1">
        <a:defRPr sz="1200" kern="1200">
          <a:solidFill>
            <a:schemeClr val="tx1"/>
          </a:solidFill>
          <a:latin typeface="+mn-lt"/>
          <a:ea typeface="+mn-ea"/>
          <a:cs typeface="+mn-cs"/>
        </a:defRPr>
      </a:lvl7pPr>
      <a:lvl8pPr marL="2133707" algn="l" defTabSz="609630" rtl="0" eaLnBrk="1" latinLnBrk="0" hangingPunct="1">
        <a:defRPr sz="1200" kern="1200">
          <a:solidFill>
            <a:schemeClr val="tx1"/>
          </a:solidFill>
          <a:latin typeface="+mn-lt"/>
          <a:ea typeface="+mn-ea"/>
          <a:cs typeface="+mn-cs"/>
        </a:defRPr>
      </a:lvl8pPr>
      <a:lvl9pPr marL="2438522" algn="l" defTabSz="609630" rtl="0" eaLnBrk="1" latinLnBrk="0" hangingPunct="1">
        <a:defRPr sz="1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image" Target="../media/image12.svg"/><Relationship Id="rId5" Type="http://schemas.openxmlformats.org/officeDocument/2006/relationships/notesSlide" Target="../notesSlides/notes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1.svg"/><Relationship Id="rId3" Type="http://schemas.openxmlformats.org/officeDocument/2006/relationships/image" Target="../media/image12.svg"/><Relationship Id="rId4" Type="http://schemas.openxmlformats.org/officeDocument/2006/relationships/image" Target="../media/image10.png"/><Relationship Id="rId5"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3.svg"/><Relationship Id="rId4" Type="http://schemas.openxmlformats.org/officeDocument/2006/relationships/image" Target="../media/image14.svg"/><Relationship Id="rId5" Type="http://schemas.openxmlformats.org/officeDocument/2006/relationships/image" Target="../media/image15.svg"/><Relationship Id="rId6" Type="http://schemas.openxmlformats.org/officeDocument/2006/relationships/image" Target="../media/image16.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18/10/relationships/comments" Target="../comments/modernComment_7134_34C91818.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18/10/relationships/comments" Target="../comments/modernComment_7135_CFADE9C2.xml"/><Relationship Id="rId3" Type="http://schemas.openxmlformats.org/officeDocument/2006/relationships/image" Target="../media/image17.emf"/><Relationship Id="rId4" Type="http://schemas.openxmlformats.org/officeDocument/2006/relationships/image" Target="../media/image23.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svg"/><Relationship Id="rId3" Type="http://schemas.openxmlformats.org/officeDocument/2006/relationships/image" Target="../media/image19.svg"/><Relationship Id="rId4" Type="http://schemas.openxmlformats.org/officeDocument/2006/relationships/image" Target="../media/image20.svg"/><Relationship Id="rId5" Type="http://schemas.openxmlformats.org/officeDocument/2006/relationships/image" Target="../media/image21.svg"/><Relationship Id="rId6" Type="http://schemas.openxmlformats.org/officeDocument/2006/relationships/image" Target="../media/image22.svg"/><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image" Target="../media/image12.svg"/><Relationship Id="rId5"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33A1"/>
        </a:solidFill>
        <a:effectLst/>
      </p:bgPr>
    </p:bg>
    <p:spTree>
      <p:nvGrpSpPr>
        <p:cNvPr id="1" name=""/>
        <p:cNvGrpSpPr/>
        <p:nvPr/>
      </p:nvGrpSpPr>
      <p:grpSpPr>
        <a:xfrm>
          <a:off x="0" y="0"/>
          <a:ext cx="0" cy="0"/>
          <a:chOff x="0" y="0"/>
          <a:chExt cx="0" cy="0"/>
        </a:xfrm>
      </p:grpSpPr>
      <p:sp>
        <p:nvSpPr>
          <p:cNvPr id="38" name="Rectangle 15">
            <a:extLst>
              <a:ext uri="{FF2B5EF4-FFF2-40B4-BE49-F238E27FC236}">
                <a16:creationId xmlns:a16="http://schemas.microsoft.com/office/drawing/2014/main" id="{077ABD21-9B4B-7E2B-21D5-64D10304170D}"/>
              </a:ext>
            </a:extLst>
          </p:cNvPr>
          <p:cNvSpPr/>
          <p:nvPr/>
        </p:nvSpPr>
        <p:spPr>
          <a:xfrm>
            <a:off x="693228" y="2647265"/>
            <a:ext cx="3056737" cy="707886"/>
          </a:xfrm>
          <a:prstGeom prst="rect">
            <a:avLst/>
          </a:prstGeom>
        </p:spPr>
        <p:txBody>
          <a:bodyPr wrap="square">
            <a:spAutoFit/>
          </a:bodyPr>
          <a:lstStyle/>
          <a:p>
            <a:pPr algn="ctr" defTabSz="609660"/>
            <a:r>
              <a:rPr lang="en-US" sz="2000" b="1">
                <a:solidFill>
                  <a:prstClr val="white"/>
                </a:solidFill>
                <a:latin typeface="Montserrat Bold" panose="00000800000000000000" pitchFamily="2" charset="0"/>
              </a:rPr>
              <a:t>Postgraduate Course</a:t>
            </a:r>
          </a:p>
          <a:p>
            <a:pPr algn="ctr" defTabSz="609660"/>
            <a:r>
              <a:rPr lang="en-US" sz="2000" b="1">
                <a:solidFill>
                  <a:prstClr val="white"/>
                </a:solidFill>
                <a:latin typeface="Montserrat Bold" panose="00000800000000000000" pitchFamily="2" charset="0"/>
              </a:rPr>
              <a:t>2026</a:t>
            </a:r>
          </a:p>
        </p:txBody>
      </p:sp>
      <p:sp>
        <p:nvSpPr>
          <p:cNvPr id="46" name="Rectangle 20">
            <a:extLst>
              <a:ext uri="{FF2B5EF4-FFF2-40B4-BE49-F238E27FC236}">
                <a16:creationId xmlns:a16="http://schemas.microsoft.com/office/drawing/2014/main" id="{0127B319-7C2D-D35C-CE0E-432ABF833040}"/>
              </a:ext>
            </a:extLst>
          </p:cNvPr>
          <p:cNvSpPr/>
          <p:nvPr/>
        </p:nvSpPr>
        <p:spPr>
          <a:xfrm>
            <a:off x="671150" y="3204531"/>
            <a:ext cx="3173534" cy="39570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09660"/>
            <a:r>
              <a:rPr lang="it-IT" sz="1333">
                <a:solidFill>
                  <a:prstClr val="white"/>
                </a:solidFill>
                <a:latin typeface="Montserrat" panose="00000500000000000000" pitchFamily="2" charset="0"/>
              </a:rPr>
              <a:t>https://www.5gacademy.unina.it/</a:t>
            </a:r>
          </a:p>
        </p:txBody>
      </p:sp>
      <p:pic>
        <p:nvPicPr>
          <p:cNvPr id="2" name="Immagine 1" descr="Immagine che contiene testo, schermata, Elementi grafici, logo&#10;&#10;Il contenuto generato dall'IA potrebbe non essere corretto.">
            <a:extLst>
              <a:ext uri="{FF2B5EF4-FFF2-40B4-BE49-F238E27FC236}">
                <a16:creationId xmlns:a16="http://schemas.microsoft.com/office/drawing/2014/main" id="{35A9C664-06DD-1608-258F-211AAF7694B0}"/>
              </a:ext>
            </a:extLst>
          </p:cNvPr>
          <p:cNvPicPr>
            <a:picLocks noChangeAspect="1"/>
          </p:cNvPicPr>
          <p:nvPr/>
        </p:nvPicPr>
        <p:blipFill>
          <a:blip r:embed="rId2">
            <a:alphaModFix/>
            <a:extLst>
              <a:ext uri="{28A0092B-C50C-407E-A947-70E740481C1C}">
                <a14:useLocalDpi xmlns:a14="http://schemas.microsoft.com/office/drawing/2010/main" val="0"/>
              </a:ext>
            </a:extLst>
          </a:blip>
          <a:srcRect l="7138" t="5161" r="3525" b="8645"/>
          <a:stretch>
            <a:fillRect/>
          </a:stretch>
        </p:blipFill>
        <p:spPr>
          <a:xfrm>
            <a:off x="3950854" y="1060806"/>
            <a:ext cx="8113510" cy="5218669"/>
          </a:xfrm>
          <a:prstGeom prst="rect">
            <a:avLst/>
          </a:prstGeom>
        </p:spPr>
      </p:pic>
      <p:grpSp>
        <p:nvGrpSpPr>
          <p:cNvPr id="3" name="Gruppo 2">
            <a:extLst>
              <a:ext uri="{FF2B5EF4-FFF2-40B4-BE49-F238E27FC236}">
                <a16:creationId xmlns:a16="http://schemas.microsoft.com/office/drawing/2014/main" id="{63737ECD-B85F-080A-2E65-A69458C8BD7E}"/>
              </a:ext>
            </a:extLst>
          </p:cNvPr>
          <p:cNvGrpSpPr/>
          <p:nvPr/>
        </p:nvGrpSpPr>
        <p:grpSpPr>
          <a:xfrm>
            <a:off x="127559" y="400092"/>
            <a:ext cx="7434251" cy="1259234"/>
            <a:chOff x="371318" y="651646"/>
            <a:chExt cx="7434251" cy="1259234"/>
          </a:xfrm>
        </p:grpSpPr>
        <p:sp>
          <p:nvSpPr>
            <p:cNvPr id="4" name="CasellaDiTesto 3">
              <a:extLst>
                <a:ext uri="{FF2B5EF4-FFF2-40B4-BE49-F238E27FC236}">
                  <a16:creationId xmlns:a16="http://schemas.microsoft.com/office/drawing/2014/main" id="{5F5FE7BF-8429-A4C6-5E0A-D00043CF4562}"/>
                </a:ext>
              </a:extLst>
            </p:cNvPr>
            <p:cNvSpPr txBox="1"/>
            <p:nvPr/>
          </p:nvSpPr>
          <p:spPr>
            <a:xfrm>
              <a:off x="371318" y="651646"/>
              <a:ext cx="4102465" cy="369332"/>
            </a:xfrm>
            <a:prstGeom prst="rect">
              <a:avLst/>
            </a:prstGeom>
            <a:noFill/>
          </p:spPr>
          <p:txBody>
            <a:bodyPr wrap="square" rtlCol="0">
              <a:spAutoFit/>
            </a:bodyPr>
            <a:lstStyle/>
            <a:p>
              <a:pPr defTabSz="609630"/>
              <a:r>
                <a:rPr lang="it-IT" spc="100">
                  <a:solidFill>
                    <a:srgbClr val="4F81BD">
                      <a:lumMod val="40000"/>
                      <a:lumOff val="60000"/>
                    </a:srgbClr>
                  </a:solidFill>
                  <a:latin typeface="Montserrat Medium" panose="00000600000000000000" pitchFamily="2" charset="0"/>
                </a:rPr>
                <a:t>ADVANCED STEM PROGRAM</a:t>
              </a:r>
            </a:p>
          </p:txBody>
        </p:sp>
        <p:sp>
          <p:nvSpPr>
            <p:cNvPr id="5" name="CasellaDiTesto 4">
              <a:extLst>
                <a:ext uri="{FF2B5EF4-FFF2-40B4-BE49-F238E27FC236}">
                  <a16:creationId xmlns:a16="http://schemas.microsoft.com/office/drawing/2014/main" id="{DDC659B1-68BC-1148-716E-CB9C8C05CD79}"/>
                </a:ext>
              </a:extLst>
            </p:cNvPr>
            <p:cNvSpPr txBox="1"/>
            <p:nvPr/>
          </p:nvSpPr>
          <p:spPr>
            <a:xfrm>
              <a:off x="371318" y="801819"/>
              <a:ext cx="6407523" cy="830997"/>
            </a:xfrm>
            <a:prstGeom prst="rect">
              <a:avLst/>
            </a:prstGeom>
            <a:noFill/>
          </p:spPr>
          <p:txBody>
            <a:bodyPr wrap="none" rtlCol="0">
              <a:spAutoFit/>
            </a:bodyPr>
            <a:lstStyle/>
            <a:p>
              <a:pPr defTabSz="609630"/>
              <a:r>
                <a:rPr lang="it-IT" sz="4800" b="1" spc="-100">
                  <a:solidFill>
                    <a:prstClr val="white"/>
                  </a:solidFill>
                  <a:latin typeface="Montserrat Bold" panose="00000800000000000000" pitchFamily="2" charset="0"/>
                </a:rPr>
                <a:t>AI-Native Networks:</a:t>
              </a:r>
            </a:p>
          </p:txBody>
        </p:sp>
        <p:sp>
          <p:nvSpPr>
            <p:cNvPr id="10" name="CasellaDiTesto 9">
              <a:extLst>
                <a:ext uri="{FF2B5EF4-FFF2-40B4-BE49-F238E27FC236}">
                  <a16:creationId xmlns:a16="http://schemas.microsoft.com/office/drawing/2014/main" id="{C84D910F-8A7B-6284-71D6-8EE7A6299D9D}"/>
                </a:ext>
              </a:extLst>
            </p:cNvPr>
            <p:cNvSpPr txBox="1"/>
            <p:nvPr/>
          </p:nvSpPr>
          <p:spPr>
            <a:xfrm>
              <a:off x="371318" y="1449215"/>
              <a:ext cx="7434251" cy="461665"/>
            </a:xfrm>
            <a:prstGeom prst="rect">
              <a:avLst/>
            </a:prstGeom>
            <a:noFill/>
          </p:spPr>
          <p:txBody>
            <a:bodyPr wrap="square" rtlCol="0">
              <a:spAutoFit/>
            </a:bodyPr>
            <a:lstStyle/>
            <a:p>
              <a:pPr defTabSz="609630"/>
              <a:r>
                <a:rPr lang="it-IT" sz="2400" spc="110">
                  <a:solidFill>
                    <a:srgbClr val="E6F0FF"/>
                  </a:solidFill>
                  <a:latin typeface="Proxima Nova:"/>
                </a:rPr>
                <a:t>Engineering the </a:t>
              </a:r>
              <a:r>
                <a:rPr lang="it-IT" sz="2400" spc="110" err="1">
                  <a:solidFill>
                    <a:srgbClr val="E6F0FF"/>
                  </a:solidFill>
                  <a:latin typeface="Proxima Nova:"/>
                </a:rPr>
                <a:t>Infrastructure</a:t>
              </a:r>
              <a:r>
                <a:rPr lang="it-IT" sz="2400" spc="110">
                  <a:solidFill>
                    <a:srgbClr val="E6F0FF"/>
                  </a:solidFill>
                  <a:latin typeface="Proxima Nova:"/>
                </a:rPr>
                <a:t> of the AI Era</a:t>
              </a:r>
            </a:p>
          </p:txBody>
        </p:sp>
      </p:grpSp>
      <p:grpSp>
        <p:nvGrpSpPr>
          <p:cNvPr id="11" name="Gruppo 10">
            <a:extLst>
              <a:ext uri="{FF2B5EF4-FFF2-40B4-BE49-F238E27FC236}">
                <a16:creationId xmlns:a16="http://schemas.microsoft.com/office/drawing/2014/main" id="{89F89B84-1F31-4568-D686-A106A09A2EF6}"/>
              </a:ext>
            </a:extLst>
          </p:cNvPr>
          <p:cNvGrpSpPr/>
          <p:nvPr/>
        </p:nvGrpSpPr>
        <p:grpSpPr>
          <a:xfrm>
            <a:off x="553704" y="3810946"/>
            <a:ext cx="2628172" cy="1676493"/>
            <a:chOff x="1040621" y="3487333"/>
            <a:chExt cx="2628172" cy="1676493"/>
          </a:xfrm>
        </p:grpSpPr>
        <p:sp>
          <p:nvSpPr>
            <p:cNvPr id="15" name="CasellaDiTesto 14">
              <a:extLst>
                <a:ext uri="{FF2B5EF4-FFF2-40B4-BE49-F238E27FC236}">
                  <a16:creationId xmlns:a16="http://schemas.microsoft.com/office/drawing/2014/main" id="{A51FEE1D-1B7B-888D-38D9-93B0B9331932}"/>
                </a:ext>
              </a:extLst>
            </p:cNvPr>
            <p:cNvSpPr txBox="1"/>
            <p:nvPr/>
          </p:nvSpPr>
          <p:spPr>
            <a:xfrm>
              <a:off x="1040621" y="3487333"/>
              <a:ext cx="1337226" cy="276999"/>
            </a:xfrm>
            <a:prstGeom prst="rect">
              <a:avLst/>
            </a:prstGeom>
            <a:noFill/>
          </p:spPr>
          <p:txBody>
            <a:bodyPr wrap="none" rtlCol="0">
              <a:spAutoFit/>
            </a:bodyPr>
            <a:lstStyle/>
            <a:p>
              <a:pPr defTabSz="609630"/>
              <a:r>
                <a:rPr lang="it-IT" sz="1200" b="1">
                  <a:solidFill>
                    <a:prstClr val="white"/>
                  </a:solidFill>
                  <a:latin typeface="Montserrat Medium" panose="00000600000000000000" pitchFamily="2" charset="0"/>
                </a:rPr>
                <a:t>CO-DESIGN BY</a:t>
              </a:r>
            </a:p>
          </p:txBody>
        </p:sp>
        <p:pic>
          <p:nvPicPr>
            <p:cNvPr id="19" name="Elemento grafico 18">
              <a:extLst>
                <a:ext uri="{FF2B5EF4-FFF2-40B4-BE49-F238E27FC236}">
                  <a16:creationId xmlns:a16="http://schemas.microsoft.com/office/drawing/2014/main" id="{23A574F8-B2CD-8089-BF51-F06DC77A464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1721" y="3811564"/>
              <a:ext cx="2461333" cy="763161"/>
            </a:xfrm>
            <a:prstGeom prst="rect">
              <a:avLst/>
            </a:prstGeom>
          </p:spPr>
        </p:pic>
        <p:pic>
          <p:nvPicPr>
            <p:cNvPr id="20" name="Elemento grafico 19">
              <a:extLst>
                <a:ext uri="{FF2B5EF4-FFF2-40B4-BE49-F238E27FC236}">
                  <a16:creationId xmlns:a16="http://schemas.microsoft.com/office/drawing/2014/main" id="{65DADA3A-0BE0-8E2A-FBCB-6B447C73696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46950" y="4669188"/>
              <a:ext cx="2521843" cy="494638"/>
            </a:xfrm>
            <a:prstGeom prst="rect">
              <a:avLst/>
            </a:prstGeom>
          </p:spPr>
        </p:pic>
      </p:grpSp>
    </p:spTree>
    <p:extLst>
      <p:ext uri="{BB962C8B-B14F-4D97-AF65-F5344CB8AC3E}">
        <p14:creationId xmlns:p14="http://schemas.microsoft.com/office/powerpoint/2010/main" val="35140322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33A1"/>
        </a:solidFill>
        <a:effectLst/>
      </p:bgPr>
    </p:bg>
    <p:spTree>
      <p:nvGrpSpPr>
        <p:cNvPr id="1" name=""/>
        <p:cNvGrpSpPr/>
        <p:nvPr/>
      </p:nvGrpSpPr>
      <p:grpSpPr>
        <a:xfrm>
          <a:off x="0" y="0"/>
          <a:ext cx="0" cy="0"/>
          <a:chOff x="0" y="0"/>
          <a:chExt cx="0" cy="0"/>
        </a:xfrm>
      </p:grpSpPr>
      <p:sp>
        <p:nvSpPr>
          <p:cNvPr id="36" name="TextBox 36"/>
          <p:cNvSpPr txBox="1"/>
          <p:nvPr/>
        </p:nvSpPr>
        <p:spPr>
          <a:xfrm>
            <a:off x="535710" y="412430"/>
            <a:ext cx="5306290" cy="164212"/>
          </a:xfrm>
          <a:prstGeom prst="rect">
            <a:avLst/>
          </a:prstGeom>
        </p:spPr>
        <p:txBody>
          <a:bodyPr wrap="square" lIns="0" tIns="0" rIns="0" bIns="0" rtlCol="0" anchor="t">
            <a:spAutoFit/>
          </a:bodyPr>
          <a:lstStyle/>
          <a:p>
            <a:pPr defTabSz="609630">
              <a:defRPr/>
            </a:pPr>
            <a:r>
              <a:rPr lang="en-US" sz="1067" b="1">
                <a:solidFill>
                  <a:srgbClr val="FFFFFF"/>
                </a:solidFill>
                <a:latin typeface="Montserrat" panose="00000500000000000000" pitchFamily="2" charset="0"/>
                <a:ea typeface="Arimo Bold"/>
                <a:cs typeface="Arimo Bold"/>
                <a:sym typeface="Arimo Bold"/>
              </a:rPr>
              <a:t>AEGIS </a:t>
            </a:r>
            <a:r>
              <a:rPr lang="en-US" sz="1067">
                <a:solidFill>
                  <a:srgbClr val="FFFFFF"/>
                </a:solidFill>
                <a:latin typeface="Montserrat" panose="00000500000000000000" pitchFamily="2" charset="0"/>
                <a:ea typeface="Arimo"/>
                <a:cs typeface="Arimo"/>
                <a:sym typeface="Arimo"/>
              </a:rPr>
              <a:t/>
            </a:r>
          </a:p>
          <a:p>
            <a:r>
              <a:t>- Team 4</a:t>
            </a:r>
          </a:p>
        </p:txBody>
      </p:sp>
      <p:sp>
        <p:nvSpPr>
          <p:cNvPr id="39" name="TextBox 39"/>
          <p:cNvSpPr txBox="1"/>
          <p:nvPr/>
        </p:nvSpPr>
        <p:spPr>
          <a:xfrm>
            <a:off x="6092192" y="357015"/>
            <a:ext cx="2322777" cy="820866"/>
          </a:xfrm>
          <a:prstGeom prst="rect">
            <a:avLst/>
          </a:prstGeom>
        </p:spPr>
        <p:txBody>
          <a:bodyPr wrap="square" lIns="0" tIns="0" rIns="0" bIns="0" rtlCol="0" anchor="t">
            <a:spAutoFit/>
          </a:bodyPr>
          <a:lstStyle/>
          <a:p>
            <a:pPr defTabSz="609630"/>
            <a:r>
              <a:rPr lang="en-US" sz="5334">
                <a:solidFill>
                  <a:srgbClr val="FFFFFF"/>
                </a:solidFill>
                <a:latin typeface="Montserrat Medium" panose="00000600000000000000" pitchFamily="2" charset="0"/>
                <a:ea typeface="Arimo"/>
                <a:cs typeface="Arimo"/>
                <a:sym typeface="Arimo"/>
              </a:rPr>
              <a:t>Index</a:t>
            </a:r>
          </a:p>
        </p:txBody>
      </p:sp>
      <p:sp>
        <p:nvSpPr>
          <p:cNvPr id="86" name="TextBox 37">
            <a:extLst>
              <a:ext uri="{FF2B5EF4-FFF2-40B4-BE49-F238E27FC236}">
                <a16:creationId xmlns:a16="http://schemas.microsoft.com/office/drawing/2014/main" id="{1CAF16B7-2FB4-86D0-1A34-76AB7585B548}"/>
              </a:ext>
            </a:extLst>
          </p:cNvPr>
          <p:cNvSpPr txBox="1"/>
          <p:nvPr/>
        </p:nvSpPr>
        <p:spPr>
          <a:xfrm>
            <a:off x="11226800" y="6447040"/>
            <a:ext cx="678689" cy="128240"/>
          </a:xfrm>
          <a:prstGeom prst="rect">
            <a:avLst/>
          </a:prstGeom>
        </p:spPr>
        <p:txBody>
          <a:bodyPr wrap="square" lIns="0" tIns="0" rIns="0" bIns="0" rtlCol="0" anchor="t">
            <a:spAutoFit/>
          </a:bodyPr>
          <a:lstStyle/>
          <a:p>
            <a:pPr algn="r" defTabSz="609630">
              <a:lnSpc>
                <a:spcPts val="959"/>
              </a:lnSpc>
            </a:pPr>
            <a:fld id="{9D069B2F-4B80-4BD9-B833-B84155CAE399}" type="slidenum">
              <a:rPr lang="en-US" sz="933">
                <a:solidFill>
                  <a:prstClr val="white"/>
                </a:solidFill>
                <a:latin typeface="TIM Sans" panose="02020503040602060503" pitchFamily="18" charset="0"/>
                <a:ea typeface="Arimo"/>
                <a:cs typeface="Arimo"/>
                <a:sym typeface="Arimo"/>
              </a:rPr>
              <a:pPr algn="r" defTabSz="609630">
                <a:lnSpc>
                  <a:spcPts val="959"/>
                </a:lnSpc>
              </a:pPr>
              <a:t>2</a:t>
            </a:fld>
            <a:endParaRPr lang="en-US" sz="933">
              <a:solidFill>
                <a:prstClr val="white"/>
              </a:solidFill>
              <a:latin typeface="TIM Sans" panose="02020503040602060503" pitchFamily="18" charset="0"/>
              <a:ea typeface="Arimo"/>
              <a:cs typeface="Arimo"/>
              <a:sym typeface="Arimo"/>
            </a:endParaRPr>
          </a:p>
        </p:txBody>
      </p:sp>
      <p:grpSp>
        <p:nvGrpSpPr>
          <p:cNvPr id="2" name="Gruppo 1">
            <a:extLst>
              <a:ext uri="{FF2B5EF4-FFF2-40B4-BE49-F238E27FC236}">
                <a16:creationId xmlns:a16="http://schemas.microsoft.com/office/drawing/2014/main" id="{19BB1831-2052-6BA9-74AF-6612EF0ACDC6}"/>
              </a:ext>
            </a:extLst>
          </p:cNvPr>
          <p:cNvGrpSpPr/>
          <p:nvPr/>
        </p:nvGrpSpPr>
        <p:grpSpPr>
          <a:xfrm>
            <a:off x="671150" y="4977016"/>
            <a:ext cx="2628172" cy="1676493"/>
            <a:chOff x="1040621" y="3487333"/>
            <a:chExt cx="2628172" cy="1676493"/>
          </a:xfrm>
        </p:grpSpPr>
        <p:sp>
          <p:nvSpPr>
            <p:cNvPr id="3" name="CasellaDiTesto 2">
              <a:extLst>
                <a:ext uri="{FF2B5EF4-FFF2-40B4-BE49-F238E27FC236}">
                  <a16:creationId xmlns:a16="http://schemas.microsoft.com/office/drawing/2014/main" id="{EF9287E2-D914-EAB9-D091-E328BC7D5CE8}"/>
                </a:ext>
              </a:extLst>
            </p:cNvPr>
            <p:cNvSpPr txBox="1"/>
            <p:nvPr/>
          </p:nvSpPr>
          <p:spPr>
            <a:xfrm>
              <a:off x="1040621" y="3487333"/>
              <a:ext cx="1337226" cy="276999"/>
            </a:xfrm>
            <a:prstGeom prst="rect">
              <a:avLst/>
            </a:prstGeom>
            <a:noFill/>
          </p:spPr>
          <p:txBody>
            <a:bodyPr wrap="none" rtlCol="0">
              <a:spAutoFit/>
            </a:bodyPr>
            <a:lstStyle/>
            <a:p>
              <a:pPr defTabSz="609630"/>
              <a:r>
                <a:rPr lang="it-IT" sz="1200" b="1">
                  <a:solidFill>
                    <a:prstClr val="white"/>
                  </a:solidFill>
                  <a:latin typeface="Montserrat Medium" panose="00000600000000000000" pitchFamily="2" charset="0"/>
                </a:rPr>
                <a:t>CO-DESIGN BY</a:t>
              </a:r>
            </a:p>
          </p:txBody>
        </p:sp>
        <p:pic>
          <p:nvPicPr>
            <p:cNvPr id="4" name="Elemento grafico 3">
              <a:extLst>
                <a:ext uri="{FF2B5EF4-FFF2-40B4-BE49-F238E27FC236}">
                  <a16:creationId xmlns:a16="http://schemas.microsoft.com/office/drawing/2014/main" id="{EA722B40-A099-F9DA-1BD5-5620CD7EC38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721" y="3811564"/>
              <a:ext cx="2461333" cy="763161"/>
            </a:xfrm>
            <a:prstGeom prst="rect">
              <a:avLst/>
            </a:prstGeom>
          </p:spPr>
        </p:pic>
        <p:pic>
          <p:nvPicPr>
            <p:cNvPr id="5" name="Elemento grafico 4">
              <a:extLst>
                <a:ext uri="{FF2B5EF4-FFF2-40B4-BE49-F238E27FC236}">
                  <a16:creationId xmlns:a16="http://schemas.microsoft.com/office/drawing/2014/main" id="{A730C933-14BD-7923-1550-12D3D151CB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6950" y="4669188"/>
              <a:ext cx="2521843" cy="494638"/>
            </a:xfrm>
            <a:prstGeom prst="rect">
              <a:avLst/>
            </a:prstGeom>
          </p:spPr>
        </p:pic>
      </p:grpSp>
      <p:pic>
        <p:nvPicPr>
          <p:cNvPr id="6" name="Immagine 5" descr="Immagine che contiene testo, schermata, Elementi grafici, logo&#10;&#10;Il contenuto generato dall'IA potrebbe non essere corretto.">
            <a:extLst>
              <a:ext uri="{FF2B5EF4-FFF2-40B4-BE49-F238E27FC236}">
                <a16:creationId xmlns:a16="http://schemas.microsoft.com/office/drawing/2014/main" id="{FD2FBD41-663B-6BDB-5566-7744D38AF507}"/>
              </a:ext>
            </a:extLst>
          </p:cNvPr>
          <p:cNvPicPr>
            <a:picLocks noChangeAspect="1"/>
          </p:cNvPicPr>
          <p:nvPr/>
        </p:nvPicPr>
        <p:blipFill>
          <a:blip r:embed="rId4">
            <a:alphaModFix amt="97000"/>
            <a:extLst>
              <a:ext uri="{28A0092B-C50C-407E-A947-70E740481C1C}">
                <a14:useLocalDpi xmlns:a14="http://schemas.microsoft.com/office/drawing/2010/main" val="0"/>
              </a:ext>
            </a:extLst>
          </a:blip>
          <a:srcRect l="7138" t="5161" r="3525" b="8645"/>
          <a:stretch>
            <a:fillRect/>
          </a:stretch>
        </p:blipFill>
        <p:spPr>
          <a:xfrm>
            <a:off x="535710" y="1945624"/>
            <a:ext cx="4032779" cy="2593913"/>
          </a:xfrm>
          <a:prstGeom prst="rect">
            <a:avLst/>
          </a:prstGeom>
        </p:spPr>
      </p:pic>
      <p:sp>
        <p:nvSpPr>
          <p:cNvPr id="87" name="TextBox 86"/>
          <p:cNvSpPr txBox="1"/>
          <p:nvPr/>
        </p:nvSpPr>
        <p:spPr>
          <a:xfrm>
            <a:off x="6130000" y="1150000"/>
            <a:ext cx="460000" cy="520000"/>
          </a:xfrm>
          <a:prstGeom prst="rect">
            <a:avLst/>
          </a:prstGeom>
          <a:noFill/>
        </p:spPr>
        <p:txBody>
          <a:bodyPr wrap="square">
            <a:spAutoFit/>
          </a:bodyPr>
          <a:lstStyle/>
          <a:p>
            <a:r>
              <a:rPr sz="1500" b="1">
                <a:solidFill>
                  <a:srgbClr val="01ABDB"/>
                </a:solidFill>
                <a:latin typeface="Montserrat"/>
              </a:rPr>
              <a:t>01</a:t>
            </a:r>
          </a:p>
        </p:txBody>
      </p:sp>
      <p:sp>
        <p:nvSpPr>
          <p:cNvPr id="88" name="TextBox 87"/>
          <p:cNvSpPr txBox="1"/>
          <p:nvPr/>
        </p:nvSpPr>
        <p:spPr>
          <a:xfrm>
            <a:off x="6700000" y="1150000"/>
            <a:ext cx="5900000" cy="520000"/>
          </a:xfrm>
          <a:prstGeom prst="rect">
            <a:avLst/>
          </a:prstGeom>
          <a:noFill/>
        </p:spPr>
        <p:txBody>
          <a:bodyPr wrap="square" anchor="ctr">
            <a:spAutoFit/>
          </a:bodyPr>
          <a:lstStyle/>
          <a:p>
            <a:r>
              <a:rPr sz="1400" b="1">
                <a:solidFill>
                  <a:srgbClr val="020C31"/>
                </a:solidFill>
                <a:latin typeface="Montserrat"/>
              </a:rPr>
              <a:t>What We're Building</a:t>
            </a:r>
          </a:p>
        </p:txBody>
      </p:sp>
      <p:sp>
        <p:nvSpPr>
          <p:cNvPr id="89" name="TextBox 88"/>
          <p:cNvSpPr txBox="1"/>
          <p:nvPr/>
        </p:nvSpPr>
        <p:spPr>
          <a:xfrm>
            <a:off x="6130000" y="1750000"/>
            <a:ext cx="460000" cy="520000"/>
          </a:xfrm>
          <a:prstGeom prst="rect">
            <a:avLst/>
          </a:prstGeom>
          <a:noFill/>
        </p:spPr>
        <p:txBody>
          <a:bodyPr wrap="square">
            <a:spAutoFit/>
          </a:bodyPr>
          <a:lstStyle/>
          <a:p>
            <a:r>
              <a:rPr sz="1500" b="1">
                <a:solidFill>
                  <a:srgbClr val="01ABDB"/>
                </a:solidFill>
                <a:latin typeface="Montserrat"/>
              </a:rPr>
              <a:t>02</a:t>
            </a:r>
          </a:p>
        </p:txBody>
      </p:sp>
      <p:sp>
        <p:nvSpPr>
          <p:cNvPr id="90" name="TextBox 89"/>
          <p:cNvSpPr txBox="1"/>
          <p:nvPr/>
        </p:nvSpPr>
        <p:spPr>
          <a:xfrm>
            <a:off x="6700000" y="1750000"/>
            <a:ext cx="5900000" cy="520000"/>
          </a:xfrm>
          <a:prstGeom prst="rect">
            <a:avLst/>
          </a:prstGeom>
          <a:noFill/>
        </p:spPr>
        <p:txBody>
          <a:bodyPr wrap="square" anchor="ctr">
            <a:spAutoFit/>
          </a:bodyPr>
          <a:lstStyle/>
          <a:p>
            <a:r>
              <a:rPr sz="1400" b="1">
                <a:solidFill>
                  <a:srgbClr val="020C31"/>
                </a:solidFill>
                <a:latin typeface="Montserrat"/>
              </a:rPr>
              <a:t>The 5G Network, In Plain Terms</a:t>
            </a:r>
          </a:p>
        </p:txBody>
      </p:sp>
      <p:sp>
        <p:nvSpPr>
          <p:cNvPr id="91" name="TextBox 90"/>
          <p:cNvSpPr txBox="1"/>
          <p:nvPr/>
        </p:nvSpPr>
        <p:spPr>
          <a:xfrm>
            <a:off x="6130000" y="2350000"/>
            <a:ext cx="460000" cy="520000"/>
          </a:xfrm>
          <a:prstGeom prst="rect">
            <a:avLst/>
          </a:prstGeom>
          <a:noFill/>
        </p:spPr>
        <p:txBody>
          <a:bodyPr wrap="square">
            <a:spAutoFit/>
          </a:bodyPr>
          <a:lstStyle/>
          <a:p>
            <a:r>
              <a:rPr sz="1500" b="1">
                <a:solidFill>
                  <a:srgbClr val="01ABDB"/>
                </a:solidFill>
                <a:latin typeface="Montserrat"/>
              </a:rPr>
              <a:t>03</a:t>
            </a:r>
          </a:p>
        </p:txBody>
      </p:sp>
      <p:sp>
        <p:nvSpPr>
          <p:cNvPr id="92" name="TextBox 91"/>
          <p:cNvSpPr txBox="1"/>
          <p:nvPr/>
        </p:nvSpPr>
        <p:spPr>
          <a:xfrm>
            <a:off x="6700000" y="2350000"/>
            <a:ext cx="5900000" cy="520000"/>
          </a:xfrm>
          <a:prstGeom prst="rect">
            <a:avLst/>
          </a:prstGeom>
          <a:noFill/>
        </p:spPr>
        <p:txBody>
          <a:bodyPr wrap="square" anchor="ctr">
            <a:spAutoFit/>
          </a:bodyPr>
          <a:lstStyle/>
          <a:p>
            <a:r>
              <a:rPr sz="1400" b="1">
                <a:solidFill>
                  <a:srgbClr val="020C31"/>
                </a:solidFill>
                <a:latin typeface="Montserrat"/>
              </a:rPr>
              <a:t>The Agents We Modelled</a:t>
            </a:r>
          </a:p>
        </p:txBody>
      </p:sp>
      <p:sp>
        <p:nvSpPr>
          <p:cNvPr id="93" name="TextBox 92"/>
          <p:cNvSpPr txBox="1"/>
          <p:nvPr/>
        </p:nvSpPr>
        <p:spPr>
          <a:xfrm>
            <a:off x="6130000" y="2950000"/>
            <a:ext cx="460000" cy="520000"/>
          </a:xfrm>
          <a:prstGeom prst="rect">
            <a:avLst/>
          </a:prstGeom>
          <a:noFill/>
        </p:spPr>
        <p:txBody>
          <a:bodyPr wrap="square">
            <a:spAutoFit/>
          </a:bodyPr>
          <a:lstStyle/>
          <a:p>
            <a:r>
              <a:rPr sz="1500" b="1">
                <a:solidFill>
                  <a:srgbClr val="01ABDB"/>
                </a:solidFill>
                <a:latin typeface="Montserrat"/>
              </a:rPr>
              <a:t>04</a:t>
            </a:r>
          </a:p>
        </p:txBody>
      </p:sp>
      <p:sp>
        <p:nvSpPr>
          <p:cNvPr id="94" name="TextBox 93"/>
          <p:cNvSpPr txBox="1"/>
          <p:nvPr/>
        </p:nvSpPr>
        <p:spPr>
          <a:xfrm>
            <a:off x="6700000" y="2950000"/>
            <a:ext cx="5900000" cy="520000"/>
          </a:xfrm>
          <a:prstGeom prst="rect">
            <a:avLst/>
          </a:prstGeom>
          <a:noFill/>
        </p:spPr>
        <p:txBody>
          <a:bodyPr wrap="square" anchor="ctr">
            <a:spAutoFit/>
          </a:bodyPr>
          <a:lstStyle/>
          <a:p>
            <a:r>
              <a:rPr sz="1400" b="1">
                <a:solidFill>
                  <a:srgbClr val="020C31"/>
                </a:solidFill>
                <a:latin typeface="Montserrat"/>
              </a:rPr>
              <a:t>How We Built The Prototype</a:t>
            </a:r>
          </a:p>
        </p:txBody>
      </p:sp>
      <p:sp>
        <p:nvSpPr>
          <p:cNvPr id="95" name="TextBox 94"/>
          <p:cNvSpPr txBox="1"/>
          <p:nvPr/>
        </p:nvSpPr>
        <p:spPr>
          <a:xfrm>
            <a:off x="6130000" y="3550000"/>
            <a:ext cx="460000" cy="520000"/>
          </a:xfrm>
          <a:prstGeom prst="rect">
            <a:avLst/>
          </a:prstGeom>
          <a:noFill/>
        </p:spPr>
        <p:txBody>
          <a:bodyPr wrap="square">
            <a:spAutoFit/>
          </a:bodyPr>
          <a:lstStyle/>
          <a:p>
            <a:r>
              <a:rPr sz="1500" b="1">
                <a:solidFill>
                  <a:srgbClr val="01ABDB"/>
                </a:solidFill>
                <a:latin typeface="Montserrat"/>
              </a:rPr>
              <a:t>05</a:t>
            </a:r>
          </a:p>
        </p:txBody>
      </p:sp>
      <p:sp>
        <p:nvSpPr>
          <p:cNvPr id="96" name="TextBox 95"/>
          <p:cNvSpPr txBox="1"/>
          <p:nvPr/>
        </p:nvSpPr>
        <p:spPr>
          <a:xfrm>
            <a:off x="6700000" y="3550000"/>
            <a:ext cx="5900000" cy="520000"/>
          </a:xfrm>
          <a:prstGeom prst="rect">
            <a:avLst/>
          </a:prstGeom>
          <a:noFill/>
        </p:spPr>
        <p:txBody>
          <a:bodyPr wrap="square" anchor="ctr">
            <a:spAutoFit/>
          </a:bodyPr>
          <a:lstStyle/>
          <a:p>
            <a:r>
              <a:rPr sz="1400" b="1">
                <a:solidFill>
                  <a:srgbClr val="020C31"/>
                </a:solidFill>
                <a:latin typeface="Montserrat"/>
              </a:rPr>
              <a:t>Technologies &amp; Synthetic Data</a:t>
            </a:r>
          </a:p>
        </p:txBody>
      </p:sp>
      <p:sp>
        <p:nvSpPr>
          <p:cNvPr id="97" name="TextBox 96"/>
          <p:cNvSpPr txBox="1"/>
          <p:nvPr/>
        </p:nvSpPr>
        <p:spPr>
          <a:xfrm>
            <a:off x="6130000" y="4150000"/>
            <a:ext cx="460000" cy="520000"/>
          </a:xfrm>
          <a:prstGeom prst="rect">
            <a:avLst/>
          </a:prstGeom>
          <a:noFill/>
        </p:spPr>
        <p:txBody>
          <a:bodyPr wrap="square">
            <a:spAutoFit/>
          </a:bodyPr>
          <a:lstStyle/>
          <a:p>
            <a:r>
              <a:rPr sz="1500" b="1">
                <a:solidFill>
                  <a:srgbClr val="01ABDB"/>
                </a:solidFill>
                <a:latin typeface="Montserrat"/>
              </a:rPr>
              <a:t>06</a:t>
            </a:r>
          </a:p>
        </p:txBody>
      </p:sp>
      <p:sp>
        <p:nvSpPr>
          <p:cNvPr id="98" name="TextBox 97"/>
          <p:cNvSpPr txBox="1"/>
          <p:nvPr/>
        </p:nvSpPr>
        <p:spPr>
          <a:xfrm>
            <a:off x="6700000" y="4150000"/>
            <a:ext cx="5900000" cy="520000"/>
          </a:xfrm>
          <a:prstGeom prst="rect">
            <a:avLst/>
          </a:prstGeom>
          <a:noFill/>
        </p:spPr>
        <p:txBody>
          <a:bodyPr wrap="square" anchor="ctr">
            <a:spAutoFit/>
          </a:bodyPr>
          <a:lstStyle/>
          <a:p>
            <a:r>
              <a:rPr sz="1400" b="1">
                <a:solidFill>
                  <a:srgbClr val="020C31"/>
                </a:solidFill>
                <a:latin typeface="Montserrat"/>
              </a:rPr>
              <a:t>The Attacks We Simulated</a:t>
            </a:r>
          </a:p>
        </p:txBody>
      </p:sp>
      <p:sp>
        <p:nvSpPr>
          <p:cNvPr id="99" name="TextBox 98"/>
          <p:cNvSpPr txBox="1"/>
          <p:nvPr/>
        </p:nvSpPr>
        <p:spPr>
          <a:xfrm>
            <a:off x="6130000" y="4750000"/>
            <a:ext cx="460000" cy="520000"/>
          </a:xfrm>
          <a:prstGeom prst="rect">
            <a:avLst/>
          </a:prstGeom>
          <a:noFill/>
        </p:spPr>
        <p:txBody>
          <a:bodyPr wrap="square">
            <a:spAutoFit/>
          </a:bodyPr>
          <a:lstStyle/>
          <a:p>
            <a:r>
              <a:rPr sz="1500" b="1">
                <a:solidFill>
                  <a:srgbClr val="01ABDB"/>
                </a:solidFill>
                <a:latin typeface="Montserrat"/>
              </a:rPr>
              <a:t>07</a:t>
            </a:r>
          </a:p>
        </p:txBody>
      </p:sp>
      <p:sp>
        <p:nvSpPr>
          <p:cNvPr id="100" name="TextBox 99"/>
          <p:cNvSpPr txBox="1"/>
          <p:nvPr/>
        </p:nvSpPr>
        <p:spPr>
          <a:xfrm>
            <a:off x="6700000" y="4750000"/>
            <a:ext cx="5900000" cy="520000"/>
          </a:xfrm>
          <a:prstGeom prst="rect">
            <a:avLst/>
          </a:prstGeom>
          <a:noFill/>
        </p:spPr>
        <p:txBody>
          <a:bodyPr wrap="square" anchor="ctr">
            <a:spAutoFit/>
          </a:bodyPr>
          <a:lstStyle/>
          <a:p>
            <a:r>
              <a:rPr sz="1400" b="1">
                <a:solidFill>
                  <a:srgbClr val="020C31"/>
                </a:solidFill>
                <a:latin typeface="Montserrat"/>
              </a:rPr>
              <a:t>How AEGIS Decides</a:t>
            </a:r>
          </a:p>
        </p:txBody>
      </p:sp>
      <p:sp>
        <p:nvSpPr>
          <p:cNvPr id="101" name="TextBox 100"/>
          <p:cNvSpPr txBox="1"/>
          <p:nvPr/>
        </p:nvSpPr>
        <p:spPr>
          <a:xfrm>
            <a:off x="6130000" y="5350000"/>
            <a:ext cx="460000" cy="520000"/>
          </a:xfrm>
          <a:prstGeom prst="rect">
            <a:avLst/>
          </a:prstGeom>
          <a:noFill/>
        </p:spPr>
        <p:txBody>
          <a:bodyPr wrap="square">
            <a:spAutoFit/>
          </a:bodyPr>
          <a:lstStyle/>
          <a:p>
            <a:r>
              <a:rPr sz="1500" b="1">
                <a:solidFill>
                  <a:srgbClr val="01ABDB"/>
                </a:solidFill>
                <a:latin typeface="Montserrat"/>
              </a:rPr>
              <a:t>08</a:t>
            </a:r>
          </a:p>
        </p:txBody>
      </p:sp>
      <p:sp>
        <p:nvSpPr>
          <p:cNvPr id="102" name="TextBox 101"/>
          <p:cNvSpPr txBox="1"/>
          <p:nvPr/>
        </p:nvSpPr>
        <p:spPr>
          <a:xfrm>
            <a:off x="6700000" y="5350000"/>
            <a:ext cx="5900000" cy="520000"/>
          </a:xfrm>
          <a:prstGeom prst="rect">
            <a:avLst/>
          </a:prstGeom>
          <a:noFill/>
        </p:spPr>
        <p:txBody>
          <a:bodyPr wrap="square" anchor="ctr">
            <a:spAutoFit/>
          </a:bodyPr>
          <a:lstStyle/>
          <a:p>
            <a:r>
              <a:rPr sz="1400" b="1">
                <a:solidFill>
                  <a:srgbClr val="020C31"/>
                </a:solidFill>
                <a:latin typeface="Montserrat"/>
              </a:rPr>
              <a:t>Proof It Works</a:t>
            </a:r>
          </a:p>
        </p:txBody>
      </p:sp>
      <p:sp>
        <p:nvSpPr>
          <p:cNvPr id="103" name="TextBox 102"/>
          <p:cNvSpPr txBox="1"/>
          <p:nvPr/>
        </p:nvSpPr>
        <p:spPr>
          <a:xfrm>
            <a:off x="6130000" y="5950000"/>
            <a:ext cx="460000" cy="520000"/>
          </a:xfrm>
          <a:prstGeom prst="rect">
            <a:avLst/>
          </a:prstGeom>
          <a:noFill/>
        </p:spPr>
        <p:txBody>
          <a:bodyPr wrap="square">
            <a:spAutoFit/>
          </a:bodyPr>
          <a:lstStyle/>
          <a:p>
            <a:r>
              <a:rPr sz="1500" b="1">
                <a:solidFill>
                  <a:srgbClr val="01ABDB"/>
                </a:solidFill>
                <a:latin typeface="Montserrat"/>
              </a:rPr>
              <a:t>09</a:t>
            </a:r>
          </a:p>
        </p:txBody>
      </p:sp>
      <p:sp>
        <p:nvSpPr>
          <p:cNvPr id="104" name="TextBox 103"/>
          <p:cNvSpPr txBox="1"/>
          <p:nvPr/>
        </p:nvSpPr>
        <p:spPr>
          <a:xfrm>
            <a:off x="6700000" y="5950000"/>
            <a:ext cx="5900000" cy="520000"/>
          </a:xfrm>
          <a:prstGeom prst="rect">
            <a:avLst/>
          </a:prstGeom>
          <a:noFill/>
        </p:spPr>
        <p:txBody>
          <a:bodyPr wrap="square" anchor="ctr">
            <a:spAutoFit/>
          </a:bodyPr>
          <a:lstStyle/>
          <a:p>
            <a:r>
              <a:rPr sz="1400" b="1">
                <a:solidFill>
                  <a:srgbClr val="020C31"/>
                </a:solidFill>
                <a:latin typeface="Montserrat"/>
              </a:rPr>
              <a:t>Project Plan: Schedule, Feasibility &amp; Business Case</a:t>
            </a:r>
          </a:p>
        </p:txBody>
      </p:sp>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ttangolo 9">
            <a:extLst>
              <a:ext uri="{FF2B5EF4-FFF2-40B4-BE49-F238E27FC236}">
                <a16:creationId xmlns:a16="http://schemas.microsoft.com/office/drawing/2014/main" id="{E6AC45B5-ACF4-490C-9F51-BF358B5B49A1}"/>
              </a:ext>
            </a:extLst>
          </p:cNvPr>
          <p:cNvSpPr/>
          <p:nvPr/>
        </p:nvSpPr>
        <p:spPr>
          <a:xfrm>
            <a:off x="-4238" y="-16778"/>
            <a:ext cx="5850651" cy="5630779"/>
          </a:xfrm>
          <a:prstGeom prst="rect">
            <a:avLst/>
          </a:prstGeom>
          <a:solidFill>
            <a:srgbClr val="1742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latin typeface="Montserrat" panose="00000500000000000000" pitchFamily="2" charset="0"/>
            </a:endParaRPr>
          </a:p>
        </p:txBody>
      </p:sp>
      <p:sp>
        <p:nvSpPr>
          <p:cNvPr id="2" name="Rettangolo 1">
            <a:extLst>
              <a:ext uri="{FF2B5EF4-FFF2-40B4-BE49-F238E27FC236}">
                <a16:creationId xmlns:a16="http://schemas.microsoft.com/office/drawing/2014/main" id="{E2727F6D-66F1-ED4D-AE67-1BB2C84941AF}"/>
              </a:ext>
            </a:extLst>
          </p:cNvPr>
          <p:cNvSpPr/>
          <p:nvPr/>
        </p:nvSpPr>
        <p:spPr>
          <a:xfrm>
            <a:off x="564292" y="743118"/>
            <a:ext cx="4736757" cy="2308324"/>
          </a:xfrm>
          <a:prstGeom prst="rect">
            <a:avLst/>
          </a:prstGeom>
        </p:spPr>
        <p:txBody>
          <a:bodyPr wrap="square">
            <a:spAutoFit/>
          </a:bodyPr>
          <a:lstStyle/>
          <a:p>
            <a:r>
              <a:rPr lang="it-IT" sz="3600" err="1">
                <a:solidFill>
                  <a:schemeClr val="bg1"/>
                </a:solidFill>
                <a:latin typeface="Montserrat" panose="00000500000000000000" pitchFamily="2" charset="0"/>
              </a:rPr>
              <a:t>Credentials prove what you have, AEGIS verifies how you behave.</a:t>
            </a:r>
            <a:r>
              <a:rPr lang="it-IT" sz="3600">
                <a:solidFill>
                  <a:schemeClr val="bg1"/>
                </a:solidFill>
                <a:latin typeface="Montserrat" panose="00000500000000000000" pitchFamily="2" charset="0"/>
              </a:rPr>
              <a:t/>
            </a:r>
            <a:r>
              <a:rPr lang="it-IT" sz="3600" err="1">
                <a:solidFill>
                  <a:schemeClr val="bg1"/>
                </a:solidFill>
                <a:latin typeface="Montserrat" panose="00000500000000000000" pitchFamily="2" charset="0"/>
              </a:rPr>
              <a:t/>
            </a:r>
            <a:r>
              <a:rPr lang="it-IT" sz="3600">
                <a:solidFill>
                  <a:schemeClr val="bg1"/>
                </a:solidFill>
                <a:latin typeface="Montserrat" panose="00000500000000000000" pitchFamily="2" charset="0"/>
              </a:rPr>
              <a:t/>
            </a:r>
            <a:r>
              <a:rPr lang="it-IT" sz="3600" err="1">
                <a:solidFill>
                  <a:schemeClr val="bg1"/>
                </a:solidFill>
                <a:latin typeface="Montserrat" panose="00000500000000000000" pitchFamily="2" charset="0"/>
              </a:rPr>
              <a:t/>
            </a:r>
            <a:r>
              <a:rPr lang="it-IT" sz="3600">
                <a:solidFill>
                  <a:schemeClr val="bg1"/>
                </a:solidFill>
                <a:latin typeface="Montserrat" panose="00000500000000000000" pitchFamily="2" charset="0"/>
              </a:rPr>
              <a:t/>
            </a:r>
            <a:r>
              <a:rPr lang="it-IT" sz="3600" err="1">
                <a:solidFill>
                  <a:schemeClr val="bg1"/>
                </a:solidFill>
                <a:latin typeface="Montserrat" panose="00000500000000000000" pitchFamily="2" charset="0"/>
              </a:rPr>
              <a:t/>
            </a:r>
            <a:r>
              <a:rPr lang="it-IT" sz="3600">
                <a:solidFill>
                  <a:schemeClr val="bg1"/>
                </a:solidFill>
                <a:latin typeface="Montserrat" panose="00000500000000000000" pitchFamily="2" charset="0"/>
              </a:rPr>
              <a:t/>
            </a:r>
            <a:endParaRPr lang="it-IT" sz="3600" b="1">
              <a:solidFill>
                <a:schemeClr val="bg1"/>
              </a:solidFill>
              <a:latin typeface="Montserrat" panose="00000500000000000000" pitchFamily="2" charset="0"/>
            </a:endParaRPr>
          </a:p>
        </p:txBody>
      </p:sp>
      <p:sp>
        <p:nvSpPr>
          <p:cNvPr id="15" name="Segnaposto testo 19">
            <a:extLst>
              <a:ext uri="{FF2B5EF4-FFF2-40B4-BE49-F238E27FC236}">
                <a16:creationId xmlns:a16="http://schemas.microsoft.com/office/drawing/2014/main" id="{811E2E0E-DD34-5B49-820D-4EDF87E75DD1}"/>
              </a:ext>
            </a:extLst>
          </p:cNvPr>
          <p:cNvSpPr txBox="1">
            <a:spLocks/>
          </p:cNvSpPr>
          <p:nvPr/>
        </p:nvSpPr>
        <p:spPr>
          <a:xfrm>
            <a:off x="764098" y="3102668"/>
            <a:ext cx="4213654" cy="1152587"/>
          </a:xfrm>
          <a:prstGeom prst="rect">
            <a:avLst/>
          </a:prstGeom>
          <a:solidFill>
            <a:srgbClr val="3399FF"/>
          </a:solidFill>
        </p:spPr>
        <p:txBody>
          <a:bodyPr wrap="square" lIns="108000" tIns="144000" rIns="144000" bIns="144000" anchor="ctr" anchorCtr="0">
            <a:spAutoFit/>
          </a:bodyPr>
          <a:lstStyle>
            <a:lvl1pPr marL="0" indent="0" algn="l" defTabSz="914400" rtl="0" eaLnBrk="1" latinLnBrk="0" hangingPunct="1">
              <a:lnSpc>
                <a:spcPct val="100000"/>
              </a:lnSpc>
              <a:spcBef>
                <a:spcPts val="0"/>
              </a:spcBef>
              <a:spcAft>
                <a:spcPts val="0"/>
              </a:spcAft>
              <a:buFont typeface="Arial" panose="020B0604020202020204" pitchFamily="34" charset="0"/>
              <a:buChar char="•"/>
              <a:defRPr sz="1600" b="0" i="0" kern="1200" baseline="0">
                <a:solidFill>
                  <a:srgbClr val="A0A0A0"/>
                </a:solidFill>
                <a:latin typeface="TIM Sans" panose="00000500000000000000" pitchFamily="50" charset="0"/>
                <a:ea typeface="+mn-ea"/>
                <a:cs typeface="Arial"/>
              </a:defRPr>
            </a:lvl1pPr>
            <a:lvl2pPr marL="0" indent="-228600" algn="l" defTabSz="914400" rtl="0" eaLnBrk="1" latinLnBrk="0" hangingPunct="1">
              <a:lnSpc>
                <a:spcPct val="90000"/>
              </a:lnSpc>
              <a:spcBef>
                <a:spcPts val="0"/>
              </a:spcBef>
              <a:spcAft>
                <a:spcPts val="0"/>
              </a:spcAft>
              <a:buFont typeface="Arial" panose="020B0604020202020204" pitchFamily="34" charset="0"/>
              <a:buChar char="•"/>
              <a:defRPr sz="2133" kern="1200" baseline="0">
                <a:solidFill>
                  <a:schemeClr val="accent6"/>
                </a:solidFill>
                <a:latin typeface="Franklin Gothic Medium"/>
                <a:ea typeface="+mn-ea"/>
                <a:cs typeface="+mn-cs"/>
              </a:defRPr>
            </a:lvl2pPr>
            <a:lvl3pPr marL="0" indent="-228600" algn="l" defTabSz="914400" rtl="0" eaLnBrk="1" latinLnBrk="0" hangingPunct="1">
              <a:lnSpc>
                <a:spcPct val="90000"/>
              </a:lnSpc>
              <a:spcBef>
                <a:spcPts val="0"/>
              </a:spcBef>
              <a:spcAft>
                <a:spcPts val="0"/>
              </a:spcAft>
              <a:buFont typeface="Arial" panose="020B0604020202020204" pitchFamily="34" charset="0"/>
              <a:buChar char="•"/>
              <a:defRPr sz="2133" kern="1200" baseline="0">
                <a:solidFill>
                  <a:schemeClr val="accent6"/>
                </a:solidFill>
                <a:latin typeface="Franklin Gothic Medium"/>
                <a:ea typeface="+mn-ea"/>
                <a:cs typeface="+mn-cs"/>
              </a:defRPr>
            </a:lvl3pPr>
            <a:lvl4pPr marL="0" indent="-228600" algn="l" defTabSz="914400" rtl="0" eaLnBrk="1" latinLnBrk="0" hangingPunct="1">
              <a:lnSpc>
                <a:spcPct val="90000"/>
              </a:lnSpc>
              <a:spcBef>
                <a:spcPts val="0"/>
              </a:spcBef>
              <a:spcAft>
                <a:spcPts val="0"/>
              </a:spcAft>
              <a:buFont typeface="Arial" panose="020B0604020202020204" pitchFamily="34" charset="0"/>
              <a:buChar char="•"/>
              <a:defRPr sz="2133" kern="1200" baseline="0">
                <a:solidFill>
                  <a:schemeClr val="accent6"/>
                </a:solidFill>
                <a:latin typeface="Franklin Gothic Medium"/>
                <a:ea typeface="+mn-ea"/>
                <a:cs typeface="+mn-cs"/>
              </a:defRPr>
            </a:lvl4pPr>
            <a:lvl5pPr marL="0" indent="-228600" algn="l" defTabSz="914400" rtl="0" eaLnBrk="1" latinLnBrk="0" hangingPunct="1">
              <a:lnSpc>
                <a:spcPct val="90000"/>
              </a:lnSpc>
              <a:spcBef>
                <a:spcPts val="0"/>
              </a:spcBef>
              <a:spcAft>
                <a:spcPts val="0"/>
              </a:spcAft>
              <a:buFont typeface="Arial" panose="020B0604020202020204" pitchFamily="34" charset="0"/>
              <a:buChar char="•"/>
              <a:defRPr sz="2133" kern="1200" baseline="0">
                <a:solidFill>
                  <a:schemeClr val="accent6"/>
                </a:solidFill>
                <a:latin typeface="Franklin Gothic Medium"/>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None/>
            </a:pPr>
            <a:r>
              <a:rPr lang="it-IT" sz="1400" dirty="0">
                <a:solidFill>
                  <a:schemeClr val="bg1"/>
                </a:solidFill>
                <a:latin typeface="Montserrat" panose="00000500000000000000" pitchFamily="2" charset="0"/>
              </a:rPr>
              <a:t>AEGIS is a zero-trust identity check for the AI agents and automations that call the 5G network's control systems. It combines the 5G Service-Based Architecture (the network's internal API layer), a zero-trust security model, and behavioural machine learning: it learns each agent's normal working pattern and scores every request against it, using open-source tools (Python, scikit-learn, Streamlit) end to end, no specialised hardware, no licensing cost.</a:t>
            </a:r>
          </a:p>
          <a:p>
            <a:pPr>
              <a:buNone/>
            </a:pPr>
            <a:r>
              <a:rPr lang="it-IT" sz="1400" dirty="0">
                <a:solidFill>
                  <a:schemeClr val="bg1"/>
                </a:solidFill>
                <a:latin typeface="Montserrat" panose="00000500000000000000" pitchFamily="2" charset="0"/>
              </a:rPr>
              <a:t>et dolore magna aliqua.</a:t>
            </a:r>
          </a:p>
        </p:txBody>
      </p:sp>
      <p:grpSp>
        <p:nvGrpSpPr>
          <p:cNvPr id="3" name="Gruppo 2">
            <a:extLst>
              <a:ext uri="{FF2B5EF4-FFF2-40B4-BE49-F238E27FC236}">
                <a16:creationId xmlns:a16="http://schemas.microsoft.com/office/drawing/2014/main" id="{B5E0AEE9-DAA4-D943-A49C-7A7DCBF95941}"/>
              </a:ext>
            </a:extLst>
          </p:cNvPr>
          <p:cNvGrpSpPr/>
          <p:nvPr/>
        </p:nvGrpSpPr>
        <p:grpSpPr>
          <a:xfrm>
            <a:off x="6095999" y="878283"/>
            <a:ext cx="2408195" cy="2210905"/>
            <a:chOff x="6095999" y="878283"/>
            <a:chExt cx="2408195" cy="2210905"/>
          </a:xfrm>
        </p:grpSpPr>
        <p:grpSp>
          <p:nvGrpSpPr>
            <p:cNvPr id="19" name="Gruppo 18">
              <a:extLst>
                <a:ext uri="{FF2B5EF4-FFF2-40B4-BE49-F238E27FC236}">
                  <a16:creationId xmlns:a16="http://schemas.microsoft.com/office/drawing/2014/main" id="{68F15327-3281-1644-B816-E2E092E9D480}"/>
                </a:ext>
              </a:extLst>
            </p:cNvPr>
            <p:cNvGrpSpPr/>
            <p:nvPr/>
          </p:nvGrpSpPr>
          <p:grpSpPr>
            <a:xfrm>
              <a:off x="6095999" y="878283"/>
              <a:ext cx="954515" cy="954515"/>
              <a:chOff x="643437" y="1923708"/>
              <a:chExt cx="954515" cy="954515"/>
            </a:xfrm>
          </p:grpSpPr>
          <p:sp>
            <p:nvSpPr>
              <p:cNvPr id="21" name="Rettangolo 20">
                <a:extLst>
                  <a:ext uri="{FF2B5EF4-FFF2-40B4-BE49-F238E27FC236}">
                    <a16:creationId xmlns:a16="http://schemas.microsoft.com/office/drawing/2014/main" id="{4B9AD76F-C34E-5843-B80E-8690BECC8144}"/>
                  </a:ext>
                </a:extLst>
              </p:cNvPr>
              <p:cNvSpPr/>
              <p:nvPr/>
            </p:nvSpPr>
            <p:spPr>
              <a:xfrm>
                <a:off x="643437" y="1923708"/>
                <a:ext cx="954515" cy="954515"/>
              </a:xfrm>
              <a:prstGeom prst="rect">
                <a:avLst/>
              </a:prstGeom>
              <a:solidFill>
                <a:srgbClr val="3D67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latin typeface="Montserrat" panose="00000500000000000000" pitchFamily="2" charset="0"/>
                </a:endParaRPr>
              </a:p>
            </p:txBody>
          </p:sp>
          <p:pic>
            <p:nvPicPr>
              <p:cNvPr id="22" name="Elemento grafico 21">
                <a:extLst>
                  <a:ext uri="{FF2B5EF4-FFF2-40B4-BE49-F238E27FC236}">
                    <a16:creationId xmlns:a16="http://schemas.microsoft.com/office/drawing/2014/main" id="{F7AB4FAC-CD4E-BC40-B629-85D54F184136}"/>
                  </a:ext>
                </a:extLst>
              </p:cNvPr>
              <p:cNvPicPr>
                <a:picLocks noChangeAspect="1"/>
              </p:cNvPicPr>
              <p:nvPr/>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784451" y="1942288"/>
                <a:ext cx="694392" cy="867990"/>
              </a:xfrm>
              <a:prstGeom prst="rect">
                <a:avLst/>
              </a:prstGeom>
            </p:spPr>
          </p:pic>
        </p:grpSp>
        <p:sp>
          <p:nvSpPr>
            <p:cNvPr id="23" name="Segnaposto testo 19">
              <a:extLst>
                <a:ext uri="{FF2B5EF4-FFF2-40B4-BE49-F238E27FC236}">
                  <a16:creationId xmlns:a16="http://schemas.microsoft.com/office/drawing/2014/main" id="{715B7331-5351-084D-9693-B641A83F6F97}"/>
                </a:ext>
              </a:extLst>
            </p:cNvPr>
            <p:cNvSpPr txBox="1">
              <a:spLocks/>
            </p:cNvSpPr>
            <p:nvPr/>
          </p:nvSpPr>
          <p:spPr>
            <a:xfrm>
              <a:off x="6096000" y="2120472"/>
              <a:ext cx="2408194" cy="968716"/>
            </a:xfrm>
            <a:prstGeom prst="rect">
              <a:avLst/>
            </a:prstGeom>
          </p:spPr>
          <p:txBody>
            <a:bodyPr lIns="0" tIns="0" rIns="0" bIns="0" wrap="square">
              <a:noAutofit/>
            </a:bodyPr>
            <a:lstStyle>
              <a:lvl1pPr marL="0" indent="0" algn="l" defTabSz="914400" rtl="0" eaLnBrk="1" latinLnBrk="0" hangingPunct="1">
                <a:lnSpc>
                  <a:spcPct val="100000"/>
                </a:lnSpc>
                <a:spcBef>
                  <a:spcPts val="0"/>
                </a:spcBef>
                <a:spcAft>
                  <a:spcPts val="0"/>
                </a:spcAft>
                <a:buFont typeface="Arial" panose="020B0604020202020204" pitchFamily="34" charset="0"/>
                <a:buChar char="•"/>
                <a:defRPr sz="1600" b="0" i="0" kern="1200" baseline="0">
                  <a:solidFill>
                    <a:srgbClr val="A0A0A0"/>
                  </a:solidFill>
                  <a:latin typeface="TIM Sans" panose="00000500000000000000" pitchFamily="50" charset="0"/>
                  <a:ea typeface="+mn-ea"/>
                  <a:cs typeface="Arial"/>
                </a:defRPr>
              </a:lvl1pPr>
              <a:lvl2pPr marL="0" indent="-228600" algn="l" defTabSz="914400" rtl="0" eaLnBrk="1" latinLnBrk="0" hangingPunct="1">
                <a:lnSpc>
                  <a:spcPct val="90000"/>
                </a:lnSpc>
                <a:spcBef>
                  <a:spcPts val="0"/>
                </a:spcBef>
                <a:spcAft>
                  <a:spcPts val="0"/>
                </a:spcAft>
                <a:buFont typeface="Arial" panose="020B0604020202020204" pitchFamily="34" charset="0"/>
                <a:buChar char="•"/>
                <a:defRPr sz="2133" kern="1200" baseline="0">
                  <a:solidFill>
                    <a:schemeClr val="accent6"/>
                  </a:solidFill>
                  <a:latin typeface="Franklin Gothic Medium"/>
                  <a:ea typeface="+mn-ea"/>
                  <a:cs typeface="+mn-cs"/>
                </a:defRPr>
              </a:lvl2pPr>
              <a:lvl3pPr marL="0" indent="-228600" algn="l" defTabSz="914400" rtl="0" eaLnBrk="1" latinLnBrk="0" hangingPunct="1">
                <a:lnSpc>
                  <a:spcPct val="90000"/>
                </a:lnSpc>
                <a:spcBef>
                  <a:spcPts val="0"/>
                </a:spcBef>
                <a:spcAft>
                  <a:spcPts val="0"/>
                </a:spcAft>
                <a:buFont typeface="Arial" panose="020B0604020202020204" pitchFamily="34" charset="0"/>
                <a:buChar char="•"/>
                <a:defRPr sz="2133" kern="1200" baseline="0">
                  <a:solidFill>
                    <a:schemeClr val="accent6"/>
                  </a:solidFill>
                  <a:latin typeface="Franklin Gothic Medium"/>
                  <a:ea typeface="+mn-ea"/>
                  <a:cs typeface="+mn-cs"/>
                </a:defRPr>
              </a:lvl3pPr>
              <a:lvl4pPr marL="0" indent="-228600" algn="l" defTabSz="914400" rtl="0" eaLnBrk="1" latinLnBrk="0" hangingPunct="1">
                <a:lnSpc>
                  <a:spcPct val="90000"/>
                </a:lnSpc>
                <a:spcBef>
                  <a:spcPts val="0"/>
                </a:spcBef>
                <a:spcAft>
                  <a:spcPts val="0"/>
                </a:spcAft>
                <a:buFont typeface="Arial" panose="020B0604020202020204" pitchFamily="34" charset="0"/>
                <a:buChar char="•"/>
                <a:defRPr sz="2133" kern="1200" baseline="0">
                  <a:solidFill>
                    <a:schemeClr val="accent6"/>
                  </a:solidFill>
                  <a:latin typeface="Franklin Gothic Medium"/>
                  <a:ea typeface="+mn-ea"/>
                  <a:cs typeface="+mn-cs"/>
                </a:defRPr>
              </a:lvl4pPr>
              <a:lvl5pPr marL="0" indent="-228600" algn="l" defTabSz="914400" rtl="0" eaLnBrk="1" latinLnBrk="0" hangingPunct="1">
                <a:lnSpc>
                  <a:spcPct val="90000"/>
                </a:lnSpc>
                <a:spcBef>
                  <a:spcPts val="0"/>
                </a:spcBef>
                <a:spcAft>
                  <a:spcPts val="0"/>
                </a:spcAft>
                <a:buFont typeface="Arial" panose="020B0604020202020204" pitchFamily="34" charset="0"/>
                <a:buChar char="•"/>
                <a:defRPr sz="2133" kern="1200" baseline="0">
                  <a:solidFill>
                    <a:schemeClr val="accent6"/>
                  </a:solidFill>
                  <a:latin typeface="Franklin Gothic Medium"/>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None/>
              </a:pPr>
              <a:r>
                <a:rPr lang="it-IT" sz="1100">
                  <a:solidFill>
                    <a:srgbClr val="104392"/>
                  </a:solidFill>
                  <a:latin typeface="Montserrat" panose="00000500000000000000" pitchFamily="2" charset="0"/>
                </a:rPr>
                <a:t>Runs entirely on open-source tools, no licensing cost.</a:t>
              </a:r>
              <a:endParaRPr lang="en-US" sz="1200">
                <a:solidFill>
                  <a:srgbClr val="104392"/>
                </a:solidFill>
                <a:latin typeface="Montserrat" panose="00000500000000000000" pitchFamily="2" charset="0"/>
              </a:endParaRPr>
            </a:p>
          </p:txBody>
        </p:sp>
      </p:grpSp>
      <p:grpSp>
        <p:nvGrpSpPr>
          <p:cNvPr id="6" name="Gruppo 5">
            <a:extLst>
              <a:ext uri="{FF2B5EF4-FFF2-40B4-BE49-F238E27FC236}">
                <a16:creationId xmlns:a16="http://schemas.microsoft.com/office/drawing/2014/main" id="{3C2240A4-E884-464D-AC65-8BA23B9F8EBA}"/>
              </a:ext>
            </a:extLst>
          </p:cNvPr>
          <p:cNvGrpSpPr/>
          <p:nvPr/>
        </p:nvGrpSpPr>
        <p:grpSpPr>
          <a:xfrm>
            <a:off x="8977870" y="839664"/>
            <a:ext cx="2408195" cy="2249524"/>
            <a:chOff x="8977870" y="839664"/>
            <a:chExt cx="2408195" cy="2249524"/>
          </a:xfrm>
        </p:grpSpPr>
        <p:sp>
          <p:nvSpPr>
            <p:cNvPr id="27" name="Segnaposto testo 19">
              <a:extLst>
                <a:ext uri="{FF2B5EF4-FFF2-40B4-BE49-F238E27FC236}">
                  <a16:creationId xmlns:a16="http://schemas.microsoft.com/office/drawing/2014/main" id="{31B2F9D2-9C62-6248-826C-1544F58F3C90}"/>
                </a:ext>
              </a:extLst>
            </p:cNvPr>
            <p:cNvSpPr txBox="1">
              <a:spLocks/>
            </p:cNvSpPr>
            <p:nvPr/>
          </p:nvSpPr>
          <p:spPr>
            <a:xfrm>
              <a:off x="8977871" y="2120472"/>
              <a:ext cx="2408194" cy="968716"/>
            </a:xfrm>
            <a:prstGeom prst="rect">
              <a:avLst/>
            </a:prstGeom>
          </p:spPr>
          <p:txBody>
            <a:bodyPr lIns="0" tIns="0" rIns="0" bIns="0" wrap="square">
              <a:noAutofit/>
            </a:bodyPr>
            <a:lstStyle>
              <a:lvl1pPr marL="0" indent="0" algn="l" defTabSz="914400" rtl="0" eaLnBrk="1" latinLnBrk="0" hangingPunct="1">
                <a:lnSpc>
                  <a:spcPct val="100000"/>
                </a:lnSpc>
                <a:spcBef>
                  <a:spcPts val="0"/>
                </a:spcBef>
                <a:spcAft>
                  <a:spcPts val="0"/>
                </a:spcAft>
                <a:buFont typeface="Arial" panose="020B0604020202020204" pitchFamily="34" charset="0"/>
                <a:buChar char="•"/>
                <a:defRPr sz="1600" b="0" i="0" kern="1200" baseline="0">
                  <a:solidFill>
                    <a:srgbClr val="A0A0A0"/>
                  </a:solidFill>
                  <a:latin typeface="TIM Sans" panose="00000500000000000000" pitchFamily="50" charset="0"/>
                  <a:ea typeface="+mn-ea"/>
                  <a:cs typeface="Arial"/>
                </a:defRPr>
              </a:lvl1pPr>
              <a:lvl2pPr marL="0" indent="-228600" algn="l" defTabSz="914400" rtl="0" eaLnBrk="1" latinLnBrk="0" hangingPunct="1">
                <a:lnSpc>
                  <a:spcPct val="90000"/>
                </a:lnSpc>
                <a:spcBef>
                  <a:spcPts val="0"/>
                </a:spcBef>
                <a:spcAft>
                  <a:spcPts val="0"/>
                </a:spcAft>
                <a:buFont typeface="Arial" panose="020B0604020202020204" pitchFamily="34" charset="0"/>
                <a:buChar char="•"/>
                <a:defRPr sz="2133" kern="1200" baseline="0">
                  <a:solidFill>
                    <a:schemeClr val="accent6"/>
                  </a:solidFill>
                  <a:latin typeface="Franklin Gothic Medium"/>
                  <a:ea typeface="+mn-ea"/>
                  <a:cs typeface="+mn-cs"/>
                </a:defRPr>
              </a:lvl2pPr>
              <a:lvl3pPr marL="0" indent="-228600" algn="l" defTabSz="914400" rtl="0" eaLnBrk="1" latinLnBrk="0" hangingPunct="1">
                <a:lnSpc>
                  <a:spcPct val="90000"/>
                </a:lnSpc>
                <a:spcBef>
                  <a:spcPts val="0"/>
                </a:spcBef>
                <a:spcAft>
                  <a:spcPts val="0"/>
                </a:spcAft>
                <a:buFont typeface="Arial" panose="020B0604020202020204" pitchFamily="34" charset="0"/>
                <a:buChar char="•"/>
                <a:defRPr sz="2133" kern="1200" baseline="0">
                  <a:solidFill>
                    <a:schemeClr val="accent6"/>
                  </a:solidFill>
                  <a:latin typeface="Franklin Gothic Medium"/>
                  <a:ea typeface="+mn-ea"/>
                  <a:cs typeface="+mn-cs"/>
                </a:defRPr>
              </a:lvl3pPr>
              <a:lvl4pPr marL="0" indent="-228600" algn="l" defTabSz="914400" rtl="0" eaLnBrk="1" latinLnBrk="0" hangingPunct="1">
                <a:lnSpc>
                  <a:spcPct val="90000"/>
                </a:lnSpc>
                <a:spcBef>
                  <a:spcPts val="0"/>
                </a:spcBef>
                <a:spcAft>
                  <a:spcPts val="0"/>
                </a:spcAft>
                <a:buFont typeface="Arial" panose="020B0604020202020204" pitchFamily="34" charset="0"/>
                <a:buChar char="•"/>
                <a:defRPr sz="2133" kern="1200" baseline="0">
                  <a:solidFill>
                    <a:schemeClr val="accent6"/>
                  </a:solidFill>
                  <a:latin typeface="Franklin Gothic Medium"/>
                  <a:ea typeface="+mn-ea"/>
                  <a:cs typeface="+mn-cs"/>
                </a:defRPr>
              </a:lvl4pPr>
              <a:lvl5pPr marL="0" indent="-228600" algn="l" defTabSz="914400" rtl="0" eaLnBrk="1" latinLnBrk="0" hangingPunct="1">
                <a:lnSpc>
                  <a:spcPct val="90000"/>
                </a:lnSpc>
                <a:spcBef>
                  <a:spcPts val="0"/>
                </a:spcBef>
                <a:spcAft>
                  <a:spcPts val="0"/>
                </a:spcAft>
                <a:buFont typeface="Arial" panose="020B0604020202020204" pitchFamily="34" charset="0"/>
                <a:buChar char="•"/>
                <a:defRPr sz="2133" kern="1200" baseline="0">
                  <a:solidFill>
                    <a:schemeClr val="accent6"/>
                  </a:solidFill>
                  <a:latin typeface="Franklin Gothic Medium"/>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None/>
              </a:pPr>
              <a:r>
                <a:rPr lang="it-IT" sz="1100">
                  <a:solidFill>
                    <a:srgbClr val="104392"/>
                  </a:solidFill>
                  <a:latin typeface="Montserrat" panose="00000500000000000000" pitchFamily="2" charset="0"/>
                </a:rPr>
                <a:t>No specialised hardware, works on a standard laptop.</a:t>
              </a:r>
              <a:endParaRPr lang="en-US" sz="1200">
                <a:solidFill>
                  <a:srgbClr val="104392"/>
                </a:solidFill>
                <a:latin typeface="Montserrat" panose="00000500000000000000" pitchFamily="2" charset="0"/>
              </a:endParaRPr>
            </a:p>
          </p:txBody>
        </p:sp>
        <p:grpSp>
          <p:nvGrpSpPr>
            <p:cNvPr id="41" name="Gruppo 40">
              <a:extLst>
                <a:ext uri="{FF2B5EF4-FFF2-40B4-BE49-F238E27FC236}">
                  <a16:creationId xmlns:a16="http://schemas.microsoft.com/office/drawing/2014/main" id="{8F8A665A-3813-EC47-AA6C-922AAE3A0617}"/>
                </a:ext>
              </a:extLst>
            </p:cNvPr>
            <p:cNvGrpSpPr/>
            <p:nvPr/>
          </p:nvGrpSpPr>
          <p:grpSpPr>
            <a:xfrm>
              <a:off x="8977870" y="839664"/>
              <a:ext cx="954515" cy="1007141"/>
              <a:chOff x="9076724" y="839664"/>
              <a:chExt cx="954515" cy="1007141"/>
            </a:xfrm>
          </p:grpSpPr>
          <p:sp>
            <p:nvSpPr>
              <p:cNvPr id="25" name="Rettangolo 24">
                <a:extLst>
                  <a:ext uri="{FF2B5EF4-FFF2-40B4-BE49-F238E27FC236}">
                    <a16:creationId xmlns:a16="http://schemas.microsoft.com/office/drawing/2014/main" id="{19757152-12C0-E24B-8CB5-3F2F23F5FAE2}"/>
                  </a:ext>
                </a:extLst>
              </p:cNvPr>
              <p:cNvSpPr/>
              <p:nvPr/>
            </p:nvSpPr>
            <p:spPr>
              <a:xfrm>
                <a:off x="9076724" y="878283"/>
                <a:ext cx="954515" cy="954515"/>
              </a:xfrm>
              <a:prstGeom prst="rect">
                <a:avLst/>
              </a:prstGeom>
              <a:solidFill>
                <a:srgbClr val="01ABD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latin typeface="Montserrat" panose="00000500000000000000" pitchFamily="2" charset="0"/>
                </a:endParaRPr>
              </a:p>
            </p:txBody>
          </p:sp>
          <p:pic>
            <p:nvPicPr>
              <p:cNvPr id="5" name="Elemento grafico 4">
                <a:extLst>
                  <a:ext uri="{FF2B5EF4-FFF2-40B4-BE49-F238E27FC236}">
                    <a16:creationId xmlns:a16="http://schemas.microsoft.com/office/drawing/2014/main" id="{7C7DE239-34B3-8749-B6CD-EF45B0879FDB}"/>
                  </a:ext>
                </a:extLst>
              </p:cNvPr>
              <p:cNvPicPr>
                <a:picLocks noChangeAspect="1"/>
              </p:cNvPicPr>
              <p:nvPr/>
            </p:nvPicPr>
            <p:blipFill>
              <a:blip>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9175838" y="839664"/>
                <a:ext cx="805713" cy="1007141"/>
              </a:xfrm>
              <a:prstGeom prst="rect">
                <a:avLst/>
              </a:prstGeom>
            </p:spPr>
          </p:pic>
        </p:grpSp>
      </p:grpSp>
      <p:grpSp>
        <p:nvGrpSpPr>
          <p:cNvPr id="8" name="Gruppo 7">
            <a:extLst>
              <a:ext uri="{FF2B5EF4-FFF2-40B4-BE49-F238E27FC236}">
                <a16:creationId xmlns:a16="http://schemas.microsoft.com/office/drawing/2014/main" id="{2D126E02-1DF4-2F4F-9449-B7C48B421EB9}"/>
              </a:ext>
            </a:extLst>
          </p:cNvPr>
          <p:cNvGrpSpPr/>
          <p:nvPr/>
        </p:nvGrpSpPr>
        <p:grpSpPr>
          <a:xfrm>
            <a:off x="6095999" y="3303015"/>
            <a:ext cx="2408195" cy="2226208"/>
            <a:chOff x="6095999" y="3303015"/>
            <a:chExt cx="2408195" cy="2226208"/>
          </a:xfrm>
        </p:grpSpPr>
        <p:sp>
          <p:nvSpPr>
            <p:cNvPr id="31" name="Segnaposto testo 19">
              <a:extLst>
                <a:ext uri="{FF2B5EF4-FFF2-40B4-BE49-F238E27FC236}">
                  <a16:creationId xmlns:a16="http://schemas.microsoft.com/office/drawing/2014/main" id="{FC11704B-258C-F149-96D1-098EFA1973D0}"/>
                </a:ext>
              </a:extLst>
            </p:cNvPr>
            <p:cNvSpPr txBox="1">
              <a:spLocks/>
            </p:cNvSpPr>
            <p:nvPr/>
          </p:nvSpPr>
          <p:spPr>
            <a:xfrm>
              <a:off x="6096000" y="4560507"/>
              <a:ext cx="2408194" cy="968716"/>
            </a:xfrm>
            <a:prstGeom prst="rect">
              <a:avLst/>
            </a:prstGeom>
          </p:spPr>
          <p:txBody>
            <a:bodyPr lIns="0" tIns="0" rIns="0" bIns="0" wrap="square">
              <a:noAutofit/>
            </a:bodyPr>
            <a:lstStyle>
              <a:lvl1pPr marL="0" indent="0" algn="l" defTabSz="914400" rtl="0" eaLnBrk="1" latinLnBrk="0" hangingPunct="1">
                <a:lnSpc>
                  <a:spcPct val="100000"/>
                </a:lnSpc>
                <a:spcBef>
                  <a:spcPts val="0"/>
                </a:spcBef>
                <a:spcAft>
                  <a:spcPts val="0"/>
                </a:spcAft>
                <a:buFont typeface="Arial" panose="020B0604020202020204" pitchFamily="34" charset="0"/>
                <a:buChar char="•"/>
                <a:defRPr sz="1600" b="0" i="0" kern="1200" baseline="0">
                  <a:solidFill>
                    <a:srgbClr val="A0A0A0"/>
                  </a:solidFill>
                  <a:latin typeface="TIM Sans" panose="00000500000000000000" pitchFamily="50" charset="0"/>
                  <a:ea typeface="+mn-ea"/>
                  <a:cs typeface="Arial"/>
                </a:defRPr>
              </a:lvl1pPr>
              <a:lvl2pPr marL="0" indent="-228600" algn="l" defTabSz="914400" rtl="0" eaLnBrk="1" latinLnBrk="0" hangingPunct="1">
                <a:lnSpc>
                  <a:spcPct val="90000"/>
                </a:lnSpc>
                <a:spcBef>
                  <a:spcPts val="0"/>
                </a:spcBef>
                <a:spcAft>
                  <a:spcPts val="0"/>
                </a:spcAft>
                <a:buFont typeface="Arial" panose="020B0604020202020204" pitchFamily="34" charset="0"/>
                <a:buChar char="•"/>
                <a:defRPr sz="2133" kern="1200" baseline="0">
                  <a:solidFill>
                    <a:schemeClr val="accent6"/>
                  </a:solidFill>
                  <a:latin typeface="Franklin Gothic Medium"/>
                  <a:ea typeface="+mn-ea"/>
                  <a:cs typeface="+mn-cs"/>
                </a:defRPr>
              </a:lvl2pPr>
              <a:lvl3pPr marL="0" indent="-228600" algn="l" defTabSz="914400" rtl="0" eaLnBrk="1" latinLnBrk="0" hangingPunct="1">
                <a:lnSpc>
                  <a:spcPct val="90000"/>
                </a:lnSpc>
                <a:spcBef>
                  <a:spcPts val="0"/>
                </a:spcBef>
                <a:spcAft>
                  <a:spcPts val="0"/>
                </a:spcAft>
                <a:buFont typeface="Arial" panose="020B0604020202020204" pitchFamily="34" charset="0"/>
                <a:buChar char="•"/>
                <a:defRPr sz="2133" kern="1200" baseline="0">
                  <a:solidFill>
                    <a:schemeClr val="accent6"/>
                  </a:solidFill>
                  <a:latin typeface="Franklin Gothic Medium"/>
                  <a:ea typeface="+mn-ea"/>
                  <a:cs typeface="+mn-cs"/>
                </a:defRPr>
              </a:lvl3pPr>
              <a:lvl4pPr marL="0" indent="-228600" algn="l" defTabSz="914400" rtl="0" eaLnBrk="1" latinLnBrk="0" hangingPunct="1">
                <a:lnSpc>
                  <a:spcPct val="90000"/>
                </a:lnSpc>
                <a:spcBef>
                  <a:spcPts val="0"/>
                </a:spcBef>
                <a:spcAft>
                  <a:spcPts val="0"/>
                </a:spcAft>
                <a:buFont typeface="Arial" panose="020B0604020202020204" pitchFamily="34" charset="0"/>
                <a:buChar char="•"/>
                <a:defRPr sz="2133" kern="1200" baseline="0">
                  <a:solidFill>
                    <a:schemeClr val="accent6"/>
                  </a:solidFill>
                  <a:latin typeface="Franklin Gothic Medium"/>
                  <a:ea typeface="+mn-ea"/>
                  <a:cs typeface="+mn-cs"/>
                </a:defRPr>
              </a:lvl4pPr>
              <a:lvl5pPr marL="0" indent="-228600" algn="l" defTabSz="914400" rtl="0" eaLnBrk="1" latinLnBrk="0" hangingPunct="1">
                <a:lnSpc>
                  <a:spcPct val="90000"/>
                </a:lnSpc>
                <a:spcBef>
                  <a:spcPts val="0"/>
                </a:spcBef>
                <a:spcAft>
                  <a:spcPts val="0"/>
                </a:spcAft>
                <a:buFont typeface="Arial" panose="020B0604020202020204" pitchFamily="34" charset="0"/>
                <a:buChar char="•"/>
                <a:defRPr sz="2133" kern="1200" baseline="0">
                  <a:solidFill>
                    <a:schemeClr val="accent6"/>
                  </a:solidFill>
                  <a:latin typeface="Franklin Gothic Medium"/>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None/>
              </a:pPr>
              <a:r>
                <a:rPr lang="it-IT" sz="1100">
                  <a:solidFill>
                    <a:srgbClr val="104392"/>
                  </a:solidFill>
                  <a:latin typeface="Montserrat" panose="00000500000000000000" pitchFamily="2" charset="0"/>
                </a:rPr>
                <a:t>Learns each agent's own normal behaviour automatically.</a:t>
              </a:r>
              <a:endParaRPr lang="en-US" sz="1200">
                <a:solidFill>
                  <a:srgbClr val="104392"/>
                </a:solidFill>
                <a:latin typeface="Montserrat" panose="00000500000000000000" pitchFamily="2" charset="0"/>
              </a:endParaRPr>
            </a:p>
          </p:txBody>
        </p:sp>
        <p:grpSp>
          <p:nvGrpSpPr>
            <p:cNvPr id="42" name="Gruppo 41">
              <a:extLst>
                <a:ext uri="{FF2B5EF4-FFF2-40B4-BE49-F238E27FC236}">
                  <a16:creationId xmlns:a16="http://schemas.microsoft.com/office/drawing/2014/main" id="{1C9C12ED-2AE9-EB4A-B738-19ACC6685581}"/>
                </a:ext>
              </a:extLst>
            </p:cNvPr>
            <p:cNvGrpSpPr/>
            <p:nvPr/>
          </p:nvGrpSpPr>
          <p:grpSpPr>
            <a:xfrm>
              <a:off x="6095999" y="3303015"/>
              <a:ext cx="954515" cy="985119"/>
              <a:chOff x="6095999" y="3410886"/>
              <a:chExt cx="954515" cy="985119"/>
            </a:xfrm>
          </p:grpSpPr>
          <p:sp>
            <p:nvSpPr>
              <p:cNvPr id="29" name="Rettangolo 28">
                <a:extLst>
                  <a:ext uri="{FF2B5EF4-FFF2-40B4-BE49-F238E27FC236}">
                    <a16:creationId xmlns:a16="http://schemas.microsoft.com/office/drawing/2014/main" id="{5D57318D-15DB-7E42-9925-B7701E292089}"/>
                  </a:ext>
                </a:extLst>
              </p:cNvPr>
              <p:cNvSpPr/>
              <p:nvPr/>
            </p:nvSpPr>
            <p:spPr>
              <a:xfrm>
                <a:off x="6095999" y="3426189"/>
                <a:ext cx="954515" cy="954515"/>
              </a:xfrm>
              <a:prstGeom prst="rect">
                <a:avLst/>
              </a:prstGeom>
              <a:solidFill>
                <a:srgbClr val="6FCCD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latin typeface="Montserrat" panose="00000500000000000000" pitchFamily="2" charset="0"/>
                </a:endParaRPr>
              </a:p>
            </p:txBody>
          </p:sp>
          <p:pic>
            <p:nvPicPr>
              <p:cNvPr id="7" name="Elemento grafico 6">
                <a:extLst>
                  <a:ext uri="{FF2B5EF4-FFF2-40B4-BE49-F238E27FC236}">
                    <a16:creationId xmlns:a16="http://schemas.microsoft.com/office/drawing/2014/main" id="{F283CC3C-3280-9342-B0A8-2959EB0ED0C6}"/>
                  </a:ext>
                </a:extLst>
              </p:cNvPr>
              <p:cNvPicPr>
                <a:picLocks noChangeAspect="1"/>
              </p:cNvPicPr>
              <p:nvPr/>
            </p:nvPicPr>
            <p:blipFill>
              <a:blip>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6186373" y="3410886"/>
                <a:ext cx="795673" cy="985119"/>
              </a:xfrm>
              <a:prstGeom prst="rect">
                <a:avLst/>
              </a:prstGeom>
            </p:spPr>
          </p:pic>
        </p:grpSp>
      </p:grpSp>
      <p:grpSp>
        <p:nvGrpSpPr>
          <p:cNvPr id="9" name="Gruppo 8">
            <a:extLst>
              <a:ext uri="{FF2B5EF4-FFF2-40B4-BE49-F238E27FC236}">
                <a16:creationId xmlns:a16="http://schemas.microsoft.com/office/drawing/2014/main" id="{5D328237-EE64-7042-A8A8-7FA09E7738F2}"/>
              </a:ext>
            </a:extLst>
          </p:cNvPr>
          <p:cNvGrpSpPr/>
          <p:nvPr/>
        </p:nvGrpSpPr>
        <p:grpSpPr>
          <a:xfrm>
            <a:off x="8977870" y="3318318"/>
            <a:ext cx="2408195" cy="2210905"/>
            <a:chOff x="8977870" y="3318318"/>
            <a:chExt cx="2408195" cy="2210905"/>
          </a:xfrm>
        </p:grpSpPr>
        <p:sp>
          <p:nvSpPr>
            <p:cNvPr id="35" name="Segnaposto testo 19">
              <a:extLst>
                <a:ext uri="{FF2B5EF4-FFF2-40B4-BE49-F238E27FC236}">
                  <a16:creationId xmlns:a16="http://schemas.microsoft.com/office/drawing/2014/main" id="{F9281459-7198-104E-A425-ABB076E39239}"/>
                </a:ext>
              </a:extLst>
            </p:cNvPr>
            <p:cNvSpPr txBox="1">
              <a:spLocks/>
            </p:cNvSpPr>
            <p:nvPr/>
          </p:nvSpPr>
          <p:spPr>
            <a:xfrm>
              <a:off x="8977871" y="4560507"/>
              <a:ext cx="2408194" cy="968716"/>
            </a:xfrm>
            <a:prstGeom prst="rect">
              <a:avLst/>
            </a:prstGeom>
          </p:spPr>
          <p:txBody>
            <a:bodyPr lIns="0" tIns="0" rIns="0" bIns="0" wrap="square">
              <a:noAutofit/>
            </a:bodyPr>
            <a:lstStyle>
              <a:lvl1pPr marL="0" indent="0" algn="l" defTabSz="914400" rtl="0" eaLnBrk="1" latinLnBrk="0" hangingPunct="1">
                <a:lnSpc>
                  <a:spcPct val="100000"/>
                </a:lnSpc>
                <a:spcBef>
                  <a:spcPts val="0"/>
                </a:spcBef>
                <a:spcAft>
                  <a:spcPts val="0"/>
                </a:spcAft>
                <a:buFont typeface="Arial" panose="020B0604020202020204" pitchFamily="34" charset="0"/>
                <a:buChar char="•"/>
                <a:defRPr sz="1600" b="0" i="0" kern="1200" baseline="0">
                  <a:solidFill>
                    <a:srgbClr val="A0A0A0"/>
                  </a:solidFill>
                  <a:latin typeface="TIM Sans" panose="00000500000000000000" pitchFamily="50" charset="0"/>
                  <a:ea typeface="+mn-ea"/>
                  <a:cs typeface="Arial"/>
                </a:defRPr>
              </a:lvl1pPr>
              <a:lvl2pPr marL="0" indent="-228600" algn="l" defTabSz="914400" rtl="0" eaLnBrk="1" latinLnBrk="0" hangingPunct="1">
                <a:lnSpc>
                  <a:spcPct val="90000"/>
                </a:lnSpc>
                <a:spcBef>
                  <a:spcPts val="0"/>
                </a:spcBef>
                <a:spcAft>
                  <a:spcPts val="0"/>
                </a:spcAft>
                <a:buFont typeface="Arial" panose="020B0604020202020204" pitchFamily="34" charset="0"/>
                <a:buChar char="•"/>
                <a:defRPr sz="2133" kern="1200" baseline="0">
                  <a:solidFill>
                    <a:schemeClr val="accent6"/>
                  </a:solidFill>
                  <a:latin typeface="Franklin Gothic Medium"/>
                  <a:ea typeface="+mn-ea"/>
                  <a:cs typeface="+mn-cs"/>
                </a:defRPr>
              </a:lvl2pPr>
              <a:lvl3pPr marL="0" indent="-228600" algn="l" defTabSz="914400" rtl="0" eaLnBrk="1" latinLnBrk="0" hangingPunct="1">
                <a:lnSpc>
                  <a:spcPct val="90000"/>
                </a:lnSpc>
                <a:spcBef>
                  <a:spcPts val="0"/>
                </a:spcBef>
                <a:spcAft>
                  <a:spcPts val="0"/>
                </a:spcAft>
                <a:buFont typeface="Arial" panose="020B0604020202020204" pitchFamily="34" charset="0"/>
                <a:buChar char="•"/>
                <a:defRPr sz="2133" kern="1200" baseline="0">
                  <a:solidFill>
                    <a:schemeClr val="accent6"/>
                  </a:solidFill>
                  <a:latin typeface="Franklin Gothic Medium"/>
                  <a:ea typeface="+mn-ea"/>
                  <a:cs typeface="+mn-cs"/>
                </a:defRPr>
              </a:lvl3pPr>
              <a:lvl4pPr marL="0" indent="-228600" algn="l" defTabSz="914400" rtl="0" eaLnBrk="1" latinLnBrk="0" hangingPunct="1">
                <a:lnSpc>
                  <a:spcPct val="90000"/>
                </a:lnSpc>
                <a:spcBef>
                  <a:spcPts val="0"/>
                </a:spcBef>
                <a:spcAft>
                  <a:spcPts val="0"/>
                </a:spcAft>
                <a:buFont typeface="Arial" panose="020B0604020202020204" pitchFamily="34" charset="0"/>
                <a:buChar char="•"/>
                <a:defRPr sz="2133" kern="1200" baseline="0">
                  <a:solidFill>
                    <a:schemeClr val="accent6"/>
                  </a:solidFill>
                  <a:latin typeface="Franklin Gothic Medium"/>
                  <a:ea typeface="+mn-ea"/>
                  <a:cs typeface="+mn-cs"/>
                </a:defRPr>
              </a:lvl4pPr>
              <a:lvl5pPr marL="0" indent="-228600" algn="l" defTabSz="914400" rtl="0" eaLnBrk="1" latinLnBrk="0" hangingPunct="1">
                <a:lnSpc>
                  <a:spcPct val="90000"/>
                </a:lnSpc>
                <a:spcBef>
                  <a:spcPts val="0"/>
                </a:spcBef>
                <a:spcAft>
                  <a:spcPts val="0"/>
                </a:spcAft>
                <a:buFont typeface="Arial" panose="020B0604020202020204" pitchFamily="34" charset="0"/>
                <a:buChar char="•"/>
                <a:defRPr sz="2133" kern="1200" baseline="0">
                  <a:solidFill>
                    <a:schemeClr val="accent6"/>
                  </a:solidFill>
                  <a:latin typeface="Franklin Gothic Medium"/>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None/>
              </a:pPr>
              <a:r>
                <a:rPr lang="it-IT" sz="1100">
                  <a:solidFill>
                    <a:srgbClr val="104392"/>
                  </a:solidFill>
                  <a:latin typeface="Montserrat" panose="00000500000000000000" pitchFamily="2" charset="0"/>
                </a:rPr>
                <a:t>Every decision comes with a plain-language reason.</a:t>
              </a:r>
              <a:endParaRPr lang="en-US" sz="1200">
                <a:solidFill>
                  <a:srgbClr val="104392"/>
                </a:solidFill>
                <a:latin typeface="Montserrat" panose="00000500000000000000" pitchFamily="2" charset="0"/>
              </a:endParaRPr>
            </a:p>
          </p:txBody>
        </p:sp>
        <p:grpSp>
          <p:nvGrpSpPr>
            <p:cNvPr id="43" name="Gruppo 42">
              <a:extLst>
                <a:ext uri="{FF2B5EF4-FFF2-40B4-BE49-F238E27FC236}">
                  <a16:creationId xmlns:a16="http://schemas.microsoft.com/office/drawing/2014/main" id="{9DA978E1-32CD-1C44-B3A0-669D1FFC1AB9}"/>
                </a:ext>
              </a:extLst>
            </p:cNvPr>
            <p:cNvGrpSpPr/>
            <p:nvPr/>
          </p:nvGrpSpPr>
          <p:grpSpPr>
            <a:xfrm>
              <a:off x="8977870" y="3318318"/>
              <a:ext cx="954515" cy="982173"/>
              <a:chOff x="9076724" y="3426189"/>
              <a:chExt cx="954515" cy="982173"/>
            </a:xfrm>
          </p:grpSpPr>
          <p:sp>
            <p:nvSpPr>
              <p:cNvPr id="33" name="Rettangolo 32">
                <a:extLst>
                  <a:ext uri="{FF2B5EF4-FFF2-40B4-BE49-F238E27FC236}">
                    <a16:creationId xmlns:a16="http://schemas.microsoft.com/office/drawing/2014/main" id="{5D52F9D3-A59E-284D-A832-A54BFAC4A630}"/>
                  </a:ext>
                </a:extLst>
              </p:cNvPr>
              <p:cNvSpPr/>
              <p:nvPr/>
            </p:nvSpPr>
            <p:spPr>
              <a:xfrm>
                <a:off x="9076724" y="3426189"/>
                <a:ext cx="954515" cy="954515"/>
              </a:xfrm>
              <a:prstGeom prst="rect">
                <a:avLst/>
              </a:prstGeom>
              <a:solidFill>
                <a:srgbClr val="3D67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latin typeface="Montserrat" panose="00000500000000000000" pitchFamily="2" charset="0"/>
                </a:endParaRPr>
              </a:p>
            </p:txBody>
          </p:sp>
          <p:pic>
            <p:nvPicPr>
              <p:cNvPr id="40" name="Elemento grafico 39">
                <a:extLst>
                  <a:ext uri="{FF2B5EF4-FFF2-40B4-BE49-F238E27FC236}">
                    <a16:creationId xmlns:a16="http://schemas.microsoft.com/office/drawing/2014/main" id="{19149FA4-490B-FD40-8433-24B05A38D737}"/>
                  </a:ext>
                </a:extLst>
              </p:cNvPr>
              <p:cNvPicPr>
                <a:picLocks noChangeAspect="1"/>
              </p:cNvPicPr>
              <p:nvPr/>
            </p:nvPicPr>
            <p:blipFill>
              <a:blip>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9239251" y="3601551"/>
                <a:ext cx="654171" cy="806811"/>
              </a:xfrm>
              <a:prstGeom prst="rect">
                <a:avLst/>
              </a:prstGeom>
            </p:spPr>
          </p:pic>
        </p:grpSp>
      </p:grpSp>
      <p:sp>
        <p:nvSpPr>
          <p:cNvPr id="47" name="Figura a mano libera 46">
            <a:extLst>
              <a:ext uri="{FF2B5EF4-FFF2-40B4-BE49-F238E27FC236}">
                <a16:creationId xmlns:a16="http://schemas.microsoft.com/office/drawing/2014/main" id="{BF8DF818-DC74-4E42-AA11-C9CB0246AC50}"/>
              </a:ext>
            </a:extLst>
          </p:cNvPr>
          <p:cNvSpPr/>
          <p:nvPr/>
        </p:nvSpPr>
        <p:spPr>
          <a:xfrm flipH="1">
            <a:off x="-1" y="3843580"/>
            <a:ext cx="712575" cy="1504652"/>
          </a:xfrm>
          <a:custGeom>
            <a:avLst/>
            <a:gdLst>
              <a:gd name="connsiteX0" fmla="*/ 0 w 3736622"/>
              <a:gd name="connsiteY0" fmla="*/ 0 h 1185334"/>
              <a:gd name="connsiteX1" fmla="*/ 0 w 3736622"/>
              <a:gd name="connsiteY1" fmla="*/ 1185334 h 1185334"/>
              <a:gd name="connsiteX2" fmla="*/ 3736622 w 3736622"/>
              <a:gd name="connsiteY2" fmla="*/ 1185334 h 1185334"/>
            </a:gdLst>
            <a:ahLst/>
            <a:cxnLst>
              <a:cxn ang="0">
                <a:pos x="connsiteX0" y="connsiteY0"/>
              </a:cxn>
              <a:cxn ang="0">
                <a:pos x="connsiteX1" y="connsiteY1"/>
              </a:cxn>
              <a:cxn ang="0">
                <a:pos x="connsiteX2" y="connsiteY2"/>
              </a:cxn>
            </a:cxnLst>
            <a:rect l="l" t="t" r="r" b="b"/>
            <a:pathLst>
              <a:path w="3736622" h="1185334">
                <a:moveTo>
                  <a:pt x="0" y="0"/>
                </a:moveTo>
                <a:lnTo>
                  <a:pt x="0" y="1185334"/>
                </a:lnTo>
                <a:lnTo>
                  <a:pt x="3736622" y="1185334"/>
                </a:lnTo>
              </a:path>
            </a:pathLst>
          </a:custGeom>
          <a:noFill/>
          <a:ln w="63500">
            <a:solidFill>
              <a:srgbClr val="00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latin typeface="Montserrat" panose="00000500000000000000" pitchFamily="2" charset="0"/>
            </a:endParaRPr>
          </a:p>
        </p:txBody>
      </p:sp>
    </p:spTree>
    <p:extLst>
      <p:ext uri="{BB962C8B-B14F-4D97-AF65-F5344CB8AC3E}">
        <p14:creationId xmlns:p14="http://schemas.microsoft.com/office/powerpoint/2010/main" val="8154478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22" presetClass="entr" presetSubtype="4" fill="hold" grpId="0" nodeType="afterEffect">
                                  <p:stCondLst>
                                    <p:cond delay="0"/>
                                  </p:stCondLst>
                                  <p:childTnLst>
                                    <p:set>
                                      <p:cBhvr>
                                        <p:cTn id="12" dur="1" fill="hold">
                                          <p:stCondLst>
                                            <p:cond delay="0"/>
                                          </p:stCondLst>
                                        </p:cTn>
                                        <p:tgtEl>
                                          <p:spTgt spid="47"/>
                                        </p:tgtEl>
                                        <p:attrNameLst>
                                          <p:attrName>style.visibility</p:attrName>
                                        </p:attrNameLst>
                                      </p:cBhvr>
                                      <p:to>
                                        <p:strVal val="visible"/>
                                      </p:to>
                                    </p:set>
                                    <p:animEffect transition="in" filter="wipe(down)">
                                      <p:cBhvr>
                                        <p:cTn id="13" dur="500"/>
                                        <p:tgtEl>
                                          <p:spTgt spid="47"/>
                                        </p:tgtEl>
                                      </p:cBhvr>
                                    </p:animEffect>
                                  </p:childTnLst>
                                </p:cTn>
                              </p:par>
                            </p:childTnLst>
                          </p:cTn>
                        </p:par>
                        <p:par>
                          <p:cTn id="14" fill="hold">
                            <p:stCondLst>
                              <p:cond delay="1500"/>
                            </p:stCondLst>
                            <p:childTnLst>
                              <p:par>
                                <p:cTn id="15" presetID="22" presetClass="entr" presetSubtype="8" fill="hold" grpId="0" nodeType="after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wipe(left)">
                                      <p:cBhvr>
                                        <p:cTn id="17" dur="500"/>
                                        <p:tgtEl>
                                          <p:spTgt spid="15"/>
                                        </p:tgtEl>
                                      </p:cBhvr>
                                    </p:animEffect>
                                  </p:childTnLst>
                                </p:cTn>
                              </p:par>
                            </p:childTnLst>
                          </p:cTn>
                        </p:par>
                        <p:par>
                          <p:cTn id="18" fill="hold">
                            <p:stCondLst>
                              <p:cond delay="2000"/>
                            </p:stCondLst>
                            <p:childTnLst>
                              <p:par>
                                <p:cTn id="19" presetID="10" presetClass="entr" presetSubtype="0" fill="hold" nodeType="after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fade">
                                      <p:cBhvr>
                                        <p:cTn id="21" dur="500"/>
                                        <p:tgtEl>
                                          <p:spTgt spid="3"/>
                                        </p:tgtEl>
                                      </p:cBhvr>
                                    </p:animEffect>
                                  </p:childTnLst>
                                </p:cTn>
                              </p:par>
                            </p:childTnLst>
                          </p:cTn>
                        </p:par>
                        <p:par>
                          <p:cTn id="22" fill="hold">
                            <p:stCondLst>
                              <p:cond delay="3000"/>
                            </p:stCondLst>
                            <p:childTnLst>
                              <p:par>
                                <p:cTn id="23" presetID="10" presetClass="entr" presetSubtype="0" fill="hold" nodeType="after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childTnLst>
                                </p:cTn>
                              </p:par>
                            </p:childTnLst>
                          </p:cTn>
                        </p:par>
                        <p:par>
                          <p:cTn id="26" fill="hold">
                            <p:stCondLst>
                              <p:cond delay="3500"/>
                            </p:stCondLst>
                            <p:childTnLst>
                              <p:par>
                                <p:cTn id="27" presetID="10" presetClass="entr" presetSubtype="0" fill="hold"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par>
                          <p:cTn id="30" fill="hold">
                            <p:stCondLst>
                              <p:cond delay="4000"/>
                            </p:stCondLst>
                            <p:childTnLst>
                              <p:par>
                                <p:cTn id="31" presetID="10" presetClass="entr" presetSubtype="0" fill="hold" nodeType="after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5" grpId="0" animBg="1"/>
      <p:bldP spid="47"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58952" y="18288"/>
            <a:ext cx="9601200" cy="274320"/>
          </a:xfrm>
          <a:prstGeom prst="rect">
            <a:avLst/>
          </a:prstGeom>
          <a:noFill/>
        </p:spPr>
        <p:txBody>
          <a:bodyPr wrap="square" anchor="t" lIns="0" rIns="0" tIns="0" bIns="0">
            <a:spAutoFit/>
          </a:bodyPr>
          <a:lstStyle/>
          <a:p>
            <a:pPr algn="l">
              <a:lnSpc>
                <a:spcPct val="110000"/>
              </a:lnSpc>
            </a:pPr>
            <a:r>
              <a:rPr sz="1100" b="1">
                <a:solidFill>
                  <a:srgbClr val="01ABDB"/>
                </a:solidFill>
                <a:latin typeface="Montserrat"/>
              </a:rPr>
              <a:t>PART 2 OF 8 · PLAIN-LANGUAGE WALKTHROUGH</a:t>
            </a:r>
          </a:p>
        </p:txBody>
      </p:sp>
      <p:sp>
        <p:nvSpPr>
          <p:cNvPr id="3" name="TextBox 2"/>
          <p:cNvSpPr txBox="1"/>
          <p:nvPr/>
        </p:nvSpPr>
        <p:spPr>
          <a:xfrm>
            <a:off x="758952" y="265176"/>
            <a:ext cx="9601200" cy="914400"/>
          </a:xfrm>
          <a:prstGeom prst="rect">
            <a:avLst/>
          </a:prstGeom>
          <a:noFill/>
        </p:spPr>
        <p:txBody>
          <a:bodyPr wrap="square" anchor="t" lIns="0" rIns="0" tIns="0" bIns="0">
            <a:spAutoFit/>
          </a:bodyPr>
          <a:lstStyle/>
          <a:p>
            <a:pPr algn="l">
              <a:lnSpc>
                <a:spcPct val="110000"/>
              </a:lnSpc>
            </a:pPr>
            <a:r>
              <a:rPr sz="2800" b="1">
                <a:solidFill>
                  <a:srgbClr val="020C31"/>
                </a:solidFill>
                <a:latin typeface="Montserrat"/>
              </a:rPr>
              <a:t>The 5G Network, In Plain Terms</a:t>
            </a:r>
          </a:p>
        </p:txBody>
      </p:sp>
      <p:sp>
        <p:nvSpPr>
          <p:cNvPr id="4" name="TextBox 3"/>
          <p:cNvSpPr txBox="1"/>
          <p:nvPr/>
        </p:nvSpPr>
        <p:spPr>
          <a:xfrm>
            <a:off x="758952" y="1143000"/>
            <a:ext cx="10607040" cy="457200"/>
          </a:xfrm>
          <a:prstGeom prst="rect">
            <a:avLst/>
          </a:prstGeom>
          <a:noFill/>
        </p:spPr>
        <p:txBody>
          <a:bodyPr wrap="square" anchor="t" lIns="0" rIns="0" tIns="0" bIns="0">
            <a:spAutoFit/>
          </a:bodyPr>
          <a:lstStyle/>
          <a:p>
            <a:pPr algn="l">
              <a:lnSpc>
                <a:spcPct val="110000"/>
              </a:lnSpc>
            </a:pPr>
            <a:r>
              <a:rPr sz="1250" b="0">
                <a:solidFill>
                  <a:srgbClr val="6B7688"/>
                </a:solidFill>
                <a:latin typeface="Montserrat"/>
              </a:rPr>
              <a:t>A 5G network is a set of specialised systems, each handling one job, that talk to each other over standard APIs, like departments in a company.</a:t>
            </a:r>
          </a:p>
        </p:txBody>
      </p:sp>
      <p:sp>
        <p:nvSpPr>
          <p:cNvPr id="5" name="Rounded Rectangle 4"/>
          <p:cNvSpPr/>
          <p:nvPr/>
        </p:nvSpPr>
        <p:spPr>
          <a:xfrm>
            <a:off x="758952" y="1828800"/>
            <a:ext cx="3520440" cy="13716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1828800"/>
            <a:ext cx="3520440" cy="73152"/>
          </a:xfrm>
          <a:prstGeom prst="roundRect">
            <a:avLst>
              <a:gd name="adj" fmla="val 50000"/>
            </a:avLst>
          </a:prstGeom>
          <a:solidFill>
            <a:srgbClr val="01A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011680"/>
            <a:ext cx="3154680" cy="320040"/>
          </a:xfrm>
          <a:prstGeom prst="rect">
            <a:avLst/>
          </a:prstGeom>
          <a:noFill/>
        </p:spPr>
        <p:txBody>
          <a:bodyPr wrap="square" anchor="t" lIns="0" rIns="0" tIns="0" bIns="0">
            <a:spAutoFit/>
          </a:bodyPr>
          <a:lstStyle/>
          <a:p>
            <a:pPr algn="l">
              <a:lnSpc>
                <a:spcPct val="110000"/>
              </a:lnSpc>
            </a:pPr>
            <a:r>
              <a:rPr sz="1500" b="1">
                <a:solidFill>
                  <a:srgbClr val="3D67B1"/>
                </a:solidFill>
                <a:latin typeface="Montserrat"/>
              </a:rPr>
              <a:t>AMF</a:t>
            </a:r>
          </a:p>
        </p:txBody>
      </p:sp>
      <p:sp>
        <p:nvSpPr>
          <p:cNvPr id="8" name="TextBox 7"/>
          <p:cNvSpPr txBox="1"/>
          <p:nvPr/>
        </p:nvSpPr>
        <p:spPr>
          <a:xfrm>
            <a:off x="960120" y="2331720"/>
            <a:ext cx="3154680" cy="274320"/>
          </a:xfrm>
          <a:prstGeom prst="rect">
            <a:avLst/>
          </a:prstGeom>
          <a:noFill/>
        </p:spPr>
        <p:txBody>
          <a:bodyPr wrap="square" anchor="t" lIns="0" rIns="0" tIns="0" bIns="0">
            <a:spAutoFit/>
          </a:bodyPr>
          <a:lstStyle/>
          <a:p>
            <a:pPr algn="l">
              <a:lnSpc>
                <a:spcPct val="110000"/>
              </a:lnSpc>
            </a:pPr>
            <a:r>
              <a:rPr sz="1100" b="1">
                <a:solidFill>
                  <a:srgbClr val="020C31"/>
                </a:solidFill>
                <a:latin typeface="Montserrat"/>
              </a:rPr>
              <a:t>Access &amp; Mobility</a:t>
            </a:r>
          </a:p>
        </p:txBody>
      </p:sp>
      <p:sp>
        <p:nvSpPr>
          <p:cNvPr id="9" name="TextBox 8"/>
          <p:cNvSpPr txBox="1"/>
          <p:nvPr/>
        </p:nvSpPr>
        <p:spPr>
          <a:xfrm>
            <a:off x="960120" y="2633472"/>
            <a:ext cx="3154680" cy="502920"/>
          </a:xfrm>
          <a:prstGeom prst="rect">
            <a:avLst/>
          </a:prstGeom>
          <a:noFill/>
        </p:spPr>
        <p:txBody>
          <a:bodyPr wrap="square" anchor="t" lIns="0" rIns="0" tIns="0" bIns="0">
            <a:spAutoFit/>
          </a:bodyPr>
          <a:lstStyle/>
          <a:p>
            <a:pPr algn="l">
              <a:lnSpc>
                <a:spcPct val="110000"/>
              </a:lnSpc>
            </a:pPr>
            <a:r>
              <a:rPr sz="1000" b="0">
                <a:solidFill>
                  <a:srgbClr val="334155"/>
                </a:solidFill>
                <a:latin typeface="Montserrat"/>
              </a:rPr>
              <a:t>Keeps track of where a device is and whether it's reachable.</a:t>
            </a:r>
          </a:p>
        </p:txBody>
      </p:sp>
      <p:sp>
        <p:nvSpPr>
          <p:cNvPr id="10" name="Rounded Rectangle 9"/>
          <p:cNvSpPr/>
          <p:nvPr/>
        </p:nvSpPr>
        <p:spPr>
          <a:xfrm>
            <a:off x="4462272" y="1828800"/>
            <a:ext cx="3520440" cy="13716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462272" y="1828800"/>
            <a:ext cx="3520440" cy="73152"/>
          </a:xfrm>
          <a:prstGeom prst="roundRect">
            <a:avLst>
              <a:gd name="adj" fmla="val 50000"/>
            </a:avLst>
          </a:prstGeom>
          <a:solidFill>
            <a:srgbClr val="01A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2011680"/>
            <a:ext cx="3154680" cy="320040"/>
          </a:xfrm>
          <a:prstGeom prst="rect">
            <a:avLst/>
          </a:prstGeom>
          <a:noFill/>
        </p:spPr>
        <p:txBody>
          <a:bodyPr wrap="square" anchor="t" lIns="0" rIns="0" tIns="0" bIns="0">
            <a:spAutoFit/>
          </a:bodyPr>
          <a:lstStyle/>
          <a:p>
            <a:pPr algn="l">
              <a:lnSpc>
                <a:spcPct val="110000"/>
              </a:lnSpc>
            </a:pPr>
            <a:r>
              <a:rPr sz="1500" b="1">
                <a:solidFill>
                  <a:srgbClr val="3D67B1"/>
                </a:solidFill>
                <a:latin typeface="Montserrat"/>
              </a:rPr>
              <a:t>SMF</a:t>
            </a:r>
          </a:p>
        </p:txBody>
      </p:sp>
      <p:sp>
        <p:nvSpPr>
          <p:cNvPr id="13" name="TextBox 12"/>
          <p:cNvSpPr txBox="1"/>
          <p:nvPr/>
        </p:nvSpPr>
        <p:spPr>
          <a:xfrm>
            <a:off x="4663440" y="2331720"/>
            <a:ext cx="3154680" cy="274320"/>
          </a:xfrm>
          <a:prstGeom prst="rect">
            <a:avLst/>
          </a:prstGeom>
          <a:noFill/>
        </p:spPr>
        <p:txBody>
          <a:bodyPr wrap="square" anchor="t" lIns="0" rIns="0" tIns="0" bIns="0">
            <a:spAutoFit/>
          </a:bodyPr>
          <a:lstStyle/>
          <a:p>
            <a:pPr algn="l">
              <a:lnSpc>
                <a:spcPct val="110000"/>
              </a:lnSpc>
            </a:pPr>
            <a:r>
              <a:rPr sz="1100" b="1">
                <a:solidFill>
                  <a:srgbClr val="020C31"/>
                </a:solidFill>
                <a:latin typeface="Montserrat"/>
              </a:rPr>
              <a:t>Session Management</a:t>
            </a:r>
          </a:p>
        </p:txBody>
      </p:sp>
      <p:sp>
        <p:nvSpPr>
          <p:cNvPr id="14" name="TextBox 13"/>
          <p:cNvSpPr txBox="1"/>
          <p:nvPr/>
        </p:nvSpPr>
        <p:spPr>
          <a:xfrm>
            <a:off x="4663440" y="2633472"/>
            <a:ext cx="3154680" cy="502920"/>
          </a:xfrm>
          <a:prstGeom prst="rect">
            <a:avLst/>
          </a:prstGeom>
          <a:noFill/>
        </p:spPr>
        <p:txBody>
          <a:bodyPr wrap="square" anchor="t" lIns="0" rIns="0" tIns="0" bIns="0">
            <a:spAutoFit/>
          </a:bodyPr>
          <a:lstStyle/>
          <a:p>
            <a:pPr algn="l">
              <a:lnSpc>
                <a:spcPct val="110000"/>
              </a:lnSpc>
            </a:pPr>
            <a:r>
              <a:rPr sz="1000" b="0">
                <a:solidFill>
                  <a:srgbClr val="334155"/>
                </a:solidFill>
                <a:latin typeface="Montserrat"/>
              </a:rPr>
              <a:t>Opens, updates and closes a device's data session.</a:t>
            </a:r>
          </a:p>
        </p:txBody>
      </p:sp>
      <p:sp>
        <p:nvSpPr>
          <p:cNvPr id="15" name="Rounded Rectangle 14"/>
          <p:cNvSpPr/>
          <p:nvPr/>
        </p:nvSpPr>
        <p:spPr>
          <a:xfrm>
            <a:off x="8165592" y="1828800"/>
            <a:ext cx="3520440" cy="13716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65592" y="1828800"/>
            <a:ext cx="3520440" cy="73152"/>
          </a:xfrm>
          <a:prstGeom prst="roundRect">
            <a:avLst>
              <a:gd name="adj" fmla="val 50000"/>
            </a:avLst>
          </a:prstGeom>
          <a:solidFill>
            <a:srgbClr val="01A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60" y="2011680"/>
            <a:ext cx="3154680" cy="320040"/>
          </a:xfrm>
          <a:prstGeom prst="rect">
            <a:avLst/>
          </a:prstGeom>
          <a:noFill/>
        </p:spPr>
        <p:txBody>
          <a:bodyPr wrap="square" anchor="t" lIns="0" rIns="0" tIns="0" bIns="0">
            <a:spAutoFit/>
          </a:bodyPr>
          <a:lstStyle/>
          <a:p>
            <a:pPr algn="l">
              <a:lnSpc>
                <a:spcPct val="110000"/>
              </a:lnSpc>
            </a:pPr>
            <a:r>
              <a:rPr sz="1500" b="1">
                <a:solidFill>
                  <a:srgbClr val="3D67B1"/>
                </a:solidFill>
                <a:latin typeface="Montserrat"/>
              </a:rPr>
              <a:t>NRF</a:t>
            </a:r>
          </a:p>
        </p:txBody>
      </p:sp>
      <p:sp>
        <p:nvSpPr>
          <p:cNvPr id="18" name="TextBox 17"/>
          <p:cNvSpPr txBox="1"/>
          <p:nvPr/>
        </p:nvSpPr>
        <p:spPr>
          <a:xfrm>
            <a:off x="8366760" y="2331720"/>
            <a:ext cx="3154680" cy="274320"/>
          </a:xfrm>
          <a:prstGeom prst="rect">
            <a:avLst/>
          </a:prstGeom>
          <a:noFill/>
        </p:spPr>
        <p:txBody>
          <a:bodyPr wrap="square" anchor="t" lIns="0" rIns="0" tIns="0" bIns="0">
            <a:spAutoFit/>
          </a:bodyPr>
          <a:lstStyle/>
          <a:p>
            <a:pPr algn="l">
              <a:lnSpc>
                <a:spcPct val="110000"/>
              </a:lnSpc>
            </a:pPr>
            <a:r>
              <a:rPr sz="1100" b="1">
                <a:solidFill>
                  <a:srgbClr val="020C31"/>
                </a:solidFill>
                <a:latin typeface="Montserrat"/>
              </a:rPr>
              <a:t>Network Repository</a:t>
            </a:r>
          </a:p>
        </p:txBody>
      </p:sp>
      <p:sp>
        <p:nvSpPr>
          <p:cNvPr id="19" name="TextBox 18"/>
          <p:cNvSpPr txBox="1"/>
          <p:nvPr/>
        </p:nvSpPr>
        <p:spPr>
          <a:xfrm>
            <a:off x="8366760" y="2633472"/>
            <a:ext cx="3154680" cy="502920"/>
          </a:xfrm>
          <a:prstGeom prst="rect">
            <a:avLst/>
          </a:prstGeom>
          <a:noFill/>
        </p:spPr>
        <p:txBody>
          <a:bodyPr wrap="square" anchor="t" lIns="0" rIns="0" tIns="0" bIns="0">
            <a:spAutoFit/>
          </a:bodyPr>
          <a:lstStyle/>
          <a:p>
            <a:pPr algn="l">
              <a:lnSpc>
                <a:spcPct val="110000"/>
              </a:lnSpc>
            </a:pPr>
            <a:r>
              <a:rPr sz="1000" b="0">
                <a:solidFill>
                  <a:srgbClr val="334155"/>
                </a:solidFill>
                <a:latin typeface="Montserrat"/>
              </a:rPr>
              <a:t>The internal directory: lets systems find each other.</a:t>
            </a:r>
          </a:p>
        </p:txBody>
      </p:sp>
      <p:sp>
        <p:nvSpPr>
          <p:cNvPr id="20" name="Rounded Rectangle 19"/>
          <p:cNvSpPr/>
          <p:nvPr/>
        </p:nvSpPr>
        <p:spPr>
          <a:xfrm>
            <a:off x="758952" y="3383280"/>
            <a:ext cx="3520440" cy="13716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58952" y="3383280"/>
            <a:ext cx="3520440" cy="73152"/>
          </a:xfrm>
          <a:prstGeom prst="roundRect">
            <a:avLst>
              <a:gd name="adj" fmla="val 50000"/>
            </a:avLst>
          </a:prstGeom>
          <a:solidFill>
            <a:srgbClr val="01A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3566160"/>
            <a:ext cx="3154680" cy="320040"/>
          </a:xfrm>
          <a:prstGeom prst="rect">
            <a:avLst/>
          </a:prstGeom>
          <a:noFill/>
        </p:spPr>
        <p:txBody>
          <a:bodyPr wrap="square" anchor="t" lIns="0" rIns="0" tIns="0" bIns="0">
            <a:spAutoFit/>
          </a:bodyPr>
          <a:lstStyle/>
          <a:p>
            <a:pPr algn="l">
              <a:lnSpc>
                <a:spcPct val="110000"/>
              </a:lnSpc>
            </a:pPr>
            <a:r>
              <a:rPr sz="1500" b="1">
                <a:solidFill>
                  <a:srgbClr val="3D67B1"/>
                </a:solidFill>
                <a:latin typeface="Montserrat"/>
              </a:rPr>
              <a:t>PCF</a:t>
            </a:r>
          </a:p>
        </p:txBody>
      </p:sp>
      <p:sp>
        <p:nvSpPr>
          <p:cNvPr id="23" name="TextBox 22"/>
          <p:cNvSpPr txBox="1"/>
          <p:nvPr/>
        </p:nvSpPr>
        <p:spPr>
          <a:xfrm>
            <a:off x="960120" y="3886200"/>
            <a:ext cx="3154680" cy="274320"/>
          </a:xfrm>
          <a:prstGeom prst="rect">
            <a:avLst/>
          </a:prstGeom>
          <a:noFill/>
        </p:spPr>
        <p:txBody>
          <a:bodyPr wrap="square" anchor="t" lIns="0" rIns="0" tIns="0" bIns="0">
            <a:spAutoFit/>
          </a:bodyPr>
          <a:lstStyle/>
          <a:p>
            <a:pPr algn="l">
              <a:lnSpc>
                <a:spcPct val="110000"/>
              </a:lnSpc>
            </a:pPr>
            <a:r>
              <a:rPr sz="1100" b="1">
                <a:solidFill>
                  <a:srgbClr val="020C31"/>
                </a:solidFill>
                <a:latin typeface="Montserrat"/>
              </a:rPr>
              <a:t>Policy Control</a:t>
            </a:r>
          </a:p>
        </p:txBody>
      </p:sp>
      <p:sp>
        <p:nvSpPr>
          <p:cNvPr id="24" name="TextBox 23"/>
          <p:cNvSpPr txBox="1"/>
          <p:nvPr/>
        </p:nvSpPr>
        <p:spPr>
          <a:xfrm>
            <a:off x="960120" y="4187952"/>
            <a:ext cx="3154680" cy="502920"/>
          </a:xfrm>
          <a:prstGeom prst="rect">
            <a:avLst/>
          </a:prstGeom>
          <a:noFill/>
        </p:spPr>
        <p:txBody>
          <a:bodyPr wrap="square" anchor="t" lIns="0" rIns="0" tIns="0" bIns="0">
            <a:spAutoFit/>
          </a:bodyPr>
          <a:lstStyle/>
          <a:p>
            <a:pPr algn="l">
              <a:lnSpc>
                <a:spcPct val="110000"/>
              </a:lnSpc>
            </a:pPr>
            <a:r>
              <a:rPr sz="1000" b="0">
                <a:solidFill>
                  <a:srgbClr val="334155"/>
                </a:solidFill>
                <a:latin typeface="Montserrat"/>
              </a:rPr>
              <a:t>Decides and enforces the rules a session must follow.</a:t>
            </a:r>
          </a:p>
        </p:txBody>
      </p:sp>
      <p:sp>
        <p:nvSpPr>
          <p:cNvPr id="25" name="Rounded Rectangle 24"/>
          <p:cNvSpPr/>
          <p:nvPr/>
        </p:nvSpPr>
        <p:spPr>
          <a:xfrm>
            <a:off x="4462272" y="3383280"/>
            <a:ext cx="3520440" cy="13716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462272" y="3383280"/>
            <a:ext cx="3520440" cy="73152"/>
          </a:xfrm>
          <a:prstGeom prst="roundRect">
            <a:avLst>
              <a:gd name="adj" fmla="val 50000"/>
            </a:avLst>
          </a:prstGeom>
          <a:solidFill>
            <a:srgbClr val="01A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63440" y="3566160"/>
            <a:ext cx="3154680" cy="320040"/>
          </a:xfrm>
          <a:prstGeom prst="rect">
            <a:avLst/>
          </a:prstGeom>
          <a:noFill/>
        </p:spPr>
        <p:txBody>
          <a:bodyPr wrap="square" anchor="t" lIns="0" rIns="0" tIns="0" bIns="0">
            <a:spAutoFit/>
          </a:bodyPr>
          <a:lstStyle/>
          <a:p>
            <a:pPr algn="l">
              <a:lnSpc>
                <a:spcPct val="110000"/>
              </a:lnSpc>
            </a:pPr>
            <a:r>
              <a:rPr sz="1500" b="1">
                <a:solidFill>
                  <a:srgbClr val="3D67B1"/>
                </a:solidFill>
                <a:latin typeface="Montserrat"/>
              </a:rPr>
              <a:t>UDM</a:t>
            </a:r>
          </a:p>
        </p:txBody>
      </p:sp>
      <p:sp>
        <p:nvSpPr>
          <p:cNvPr id="28" name="TextBox 27"/>
          <p:cNvSpPr txBox="1"/>
          <p:nvPr/>
        </p:nvSpPr>
        <p:spPr>
          <a:xfrm>
            <a:off x="4663440" y="3886200"/>
            <a:ext cx="3154680" cy="274320"/>
          </a:xfrm>
          <a:prstGeom prst="rect">
            <a:avLst/>
          </a:prstGeom>
          <a:noFill/>
        </p:spPr>
        <p:txBody>
          <a:bodyPr wrap="square" anchor="t" lIns="0" rIns="0" tIns="0" bIns="0">
            <a:spAutoFit/>
          </a:bodyPr>
          <a:lstStyle/>
          <a:p>
            <a:pPr algn="l">
              <a:lnSpc>
                <a:spcPct val="110000"/>
              </a:lnSpc>
            </a:pPr>
            <a:r>
              <a:rPr sz="1100" b="1">
                <a:solidFill>
                  <a:srgbClr val="020C31"/>
                </a:solidFill>
                <a:latin typeface="Montserrat"/>
              </a:rPr>
              <a:t>Unified Data Management</a:t>
            </a:r>
          </a:p>
        </p:txBody>
      </p:sp>
      <p:sp>
        <p:nvSpPr>
          <p:cNvPr id="29" name="TextBox 28"/>
          <p:cNvSpPr txBox="1"/>
          <p:nvPr/>
        </p:nvSpPr>
        <p:spPr>
          <a:xfrm>
            <a:off x="4663440" y="4187952"/>
            <a:ext cx="3154680" cy="502920"/>
          </a:xfrm>
          <a:prstGeom prst="rect">
            <a:avLst/>
          </a:prstGeom>
          <a:noFill/>
        </p:spPr>
        <p:txBody>
          <a:bodyPr wrap="square" anchor="t" lIns="0" rIns="0" tIns="0" bIns="0">
            <a:spAutoFit/>
          </a:bodyPr>
          <a:lstStyle/>
          <a:p>
            <a:pPr algn="l">
              <a:lnSpc>
                <a:spcPct val="110000"/>
              </a:lnSpc>
            </a:pPr>
            <a:r>
              <a:rPr sz="1000" b="0">
                <a:solidFill>
                  <a:srgbClr val="334155"/>
                </a:solidFill>
                <a:latin typeface="Montserrat"/>
              </a:rPr>
              <a:t>Holds and serves subscriber data on request.</a:t>
            </a:r>
          </a:p>
        </p:txBody>
      </p:sp>
      <p:sp>
        <p:nvSpPr>
          <p:cNvPr id="30" name="Rounded Rectangle 29"/>
          <p:cNvSpPr/>
          <p:nvPr/>
        </p:nvSpPr>
        <p:spPr>
          <a:xfrm>
            <a:off x="8165592" y="3383280"/>
            <a:ext cx="3520440" cy="13716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165592" y="3383280"/>
            <a:ext cx="3520440" cy="73152"/>
          </a:xfrm>
          <a:prstGeom prst="roundRect">
            <a:avLst>
              <a:gd name="adj" fmla="val 50000"/>
            </a:avLst>
          </a:prstGeom>
          <a:solidFill>
            <a:srgbClr val="01A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66760" y="3566160"/>
            <a:ext cx="3154680" cy="320040"/>
          </a:xfrm>
          <a:prstGeom prst="rect">
            <a:avLst/>
          </a:prstGeom>
          <a:noFill/>
        </p:spPr>
        <p:txBody>
          <a:bodyPr wrap="square" anchor="t" lIns="0" rIns="0" tIns="0" bIns="0">
            <a:spAutoFit/>
          </a:bodyPr>
          <a:lstStyle/>
          <a:p>
            <a:pPr algn="l">
              <a:lnSpc>
                <a:spcPct val="110000"/>
              </a:lnSpc>
            </a:pPr>
            <a:r>
              <a:rPr sz="1500" b="1">
                <a:solidFill>
                  <a:srgbClr val="3D67B1"/>
                </a:solidFill>
                <a:latin typeface="Montserrat"/>
              </a:rPr>
              <a:t>NEF</a:t>
            </a:r>
          </a:p>
        </p:txBody>
      </p:sp>
      <p:sp>
        <p:nvSpPr>
          <p:cNvPr id="33" name="TextBox 32"/>
          <p:cNvSpPr txBox="1"/>
          <p:nvPr/>
        </p:nvSpPr>
        <p:spPr>
          <a:xfrm>
            <a:off x="8366760" y="3886200"/>
            <a:ext cx="3154680" cy="274320"/>
          </a:xfrm>
          <a:prstGeom prst="rect">
            <a:avLst/>
          </a:prstGeom>
          <a:noFill/>
        </p:spPr>
        <p:txBody>
          <a:bodyPr wrap="square" anchor="t" lIns="0" rIns="0" tIns="0" bIns="0">
            <a:spAutoFit/>
          </a:bodyPr>
          <a:lstStyle/>
          <a:p>
            <a:pPr algn="l">
              <a:lnSpc>
                <a:spcPct val="110000"/>
              </a:lnSpc>
            </a:pPr>
            <a:r>
              <a:rPr sz="1100" b="1">
                <a:solidFill>
                  <a:srgbClr val="020C31"/>
                </a:solidFill>
                <a:latin typeface="Montserrat"/>
              </a:rPr>
              <a:t>Network Exposure</a:t>
            </a:r>
          </a:p>
        </p:txBody>
      </p:sp>
      <p:sp>
        <p:nvSpPr>
          <p:cNvPr id="34" name="TextBox 33"/>
          <p:cNvSpPr txBox="1"/>
          <p:nvPr/>
        </p:nvSpPr>
        <p:spPr>
          <a:xfrm>
            <a:off x="8366760" y="4187952"/>
            <a:ext cx="3154680" cy="502920"/>
          </a:xfrm>
          <a:prstGeom prst="rect">
            <a:avLst/>
          </a:prstGeom>
          <a:noFill/>
        </p:spPr>
        <p:txBody>
          <a:bodyPr wrap="square" anchor="t" lIns="0" rIns="0" tIns="0" bIns="0">
            <a:spAutoFit/>
          </a:bodyPr>
          <a:lstStyle/>
          <a:p>
            <a:pPr algn="l">
              <a:lnSpc>
                <a:spcPct val="110000"/>
              </a:lnSpc>
            </a:pPr>
            <a:r>
              <a:rPr sz="1000" b="0">
                <a:solidFill>
                  <a:srgbClr val="334155"/>
                </a:solidFill>
                <a:latin typeface="Montserrat"/>
              </a:rPr>
              <a:t>The controlled front door for outside apps and automations.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58952" y="18288"/>
            <a:ext cx="9601200" cy="274320"/>
          </a:xfrm>
          <a:prstGeom prst="rect">
            <a:avLst/>
          </a:prstGeom>
          <a:noFill/>
        </p:spPr>
        <p:txBody>
          <a:bodyPr wrap="square" anchor="t" lIns="0" rIns="0" tIns="0" bIns="0">
            <a:spAutoFit/>
          </a:bodyPr>
          <a:lstStyle/>
          <a:p>
            <a:pPr algn="l">
              <a:lnSpc>
                <a:spcPct val="110000"/>
              </a:lnSpc>
            </a:pPr>
            <a:r>
              <a:rPr sz="1100" b="1">
                <a:solidFill>
                  <a:srgbClr val="01ABDB"/>
                </a:solidFill>
                <a:latin typeface="Montserrat"/>
              </a:rPr>
              <a:t>PART 3 OF 8 · PLAIN-LANGUAGE WALKTHROUGH</a:t>
            </a:r>
          </a:p>
        </p:txBody>
      </p:sp>
      <p:sp>
        <p:nvSpPr>
          <p:cNvPr id="3" name="TextBox 2"/>
          <p:cNvSpPr txBox="1"/>
          <p:nvPr/>
        </p:nvSpPr>
        <p:spPr>
          <a:xfrm>
            <a:off x="758952" y="265176"/>
            <a:ext cx="9601200" cy="914400"/>
          </a:xfrm>
          <a:prstGeom prst="rect">
            <a:avLst/>
          </a:prstGeom>
          <a:noFill/>
        </p:spPr>
        <p:txBody>
          <a:bodyPr wrap="square" anchor="t" lIns="0" rIns="0" tIns="0" bIns="0">
            <a:spAutoFit/>
          </a:bodyPr>
          <a:lstStyle/>
          <a:p>
            <a:pPr algn="l">
              <a:lnSpc>
                <a:spcPct val="110000"/>
              </a:lnSpc>
            </a:pPr>
            <a:r>
              <a:rPr sz="2800" b="1">
                <a:solidFill>
                  <a:srgbClr val="020C31"/>
                </a:solidFill>
                <a:latin typeface="Montserrat"/>
              </a:rPr>
              <a:t>The Agents We Modelled</a:t>
            </a:r>
          </a:p>
        </p:txBody>
      </p:sp>
      <p:sp>
        <p:nvSpPr>
          <p:cNvPr id="4" name="TextBox 3"/>
          <p:cNvSpPr txBox="1"/>
          <p:nvPr/>
        </p:nvSpPr>
        <p:spPr>
          <a:xfrm>
            <a:off x="758952" y="1143000"/>
            <a:ext cx="10607040" cy="457200"/>
          </a:xfrm>
          <a:prstGeom prst="rect">
            <a:avLst/>
          </a:prstGeom>
          <a:noFill/>
        </p:spPr>
        <p:txBody>
          <a:bodyPr wrap="square" anchor="t" lIns="0" rIns="0" tIns="0" bIns="0">
            <a:spAutoFit/>
          </a:bodyPr>
          <a:lstStyle/>
          <a:p>
            <a:pPr algn="l">
              <a:lnSpc>
                <a:spcPct val="110000"/>
              </a:lnSpc>
            </a:pPr>
            <a:r>
              <a:rPr sz="1250" b="0">
                <a:solidFill>
                  <a:srgbClr val="6B7688"/>
                </a:solidFill>
                <a:latin typeface="Montserrat"/>
              </a:rPr>
              <a:t>Five automations, each with its own job, schedule and routine, so AEGIS can tell when one of them starts acting unlike itself.</a:t>
            </a:r>
          </a:p>
        </p:txBody>
      </p:sp>
      <p:sp>
        <p:nvSpPr>
          <p:cNvPr id="5" name="Rounded Rectangle 4"/>
          <p:cNvSpPr/>
          <p:nvPr/>
        </p:nvSpPr>
        <p:spPr>
          <a:xfrm>
            <a:off x="758952" y="1828800"/>
            <a:ext cx="10607040" cy="786384"/>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1828800"/>
            <a:ext cx="82296" cy="786384"/>
          </a:xfrm>
          <a:prstGeom prst="roundRect">
            <a:avLst/>
          </a:prstGeom>
          <a:solidFill>
            <a:srgbClr val="3D67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956816"/>
            <a:ext cx="2743200" cy="530352"/>
          </a:xfrm>
          <a:prstGeom prst="rect">
            <a:avLst/>
          </a:prstGeom>
          <a:noFill/>
        </p:spPr>
        <p:txBody>
          <a:bodyPr wrap="square" anchor="ctr" lIns="0" rIns="0" tIns="0" bIns="0">
            <a:spAutoFit/>
          </a:bodyPr>
          <a:lstStyle/>
          <a:p>
            <a:pPr algn="l">
              <a:lnSpc>
                <a:spcPct val="110000"/>
              </a:lnSpc>
            </a:pPr>
            <a:r>
              <a:rPr sz="1300" b="1">
                <a:solidFill>
                  <a:srgbClr val="020C31"/>
                </a:solidFill>
                <a:latin typeface="Montserrat"/>
              </a:rPr>
              <a:t>Session orchestrator</a:t>
            </a:r>
          </a:p>
        </p:txBody>
      </p:sp>
      <p:sp>
        <p:nvSpPr>
          <p:cNvPr id="8" name="TextBox 7"/>
          <p:cNvSpPr txBox="1"/>
          <p:nvPr/>
        </p:nvSpPr>
        <p:spPr>
          <a:xfrm>
            <a:off x="3931920" y="1920240"/>
            <a:ext cx="7315200" cy="603503"/>
          </a:xfrm>
          <a:prstGeom prst="rect">
            <a:avLst/>
          </a:prstGeom>
          <a:noFill/>
        </p:spPr>
        <p:txBody>
          <a:bodyPr wrap="square" anchor="ctr" lIns="0" rIns="0" tIns="0" bIns="0">
            <a:spAutoFit/>
          </a:bodyPr>
          <a:lstStyle/>
          <a:p>
            <a:pPr algn="l">
              <a:lnSpc>
                <a:spcPct val="110000"/>
              </a:lnSpc>
            </a:pPr>
            <a:r>
              <a:rPr sz="1150" b="0">
                <a:solidFill>
                  <a:srgbClr val="334155"/>
                </a:solidFill>
                <a:latin typeface="Montserrat"/>
              </a:rPr>
              <a:t>Opens/closes sessions across AMF, SMF, PCF - runs 24/7, steady pace.</a:t>
            </a:r>
          </a:p>
        </p:txBody>
      </p:sp>
      <p:sp>
        <p:nvSpPr>
          <p:cNvPr id="9" name="Rounded Rectangle 8"/>
          <p:cNvSpPr/>
          <p:nvPr/>
        </p:nvSpPr>
        <p:spPr>
          <a:xfrm>
            <a:off x="758952" y="2724912"/>
            <a:ext cx="10607040" cy="786384"/>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58952" y="2724912"/>
            <a:ext cx="82296" cy="786384"/>
          </a:xfrm>
          <a:prstGeom prst="roundRect">
            <a:avLst/>
          </a:prstGeom>
          <a:solidFill>
            <a:srgbClr val="3D67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2852928"/>
            <a:ext cx="2743200" cy="530352"/>
          </a:xfrm>
          <a:prstGeom prst="rect">
            <a:avLst/>
          </a:prstGeom>
          <a:noFill/>
        </p:spPr>
        <p:txBody>
          <a:bodyPr wrap="square" anchor="ctr" lIns="0" rIns="0" tIns="0" bIns="0">
            <a:spAutoFit/>
          </a:bodyPr>
          <a:lstStyle/>
          <a:p>
            <a:pPr algn="l">
              <a:lnSpc>
                <a:spcPct val="110000"/>
              </a:lnSpc>
            </a:pPr>
            <a:r>
              <a:rPr sz="1300" b="1">
                <a:solidFill>
                  <a:srgbClr val="020C31"/>
                </a:solidFill>
                <a:latin typeface="Montserrat"/>
              </a:rPr>
              <a:t>Inventory job</a:t>
            </a:r>
          </a:p>
        </p:txBody>
      </p:sp>
      <p:sp>
        <p:nvSpPr>
          <p:cNvPr id="12" name="TextBox 11"/>
          <p:cNvSpPr txBox="1"/>
          <p:nvPr/>
        </p:nvSpPr>
        <p:spPr>
          <a:xfrm>
            <a:off x="3931920" y="2816352"/>
            <a:ext cx="7315200" cy="603503"/>
          </a:xfrm>
          <a:prstGeom prst="rect">
            <a:avLst/>
          </a:prstGeom>
          <a:noFill/>
        </p:spPr>
        <p:txBody>
          <a:bodyPr wrap="square" anchor="ctr" lIns="0" rIns="0" tIns="0" bIns="0">
            <a:spAutoFit/>
          </a:bodyPr>
          <a:lstStyle/>
          <a:p>
            <a:pPr algn="l">
              <a:lnSpc>
                <a:spcPct val="110000"/>
              </a:lnSpc>
            </a:pPr>
            <a:r>
              <a:rPr sz="1150" b="0">
                <a:solidFill>
                  <a:srgbClr val="334155"/>
                </a:solidFill>
                <a:latin typeface="Montserrat"/>
              </a:rPr>
              <a:t>Reads records from NRF, UDM only - runs briefly overnight.</a:t>
            </a:r>
          </a:p>
        </p:txBody>
      </p:sp>
      <p:sp>
        <p:nvSpPr>
          <p:cNvPr id="13" name="Rounded Rectangle 12"/>
          <p:cNvSpPr/>
          <p:nvPr/>
        </p:nvSpPr>
        <p:spPr>
          <a:xfrm>
            <a:off x="758952" y="3621024"/>
            <a:ext cx="10607040" cy="786384"/>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58952" y="3621024"/>
            <a:ext cx="82296" cy="786384"/>
          </a:xfrm>
          <a:prstGeom prst="roundRect">
            <a:avLst/>
          </a:prstGeom>
          <a:solidFill>
            <a:srgbClr val="3D67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3749039"/>
            <a:ext cx="2743200" cy="530352"/>
          </a:xfrm>
          <a:prstGeom prst="rect">
            <a:avLst/>
          </a:prstGeom>
          <a:noFill/>
        </p:spPr>
        <p:txBody>
          <a:bodyPr wrap="square" anchor="ctr" lIns="0" rIns="0" tIns="0" bIns="0">
            <a:spAutoFit/>
          </a:bodyPr>
          <a:lstStyle/>
          <a:p>
            <a:pPr algn="l">
              <a:lnSpc>
                <a:spcPct val="110000"/>
              </a:lnSpc>
            </a:pPr>
            <a:r>
              <a:rPr sz="1300" b="1">
                <a:solidFill>
                  <a:srgbClr val="020C31"/>
                </a:solidFill>
                <a:latin typeface="Montserrat"/>
              </a:rPr>
              <a:t>Closed-loop assurance</a:t>
            </a:r>
          </a:p>
        </p:txBody>
      </p:sp>
      <p:sp>
        <p:nvSpPr>
          <p:cNvPr id="16" name="TextBox 15"/>
          <p:cNvSpPr txBox="1"/>
          <p:nvPr/>
        </p:nvSpPr>
        <p:spPr>
          <a:xfrm>
            <a:off x="3931920" y="3712463"/>
            <a:ext cx="7315200" cy="603503"/>
          </a:xfrm>
          <a:prstGeom prst="rect">
            <a:avLst/>
          </a:prstGeom>
          <a:noFill/>
        </p:spPr>
        <p:txBody>
          <a:bodyPr wrap="square" anchor="ctr" lIns="0" rIns="0" tIns="0" bIns="0">
            <a:spAutoFit/>
          </a:bodyPr>
          <a:lstStyle/>
          <a:p>
            <a:pPr algn="l">
              <a:lnSpc>
                <a:spcPct val="110000"/>
              </a:lnSpc>
            </a:pPr>
            <a:r>
              <a:rPr sz="1150" b="0">
                <a:solidFill>
                  <a:srgbClr val="334155"/>
                </a:solidFill>
                <a:latin typeface="Montserrat"/>
              </a:rPr>
              <a:t>Subscribes to live events on AMF, NEF, PCF - runs 24/7.</a:t>
            </a:r>
          </a:p>
        </p:txBody>
      </p:sp>
      <p:sp>
        <p:nvSpPr>
          <p:cNvPr id="17" name="Rounded Rectangle 16"/>
          <p:cNvSpPr/>
          <p:nvPr/>
        </p:nvSpPr>
        <p:spPr>
          <a:xfrm>
            <a:off x="758952" y="4517136"/>
            <a:ext cx="10607040" cy="786384"/>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58952" y="4517136"/>
            <a:ext cx="82296" cy="786384"/>
          </a:xfrm>
          <a:prstGeom prst="roundRect">
            <a:avLst/>
          </a:prstGeom>
          <a:solidFill>
            <a:srgbClr val="3D67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4645151"/>
            <a:ext cx="2743200" cy="530352"/>
          </a:xfrm>
          <a:prstGeom prst="rect">
            <a:avLst/>
          </a:prstGeom>
          <a:noFill/>
        </p:spPr>
        <p:txBody>
          <a:bodyPr wrap="square" anchor="ctr" lIns="0" rIns="0" tIns="0" bIns="0">
            <a:spAutoFit/>
          </a:bodyPr>
          <a:lstStyle/>
          <a:p>
            <a:pPr algn="l">
              <a:lnSpc>
                <a:spcPct val="110000"/>
              </a:lnSpc>
            </a:pPr>
            <a:r>
              <a:rPr sz="1300" b="1">
                <a:solidFill>
                  <a:srgbClr val="020C31"/>
                </a:solidFill>
                <a:latin typeface="Montserrat"/>
              </a:rPr>
              <a:t>NRF heartbeat service</a:t>
            </a:r>
          </a:p>
        </p:txBody>
      </p:sp>
      <p:sp>
        <p:nvSpPr>
          <p:cNvPr id="20" name="TextBox 19"/>
          <p:cNvSpPr txBox="1"/>
          <p:nvPr/>
        </p:nvSpPr>
        <p:spPr>
          <a:xfrm>
            <a:off x="3931920" y="4608575"/>
            <a:ext cx="7315200" cy="603503"/>
          </a:xfrm>
          <a:prstGeom prst="rect">
            <a:avLst/>
          </a:prstGeom>
          <a:noFill/>
        </p:spPr>
        <p:txBody>
          <a:bodyPr wrap="square" anchor="ctr" lIns="0" rIns="0" tIns="0" bIns="0">
            <a:spAutoFit/>
          </a:bodyPr>
          <a:lstStyle/>
          <a:p>
            <a:pPr algn="l">
              <a:lnSpc>
                <a:spcPct val="110000"/>
              </a:lnSpc>
            </a:pPr>
            <a:r>
              <a:rPr sz="1150" b="0">
                <a:solidFill>
                  <a:srgbClr val="334155"/>
                </a:solidFill>
                <a:latin typeface="Montserrat"/>
              </a:rPr>
              <a:t>Registers and pings NRF only - very steady, low volume.</a:t>
            </a:r>
          </a:p>
        </p:txBody>
      </p:sp>
      <p:sp>
        <p:nvSpPr>
          <p:cNvPr id="21" name="Rounded Rectangle 20"/>
          <p:cNvSpPr/>
          <p:nvPr/>
        </p:nvSpPr>
        <p:spPr>
          <a:xfrm>
            <a:off x="758952" y="5413248"/>
            <a:ext cx="10607040" cy="786384"/>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58952" y="5413248"/>
            <a:ext cx="82296" cy="786384"/>
          </a:xfrm>
          <a:prstGeom prst="roundRect">
            <a:avLst/>
          </a:prstGeom>
          <a:solidFill>
            <a:srgbClr val="3D67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541264"/>
            <a:ext cx="2743200" cy="530352"/>
          </a:xfrm>
          <a:prstGeom prst="rect">
            <a:avLst/>
          </a:prstGeom>
          <a:noFill/>
        </p:spPr>
        <p:txBody>
          <a:bodyPr wrap="square" anchor="ctr" lIns="0" rIns="0" tIns="0" bIns="0">
            <a:spAutoFit/>
          </a:bodyPr>
          <a:lstStyle/>
          <a:p>
            <a:pPr algn="l">
              <a:lnSpc>
                <a:spcPct val="110000"/>
              </a:lnSpc>
            </a:pPr>
            <a:r>
              <a:rPr sz="1300" b="1">
                <a:solidFill>
                  <a:srgbClr val="020C31"/>
                </a:solidFill>
                <a:latin typeface="Montserrat"/>
              </a:rPr>
              <a:t>Provisioning agent</a:t>
            </a:r>
          </a:p>
        </p:txBody>
      </p:sp>
      <p:sp>
        <p:nvSpPr>
          <p:cNvPr id="24" name="TextBox 23"/>
          <p:cNvSpPr txBox="1"/>
          <p:nvPr/>
        </p:nvSpPr>
        <p:spPr>
          <a:xfrm>
            <a:off x="3931920" y="5504688"/>
            <a:ext cx="7315200" cy="603503"/>
          </a:xfrm>
          <a:prstGeom prst="rect">
            <a:avLst/>
          </a:prstGeom>
          <a:noFill/>
        </p:spPr>
        <p:txBody>
          <a:bodyPr wrap="square" anchor="ctr" lIns="0" rIns="0" tIns="0" bIns="0">
            <a:spAutoFit/>
          </a:bodyPr>
          <a:lstStyle/>
          <a:p>
            <a:pPr algn="l">
              <a:lnSpc>
                <a:spcPct val="110000"/>
              </a:lnSpc>
            </a:pPr>
            <a:r>
              <a:rPr sz="1150" b="0">
                <a:solidFill>
                  <a:srgbClr val="334155"/>
                </a:solidFill>
                <a:latin typeface="Montserrat"/>
              </a:rPr>
              <a:t>Updates subscriber data via NEF, UDM - business hours only.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58952" y="18288"/>
            <a:ext cx="9601200" cy="274320"/>
          </a:xfrm>
          <a:prstGeom prst="rect">
            <a:avLst/>
          </a:prstGeom>
          <a:noFill/>
        </p:spPr>
        <p:txBody>
          <a:bodyPr wrap="square" anchor="t" lIns="0" rIns="0" tIns="0" bIns="0">
            <a:spAutoFit/>
          </a:bodyPr>
          <a:lstStyle/>
          <a:p>
            <a:pPr algn="l">
              <a:lnSpc>
                <a:spcPct val="110000"/>
              </a:lnSpc>
            </a:pPr>
            <a:r>
              <a:rPr sz="1100" b="1">
                <a:solidFill>
                  <a:srgbClr val="01ABDB"/>
                </a:solidFill>
                <a:latin typeface="Montserrat"/>
              </a:rPr>
              <a:t>PART 4 OF 8 · PLAIN-LANGUAGE WALKTHROUGH</a:t>
            </a:r>
          </a:p>
        </p:txBody>
      </p:sp>
      <p:sp>
        <p:nvSpPr>
          <p:cNvPr id="3" name="TextBox 2"/>
          <p:cNvSpPr txBox="1"/>
          <p:nvPr/>
        </p:nvSpPr>
        <p:spPr>
          <a:xfrm>
            <a:off x="758952" y="265176"/>
            <a:ext cx="9601200" cy="914400"/>
          </a:xfrm>
          <a:prstGeom prst="rect">
            <a:avLst/>
          </a:prstGeom>
          <a:noFill/>
        </p:spPr>
        <p:txBody>
          <a:bodyPr wrap="square" anchor="t" lIns="0" rIns="0" tIns="0" bIns="0">
            <a:spAutoFit/>
          </a:bodyPr>
          <a:lstStyle/>
          <a:p>
            <a:pPr algn="l">
              <a:lnSpc>
                <a:spcPct val="110000"/>
              </a:lnSpc>
            </a:pPr>
            <a:r>
              <a:rPr sz="2800" b="1">
                <a:solidFill>
                  <a:srgbClr val="020C31"/>
                </a:solidFill>
                <a:latin typeface="Montserrat"/>
              </a:rPr>
              <a:t>How We Built The Prototype</a:t>
            </a:r>
          </a:p>
        </p:txBody>
      </p:sp>
      <p:sp>
        <p:nvSpPr>
          <p:cNvPr id="4" name="Rounded Rectangle 3"/>
          <p:cNvSpPr/>
          <p:nvPr/>
        </p:nvSpPr>
        <p:spPr>
          <a:xfrm>
            <a:off x="758952" y="1828800"/>
            <a:ext cx="10607040" cy="141732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 y="1828800"/>
            <a:ext cx="82296" cy="1417320"/>
          </a:xfrm>
          <a:prstGeom prst="roundRect">
            <a:avLst/>
          </a:prstGeom>
          <a:solidFill>
            <a:srgbClr val="01A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75104"/>
            <a:ext cx="9875520" cy="320040"/>
          </a:xfrm>
          <a:prstGeom prst="rect">
            <a:avLst/>
          </a:prstGeom>
          <a:noFill/>
        </p:spPr>
        <p:txBody>
          <a:bodyPr wrap="square" anchor="t" lIns="0" rIns="0" tIns="0" bIns="0">
            <a:spAutoFit/>
          </a:bodyPr>
          <a:lstStyle/>
          <a:p>
            <a:pPr algn="l">
              <a:lnSpc>
                <a:spcPct val="110000"/>
              </a:lnSpc>
            </a:pPr>
            <a:r>
              <a:rPr sz="1400" b="1">
                <a:solidFill>
                  <a:srgbClr val="020C31"/>
                </a:solidFill>
                <a:latin typeface="Montserrat"/>
              </a:rPr>
              <a:t>1. Traffic simulator (not AI)</a:t>
            </a:r>
          </a:p>
        </p:txBody>
      </p:sp>
      <p:sp>
        <p:nvSpPr>
          <p:cNvPr id="7" name="TextBox 6"/>
          <p:cNvSpPr txBox="1"/>
          <p:nvPr/>
        </p:nvSpPr>
        <p:spPr>
          <a:xfrm>
            <a:off x="1051560" y="2359152"/>
            <a:ext cx="9875520" cy="822960"/>
          </a:xfrm>
          <a:prstGeom prst="rect">
            <a:avLst/>
          </a:prstGeom>
          <a:noFill/>
        </p:spPr>
        <p:txBody>
          <a:bodyPr wrap="square" anchor="t" lIns="0" rIns="0" tIns="0" bIns="0">
            <a:spAutoFit/>
          </a:bodyPr>
          <a:lstStyle/>
          <a:p>
            <a:pPr algn="l">
              <a:lnSpc>
                <a:spcPct val="120000"/>
              </a:lnSpc>
            </a:pPr>
            <a:r>
              <a:rPr sz="1150" b="0">
                <a:solidFill>
                  <a:srgbClr val="334155"/>
                </a:solidFill>
                <a:latin typeface="Montserrat"/>
              </a:rPr>
              <a:t>A program we wrote ourselves that plays out a virtual week of activity for all 5 agents. This is a scripted simulation, not a machine-learning model - it produced about 210,000 requests.</a:t>
            </a:r>
          </a:p>
        </p:txBody>
      </p:sp>
      <p:sp>
        <p:nvSpPr>
          <p:cNvPr id="8" name="Rounded Rectangle 7"/>
          <p:cNvSpPr/>
          <p:nvPr/>
        </p:nvSpPr>
        <p:spPr>
          <a:xfrm>
            <a:off x="758952" y="3383280"/>
            <a:ext cx="10607040" cy="141732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58952" y="3383280"/>
            <a:ext cx="82296" cy="1417320"/>
          </a:xfrm>
          <a:prstGeom prst="roundRect">
            <a:avLst/>
          </a:prstGeom>
          <a:solidFill>
            <a:srgbClr val="01A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3529584"/>
            <a:ext cx="9875520" cy="320040"/>
          </a:xfrm>
          <a:prstGeom prst="rect">
            <a:avLst/>
          </a:prstGeom>
          <a:noFill/>
        </p:spPr>
        <p:txBody>
          <a:bodyPr wrap="square" anchor="t" lIns="0" rIns="0" tIns="0" bIns="0">
            <a:spAutoFit/>
          </a:bodyPr>
          <a:lstStyle/>
          <a:p>
            <a:pPr algn="l">
              <a:lnSpc>
                <a:spcPct val="110000"/>
              </a:lnSpc>
            </a:pPr>
            <a:r>
              <a:rPr sz="1400" b="1">
                <a:solidFill>
                  <a:srgbClr val="020C31"/>
                </a:solidFill>
                <a:latin typeface="Montserrat"/>
              </a:rPr>
              <a:t>2. Injected attacks</a:t>
            </a:r>
          </a:p>
        </p:txBody>
      </p:sp>
      <p:sp>
        <p:nvSpPr>
          <p:cNvPr id="11" name="TextBox 10"/>
          <p:cNvSpPr txBox="1"/>
          <p:nvPr/>
        </p:nvSpPr>
        <p:spPr>
          <a:xfrm>
            <a:off x="1051560" y="3913632"/>
            <a:ext cx="9875520" cy="822960"/>
          </a:xfrm>
          <a:prstGeom prst="rect">
            <a:avLst/>
          </a:prstGeom>
          <a:noFill/>
        </p:spPr>
        <p:txBody>
          <a:bodyPr wrap="square" anchor="t" lIns="0" rIns="0" tIns="0" bIns="0">
            <a:spAutoFit/>
          </a:bodyPr>
          <a:lstStyle/>
          <a:p>
            <a:pPr algn="l">
              <a:lnSpc>
                <a:spcPct val="120000"/>
              </a:lnSpc>
            </a:pPr>
            <a:r>
              <a:rPr sz="1150" b="0">
                <a:solidFill>
                  <a:srgbClr val="334155"/>
                </a:solidFill>
                <a:latin typeface="Montserrat"/>
              </a:rPr>
              <a:t>Into that traffic we inserted 7 kinds of attack episodes, each labelled, so we know exactly which requests are attacks - only possible because the data is simulated.</a:t>
            </a:r>
          </a:p>
        </p:txBody>
      </p:sp>
      <p:sp>
        <p:nvSpPr>
          <p:cNvPr id="12" name="Rounded Rectangle 11"/>
          <p:cNvSpPr/>
          <p:nvPr/>
        </p:nvSpPr>
        <p:spPr>
          <a:xfrm>
            <a:off x="758952" y="4937760"/>
            <a:ext cx="10607040" cy="141732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58952" y="4937760"/>
            <a:ext cx="82296" cy="1417320"/>
          </a:xfrm>
          <a:prstGeom prst="roundRect">
            <a:avLst/>
          </a:prstGeom>
          <a:solidFill>
            <a:srgbClr val="01A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084064"/>
            <a:ext cx="9875520" cy="320040"/>
          </a:xfrm>
          <a:prstGeom prst="rect">
            <a:avLst/>
          </a:prstGeom>
          <a:noFill/>
        </p:spPr>
        <p:txBody>
          <a:bodyPr wrap="square" anchor="t" lIns="0" rIns="0" tIns="0" bIns="0">
            <a:spAutoFit/>
          </a:bodyPr>
          <a:lstStyle/>
          <a:p>
            <a:pPr algn="l">
              <a:lnSpc>
                <a:spcPct val="110000"/>
              </a:lnSpc>
            </a:pPr>
            <a:r>
              <a:rPr sz="1400" b="1">
                <a:solidFill>
                  <a:srgbClr val="020C31"/>
                </a:solidFill>
                <a:latin typeface="Montserrat"/>
              </a:rPr>
              <a:t>3. Detection engine (the real ML)</a:t>
            </a:r>
          </a:p>
        </p:txBody>
      </p:sp>
      <p:sp>
        <p:nvSpPr>
          <p:cNvPr id="15" name="TextBox 14"/>
          <p:cNvSpPr txBox="1"/>
          <p:nvPr/>
        </p:nvSpPr>
        <p:spPr>
          <a:xfrm>
            <a:off x="1051560" y="5468112"/>
            <a:ext cx="9875520" cy="822960"/>
          </a:xfrm>
          <a:prstGeom prst="rect">
            <a:avLst/>
          </a:prstGeom>
          <a:noFill/>
        </p:spPr>
        <p:txBody>
          <a:bodyPr wrap="square" anchor="t" lIns="0" rIns="0" tIns="0" bIns="0">
            <a:spAutoFit/>
          </a:bodyPr>
          <a:lstStyle/>
          <a:p>
            <a:pPr algn="l">
              <a:lnSpc>
                <a:spcPct val="120000"/>
              </a:lnSpc>
            </a:pPr>
            <a:r>
              <a:rPr sz="1150" b="0">
                <a:solidFill>
                  <a:srgbClr val="334155"/>
                </a:solidFill>
                <a:latin typeface="Montserrat"/>
              </a:rPr>
              <a:t>A separate program reads the traffic, builds a behavioural fingerprint per agent, and scores every window for risk. This is where an actual machine-learning model, an Isolation Forest, is used.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58952" y="18288"/>
            <a:ext cx="9601200" cy="274320"/>
          </a:xfrm>
          <a:prstGeom prst="rect">
            <a:avLst/>
          </a:prstGeom>
          <a:noFill/>
        </p:spPr>
        <p:txBody>
          <a:bodyPr wrap="square" anchor="t" lIns="0" rIns="0" tIns="0" bIns="0">
            <a:spAutoFit/>
          </a:bodyPr>
          <a:lstStyle/>
          <a:p>
            <a:pPr algn="l">
              <a:lnSpc>
                <a:spcPct val="110000"/>
              </a:lnSpc>
            </a:pPr>
            <a:r>
              <a:rPr sz="1100" b="1">
                <a:solidFill>
                  <a:srgbClr val="01ABDB"/>
                </a:solidFill>
                <a:latin typeface="Montserrat"/>
              </a:rPr>
              <a:t>PART 5 OF 8 · PLAIN-LANGUAGE WALKTHROUGH</a:t>
            </a:r>
          </a:p>
        </p:txBody>
      </p:sp>
      <p:sp>
        <p:nvSpPr>
          <p:cNvPr id="3" name="TextBox 2"/>
          <p:cNvSpPr txBox="1"/>
          <p:nvPr/>
        </p:nvSpPr>
        <p:spPr>
          <a:xfrm>
            <a:off x="758952" y="265176"/>
            <a:ext cx="9601200" cy="914400"/>
          </a:xfrm>
          <a:prstGeom prst="rect">
            <a:avLst/>
          </a:prstGeom>
          <a:noFill/>
        </p:spPr>
        <p:txBody>
          <a:bodyPr wrap="square" anchor="t" lIns="0" rIns="0" tIns="0" bIns="0">
            <a:spAutoFit/>
          </a:bodyPr>
          <a:lstStyle/>
          <a:p>
            <a:pPr algn="l">
              <a:lnSpc>
                <a:spcPct val="110000"/>
              </a:lnSpc>
            </a:pPr>
            <a:r>
              <a:rPr sz="2800" b="1">
                <a:solidFill>
                  <a:srgbClr val="020C31"/>
                </a:solidFill>
                <a:latin typeface="Montserrat"/>
              </a:rPr>
              <a:t>Technologies &amp; Synthetic Data</a:t>
            </a:r>
          </a:p>
        </p:txBody>
      </p:sp>
      <p:sp>
        <p:nvSpPr>
          <p:cNvPr id="4" name="TextBox 3"/>
          <p:cNvSpPr txBox="1"/>
          <p:nvPr/>
        </p:nvSpPr>
        <p:spPr>
          <a:xfrm>
            <a:off x="758952" y="1143000"/>
            <a:ext cx="10607040" cy="457200"/>
          </a:xfrm>
          <a:prstGeom prst="rect">
            <a:avLst/>
          </a:prstGeom>
          <a:noFill/>
        </p:spPr>
        <p:txBody>
          <a:bodyPr wrap="square" anchor="t" lIns="0" rIns="0" tIns="0" bIns="0">
            <a:spAutoFit/>
          </a:bodyPr>
          <a:lstStyle/>
          <a:p>
            <a:pPr algn="l">
              <a:lnSpc>
                <a:spcPct val="110000"/>
              </a:lnSpc>
            </a:pPr>
            <a:r>
              <a:rPr sz="1250" b="0">
                <a:solidFill>
                  <a:srgbClr val="6B7688"/>
                </a:solidFill>
                <a:latin typeface="Montserrat"/>
              </a:rPr>
              <a:t>What we actually built with, and how we built the traffic the prototype learns from and is tested against.</a:t>
            </a:r>
          </a:p>
        </p:txBody>
      </p:sp>
      <p:sp>
        <p:nvSpPr>
          <p:cNvPr id="5" name="TextBox 4"/>
          <p:cNvSpPr txBox="1"/>
          <p:nvPr/>
        </p:nvSpPr>
        <p:spPr>
          <a:xfrm>
            <a:off x="758952" y="1691640"/>
            <a:ext cx="5120640" cy="320040"/>
          </a:xfrm>
          <a:prstGeom prst="rect">
            <a:avLst/>
          </a:prstGeom>
          <a:noFill/>
        </p:spPr>
        <p:txBody>
          <a:bodyPr wrap="square" anchor="t" lIns="0" rIns="0" tIns="0" bIns="0">
            <a:spAutoFit/>
          </a:bodyPr>
          <a:lstStyle/>
          <a:p>
            <a:pPr algn="l">
              <a:lnSpc>
                <a:spcPct val="110000"/>
              </a:lnSpc>
            </a:pPr>
            <a:r>
              <a:rPr sz="1250" b="1">
                <a:solidFill>
                  <a:srgbClr val="3D67B1"/>
                </a:solidFill>
                <a:latin typeface="Montserrat"/>
              </a:rPr>
              <a:t>TECHNOLOGY STACK</a:t>
            </a:r>
          </a:p>
        </p:txBody>
      </p:sp>
      <p:sp>
        <p:nvSpPr>
          <p:cNvPr id="6" name="Rounded Rectangle 5"/>
          <p:cNvSpPr/>
          <p:nvPr/>
        </p:nvSpPr>
        <p:spPr>
          <a:xfrm>
            <a:off x="758952" y="2057400"/>
            <a:ext cx="5120640" cy="658368"/>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58952" y="2057400"/>
            <a:ext cx="73152" cy="658368"/>
          </a:xfrm>
          <a:prstGeom prst="roundRect">
            <a:avLst/>
          </a:prstGeom>
          <a:solidFill>
            <a:srgbClr val="3D67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139696"/>
            <a:ext cx="4663440" cy="274320"/>
          </a:xfrm>
          <a:prstGeom prst="rect">
            <a:avLst/>
          </a:prstGeom>
          <a:noFill/>
        </p:spPr>
        <p:txBody>
          <a:bodyPr wrap="square" anchor="t" lIns="0" rIns="0" tIns="0" bIns="0">
            <a:spAutoFit/>
          </a:bodyPr>
          <a:lstStyle/>
          <a:p>
            <a:pPr algn="l">
              <a:lnSpc>
                <a:spcPct val="110000"/>
              </a:lnSpc>
            </a:pPr>
            <a:r>
              <a:rPr sz="1250" b="1">
                <a:solidFill>
                  <a:srgbClr val="020C31"/>
                </a:solidFill>
                <a:latin typeface="Montserrat"/>
              </a:rPr>
              <a:t>Python</a:t>
            </a:r>
          </a:p>
        </p:txBody>
      </p:sp>
      <p:sp>
        <p:nvSpPr>
          <p:cNvPr id="9" name="TextBox 8"/>
          <p:cNvSpPr txBox="1"/>
          <p:nvPr/>
        </p:nvSpPr>
        <p:spPr>
          <a:xfrm>
            <a:off x="1005840" y="2404872"/>
            <a:ext cx="4663440" cy="274320"/>
          </a:xfrm>
          <a:prstGeom prst="rect">
            <a:avLst/>
          </a:prstGeom>
          <a:noFill/>
        </p:spPr>
        <p:txBody>
          <a:bodyPr wrap="square" anchor="t" lIns="0" rIns="0" tIns="0" bIns="0">
            <a:spAutoFit/>
          </a:bodyPr>
          <a:lstStyle/>
          <a:p>
            <a:pPr algn="l">
              <a:lnSpc>
                <a:spcPct val="110000"/>
              </a:lnSpc>
            </a:pPr>
            <a:r>
              <a:rPr sz="1000" b="0">
                <a:solidFill>
                  <a:srgbClr val="334155"/>
                </a:solidFill>
                <a:latin typeface="Montserrat"/>
              </a:rPr>
              <a:t>The language everything is written in - free, open-source, industry-standard.</a:t>
            </a:r>
          </a:p>
        </p:txBody>
      </p:sp>
      <p:sp>
        <p:nvSpPr>
          <p:cNvPr id="10" name="Rounded Rectangle 9"/>
          <p:cNvSpPr/>
          <p:nvPr/>
        </p:nvSpPr>
        <p:spPr>
          <a:xfrm>
            <a:off x="758952" y="2807208"/>
            <a:ext cx="5120640" cy="658368"/>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58952" y="2807208"/>
            <a:ext cx="73152" cy="658368"/>
          </a:xfrm>
          <a:prstGeom prst="roundRect">
            <a:avLst/>
          </a:prstGeom>
          <a:solidFill>
            <a:srgbClr val="3D67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889503"/>
            <a:ext cx="4663440" cy="274320"/>
          </a:xfrm>
          <a:prstGeom prst="rect">
            <a:avLst/>
          </a:prstGeom>
          <a:noFill/>
        </p:spPr>
        <p:txBody>
          <a:bodyPr wrap="square" anchor="t" lIns="0" rIns="0" tIns="0" bIns="0">
            <a:spAutoFit/>
          </a:bodyPr>
          <a:lstStyle/>
          <a:p>
            <a:pPr algn="l">
              <a:lnSpc>
                <a:spcPct val="110000"/>
              </a:lnSpc>
            </a:pPr>
            <a:r>
              <a:rPr sz="1250" b="1">
                <a:solidFill>
                  <a:srgbClr val="020C31"/>
                </a:solidFill>
                <a:latin typeface="Montserrat"/>
              </a:rPr>
              <a:t>pandas / numpy</a:t>
            </a:r>
          </a:p>
        </p:txBody>
      </p:sp>
      <p:sp>
        <p:nvSpPr>
          <p:cNvPr id="13" name="TextBox 12"/>
          <p:cNvSpPr txBox="1"/>
          <p:nvPr/>
        </p:nvSpPr>
        <p:spPr>
          <a:xfrm>
            <a:off x="1005840" y="3154679"/>
            <a:ext cx="4663440" cy="274320"/>
          </a:xfrm>
          <a:prstGeom prst="rect">
            <a:avLst/>
          </a:prstGeom>
          <a:noFill/>
        </p:spPr>
        <p:txBody>
          <a:bodyPr wrap="square" anchor="t" lIns="0" rIns="0" tIns="0" bIns="0">
            <a:spAutoFit/>
          </a:bodyPr>
          <a:lstStyle/>
          <a:p>
            <a:pPr algn="l">
              <a:lnSpc>
                <a:spcPct val="110000"/>
              </a:lnSpc>
            </a:pPr>
            <a:r>
              <a:rPr sz="1000" b="0">
                <a:solidFill>
                  <a:srgbClr val="334155"/>
                </a:solidFill>
                <a:latin typeface="Montserrat"/>
              </a:rPr>
              <a:t>Handle the 210,000 simulated requests as structured, queryable data.</a:t>
            </a:r>
          </a:p>
        </p:txBody>
      </p:sp>
      <p:sp>
        <p:nvSpPr>
          <p:cNvPr id="14" name="Rounded Rectangle 13"/>
          <p:cNvSpPr/>
          <p:nvPr/>
        </p:nvSpPr>
        <p:spPr>
          <a:xfrm>
            <a:off x="758952" y="3557015"/>
            <a:ext cx="5120640" cy="658368"/>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58952" y="3557015"/>
            <a:ext cx="73152" cy="658368"/>
          </a:xfrm>
          <a:prstGeom prst="roundRect">
            <a:avLst/>
          </a:prstGeom>
          <a:solidFill>
            <a:srgbClr val="3D67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3639311"/>
            <a:ext cx="4663440" cy="274320"/>
          </a:xfrm>
          <a:prstGeom prst="rect">
            <a:avLst/>
          </a:prstGeom>
          <a:noFill/>
        </p:spPr>
        <p:txBody>
          <a:bodyPr wrap="square" anchor="t" lIns="0" rIns="0" tIns="0" bIns="0">
            <a:spAutoFit/>
          </a:bodyPr>
          <a:lstStyle/>
          <a:p>
            <a:pPr algn="l">
              <a:lnSpc>
                <a:spcPct val="110000"/>
              </a:lnSpc>
            </a:pPr>
            <a:r>
              <a:rPr sz="1250" b="1">
                <a:solidFill>
                  <a:srgbClr val="020C31"/>
                </a:solidFill>
                <a:latin typeface="Montserrat"/>
              </a:rPr>
              <a:t>scikit-learn</a:t>
            </a:r>
          </a:p>
        </p:txBody>
      </p:sp>
      <p:sp>
        <p:nvSpPr>
          <p:cNvPr id="17" name="TextBox 16"/>
          <p:cNvSpPr txBox="1"/>
          <p:nvPr/>
        </p:nvSpPr>
        <p:spPr>
          <a:xfrm>
            <a:off x="1005840" y="3904487"/>
            <a:ext cx="4663440" cy="274320"/>
          </a:xfrm>
          <a:prstGeom prst="rect">
            <a:avLst/>
          </a:prstGeom>
          <a:noFill/>
        </p:spPr>
        <p:txBody>
          <a:bodyPr wrap="square" anchor="t" lIns="0" rIns="0" tIns="0" bIns="0">
            <a:spAutoFit/>
          </a:bodyPr>
          <a:lstStyle/>
          <a:p>
            <a:pPr algn="l">
              <a:lnSpc>
                <a:spcPct val="110000"/>
              </a:lnSpc>
            </a:pPr>
            <a:r>
              <a:rPr sz="1000" b="0">
                <a:solidFill>
                  <a:srgbClr val="334155"/>
                </a:solidFill>
                <a:latin typeface="Montserrat"/>
              </a:rPr>
              <a:t>Standard ML library - this is where the Isolation Forest model comes from.</a:t>
            </a:r>
          </a:p>
        </p:txBody>
      </p:sp>
      <p:sp>
        <p:nvSpPr>
          <p:cNvPr id="18" name="Rounded Rectangle 17"/>
          <p:cNvSpPr/>
          <p:nvPr/>
        </p:nvSpPr>
        <p:spPr>
          <a:xfrm>
            <a:off x="758952" y="4306824"/>
            <a:ext cx="5120640" cy="658368"/>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58952" y="4306824"/>
            <a:ext cx="73152" cy="658368"/>
          </a:xfrm>
          <a:prstGeom prst="roundRect">
            <a:avLst/>
          </a:prstGeom>
          <a:solidFill>
            <a:srgbClr val="3D67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389120"/>
            <a:ext cx="4663440" cy="274320"/>
          </a:xfrm>
          <a:prstGeom prst="rect">
            <a:avLst/>
          </a:prstGeom>
          <a:noFill/>
        </p:spPr>
        <p:txBody>
          <a:bodyPr wrap="square" anchor="t" lIns="0" rIns="0" tIns="0" bIns="0">
            <a:spAutoFit/>
          </a:bodyPr>
          <a:lstStyle/>
          <a:p>
            <a:pPr algn="l">
              <a:lnSpc>
                <a:spcPct val="110000"/>
              </a:lnSpc>
            </a:pPr>
            <a:r>
              <a:rPr sz="1250" b="1">
                <a:solidFill>
                  <a:srgbClr val="020C31"/>
                </a:solidFill>
                <a:latin typeface="Montserrat"/>
              </a:rPr>
              <a:t>Streamlit</a:t>
            </a:r>
          </a:p>
        </p:txBody>
      </p:sp>
      <p:sp>
        <p:nvSpPr>
          <p:cNvPr id="21" name="TextBox 20"/>
          <p:cNvSpPr txBox="1"/>
          <p:nvPr/>
        </p:nvSpPr>
        <p:spPr>
          <a:xfrm>
            <a:off x="1005840" y="4654296"/>
            <a:ext cx="4663440" cy="274320"/>
          </a:xfrm>
          <a:prstGeom prst="rect">
            <a:avLst/>
          </a:prstGeom>
          <a:noFill/>
        </p:spPr>
        <p:txBody>
          <a:bodyPr wrap="square" anchor="t" lIns="0" rIns="0" tIns="0" bIns="0">
            <a:spAutoFit/>
          </a:bodyPr>
          <a:lstStyle/>
          <a:p>
            <a:pPr algn="l">
              <a:lnSpc>
                <a:spcPct val="110000"/>
              </a:lnSpc>
            </a:pPr>
            <a:r>
              <a:rPr sz="1000" b="0">
                <a:solidFill>
                  <a:srgbClr val="334155"/>
                </a:solidFill>
                <a:latin typeface="Montserrat"/>
              </a:rPr>
              <a:t>Turns the Python detector into the live, interactive gate dashboard.</a:t>
            </a:r>
          </a:p>
        </p:txBody>
      </p:sp>
      <p:sp>
        <p:nvSpPr>
          <p:cNvPr id="22" name="TextBox 21"/>
          <p:cNvSpPr txBox="1"/>
          <p:nvPr/>
        </p:nvSpPr>
        <p:spPr>
          <a:xfrm>
            <a:off x="6172200" y="1691640"/>
            <a:ext cx="5212080" cy="320040"/>
          </a:xfrm>
          <a:prstGeom prst="rect">
            <a:avLst/>
          </a:prstGeom>
          <a:noFill/>
        </p:spPr>
        <p:txBody>
          <a:bodyPr wrap="square" anchor="t" lIns="0" rIns="0" tIns="0" bIns="0">
            <a:spAutoFit/>
          </a:bodyPr>
          <a:lstStyle/>
          <a:p>
            <a:pPr algn="l">
              <a:lnSpc>
                <a:spcPct val="110000"/>
              </a:lnSpc>
            </a:pPr>
            <a:r>
              <a:rPr sz="1250" b="1">
                <a:solidFill>
                  <a:srgbClr val="01ABDB"/>
                </a:solidFill>
                <a:latin typeface="Montserrat"/>
              </a:rPr>
              <a:t>HOW THE SYNTHETIC DATA WAS BUILT</a:t>
            </a:r>
          </a:p>
        </p:txBody>
      </p:sp>
      <p:sp>
        <p:nvSpPr>
          <p:cNvPr id="23" name="TextBox 22"/>
          <p:cNvSpPr txBox="1"/>
          <p:nvPr/>
        </p:nvSpPr>
        <p:spPr>
          <a:xfrm>
            <a:off x="6172200" y="2057400"/>
            <a:ext cx="5212080" cy="3657600"/>
          </a:xfrm>
          <a:prstGeom prst="rect">
            <a:avLst/>
          </a:prstGeom>
          <a:noFill/>
        </p:spPr>
        <p:txBody>
          <a:bodyPr wrap="square" anchor="t" lIns="0" rIns="0" tIns="0" bIns="0">
            <a:spAutoFit/>
          </a:bodyPr>
          <a:lstStyle/>
          <a:p>
            <a:pPr algn="l">
              <a:lnSpc>
                <a:spcPct val="125000"/>
              </a:lnSpc>
            </a:pPr>
            <a:r>
              <a:rPr sz="1150" b="1">
                <a:solidFill>
                  <a:srgbClr val="01ABDB"/>
                </a:solidFill>
                <a:latin typeface="Montserrat"/>
              </a:rPr>
              <a:t>-  </a:t>
            </a:r>
            <a:r>
              <a:rPr sz="1150" b="0">
                <a:solidFill>
                  <a:srgbClr val="334155"/>
                </a:solidFill>
                <a:latin typeface="Montserrat"/>
              </a:rPr>
              <a:t>6 Network Functions modelled (AMF, SMF, NRF, PCF, UDM, NEF), each with realistic SBI endpoints.</a:t>
            </a:r>
          </a:p>
          <a:p>
            <a:pPr algn="l">
              <a:lnSpc>
                <a:spcPct val="125000"/>
              </a:lnSpc>
            </a:pPr>
            <a:r>
              <a:rPr sz="1150" b="1">
                <a:solidFill>
                  <a:srgbClr val="01ABDB"/>
                </a:solidFill>
                <a:latin typeface="Montserrat"/>
              </a:rPr>
              <a:t>-  </a:t>
            </a:r>
            <a:r>
              <a:rPr sz="1150" b="0">
                <a:solidFill>
                  <a:srgbClr val="334155"/>
                </a:solidFill>
                <a:latin typeface="Montserrat"/>
              </a:rPr>
              <a:t>5 agent profiles, each with its own scope, schedule, and call sequence, played out over a simulated week (~210k requests).</a:t>
            </a:r>
          </a:p>
          <a:p>
            <a:pPr algn="l">
              <a:lnSpc>
                <a:spcPct val="125000"/>
              </a:lnSpc>
            </a:pPr>
            <a:r>
              <a:rPr sz="1150" b="1">
                <a:solidFill>
                  <a:srgbClr val="01ABDB"/>
                </a:solidFill>
                <a:latin typeface="Montserrat"/>
              </a:rPr>
              <a:t>-  </a:t>
            </a:r>
            <a:r>
              <a:rPr sz="1150" b="0">
                <a:solidFill>
                  <a:srgbClr val="334155"/>
                </a:solidFill>
                <a:latin typeface="Montserrat"/>
              </a:rPr>
              <a:t>7 attack types (T1-T7) injected on top of that legitimate traffic, each one ground-truth labelled for evaluation.</a:t>
            </a:r>
          </a:p>
          <a:p>
            <a:pPr algn="l">
              <a:lnSpc>
                <a:spcPct val="125000"/>
              </a:lnSpc>
            </a:pPr>
            <a:r>
              <a:rPr sz="1150" b="1">
                <a:solidFill>
                  <a:srgbClr val="01ABDB"/>
                </a:solidFill>
                <a:latin typeface="Montserrat"/>
              </a:rPr>
              <a:t>-  </a:t>
            </a:r>
            <a:r>
              <a:rPr sz="1150" b="0">
                <a:solidFill>
                  <a:srgbClr val="334155"/>
                </a:solidFill>
                <a:latin typeface="Montserrat"/>
              </a:rPr>
              <a:t>Everything is free and open-source; real M2M/API-gateway logs are pluggable later if Fastweb/Vodafone can share them.</a:t>
            </a:r>
          </a:p>
        </p:txBody>
      </p:sp>
      <p:sp>
        <p:nvSpPr>
          <p:cNvPr id="24" name="Rounded Rectangle 23"/>
          <p:cNvSpPr/>
          <p:nvPr/>
        </p:nvSpPr>
        <p:spPr>
          <a:xfrm>
            <a:off x="758952" y="5806440"/>
            <a:ext cx="10607040" cy="685800"/>
          </a:xfrm>
          <a:prstGeom prst="roundRect">
            <a:avLst>
              <a:gd name="adj" fmla="val 10000"/>
            </a:avLst>
          </a:prstGeom>
          <a:solidFill>
            <a:srgbClr val="F2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943600"/>
            <a:ext cx="10058400" cy="457200"/>
          </a:xfrm>
          <a:prstGeom prst="rect">
            <a:avLst/>
          </a:prstGeom>
          <a:noFill/>
        </p:spPr>
        <p:txBody>
          <a:bodyPr wrap="square" anchor="t" lIns="0" rIns="0" tIns="0" bIns="0">
            <a:spAutoFit/>
          </a:bodyPr>
          <a:lstStyle/>
          <a:p>
            <a:pPr algn="l">
              <a:lnSpc>
                <a:spcPct val="110000"/>
              </a:lnSpc>
            </a:pPr>
            <a:r>
              <a:rPr sz="1100" b="1">
                <a:solidFill>
                  <a:srgbClr val="020C31"/>
                </a:solidFill>
                <a:latin typeface="Montserrat"/>
              </a:rPr>
              <a:t>The data generator is a scripted simulation, not AI. The Isolation Forest is the only place machine learning is actually used, on the detection side.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58952" y="18288"/>
            <a:ext cx="9601200" cy="274320"/>
          </a:xfrm>
          <a:prstGeom prst="rect">
            <a:avLst/>
          </a:prstGeom>
          <a:noFill/>
        </p:spPr>
        <p:txBody>
          <a:bodyPr wrap="square" anchor="t" lIns="0" rIns="0" tIns="0" bIns="0">
            <a:spAutoFit/>
          </a:bodyPr>
          <a:lstStyle/>
          <a:p>
            <a:pPr algn="l">
              <a:lnSpc>
                <a:spcPct val="110000"/>
              </a:lnSpc>
            </a:pPr>
            <a:r>
              <a:rPr sz="1100" b="1">
                <a:solidFill>
                  <a:srgbClr val="01ABDB"/>
                </a:solidFill>
                <a:latin typeface="Montserrat"/>
              </a:rPr>
              <a:t>PART 6 OF 8 · PLAIN-LANGUAGE WALKTHROUGH</a:t>
            </a:r>
          </a:p>
        </p:txBody>
      </p:sp>
      <p:sp>
        <p:nvSpPr>
          <p:cNvPr id="3" name="TextBox 2"/>
          <p:cNvSpPr txBox="1"/>
          <p:nvPr/>
        </p:nvSpPr>
        <p:spPr>
          <a:xfrm>
            <a:off x="758952" y="265176"/>
            <a:ext cx="9601200" cy="914400"/>
          </a:xfrm>
          <a:prstGeom prst="rect">
            <a:avLst/>
          </a:prstGeom>
          <a:noFill/>
        </p:spPr>
        <p:txBody>
          <a:bodyPr wrap="square" anchor="t" lIns="0" rIns="0" tIns="0" bIns="0">
            <a:spAutoFit/>
          </a:bodyPr>
          <a:lstStyle/>
          <a:p>
            <a:pPr algn="l">
              <a:lnSpc>
                <a:spcPct val="110000"/>
              </a:lnSpc>
            </a:pPr>
            <a:r>
              <a:rPr sz="2800" b="1">
                <a:solidFill>
                  <a:srgbClr val="020C31"/>
                </a:solidFill>
                <a:latin typeface="Montserrat"/>
              </a:rPr>
              <a:t>The Attacks We Simulated</a:t>
            </a:r>
          </a:p>
        </p:txBody>
      </p:sp>
      <p:sp>
        <p:nvSpPr>
          <p:cNvPr id="4" name="TextBox 3"/>
          <p:cNvSpPr txBox="1"/>
          <p:nvPr/>
        </p:nvSpPr>
        <p:spPr>
          <a:xfrm>
            <a:off x="758952" y="1143000"/>
            <a:ext cx="10607040" cy="457200"/>
          </a:xfrm>
          <a:prstGeom prst="rect">
            <a:avLst/>
          </a:prstGeom>
          <a:noFill/>
        </p:spPr>
        <p:txBody>
          <a:bodyPr wrap="square" anchor="t" lIns="0" rIns="0" tIns="0" bIns="0">
            <a:spAutoFit/>
          </a:bodyPr>
          <a:lstStyle/>
          <a:p>
            <a:pPr algn="l">
              <a:lnSpc>
                <a:spcPct val="110000"/>
              </a:lnSpc>
            </a:pPr>
            <a:r>
              <a:rPr sz="1250" b="0">
                <a:solidFill>
                  <a:srgbClr val="6B7688"/>
                </a:solidFill>
                <a:latin typeface="Montserrat"/>
              </a:rPr>
              <a:t>We assume the attacker already has a valid credential. What changes is the behaviour, not the credential.</a:t>
            </a:r>
          </a:p>
        </p:txBody>
      </p:sp>
      <p:sp>
        <p:nvSpPr>
          <p:cNvPr id="5" name="Rounded Rectangle 4"/>
          <p:cNvSpPr/>
          <p:nvPr/>
        </p:nvSpPr>
        <p:spPr>
          <a:xfrm>
            <a:off x="758952" y="1828800"/>
            <a:ext cx="3429000" cy="1051560"/>
          </a:xfrm>
          <a:prstGeom prst="roundRect">
            <a:avLst>
              <a:gd name="adj" fmla="val 9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1828800"/>
            <a:ext cx="457200" cy="1051560"/>
          </a:xfrm>
          <a:prstGeom prst="roundRect">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828800"/>
            <a:ext cx="457200" cy="1051560"/>
          </a:xfrm>
          <a:prstGeom prst="rect">
            <a:avLst/>
          </a:prstGeom>
          <a:noFill/>
        </p:spPr>
        <p:txBody>
          <a:bodyPr wrap="square" anchor="ctr" lIns="0" rIns="0" tIns="0" bIns="0">
            <a:spAutoFit/>
          </a:bodyPr>
          <a:lstStyle/>
          <a:p>
            <a:pPr algn="ctr">
              <a:lnSpc>
                <a:spcPct val="110000"/>
              </a:lnSpc>
            </a:pPr>
            <a:r>
              <a:rPr sz="1300" b="1">
                <a:solidFill>
                  <a:srgbClr val="C0394B"/>
                </a:solidFill>
                <a:latin typeface="Montserrat"/>
              </a:rPr>
              <a:t>T1</a:t>
            </a:r>
          </a:p>
        </p:txBody>
      </p:sp>
      <p:sp>
        <p:nvSpPr>
          <p:cNvPr id="8" name="TextBox 7"/>
          <p:cNvSpPr txBox="1"/>
          <p:nvPr/>
        </p:nvSpPr>
        <p:spPr>
          <a:xfrm>
            <a:off x="1325880" y="1956816"/>
            <a:ext cx="2743200" cy="274320"/>
          </a:xfrm>
          <a:prstGeom prst="rect">
            <a:avLst/>
          </a:prstGeom>
          <a:noFill/>
        </p:spPr>
        <p:txBody>
          <a:bodyPr wrap="square" anchor="t" lIns="0" rIns="0" tIns="0" bIns="0">
            <a:spAutoFit/>
          </a:bodyPr>
          <a:lstStyle/>
          <a:p>
            <a:pPr algn="l">
              <a:lnSpc>
                <a:spcPct val="110000"/>
              </a:lnSpc>
            </a:pPr>
            <a:r>
              <a:rPr sz="1200" b="1">
                <a:solidFill>
                  <a:srgbClr val="020C31"/>
                </a:solidFill>
                <a:latin typeface="Montserrat"/>
              </a:rPr>
              <a:t>Impersonation</a:t>
            </a:r>
          </a:p>
        </p:txBody>
      </p:sp>
      <p:sp>
        <p:nvSpPr>
          <p:cNvPr id="9" name="TextBox 8"/>
          <p:cNvSpPr txBox="1"/>
          <p:nvPr/>
        </p:nvSpPr>
        <p:spPr>
          <a:xfrm>
            <a:off x="1325880" y="2286000"/>
            <a:ext cx="2743200" cy="502920"/>
          </a:xfrm>
          <a:prstGeom prst="rect">
            <a:avLst/>
          </a:prstGeom>
          <a:noFill/>
        </p:spPr>
        <p:txBody>
          <a:bodyPr wrap="square" anchor="t" lIns="0" rIns="0" tIns="0" bIns="0">
            <a:spAutoFit/>
          </a:bodyPr>
          <a:lstStyle/>
          <a:p>
            <a:pPr algn="l">
              <a:lnSpc>
                <a:spcPct val="110000"/>
              </a:lnSpc>
            </a:pPr>
            <a:r>
              <a:rPr sz="1000" b="0">
                <a:solidFill>
                  <a:srgbClr val="334155"/>
                </a:solidFill>
                <a:latin typeface="Montserrat"/>
              </a:rPr>
              <a:t>acts like a different agent</a:t>
            </a:r>
          </a:p>
        </p:txBody>
      </p:sp>
      <p:sp>
        <p:nvSpPr>
          <p:cNvPr id="10" name="Rounded Rectangle 9"/>
          <p:cNvSpPr/>
          <p:nvPr/>
        </p:nvSpPr>
        <p:spPr>
          <a:xfrm>
            <a:off x="4370832" y="1828800"/>
            <a:ext cx="3429000" cy="1051560"/>
          </a:xfrm>
          <a:prstGeom prst="roundRect">
            <a:avLst>
              <a:gd name="adj" fmla="val 9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70832" y="1828800"/>
            <a:ext cx="457200" cy="1051560"/>
          </a:xfrm>
          <a:prstGeom prst="roundRect">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0832" y="1828800"/>
            <a:ext cx="457200" cy="1051560"/>
          </a:xfrm>
          <a:prstGeom prst="rect">
            <a:avLst/>
          </a:prstGeom>
          <a:noFill/>
        </p:spPr>
        <p:txBody>
          <a:bodyPr wrap="square" anchor="ctr" lIns="0" rIns="0" tIns="0" bIns="0">
            <a:spAutoFit/>
          </a:bodyPr>
          <a:lstStyle/>
          <a:p>
            <a:pPr algn="ctr">
              <a:lnSpc>
                <a:spcPct val="110000"/>
              </a:lnSpc>
            </a:pPr>
            <a:r>
              <a:rPr sz="1300" b="1">
                <a:solidFill>
                  <a:srgbClr val="C0394B"/>
                </a:solidFill>
                <a:latin typeface="Montserrat"/>
              </a:rPr>
              <a:t>T2</a:t>
            </a:r>
          </a:p>
        </p:txBody>
      </p:sp>
      <p:sp>
        <p:nvSpPr>
          <p:cNvPr id="13" name="TextBox 12"/>
          <p:cNvSpPr txBox="1"/>
          <p:nvPr/>
        </p:nvSpPr>
        <p:spPr>
          <a:xfrm>
            <a:off x="4937760" y="1956816"/>
            <a:ext cx="2743200" cy="274320"/>
          </a:xfrm>
          <a:prstGeom prst="rect">
            <a:avLst/>
          </a:prstGeom>
          <a:noFill/>
        </p:spPr>
        <p:txBody>
          <a:bodyPr wrap="square" anchor="t" lIns="0" rIns="0" tIns="0" bIns="0">
            <a:spAutoFit/>
          </a:bodyPr>
          <a:lstStyle/>
          <a:p>
            <a:pPr algn="l">
              <a:lnSpc>
                <a:spcPct val="110000"/>
              </a:lnSpc>
            </a:pPr>
            <a:r>
              <a:rPr sz="1200" b="1">
                <a:solidFill>
                  <a:srgbClr val="020C31"/>
                </a:solidFill>
                <a:latin typeface="Montserrat"/>
              </a:rPr>
              <a:t>Compromised agent</a:t>
            </a:r>
          </a:p>
        </p:txBody>
      </p:sp>
      <p:sp>
        <p:nvSpPr>
          <p:cNvPr id="14" name="TextBox 13"/>
          <p:cNvSpPr txBox="1"/>
          <p:nvPr/>
        </p:nvSpPr>
        <p:spPr>
          <a:xfrm>
            <a:off x="4937760" y="2286000"/>
            <a:ext cx="2743200" cy="502920"/>
          </a:xfrm>
          <a:prstGeom prst="rect">
            <a:avLst/>
          </a:prstGeom>
          <a:noFill/>
        </p:spPr>
        <p:txBody>
          <a:bodyPr wrap="square" anchor="t" lIns="0" rIns="0" tIns="0" bIns="0">
            <a:spAutoFit/>
          </a:bodyPr>
          <a:lstStyle/>
          <a:p>
            <a:pPr algn="l">
              <a:lnSpc>
                <a:spcPct val="110000"/>
              </a:lnSpc>
            </a:pPr>
            <a:r>
              <a:rPr sz="1000" b="0">
                <a:solidFill>
                  <a:srgbClr val="334155"/>
                </a:solidFill>
                <a:latin typeface="Montserrat"/>
              </a:rPr>
              <a:t>drifts to new behaviour</a:t>
            </a:r>
          </a:p>
        </p:txBody>
      </p:sp>
      <p:sp>
        <p:nvSpPr>
          <p:cNvPr id="15" name="Rounded Rectangle 14"/>
          <p:cNvSpPr/>
          <p:nvPr/>
        </p:nvSpPr>
        <p:spPr>
          <a:xfrm>
            <a:off x="7982712" y="1828800"/>
            <a:ext cx="3429000" cy="1051560"/>
          </a:xfrm>
          <a:prstGeom prst="roundRect">
            <a:avLst>
              <a:gd name="adj" fmla="val 9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982712" y="1828800"/>
            <a:ext cx="457200" cy="1051560"/>
          </a:xfrm>
          <a:prstGeom prst="roundRect">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82712" y="1828800"/>
            <a:ext cx="457200" cy="1051560"/>
          </a:xfrm>
          <a:prstGeom prst="rect">
            <a:avLst/>
          </a:prstGeom>
          <a:noFill/>
        </p:spPr>
        <p:txBody>
          <a:bodyPr wrap="square" anchor="ctr" lIns="0" rIns="0" tIns="0" bIns="0">
            <a:spAutoFit/>
          </a:bodyPr>
          <a:lstStyle/>
          <a:p>
            <a:pPr algn="ctr">
              <a:lnSpc>
                <a:spcPct val="110000"/>
              </a:lnSpc>
            </a:pPr>
            <a:r>
              <a:rPr sz="1300" b="1">
                <a:solidFill>
                  <a:srgbClr val="C0394B"/>
                </a:solidFill>
                <a:latin typeface="Montserrat"/>
              </a:rPr>
              <a:t>T3</a:t>
            </a:r>
          </a:p>
        </p:txBody>
      </p:sp>
      <p:sp>
        <p:nvSpPr>
          <p:cNvPr id="18" name="TextBox 17"/>
          <p:cNvSpPr txBox="1"/>
          <p:nvPr/>
        </p:nvSpPr>
        <p:spPr>
          <a:xfrm>
            <a:off x="8549640" y="1956816"/>
            <a:ext cx="2743200" cy="274320"/>
          </a:xfrm>
          <a:prstGeom prst="rect">
            <a:avLst/>
          </a:prstGeom>
          <a:noFill/>
        </p:spPr>
        <p:txBody>
          <a:bodyPr wrap="square" anchor="t" lIns="0" rIns="0" tIns="0" bIns="0">
            <a:spAutoFit/>
          </a:bodyPr>
          <a:lstStyle/>
          <a:p>
            <a:pPr algn="l">
              <a:lnSpc>
                <a:spcPct val="110000"/>
              </a:lnSpc>
            </a:pPr>
            <a:r>
              <a:rPr sz="1200" b="1">
                <a:solidFill>
                  <a:srgbClr val="020C31"/>
                </a:solidFill>
                <a:latin typeface="Montserrat"/>
              </a:rPr>
              <a:t>Recon / scanning</a:t>
            </a:r>
          </a:p>
        </p:txBody>
      </p:sp>
      <p:sp>
        <p:nvSpPr>
          <p:cNvPr id="19" name="TextBox 18"/>
          <p:cNvSpPr txBox="1"/>
          <p:nvPr/>
        </p:nvSpPr>
        <p:spPr>
          <a:xfrm>
            <a:off x="8549640" y="2286000"/>
            <a:ext cx="2743200" cy="502920"/>
          </a:xfrm>
          <a:prstGeom prst="rect">
            <a:avLst/>
          </a:prstGeom>
          <a:noFill/>
        </p:spPr>
        <p:txBody>
          <a:bodyPr wrap="square" anchor="t" lIns="0" rIns="0" tIns="0" bIns="0">
            <a:spAutoFit/>
          </a:bodyPr>
          <a:lstStyle/>
          <a:p>
            <a:pPr algn="l">
              <a:lnSpc>
                <a:spcPct val="110000"/>
              </a:lnSpc>
            </a:pPr>
            <a:r>
              <a:rPr sz="1000" b="0">
                <a:solidFill>
                  <a:srgbClr val="334155"/>
                </a:solidFill>
                <a:latin typeface="Montserrat"/>
              </a:rPr>
              <a:t>probes broadly, many errors</a:t>
            </a:r>
          </a:p>
        </p:txBody>
      </p:sp>
      <p:sp>
        <p:nvSpPr>
          <p:cNvPr id="20" name="Rounded Rectangle 19"/>
          <p:cNvSpPr/>
          <p:nvPr/>
        </p:nvSpPr>
        <p:spPr>
          <a:xfrm>
            <a:off x="11594592" y="1828800"/>
            <a:ext cx="3429000" cy="1051560"/>
          </a:xfrm>
          <a:prstGeom prst="roundRect">
            <a:avLst>
              <a:gd name="adj" fmla="val 9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1594592" y="1828800"/>
            <a:ext cx="457200" cy="1051560"/>
          </a:xfrm>
          <a:prstGeom prst="roundRect">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594592" y="1828800"/>
            <a:ext cx="457200" cy="1051560"/>
          </a:xfrm>
          <a:prstGeom prst="rect">
            <a:avLst/>
          </a:prstGeom>
          <a:noFill/>
        </p:spPr>
        <p:txBody>
          <a:bodyPr wrap="square" anchor="ctr" lIns="0" rIns="0" tIns="0" bIns="0">
            <a:spAutoFit/>
          </a:bodyPr>
          <a:lstStyle/>
          <a:p>
            <a:pPr algn="ctr">
              <a:lnSpc>
                <a:spcPct val="110000"/>
              </a:lnSpc>
            </a:pPr>
            <a:r>
              <a:rPr sz="1300" b="1">
                <a:solidFill>
                  <a:srgbClr val="C0394B"/>
                </a:solidFill>
                <a:latin typeface="Montserrat"/>
              </a:rPr>
              <a:t>T4</a:t>
            </a:r>
          </a:p>
        </p:txBody>
      </p:sp>
      <p:sp>
        <p:nvSpPr>
          <p:cNvPr id="23" name="TextBox 22"/>
          <p:cNvSpPr txBox="1"/>
          <p:nvPr/>
        </p:nvSpPr>
        <p:spPr>
          <a:xfrm>
            <a:off x="12161520" y="1956816"/>
            <a:ext cx="2743200" cy="274320"/>
          </a:xfrm>
          <a:prstGeom prst="rect">
            <a:avLst/>
          </a:prstGeom>
          <a:noFill/>
        </p:spPr>
        <p:txBody>
          <a:bodyPr wrap="square" anchor="t" lIns="0" rIns="0" tIns="0" bIns="0">
            <a:spAutoFit/>
          </a:bodyPr>
          <a:lstStyle/>
          <a:p>
            <a:pPr algn="l">
              <a:lnSpc>
                <a:spcPct val="110000"/>
              </a:lnSpc>
            </a:pPr>
            <a:r>
              <a:rPr sz="1200" b="1">
                <a:solidFill>
                  <a:srgbClr val="020C31"/>
                </a:solidFill>
                <a:latin typeface="Montserrat"/>
              </a:rPr>
              <a:t>Volumetric flood</a:t>
            </a:r>
          </a:p>
        </p:txBody>
      </p:sp>
      <p:sp>
        <p:nvSpPr>
          <p:cNvPr id="24" name="TextBox 23"/>
          <p:cNvSpPr txBox="1"/>
          <p:nvPr/>
        </p:nvSpPr>
        <p:spPr>
          <a:xfrm>
            <a:off x="12161520" y="2286000"/>
            <a:ext cx="2743200" cy="502920"/>
          </a:xfrm>
          <a:prstGeom prst="rect">
            <a:avLst/>
          </a:prstGeom>
          <a:noFill/>
        </p:spPr>
        <p:txBody>
          <a:bodyPr wrap="square" anchor="t" lIns="0" rIns="0" tIns="0" bIns="0">
            <a:spAutoFit/>
          </a:bodyPr>
          <a:lstStyle/>
          <a:p>
            <a:pPr algn="l">
              <a:lnSpc>
                <a:spcPct val="110000"/>
              </a:lnSpc>
            </a:pPr>
            <a:r>
              <a:rPr sz="1000" b="0">
                <a:solidFill>
                  <a:srgbClr val="334155"/>
                </a:solidFill>
                <a:latin typeface="Montserrat"/>
              </a:rPr>
              <a:t>request rate spikes hard</a:t>
            </a:r>
          </a:p>
        </p:txBody>
      </p:sp>
      <p:sp>
        <p:nvSpPr>
          <p:cNvPr id="25" name="Rounded Rectangle 24"/>
          <p:cNvSpPr/>
          <p:nvPr/>
        </p:nvSpPr>
        <p:spPr>
          <a:xfrm>
            <a:off x="758952" y="3044952"/>
            <a:ext cx="3429000" cy="1051560"/>
          </a:xfrm>
          <a:prstGeom prst="roundRect">
            <a:avLst>
              <a:gd name="adj" fmla="val 9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58952" y="3044952"/>
            <a:ext cx="457200" cy="1051560"/>
          </a:xfrm>
          <a:prstGeom prst="roundRect">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8952" y="3044952"/>
            <a:ext cx="457200" cy="1051560"/>
          </a:xfrm>
          <a:prstGeom prst="rect">
            <a:avLst/>
          </a:prstGeom>
          <a:noFill/>
        </p:spPr>
        <p:txBody>
          <a:bodyPr wrap="square" anchor="ctr" lIns="0" rIns="0" tIns="0" bIns="0">
            <a:spAutoFit/>
          </a:bodyPr>
          <a:lstStyle/>
          <a:p>
            <a:pPr algn="ctr">
              <a:lnSpc>
                <a:spcPct val="110000"/>
              </a:lnSpc>
            </a:pPr>
            <a:r>
              <a:rPr sz="1300" b="1">
                <a:solidFill>
                  <a:srgbClr val="C0394B"/>
                </a:solidFill>
                <a:latin typeface="Montserrat"/>
              </a:rPr>
              <a:t>T5</a:t>
            </a:r>
          </a:p>
        </p:txBody>
      </p:sp>
      <p:sp>
        <p:nvSpPr>
          <p:cNvPr id="28" name="TextBox 27"/>
          <p:cNvSpPr txBox="1"/>
          <p:nvPr/>
        </p:nvSpPr>
        <p:spPr>
          <a:xfrm>
            <a:off x="1325880" y="3172968"/>
            <a:ext cx="2743200" cy="274320"/>
          </a:xfrm>
          <a:prstGeom prst="rect">
            <a:avLst/>
          </a:prstGeom>
          <a:noFill/>
        </p:spPr>
        <p:txBody>
          <a:bodyPr wrap="square" anchor="t" lIns="0" rIns="0" tIns="0" bIns="0">
            <a:spAutoFit/>
          </a:bodyPr>
          <a:lstStyle/>
          <a:p>
            <a:pPr algn="l">
              <a:lnSpc>
                <a:spcPct val="110000"/>
              </a:lnSpc>
            </a:pPr>
            <a:r>
              <a:rPr sz="1200" b="1">
                <a:solidFill>
                  <a:srgbClr val="020C31"/>
                </a:solidFill>
                <a:latin typeface="Montserrat"/>
              </a:rPr>
              <a:t>Slow exfiltration</a:t>
            </a:r>
          </a:p>
        </p:txBody>
      </p:sp>
      <p:sp>
        <p:nvSpPr>
          <p:cNvPr id="29" name="TextBox 28"/>
          <p:cNvSpPr txBox="1"/>
          <p:nvPr/>
        </p:nvSpPr>
        <p:spPr>
          <a:xfrm>
            <a:off x="1325880" y="3502152"/>
            <a:ext cx="2743200" cy="502920"/>
          </a:xfrm>
          <a:prstGeom prst="rect">
            <a:avLst/>
          </a:prstGeom>
          <a:noFill/>
        </p:spPr>
        <p:txBody>
          <a:bodyPr wrap="square" anchor="t" lIns="0" rIns="0" tIns="0" bIns="0">
            <a:spAutoFit/>
          </a:bodyPr>
          <a:lstStyle/>
          <a:p>
            <a:pPr algn="l">
              <a:lnSpc>
                <a:spcPct val="110000"/>
              </a:lnSpc>
            </a:pPr>
            <a:r>
              <a:rPr sz="1000" b="0">
                <a:solidFill>
                  <a:srgbClr val="334155"/>
                </a:solidFill>
                <a:latin typeface="Montserrat"/>
              </a:rPr>
              <a:t>quiet, large data pulls</a:t>
            </a:r>
          </a:p>
        </p:txBody>
      </p:sp>
      <p:sp>
        <p:nvSpPr>
          <p:cNvPr id="30" name="Rounded Rectangle 29"/>
          <p:cNvSpPr/>
          <p:nvPr/>
        </p:nvSpPr>
        <p:spPr>
          <a:xfrm>
            <a:off x="4370832" y="3044952"/>
            <a:ext cx="3429000" cy="1051560"/>
          </a:xfrm>
          <a:prstGeom prst="roundRect">
            <a:avLst>
              <a:gd name="adj" fmla="val 9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370832" y="3044952"/>
            <a:ext cx="457200" cy="1051560"/>
          </a:xfrm>
          <a:prstGeom prst="roundRect">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70832" y="3044952"/>
            <a:ext cx="457200" cy="1051560"/>
          </a:xfrm>
          <a:prstGeom prst="rect">
            <a:avLst/>
          </a:prstGeom>
          <a:noFill/>
        </p:spPr>
        <p:txBody>
          <a:bodyPr wrap="square" anchor="ctr" lIns="0" rIns="0" tIns="0" bIns="0">
            <a:spAutoFit/>
          </a:bodyPr>
          <a:lstStyle/>
          <a:p>
            <a:pPr algn="ctr">
              <a:lnSpc>
                <a:spcPct val="110000"/>
              </a:lnSpc>
            </a:pPr>
            <a:r>
              <a:rPr sz="1300" b="1">
                <a:solidFill>
                  <a:srgbClr val="C0394B"/>
                </a:solidFill>
                <a:latin typeface="Montserrat"/>
              </a:rPr>
              <a:t>T6</a:t>
            </a:r>
          </a:p>
        </p:txBody>
      </p:sp>
      <p:sp>
        <p:nvSpPr>
          <p:cNvPr id="33" name="TextBox 32"/>
          <p:cNvSpPr txBox="1"/>
          <p:nvPr/>
        </p:nvSpPr>
        <p:spPr>
          <a:xfrm>
            <a:off x="4937760" y="3172968"/>
            <a:ext cx="2743200" cy="274320"/>
          </a:xfrm>
          <a:prstGeom prst="rect">
            <a:avLst/>
          </a:prstGeom>
          <a:noFill/>
        </p:spPr>
        <p:txBody>
          <a:bodyPr wrap="square" anchor="t" lIns="0" rIns="0" tIns="0" bIns="0">
            <a:spAutoFit/>
          </a:bodyPr>
          <a:lstStyle/>
          <a:p>
            <a:pPr algn="l">
              <a:lnSpc>
                <a:spcPct val="110000"/>
              </a:lnSpc>
            </a:pPr>
            <a:r>
              <a:rPr sz="1200" b="1">
                <a:solidFill>
                  <a:srgbClr val="020C31"/>
                </a:solidFill>
                <a:latin typeface="Montserrat"/>
              </a:rPr>
              <a:t>Broken sequence</a:t>
            </a:r>
          </a:p>
        </p:txBody>
      </p:sp>
      <p:sp>
        <p:nvSpPr>
          <p:cNvPr id="34" name="TextBox 33"/>
          <p:cNvSpPr txBox="1"/>
          <p:nvPr/>
        </p:nvSpPr>
        <p:spPr>
          <a:xfrm>
            <a:off x="4937760" y="3502152"/>
            <a:ext cx="2743200" cy="502920"/>
          </a:xfrm>
          <a:prstGeom prst="rect">
            <a:avLst/>
          </a:prstGeom>
          <a:noFill/>
        </p:spPr>
        <p:txBody>
          <a:bodyPr wrap="square" anchor="t" lIns="0" rIns="0" tIns="0" bIns="0">
            <a:spAutoFit/>
          </a:bodyPr>
          <a:lstStyle/>
          <a:p>
            <a:pPr algn="l">
              <a:lnSpc>
                <a:spcPct val="110000"/>
              </a:lnSpc>
            </a:pPr>
            <a:r>
              <a:rPr sz="1000" b="0">
                <a:solidFill>
                  <a:srgbClr val="334155"/>
                </a:solidFill>
                <a:latin typeface="Montserrat"/>
              </a:rPr>
              <a:t>closes what was never opened</a:t>
            </a:r>
          </a:p>
        </p:txBody>
      </p:sp>
      <p:sp>
        <p:nvSpPr>
          <p:cNvPr id="35" name="Rounded Rectangle 34"/>
          <p:cNvSpPr/>
          <p:nvPr/>
        </p:nvSpPr>
        <p:spPr>
          <a:xfrm>
            <a:off x="7982712" y="3044952"/>
            <a:ext cx="3429000" cy="1051560"/>
          </a:xfrm>
          <a:prstGeom prst="roundRect">
            <a:avLst>
              <a:gd name="adj" fmla="val 9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982712" y="3044952"/>
            <a:ext cx="457200" cy="1051560"/>
          </a:xfrm>
          <a:prstGeom prst="roundRect">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982712" y="3044952"/>
            <a:ext cx="457200" cy="1051560"/>
          </a:xfrm>
          <a:prstGeom prst="rect">
            <a:avLst/>
          </a:prstGeom>
          <a:noFill/>
        </p:spPr>
        <p:txBody>
          <a:bodyPr wrap="square" anchor="ctr" lIns="0" rIns="0" tIns="0" bIns="0">
            <a:spAutoFit/>
          </a:bodyPr>
          <a:lstStyle/>
          <a:p>
            <a:pPr algn="ctr">
              <a:lnSpc>
                <a:spcPct val="110000"/>
              </a:lnSpc>
            </a:pPr>
            <a:r>
              <a:rPr sz="1300" b="1">
                <a:solidFill>
                  <a:srgbClr val="C0394B"/>
                </a:solidFill>
                <a:latin typeface="Montserrat"/>
              </a:rPr>
              <a:t>T7</a:t>
            </a:r>
          </a:p>
        </p:txBody>
      </p:sp>
      <p:sp>
        <p:nvSpPr>
          <p:cNvPr id="38" name="TextBox 37"/>
          <p:cNvSpPr txBox="1"/>
          <p:nvPr/>
        </p:nvSpPr>
        <p:spPr>
          <a:xfrm>
            <a:off x="8549640" y="3172968"/>
            <a:ext cx="2743200" cy="274320"/>
          </a:xfrm>
          <a:prstGeom prst="rect">
            <a:avLst/>
          </a:prstGeom>
          <a:noFill/>
        </p:spPr>
        <p:txBody>
          <a:bodyPr wrap="square" anchor="t" lIns="0" rIns="0" tIns="0" bIns="0">
            <a:spAutoFit/>
          </a:bodyPr>
          <a:lstStyle/>
          <a:p>
            <a:pPr algn="l">
              <a:lnSpc>
                <a:spcPct val="110000"/>
              </a:lnSpc>
            </a:pPr>
            <a:r>
              <a:rPr sz="1200" b="1">
                <a:solidFill>
                  <a:srgbClr val="020C31"/>
                </a:solidFill>
                <a:latin typeface="Montserrat"/>
              </a:rPr>
              <a:t>Scope creep</a:t>
            </a:r>
          </a:p>
        </p:txBody>
      </p:sp>
      <p:sp>
        <p:nvSpPr>
          <p:cNvPr id="39" name="TextBox 38"/>
          <p:cNvSpPr txBox="1"/>
          <p:nvPr/>
        </p:nvSpPr>
        <p:spPr>
          <a:xfrm>
            <a:off x="8549640" y="3502152"/>
            <a:ext cx="2743200" cy="502920"/>
          </a:xfrm>
          <a:prstGeom prst="rect">
            <a:avLst/>
          </a:prstGeom>
          <a:noFill/>
        </p:spPr>
        <p:txBody>
          <a:bodyPr wrap="square" anchor="t" lIns="0" rIns="0" tIns="0" bIns="0">
            <a:spAutoFit/>
          </a:bodyPr>
          <a:lstStyle/>
          <a:p>
            <a:pPr algn="l">
              <a:lnSpc>
                <a:spcPct val="110000"/>
              </a:lnSpc>
            </a:pPr>
            <a:r>
              <a:rPr sz="1000" b="0">
                <a:solidFill>
                  <a:srgbClr val="334155"/>
                </a:solidFill>
                <a:latin typeface="Montserrat"/>
              </a:rPr>
              <a:t>touches systems outside its role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58952" y="18288"/>
            <a:ext cx="9601200" cy="274320"/>
          </a:xfrm>
          <a:prstGeom prst="rect">
            <a:avLst/>
          </a:prstGeom>
          <a:noFill/>
        </p:spPr>
        <p:txBody>
          <a:bodyPr wrap="square" anchor="t" lIns="0" rIns="0" tIns="0" bIns="0">
            <a:spAutoFit/>
          </a:bodyPr>
          <a:lstStyle/>
          <a:p>
            <a:pPr algn="l">
              <a:lnSpc>
                <a:spcPct val="110000"/>
              </a:lnSpc>
            </a:pPr>
            <a:r>
              <a:rPr sz="1100" b="1">
                <a:solidFill>
                  <a:srgbClr val="01ABDB"/>
                </a:solidFill>
                <a:latin typeface="Montserrat"/>
              </a:rPr>
              <a:t>PART 7 OF 8 · PLAIN-LANGUAGE WALKTHROUGH</a:t>
            </a:r>
          </a:p>
        </p:txBody>
      </p:sp>
      <p:sp>
        <p:nvSpPr>
          <p:cNvPr id="3" name="TextBox 2"/>
          <p:cNvSpPr txBox="1"/>
          <p:nvPr/>
        </p:nvSpPr>
        <p:spPr>
          <a:xfrm>
            <a:off x="758952" y="265176"/>
            <a:ext cx="9601200" cy="914400"/>
          </a:xfrm>
          <a:prstGeom prst="rect">
            <a:avLst/>
          </a:prstGeom>
          <a:noFill/>
        </p:spPr>
        <p:txBody>
          <a:bodyPr wrap="square" anchor="t" lIns="0" rIns="0" tIns="0" bIns="0">
            <a:spAutoFit/>
          </a:bodyPr>
          <a:lstStyle/>
          <a:p>
            <a:pPr algn="l">
              <a:lnSpc>
                <a:spcPct val="110000"/>
              </a:lnSpc>
            </a:pPr>
            <a:r>
              <a:rPr sz="2800" b="1">
                <a:solidFill>
                  <a:srgbClr val="020C31"/>
                </a:solidFill>
                <a:latin typeface="Montserrat"/>
              </a:rPr>
              <a:t>How AEGIS Decides</a:t>
            </a:r>
          </a:p>
        </p:txBody>
      </p:sp>
      <p:sp>
        <p:nvSpPr>
          <p:cNvPr id="4" name="Rounded Rectangle 3"/>
          <p:cNvSpPr/>
          <p:nvPr/>
        </p:nvSpPr>
        <p:spPr>
          <a:xfrm>
            <a:off x="758952" y="1828800"/>
            <a:ext cx="2542032" cy="18288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58952" y="1828800"/>
            <a:ext cx="2542032" cy="73152"/>
          </a:xfrm>
          <a:prstGeom prst="roundRect">
            <a:avLst/>
          </a:prstGeom>
          <a:solidFill>
            <a:srgbClr val="01A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41832" y="2057400"/>
            <a:ext cx="2176272" cy="274320"/>
          </a:xfrm>
          <a:prstGeom prst="rect">
            <a:avLst/>
          </a:prstGeom>
          <a:noFill/>
        </p:spPr>
        <p:txBody>
          <a:bodyPr wrap="square" anchor="t" lIns="0" rIns="0" tIns="0" bIns="0">
            <a:spAutoFit/>
          </a:bodyPr>
          <a:lstStyle/>
          <a:p>
            <a:pPr algn="l">
              <a:lnSpc>
                <a:spcPct val="110000"/>
              </a:lnSpc>
            </a:pPr>
            <a:r>
              <a:rPr sz="1300" b="1">
                <a:solidFill>
                  <a:srgbClr val="020C31"/>
                </a:solidFill>
                <a:latin typeface="Montserrat"/>
              </a:rPr>
              <a:t>OBSERVE</a:t>
            </a:r>
          </a:p>
        </p:txBody>
      </p:sp>
      <p:sp>
        <p:nvSpPr>
          <p:cNvPr id="7" name="TextBox 6"/>
          <p:cNvSpPr txBox="1"/>
          <p:nvPr/>
        </p:nvSpPr>
        <p:spPr>
          <a:xfrm>
            <a:off x="941832" y="2423160"/>
            <a:ext cx="2176272" cy="1097280"/>
          </a:xfrm>
          <a:prstGeom prst="rect">
            <a:avLst/>
          </a:prstGeom>
          <a:noFill/>
        </p:spPr>
        <p:txBody>
          <a:bodyPr wrap="square" anchor="t" lIns="0" rIns="0" tIns="0" bIns="0">
            <a:spAutoFit/>
          </a:bodyPr>
          <a:lstStyle/>
          <a:p>
            <a:pPr algn="l">
              <a:lnSpc>
                <a:spcPct val="115000"/>
              </a:lnSpc>
            </a:pPr>
            <a:r>
              <a:rPr sz="1050" b="0">
                <a:solidFill>
                  <a:srgbClr val="334155"/>
                </a:solidFill>
                <a:latin typeface="Montserrat"/>
              </a:rPr>
              <a:t>Log every request: agent, target, timing, size, status.</a:t>
            </a:r>
          </a:p>
        </p:txBody>
      </p:sp>
      <p:sp>
        <p:nvSpPr>
          <p:cNvPr id="8" name="Rounded Rectangle 7"/>
          <p:cNvSpPr/>
          <p:nvPr/>
        </p:nvSpPr>
        <p:spPr>
          <a:xfrm>
            <a:off x="3438144" y="1828800"/>
            <a:ext cx="2542032" cy="18288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38144" y="1828800"/>
            <a:ext cx="2542032" cy="73152"/>
          </a:xfrm>
          <a:prstGeom prst="roundRect">
            <a:avLst/>
          </a:prstGeom>
          <a:solidFill>
            <a:srgbClr val="01A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21024" y="2057400"/>
            <a:ext cx="2176272" cy="274320"/>
          </a:xfrm>
          <a:prstGeom prst="rect">
            <a:avLst/>
          </a:prstGeom>
          <a:noFill/>
        </p:spPr>
        <p:txBody>
          <a:bodyPr wrap="square" anchor="t" lIns="0" rIns="0" tIns="0" bIns="0">
            <a:spAutoFit/>
          </a:bodyPr>
          <a:lstStyle/>
          <a:p>
            <a:pPr algn="l">
              <a:lnSpc>
                <a:spcPct val="110000"/>
              </a:lnSpc>
            </a:pPr>
            <a:r>
              <a:rPr sz="1300" b="1">
                <a:solidFill>
                  <a:srgbClr val="020C31"/>
                </a:solidFill>
                <a:latin typeface="Montserrat"/>
              </a:rPr>
              <a:t>FINGERPRINT</a:t>
            </a:r>
          </a:p>
        </p:txBody>
      </p:sp>
      <p:sp>
        <p:nvSpPr>
          <p:cNvPr id="11" name="TextBox 10"/>
          <p:cNvSpPr txBox="1"/>
          <p:nvPr/>
        </p:nvSpPr>
        <p:spPr>
          <a:xfrm>
            <a:off x="3621024" y="2423160"/>
            <a:ext cx="2176272" cy="1097280"/>
          </a:xfrm>
          <a:prstGeom prst="rect">
            <a:avLst/>
          </a:prstGeom>
          <a:noFill/>
        </p:spPr>
        <p:txBody>
          <a:bodyPr wrap="square" anchor="t" lIns="0" rIns="0" tIns="0" bIns="0">
            <a:spAutoFit/>
          </a:bodyPr>
          <a:lstStyle/>
          <a:p>
            <a:pPr algn="l">
              <a:lnSpc>
                <a:spcPct val="115000"/>
              </a:lnSpc>
            </a:pPr>
            <a:r>
              <a:rPr sz="1050" b="0">
                <a:solidFill>
                  <a:srgbClr val="334155"/>
                </a:solidFill>
                <a:latin typeface="Montserrat"/>
              </a:rPr>
              <a:t>Compare the last 60s of activity to that agent's own normal.</a:t>
            </a:r>
          </a:p>
        </p:txBody>
      </p:sp>
      <p:sp>
        <p:nvSpPr>
          <p:cNvPr id="12" name="Rounded Rectangle 11"/>
          <p:cNvSpPr/>
          <p:nvPr/>
        </p:nvSpPr>
        <p:spPr>
          <a:xfrm>
            <a:off x="6117336" y="1828800"/>
            <a:ext cx="2542032" cy="18288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117336" y="1828800"/>
            <a:ext cx="2542032" cy="73152"/>
          </a:xfrm>
          <a:prstGeom prst="roundRect">
            <a:avLst/>
          </a:prstGeom>
          <a:solidFill>
            <a:srgbClr val="01A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0216" y="2057400"/>
            <a:ext cx="2176272" cy="274320"/>
          </a:xfrm>
          <a:prstGeom prst="rect">
            <a:avLst/>
          </a:prstGeom>
          <a:noFill/>
        </p:spPr>
        <p:txBody>
          <a:bodyPr wrap="square" anchor="t" lIns="0" rIns="0" tIns="0" bIns="0">
            <a:spAutoFit/>
          </a:bodyPr>
          <a:lstStyle/>
          <a:p>
            <a:pPr algn="l">
              <a:lnSpc>
                <a:spcPct val="110000"/>
              </a:lnSpc>
            </a:pPr>
            <a:r>
              <a:rPr sz="1300" b="1">
                <a:solidFill>
                  <a:srgbClr val="020C31"/>
                </a:solidFill>
                <a:latin typeface="Montserrat"/>
              </a:rPr>
              <a:t>SCORE</a:t>
            </a:r>
          </a:p>
        </p:txBody>
      </p:sp>
      <p:sp>
        <p:nvSpPr>
          <p:cNvPr id="15" name="TextBox 14"/>
          <p:cNvSpPr txBox="1"/>
          <p:nvPr/>
        </p:nvSpPr>
        <p:spPr>
          <a:xfrm>
            <a:off x="6300216" y="2423160"/>
            <a:ext cx="2176272" cy="1097280"/>
          </a:xfrm>
          <a:prstGeom prst="rect">
            <a:avLst/>
          </a:prstGeom>
          <a:noFill/>
        </p:spPr>
        <p:txBody>
          <a:bodyPr wrap="square" anchor="t" lIns="0" rIns="0" tIns="0" bIns="0">
            <a:spAutoFit/>
          </a:bodyPr>
          <a:lstStyle/>
          <a:p>
            <a:pPr algn="l">
              <a:lnSpc>
                <a:spcPct val="115000"/>
              </a:lnSpc>
            </a:pPr>
            <a:r>
              <a:rPr sz="1050" b="0">
                <a:solidFill>
                  <a:srgbClr val="334155"/>
                </a:solidFill>
                <a:latin typeface="Montserrat"/>
              </a:rPr>
              <a:t>Hard rules + an ML model (trained on legit traffic only) combine into one risk number.</a:t>
            </a:r>
          </a:p>
        </p:txBody>
      </p:sp>
      <p:sp>
        <p:nvSpPr>
          <p:cNvPr id="16" name="Rounded Rectangle 15"/>
          <p:cNvSpPr/>
          <p:nvPr/>
        </p:nvSpPr>
        <p:spPr>
          <a:xfrm>
            <a:off x="8796528" y="1828800"/>
            <a:ext cx="2542032" cy="18288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796528" y="1828800"/>
            <a:ext cx="2542032" cy="73152"/>
          </a:xfrm>
          <a:prstGeom prst="roundRect">
            <a:avLst/>
          </a:prstGeom>
          <a:solidFill>
            <a:srgbClr val="01A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79407" y="2057400"/>
            <a:ext cx="2176272" cy="274320"/>
          </a:xfrm>
          <a:prstGeom prst="rect">
            <a:avLst/>
          </a:prstGeom>
          <a:noFill/>
        </p:spPr>
        <p:txBody>
          <a:bodyPr wrap="square" anchor="t" lIns="0" rIns="0" tIns="0" bIns="0">
            <a:spAutoFit/>
          </a:bodyPr>
          <a:lstStyle/>
          <a:p>
            <a:pPr algn="l">
              <a:lnSpc>
                <a:spcPct val="110000"/>
              </a:lnSpc>
            </a:pPr>
            <a:r>
              <a:rPr sz="1300" b="1">
                <a:solidFill>
                  <a:srgbClr val="020C31"/>
                </a:solidFill>
                <a:latin typeface="Montserrat"/>
              </a:rPr>
              <a:t>DECIDE</a:t>
            </a:r>
          </a:p>
        </p:txBody>
      </p:sp>
      <p:sp>
        <p:nvSpPr>
          <p:cNvPr id="19" name="TextBox 18"/>
          <p:cNvSpPr txBox="1"/>
          <p:nvPr/>
        </p:nvSpPr>
        <p:spPr>
          <a:xfrm>
            <a:off x="8979407" y="2423160"/>
            <a:ext cx="2176272" cy="1097280"/>
          </a:xfrm>
          <a:prstGeom prst="rect">
            <a:avLst/>
          </a:prstGeom>
          <a:noFill/>
        </p:spPr>
        <p:txBody>
          <a:bodyPr wrap="square" anchor="t" lIns="0" rIns="0" tIns="0" bIns="0">
            <a:spAutoFit/>
          </a:bodyPr>
          <a:lstStyle/>
          <a:p>
            <a:pPr algn="l">
              <a:lnSpc>
                <a:spcPct val="115000"/>
              </a:lnSpc>
            </a:pPr>
            <a:r>
              <a:rPr sz="1050" b="0">
                <a:solidFill>
                  <a:srgbClr val="334155"/>
                </a:solidFill>
                <a:latin typeface="Montserrat"/>
              </a:rPr>
              <a:t>Fixed thresholds turn the risk number into PASS / STEP-UP / BLOCK, automatically.</a:t>
            </a:r>
          </a:p>
        </p:txBody>
      </p:sp>
      <p:sp>
        <p:nvSpPr>
          <p:cNvPr id="20" name="Rounded Rectangle 19"/>
          <p:cNvSpPr/>
          <p:nvPr/>
        </p:nvSpPr>
        <p:spPr>
          <a:xfrm>
            <a:off x="758952" y="4023360"/>
            <a:ext cx="3520440" cy="868680"/>
          </a:xfrm>
          <a:prstGeom prst="roundRect">
            <a:avLst>
              <a:gd name="adj" fmla="val 10000"/>
            </a:avLst>
          </a:prstGeom>
          <a:solidFill>
            <a:srgbClr val="F2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58952" y="4023360"/>
            <a:ext cx="82296" cy="868680"/>
          </a:xfrm>
          <a:prstGeom prst="roundRect">
            <a:avLst/>
          </a:prstGeom>
          <a:solidFill>
            <a:srgbClr val="0E93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87552" y="4160520"/>
            <a:ext cx="3108960" cy="320040"/>
          </a:xfrm>
          <a:prstGeom prst="rect">
            <a:avLst/>
          </a:prstGeom>
          <a:noFill/>
        </p:spPr>
        <p:txBody>
          <a:bodyPr wrap="square" anchor="t" lIns="0" rIns="0" tIns="0" bIns="0">
            <a:spAutoFit/>
          </a:bodyPr>
          <a:lstStyle/>
          <a:p>
            <a:pPr algn="l">
              <a:lnSpc>
                <a:spcPct val="110000"/>
              </a:lnSpc>
            </a:pPr>
            <a:r>
              <a:rPr sz="1300" b="1">
                <a:solidFill>
                  <a:srgbClr val="0E9384"/>
                </a:solidFill>
                <a:latin typeface="Montserrat"/>
              </a:rPr>
              <a:t>PASS</a:t>
            </a:r>
          </a:p>
        </p:txBody>
      </p:sp>
      <p:sp>
        <p:nvSpPr>
          <p:cNvPr id="23" name="TextBox 22"/>
          <p:cNvSpPr txBox="1"/>
          <p:nvPr/>
        </p:nvSpPr>
        <p:spPr>
          <a:xfrm>
            <a:off x="987552" y="4480560"/>
            <a:ext cx="3108960" cy="320040"/>
          </a:xfrm>
          <a:prstGeom prst="rect">
            <a:avLst/>
          </a:prstGeom>
          <a:noFill/>
        </p:spPr>
        <p:txBody>
          <a:bodyPr wrap="square" anchor="t" lIns="0" rIns="0" tIns="0" bIns="0">
            <a:spAutoFit/>
          </a:bodyPr>
          <a:lstStyle/>
          <a:p>
            <a:pPr algn="l">
              <a:lnSpc>
                <a:spcPct val="110000"/>
              </a:lnSpc>
            </a:pPr>
            <a:r>
              <a:rPr sz="1050" b="0">
                <a:solidFill>
                  <a:srgbClr val="334155"/>
                </a:solidFill>
                <a:latin typeface="Montserrat"/>
              </a:rPr>
              <a:t>behaves like itself</a:t>
            </a:r>
          </a:p>
        </p:txBody>
      </p:sp>
      <p:sp>
        <p:nvSpPr>
          <p:cNvPr id="24" name="Rounded Rectangle 23"/>
          <p:cNvSpPr/>
          <p:nvPr/>
        </p:nvSpPr>
        <p:spPr>
          <a:xfrm>
            <a:off x="4416552" y="4023360"/>
            <a:ext cx="3520440" cy="868680"/>
          </a:xfrm>
          <a:prstGeom prst="roundRect">
            <a:avLst>
              <a:gd name="adj" fmla="val 10000"/>
            </a:avLst>
          </a:prstGeom>
          <a:solidFill>
            <a:srgbClr val="F2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416552" y="4023360"/>
            <a:ext cx="82296" cy="868680"/>
          </a:xfrm>
          <a:prstGeom prst="roundRect">
            <a:avLst/>
          </a:prstGeom>
          <a:solidFill>
            <a:srgbClr val="E0A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45152" y="4160520"/>
            <a:ext cx="3108960" cy="320040"/>
          </a:xfrm>
          <a:prstGeom prst="rect">
            <a:avLst/>
          </a:prstGeom>
          <a:noFill/>
        </p:spPr>
        <p:txBody>
          <a:bodyPr wrap="square" anchor="t" lIns="0" rIns="0" tIns="0" bIns="0">
            <a:spAutoFit/>
          </a:bodyPr>
          <a:lstStyle/>
          <a:p>
            <a:pPr algn="l">
              <a:lnSpc>
                <a:spcPct val="110000"/>
              </a:lnSpc>
            </a:pPr>
            <a:r>
              <a:rPr sz="1300" b="1">
                <a:solidFill>
                  <a:srgbClr val="E0A100"/>
                </a:solidFill>
                <a:latin typeface="Montserrat"/>
              </a:rPr>
              <a:t>STEP-UP</a:t>
            </a:r>
          </a:p>
        </p:txBody>
      </p:sp>
      <p:sp>
        <p:nvSpPr>
          <p:cNvPr id="27" name="TextBox 26"/>
          <p:cNvSpPr txBox="1"/>
          <p:nvPr/>
        </p:nvSpPr>
        <p:spPr>
          <a:xfrm>
            <a:off x="4645152" y="4480560"/>
            <a:ext cx="3108960" cy="320040"/>
          </a:xfrm>
          <a:prstGeom prst="rect">
            <a:avLst/>
          </a:prstGeom>
          <a:noFill/>
        </p:spPr>
        <p:txBody>
          <a:bodyPr wrap="square" anchor="t" lIns="0" rIns="0" tIns="0" bIns="0">
            <a:spAutoFit/>
          </a:bodyPr>
          <a:lstStyle/>
          <a:p>
            <a:pPr algn="l">
              <a:lnSpc>
                <a:spcPct val="110000"/>
              </a:lnSpc>
            </a:pPr>
            <a:r>
              <a:rPr sz="1050" b="0">
                <a:solidFill>
                  <a:srgbClr val="334155"/>
                </a:solidFill>
                <a:latin typeface="Montserrat"/>
              </a:rPr>
              <a:t>challenge / re-verify</a:t>
            </a:r>
          </a:p>
        </p:txBody>
      </p:sp>
      <p:sp>
        <p:nvSpPr>
          <p:cNvPr id="28" name="Rounded Rectangle 27"/>
          <p:cNvSpPr/>
          <p:nvPr/>
        </p:nvSpPr>
        <p:spPr>
          <a:xfrm>
            <a:off x="8074152" y="4023360"/>
            <a:ext cx="3520440" cy="868680"/>
          </a:xfrm>
          <a:prstGeom prst="roundRect">
            <a:avLst>
              <a:gd name="adj" fmla="val 10000"/>
            </a:avLst>
          </a:prstGeom>
          <a:solidFill>
            <a:srgbClr val="F2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074152" y="4023360"/>
            <a:ext cx="82296" cy="868680"/>
          </a:xfrm>
          <a:prstGeom prst="roundRect">
            <a:avLst/>
          </a:prstGeom>
          <a:solidFill>
            <a:srgbClr val="C039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2752" y="4160520"/>
            <a:ext cx="3108960" cy="320040"/>
          </a:xfrm>
          <a:prstGeom prst="rect">
            <a:avLst/>
          </a:prstGeom>
          <a:noFill/>
        </p:spPr>
        <p:txBody>
          <a:bodyPr wrap="square" anchor="t" lIns="0" rIns="0" tIns="0" bIns="0">
            <a:spAutoFit/>
          </a:bodyPr>
          <a:lstStyle/>
          <a:p>
            <a:pPr algn="l">
              <a:lnSpc>
                <a:spcPct val="110000"/>
              </a:lnSpc>
            </a:pPr>
            <a:r>
              <a:rPr sz="1300" b="1">
                <a:solidFill>
                  <a:srgbClr val="C0394B"/>
                </a:solidFill>
                <a:latin typeface="Montserrat"/>
              </a:rPr>
              <a:t>BLOCK</a:t>
            </a:r>
          </a:p>
        </p:txBody>
      </p:sp>
      <p:sp>
        <p:nvSpPr>
          <p:cNvPr id="31" name="TextBox 30"/>
          <p:cNvSpPr txBox="1"/>
          <p:nvPr/>
        </p:nvSpPr>
        <p:spPr>
          <a:xfrm>
            <a:off x="8302752" y="4480560"/>
            <a:ext cx="3108960" cy="320040"/>
          </a:xfrm>
          <a:prstGeom prst="rect">
            <a:avLst/>
          </a:prstGeom>
          <a:noFill/>
        </p:spPr>
        <p:txBody>
          <a:bodyPr wrap="square" anchor="t" lIns="0" rIns="0" tIns="0" bIns="0">
            <a:spAutoFit/>
          </a:bodyPr>
          <a:lstStyle/>
          <a:p>
            <a:pPr algn="l">
              <a:lnSpc>
                <a:spcPct val="110000"/>
              </a:lnSpc>
            </a:pPr>
            <a:r>
              <a:rPr sz="1050" b="0">
                <a:solidFill>
                  <a:srgbClr val="334155"/>
                </a:solidFill>
                <a:latin typeface="Montserrat"/>
              </a:rPr>
              <a:t>quarantine, alert a human</a:t>
            </a:r>
          </a:p>
        </p:txBody>
      </p:sp>
      <p:sp>
        <p:nvSpPr>
          <p:cNvPr id="32" name="TextBox 31"/>
          <p:cNvSpPr txBox="1"/>
          <p:nvPr/>
        </p:nvSpPr>
        <p:spPr>
          <a:xfrm>
            <a:off x="758952" y="5120640"/>
            <a:ext cx="10607040" cy="548640"/>
          </a:xfrm>
          <a:prstGeom prst="rect">
            <a:avLst/>
          </a:prstGeom>
          <a:noFill/>
        </p:spPr>
        <p:txBody>
          <a:bodyPr wrap="square" anchor="t" lIns="0" rIns="0" tIns="0" bIns="0">
            <a:spAutoFit/>
          </a:bodyPr>
          <a:lstStyle/>
          <a:p>
            <a:pPr algn="l">
              <a:lnSpc>
                <a:spcPct val="110000"/>
              </a:lnSpc>
            </a:pPr>
            <a:r>
              <a:rPr sz="1150" b="0">
                <a:solidFill>
                  <a:srgbClr val="6B7688"/>
                </a:solidFill>
                <a:latin typeface="Montserrat"/>
              </a:rPr>
              <a:t>There is no person watching in real time. The decision is fully automatic - a human only reviews after a STEP-UP or BLOCK is raised.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58952" y="18288"/>
            <a:ext cx="9601200" cy="274320"/>
          </a:xfrm>
          <a:prstGeom prst="rect">
            <a:avLst/>
          </a:prstGeom>
          <a:noFill/>
        </p:spPr>
        <p:txBody>
          <a:bodyPr wrap="square" anchor="t" lIns="0" rIns="0" tIns="0" bIns="0">
            <a:spAutoFit/>
          </a:bodyPr>
          <a:lstStyle/>
          <a:p>
            <a:pPr algn="l">
              <a:lnSpc>
                <a:spcPct val="110000"/>
              </a:lnSpc>
            </a:pPr>
            <a:r>
              <a:rPr sz="1100" b="1">
                <a:solidFill>
                  <a:srgbClr val="01ABDB"/>
                </a:solidFill>
                <a:latin typeface="Montserrat"/>
              </a:rPr>
              <a:t>PART 8 OF 8 · PLAIN-LANGUAGE WALKTHROUGH</a:t>
            </a:r>
          </a:p>
        </p:txBody>
      </p:sp>
      <p:sp>
        <p:nvSpPr>
          <p:cNvPr id="3" name="TextBox 2"/>
          <p:cNvSpPr txBox="1"/>
          <p:nvPr/>
        </p:nvSpPr>
        <p:spPr>
          <a:xfrm>
            <a:off x="758952" y="265176"/>
            <a:ext cx="9601200" cy="914400"/>
          </a:xfrm>
          <a:prstGeom prst="rect">
            <a:avLst/>
          </a:prstGeom>
          <a:noFill/>
        </p:spPr>
        <p:txBody>
          <a:bodyPr wrap="square" anchor="t" lIns="0" rIns="0" tIns="0" bIns="0">
            <a:spAutoFit/>
          </a:bodyPr>
          <a:lstStyle/>
          <a:p>
            <a:pPr algn="l">
              <a:lnSpc>
                <a:spcPct val="110000"/>
              </a:lnSpc>
            </a:pPr>
            <a:r>
              <a:rPr sz="2800" b="1">
                <a:solidFill>
                  <a:srgbClr val="020C31"/>
                </a:solidFill>
                <a:latin typeface="Montserrat"/>
              </a:rPr>
              <a:t>Proof It Works</a:t>
            </a:r>
          </a:p>
        </p:txBody>
      </p:sp>
      <p:sp>
        <p:nvSpPr>
          <p:cNvPr id="4" name="Rounded Rectangle 3"/>
          <p:cNvSpPr/>
          <p:nvPr/>
        </p:nvSpPr>
        <p:spPr>
          <a:xfrm>
            <a:off x="758952" y="1828800"/>
            <a:ext cx="2606040" cy="1188720"/>
          </a:xfrm>
          <a:prstGeom prst="roundRect">
            <a:avLst>
              <a:gd name="adj" fmla="val 12000"/>
            </a:avLst>
          </a:prstGeom>
          <a:solidFill>
            <a:srgbClr val="F2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8952" y="2011680"/>
            <a:ext cx="2606040" cy="502920"/>
          </a:xfrm>
          <a:prstGeom prst="rect">
            <a:avLst/>
          </a:prstGeom>
          <a:noFill/>
        </p:spPr>
        <p:txBody>
          <a:bodyPr wrap="square" anchor="t" lIns="0" rIns="0" tIns="0" bIns="0">
            <a:spAutoFit/>
          </a:bodyPr>
          <a:lstStyle/>
          <a:p>
            <a:pPr algn="ctr">
              <a:lnSpc>
                <a:spcPct val="110000"/>
              </a:lnSpc>
            </a:pPr>
            <a:r>
              <a:rPr sz="2600" b="1">
                <a:solidFill>
                  <a:srgbClr val="3D67B1"/>
                </a:solidFill>
                <a:latin typeface="Montserrat"/>
              </a:rPr>
              <a:t>0.99</a:t>
            </a:r>
          </a:p>
        </p:txBody>
      </p:sp>
      <p:sp>
        <p:nvSpPr>
          <p:cNvPr id="6" name="TextBox 5"/>
          <p:cNvSpPr txBox="1"/>
          <p:nvPr/>
        </p:nvSpPr>
        <p:spPr>
          <a:xfrm>
            <a:off x="758952" y="2560320"/>
            <a:ext cx="2606040" cy="320040"/>
          </a:xfrm>
          <a:prstGeom prst="rect">
            <a:avLst/>
          </a:prstGeom>
          <a:noFill/>
        </p:spPr>
        <p:txBody>
          <a:bodyPr wrap="square" anchor="t" lIns="0" rIns="0" tIns="0" bIns="0">
            <a:spAutoFit/>
          </a:bodyPr>
          <a:lstStyle/>
          <a:p>
            <a:pPr algn="ctr">
              <a:lnSpc>
                <a:spcPct val="110000"/>
              </a:lnSpc>
            </a:pPr>
            <a:r>
              <a:rPr sz="1000" b="1">
                <a:solidFill>
                  <a:srgbClr val="6B7688"/>
                </a:solidFill>
                <a:latin typeface="Montserrat"/>
              </a:rPr>
              <a:t>ROC-AUC</a:t>
            </a:r>
          </a:p>
        </p:txBody>
      </p:sp>
      <p:sp>
        <p:nvSpPr>
          <p:cNvPr id="7" name="Rounded Rectangle 6"/>
          <p:cNvSpPr/>
          <p:nvPr/>
        </p:nvSpPr>
        <p:spPr>
          <a:xfrm>
            <a:off x="3502152" y="1828800"/>
            <a:ext cx="2606040" cy="1188720"/>
          </a:xfrm>
          <a:prstGeom prst="roundRect">
            <a:avLst>
              <a:gd name="adj" fmla="val 12000"/>
            </a:avLst>
          </a:prstGeom>
          <a:solidFill>
            <a:srgbClr val="F2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02152" y="2011680"/>
            <a:ext cx="2606040" cy="502920"/>
          </a:xfrm>
          <a:prstGeom prst="rect">
            <a:avLst/>
          </a:prstGeom>
          <a:noFill/>
        </p:spPr>
        <p:txBody>
          <a:bodyPr wrap="square" anchor="t" lIns="0" rIns="0" tIns="0" bIns="0">
            <a:spAutoFit/>
          </a:bodyPr>
          <a:lstStyle/>
          <a:p>
            <a:pPr algn="ctr">
              <a:lnSpc>
                <a:spcPct val="110000"/>
              </a:lnSpc>
            </a:pPr>
            <a:r>
              <a:rPr sz="2600" b="1">
                <a:solidFill>
                  <a:srgbClr val="3D67B1"/>
                </a:solidFill>
                <a:latin typeface="Montserrat"/>
              </a:rPr>
              <a:t>98%</a:t>
            </a:r>
          </a:p>
        </p:txBody>
      </p:sp>
      <p:sp>
        <p:nvSpPr>
          <p:cNvPr id="9" name="TextBox 8"/>
          <p:cNvSpPr txBox="1"/>
          <p:nvPr/>
        </p:nvSpPr>
        <p:spPr>
          <a:xfrm>
            <a:off x="3502152" y="2560320"/>
            <a:ext cx="2606040" cy="320040"/>
          </a:xfrm>
          <a:prstGeom prst="rect">
            <a:avLst/>
          </a:prstGeom>
          <a:noFill/>
        </p:spPr>
        <p:txBody>
          <a:bodyPr wrap="square" anchor="t" lIns="0" rIns="0" tIns="0" bIns="0">
            <a:spAutoFit/>
          </a:bodyPr>
          <a:lstStyle/>
          <a:p>
            <a:pPr algn="ctr">
              <a:lnSpc>
                <a:spcPct val="110000"/>
              </a:lnSpc>
            </a:pPr>
            <a:r>
              <a:rPr sz="1000" b="1">
                <a:solidFill>
                  <a:srgbClr val="6B7688"/>
                </a:solidFill>
                <a:latin typeface="Montserrat"/>
              </a:rPr>
              <a:t>RECALL</a:t>
            </a:r>
          </a:p>
        </p:txBody>
      </p:sp>
      <p:sp>
        <p:nvSpPr>
          <p:cNvPr id="10" name="Rounded Rectangle 9"/>
          <p:cNvSpPr/>
          <p:nvPr/>
        </p:nvSpPr>
        <p:spPr>
          <a:xfrm>
            <a:off x="6245352" y="1828800"/>
            <a:ext cx="2606040" cy="1188720"/>
          </a:xfrm>
          <a:prstGeom prst="roundRect">
            <a:avLst>
              <a:gd name="adj" fmla="val 12000"/>
            </a:avLst>
          </a:prstGeom>
          <a:solidFill>
            <a:srgbClr val="F2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2011680"/>
            <a:ext cx="2606040" cy="502920"/>
          </a:xfrm>
          <a:prstGeom prst="rect">
            <a:avLst/>
          </a:prstGeom>
          <a:noFill/>
        </p:spPr>
        <p:txBody>
          <a:bodyPr wrap="square" anchor="t" lIns="0" rIns="0" tIns="0" bIns="0">
            <a:spAutoFit/>
          </a:bodyPr>
          <a:lstStyle/>
          <a:p>
            <a:pPr algn="ctr">
              <a:lnSpc>
                <a:spcPct val="110000"/>
              </a:lnSpc>
            </a:pPr>
            <a:r>
              <a:rPr sz="2600" b="1">
                <a:solidFill>
                  <a:srgbClr val="3D67B1"/>
                </a:solidFill>
                <a:latin typeface="Montserrat"/>
              </a:rPr>
              <a:t>0.8%</a:t>
            </a:r>
          </a:p>
        </p:txBody>
      </p:sp>
      <p:sp>
        <p:nvSpPr>
          <p:cNvPr id="12" name="TextBox 11"/>
          <p:cNvSpPr txBox="1"/>
          <p:nvPr/>
        </p:nvSpPr>
        <p:spPr>
          <a:xfrm>
            <a:off x="6245352" y="2560320"/>
            <a:ext cx="2606040" cy="320040"/>
          </a:xfrm>
          <a:prstGeom prst="rect">
            <a:avLst/>
          </a:prstGeom>
          <a:noFill/>
        </p:spPr>
        <p:txBody>
          <a:bodyPr wrap="square" anchor="t" lIns="0" rIns="0" tIns="0" bIns="0">
            <a:spAutoFit/>
          </a:bodyPr>
          <a:lstStyle/>
          <a:p>
            <a:pPr algn="ctr">
              <a:lnSpc>
                <a:spcPct val="110000"/>
              </a:lnSpc>
            </a:pPr>
            <a:r>
              <a:rPr sz="1000" b="1">
                <a:solidFill>
                  <a:srgbClr val="6B7688"/>
                </a:solidFill>
                <a:latin typeface="Montserrat"/>
              </a:rPr>
              <a:t>FALSE POSITIVES</a:t>
            </a:r>
          </a:p>
        </p:txBody>
      </p:sp>
      <p:sp>
        <p:nvSpPr>
          <p:cNvPr id="13" name="Rounded Rectangle 12"/>
          <p:cNvSpPr/>
          <p:nvPr/>
        </p:nvSpPr>
        <p:spPr>
          <a:xfrm>
            <a:off x="8988552" y="1828800"/>
            <a:ext cx="2606040" cy="1188720"/>
          </a:xfrm>
          <a:prstGeom prst="roundRect">
            <a:avLst>
              <a:gd name="adj" fmla="val 12000"/>
            </a:avLst>
          </a:prstGeom>
          <a:solidFill>
            <a:srgbClr val="F2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88552" y="2011680"/>
            <a:ext cx="2606040" cy="502920"/>
          </a:xfrm>
          <a:prstGeom prst="rect">
            <a:avLst/>
          </a:prstGeom>
          <a:noFill/>
        </p:spPr>
        <p:txBody>
          <a:bodyPr wrap="square" anchor="t" lIns="0" rIns="0" tIns="0" bIns="0">
            <a:spAutoFit/>
          </a:bodyPr>
          <a:lstStyle/>
          <a:p>
            <a:pPr algn="ctr">
              <a:lnSpc>
                <a:spcPct val="110000"/>
              </a:lnSpc>
            </a:pPr>
            <a:r>
              <a:rPr sz="2600" b="1">
                <a:solidFill>
                  <a:srgbClr val="3D67B1"/>
                </a:solidFill>
                <a:latin typeface="Montserrat"/>
              </a:rPr>
              <a:t>7 / 7</a:t>
            </a:r>
          </a:p>
        </p:txBody>
      </p:sp>
      <p:sp>
        <p:nvSpPr>
          <p:cNvPr id="15" name="TextBox 14"/>
          <p:cNvSpPr txBox="1"/>
          <p:nvPr/>
        </p:nvSpPr>
        <p:spPr>
          <a:xfrm>
            <a:off x="8988552" y="2560320"/>
            <a:ext cx="2606040" cy="320040"/>
          </a:xfrm>
          <a:prstGeom prst="rect">
            <a:avLst/>
          </a:prstGeom>
          <a:noFill/>
        </p:spPr>
        <p:txBody>
          <a:bodyPr wrap="square" anchor="t" lIns="0" rIns="0" tIns="0" bIns="0">
            <a:spAutoFit/>
          </a:bodyPr>
          <a:lstStyle/>
          <a:p>
            <a:pPr algn="ctr">
              <a:lnSpc>
                <a:spcPct val="110000"/>
              </a:lnSpc>
            </a:pPr>
            <a:r>
              <a:rPr sz="1000" b="1">
                <a:solidFill>
                  <a:srgbClr val="6B7688"/>
                </a:solidFill>
                <a:latin typeface="Montserrat"/>
              </a:rPr>
              <a:t>THREATS COVERED</a:t>
            </a:r>
          </a:p>
        </p:txBody>
      </p:sp>
      <p:sp>
        <p:nvSpPr>
          <p:cNvPr id="16" name="TextBox 15"/>
          <p:cNvSpPr txBox="1"/>
          <p:nvPr/>
        </p:nvSpPr>
        <p:spPr>
          <a:xfrm>
            <a:off x="758952" y="3383280"/>
            <a:ext cx="10607040" cy="548640"/>
          </a:xfrm>
          <a:prstGeom prst="rect">
            <a:avLst/>
          </a:prstGeom>
          <a:noFill/>
        </p:spPr>
        <p:txBody>
          <a:bodyPr wrap="square" anchor="t" lIns="0" rIns="0" tIns="0" bIns="0">
            <a:spAutoFit/>
          </a:bodyPr>
          <a:lstStyle/>
          <a:p>
            <a:pPr algn="l">
              <a:lnSpc>
                <a:spcPct val="110000"/>
              </a:lnSpc>
            </a:pPr>
            <a:r>
              <a:rPr sz="1250" b="0">
                <a:solidFill>
                  <a:srgbClr val="334155"/>
                </a:solidFill>
                <a:latin typeface="Montserrat"/>
              </a:rPr>
              <a:t>Measured on 11,343 held-out windows the model never trained on: attacks separate cleanly from normal traffic at 0.99 ROC-AUC, 98% of injected attacks caught, only 0.8% of legitimate traffic wrongly flagged.</a:t>
            </a:r>
          </a:p>
        </p:txBody>
      </p:sp>
      <p:sp>
        <p:nvSpPr>
          <p:cNvPr id="17" name="Rounded Rectangle 16"/>
          <p:cNvSpPr/>
          <p:nvPr/>
        </p:nvSpPr>
        <p:spPr>
          <a:xfrm>
            <a:off x="758952" y="4160520"/>
            <a:ext cx="10607040" cy="1051560"/>
          </a:xfrm>
          <a:prstGeom prst="roundRect">
            <a:avLst>
              <a:gd name="adj" fmla="val 6000"/>
            </a:avLst>
          </a:prstGeom>
          <a:solidFill>
            <a:srgbClr val="020C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315968"/>
            <a:ext cx="10058400" cy="320040"/>
          </a:xfrm>
          <a:prstGeom prst="rect">
            <a:avLst/>
          </a:prstGeom>
          <a:noFill/>
        </p:spPr>
        <p:txBody>
          <a:bodyPr wrap="square" anchor="t" lIns="0" rIns="0" tIns="0" bIns="0">
            <a:spAutoFit/>
          </a:bodyPr>
          <a:lstStyle/>
          <a:p>
            <a:pPr algn="l">
              <a:lnSpc>
                <a:spcPct val="110000"/>
              </a:lnSpc>
            </a:pPr>
            <a:r>
              <a:rPr sz="1050" b="1">
                <a:solidFill>
                  <a:srgbClr val="6FCCDD"/>
                </a:solidFill>
                <a:latin typeface="Montserrat"/>
              </a:rPr>
              <a:t>THE HONEST CAVEAT</a:t>
            </a:r>
          </a:p>
        </p:txBody>
      </p:sp>
      <p:sp>
        <p:nvSpPr>
          <p:cNvPr id="19" name="TextBox 18"/>
          <p:cNvSpPr txBox="1"/>
          <p:nvPr/>
        </p:nvSpPr>
        <p:spPr>
          <a:xfrm>
            <a:off x="1005840" y="4617720"/>
            <a:ext cx="10058400" cy="502920"/>
          </a:xfrm>
          <a:prstGeom prst="rect">
            <a:avLst/>
          </a:prstGeom>
          <a:noFill/>
        </p:spPr>
        <p:txBody>
          <a:bodyPr wrap="square" anchor="t" lIns="0" rIns="0" tIns="0" bIns="0">
            <a:spAutoFit/>
          </a:bodyPr>
          <a:lstStyle/>
          <a:p>
            <a:pPr algn="l">
              <a:lnSpc>
                <a:spcPct val="110000"/>
              </a:lnSpc>
            </a:pPr>
            <a:r>
              <a:rPr sz="1150" b="0">
                <a:solidFill>
                  <a:srgbClr val="E6ECF2"/>
                </a:solidFill>
                <a:latin typeface="Montserrat"/>
              </a:rPr>
              <a:t>This is synthetic-first: it proves the method works and is well-calibrated, not that it holds up on real network traffic yet - that validation is exactly what real or anonymised data from Fastweb + Vodafone would give us.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Diagramma 2">
            <a:extLst>
              <a:ext uri="{FF2B5EF4-FFF2-40B4-BE49-F238E27FC236}">
                <a16:creationId xmlns:a16="http://schemas.microsoft.com/office/drawing/2014/main" id="{30E80DED-F8A0-1A4F-ACCF-03A8ACA3D586}"/>
              </a:ext>
            </a:extLst>
          </p:cNvPr>
          <p:cNvGraphicFramePr/>
          <p:nvPr>
            <p:extLst>
              <p:ext uri="{D42A27DB-BD31-4B8C-83A1-F6EECF244321}">
                <p14:modId xmlns:p14="http://schemas.microsoft.com/office/powerpoint/2010/main" val="1691509073"/>
              </p:ext>
            </p:extLst>
          </p:nvPr>
        </p:nvGraphicFramePr>
        <p:xfrm>
          <a:off x="441960" y="504536"/>
          <a:ext cx="11231880" cy="564303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cxnSp>
        <p:nvCxnSpPr>
          <p:cNvPr id="7" name="Connettore 1 6">
            <a:extLst>
              <a:ext uri="{FF2B5EF4-FFF2-40B4-BE49-F238E27FC236}">
                <a16:creationId xmlns:a16="http://schemas.microsoft.com/office/drawing/2014/main" id="{CDDDDAD7-B14B-0F46-A6EF-655C41511688}"/>
              </a:ext>
            </a:extLst>
          </p:cNvPr>
          <p:cNvCxnSpPr/>
          <p:nvPr/>
        </p:nvCxnSpPr>
        <p:spPr>
          <a:xfrm>
            <a:off x="2542144" y="3545607"/>
            <a:ext cx="0" cy="533400"/>
          </a:xfrm>
          <a:prstGeom prst="line">
            <a:avLst/>
          </a:prstGeom>
          <a:ln w="12700" cap="rnd">
            <a:solidFill>
              <a:srgbClr val="DBF11E"/>
            </a:solidFill>
            <a:prstDash val="sysDash"/>
            <a:round/>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8" name="Connettore 1 7">
            <a:extLst>
              <a:ext uri="{FF2B5EF4-FFF2-40B4-BE49-F238E27FC236}">
                <a16:creationId xmlns:a16="http://schemas.microsoft.com/office/drawing/2014/main" id="{CEC03FA8-2EB5-E441-9B7C-7A4454F132E0}"/>
              </a:ext>
            </a:extLst>
          </p:cNvPr>
          <p:cNvCxnSpPr/>
          <p:nvPr/>
        </p:nvCxnSpPr>
        <p:spPr>
          <a:xfrm>
            <a:off x="3542683" y="2545068"/>
            <a:ext cx="0" cy="533400"/>
          </a:xfrm>
          <a:prstGeom prst="line">
            <a:avLst/>
          </a:prstGeom>
          <a:ln w="12700" cap="rnd">
            <a:solidFill>
              <a:srgbClr val="DBF11E"/>
            </a:solidFill>
            <a:prstDash val="sysDash"/>
            <a:round/>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9" name="Connettore 1 8">
            <a:extLst>
              <a:ext uri="{FF2B5EF4-FFF2-40B4-BE49-F238E27FC236}">
                <a16:creationId xmlns:a16="http://schemas.microsoft.com/office/drawing/2014/main" id="{B8F9C51B-F6EB-F846-B0DF-FD56DC146E53}"/>
              </a:ext>
            </a:extLst>
          </p:cNvPr>
          <p:cNvCxnSpPr>
            <a:cxnSpLocks/>
          </p:cNvCxnSpPr>
          <p:nvPr/>
        </p:nvCxnSpPr>
        <p:spPr>
          <a:xfrm>
            <a:off x="3834231" y="1537252"/>
            <a:ext cx="0" cy="1541216"/>
          </a:xfrm>
          <a:prstGeom prst="line">
            <a:avLst/>
          </a:prstGeom>
          <a:ln w="12700" cap="rnd">
            <a:solidFill>
              <a:srgbClr val="DBF11E"/>
            </a:solidFill>
            <a:prstDash val="sysDash"/>
            <a:round/>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12" name="Connettore 1 11">
            <a:extLst>
              <a:ext uri="{FF2B5EF4-FFF2-40B4-BE49-F238E27FC236}">
                <a16:creationId xmlns:a16="http://schemas.microsoft.com/office/drawing/2014/main" id="{BBD447AD-4E49-A24A-B9D6-2222CC2FC9C7}"/>
              </a:ext>
            </a:extLst>
          </p:cNvPr>
          <p:cNvCxnSpPr>
            <a:cxnSpLocks/>
          </p:cNvCxnSpPr>
          <p:nvPr/>
        </p:nvCxnSpPr>
        <p:spPr>
          <a:xfrm>
            <a:off x="4649240" y="3545607"/>
            <a:ext cx="0" cy="1541216"/>
          </a:xfrm>
          <a:prstGeom prst="line">
            <a:avLst/>
          </a:prstGeom>
          <a:ln w="12700" cap="rnd">
            <a:solidFill>
              <a:srgbClr val="DBF11E"/>
            </a:solidFill>
            <a:prstDash val="sysDash"/>
            <a:round/>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13" name="Connettore 1 12">
            <a:extLst>
              <a:ext uri="{FF2B5EF4-FFF2-40B4-BE49-F238E27FC236}">
                <a16:creationId xmlns:a16="http://schemas.microsoft.com/office/drawing/2014/main" id="{D63247CF-3063-5940-8980-D8075F99FDD7}"/>
              </a:ext>
            </a:extLst>
          </p:cNvPr>
          <p:cNvCxnSpPr/>
          <p:nvPr/>
        </p:nvCxnSpPr>
        <p:spPr>
          <a:xfrm>
            <a:off x="3675205" y="3545607"/>
            <a:ext cx="0" cy="533400"/>
          </a:xfrm>
          <a:prstGeom prst="line">
            <a:avLst/>
          </a:prstGeom>
          <a:ln w="12700" cap="rnd">
            <a:solidFill>
              <a:srgbClr val="DBF11E"/>
            </a:solidFill>
            <a:prstDash val="sysDash"/>
            <a:round/>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14" name="Connettore 1 13">
            <a:extLst>
              <a:ext uri="{FF2B5EF4-FFF2-40B4-BE49-F238E27FC236}">
                <a16:creationId xmlns:a16="http://schemas.microsoft.com/office/drawing/2014/main" id="{4653E67C-A292-244D-9354-CCF009754590}"/>
              </a:ext>
            </a:extLst>
          </p:cNvPr>
          <p:cNvCxnSpPr/>
          <p:nvPr/>
        </p:nvCxnSpPr>
        <p:spPr>
          <a:xfrm>
            <a:off x="5066683" y="2545068"/>
            <a:ext cx="0" cy="533400"/>
          </a:xfrm>
          <a:prstGeom prst="line">
            <a:avLst/>
          </a:prstGeom>
          <a:ln w="12700" cap="rnd">
            <a:solidFill>
              <a:srgbClr val="DBF11E"/>
            </a:solidFill>
            <a:prstDash val="sysDash"/>
            <a:round/>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15" name="Connettore 1 14">
            <a:extLst>
              <a:ext uri="{FF2B5EF4-FFF2-40B4-BE49-F238E27FC236}">
                <a16:creationId xmlns:a16="http://schemas.microsoft.com/office/drawing/2014/main" id="{B1739115-E076-0446-860F-653E2465CEEC}"/>
              </a:ext>
            </a:extLst>
          </p:cNvPr>
          <p:cNvCxnSpPr>
            <a:cxnSpLocks/>
          </p:cNvCxnSpPr>
          <p:nvPr/>
        </p:nvCxnSpPr>
        <p:spPr>
          <a:xfrm>
            <a:off x="7670736" y="3545607"/>
            <a:ext cx="0" cy="1541216"/>
          </a:xfrm>
          <a:prstGeom prst="line">
            <a:avLst/>
          </a:prstGeom>
          <a:ln w="12700" cap="rnd">
            <a:solidFill>
              <a:srgbClr val="DBF11E"/>
            </a:solidFill>
            <a:prstDash val="sysDash"/>
            <a:round/>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16" name="Connettore 1 15">
            <a:extLst>
              <a:ext uri="{FF2B5EF4-FFF2-40B4-BE49-F238E27FC236}">
                <a16:creationId xmlns:a16="http://schemas.microsoft.com/office/drawing/2014/main" id="{2E9928DF-B989-5A44-9793-4E4F7E2ACF0B}"/>
              </a:ext>
            </a:extLst>
          </p:cNvPr>
          <p:cNvCxnSpPr/>
          <p:nvPr/>
        </p:nvCxnSpPr>
        <p:spPr>
          <a:xfrm>
            <a:off x="8518875" y="3545607"/>
            <a:ext cx="0" cy="533400"/>
          </a:xfrm>
          <a:prstGeom prst="line">
            <a:avLst/>
          </a:prstGeom>
          <a:ln w="12700" cap="rnd">
            <a:solidFill>
              <a:srgbClr val="DBF11E"/>
            </a:solidFill>
            <a:prstDash val="sysDash"/>
            <a:round/>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17" name="Connettore 1 16">
            <a:extLst>
              <a:ext uri="{FF2B5EF4-FFF2-40B4-BE49-F238E27FC236}">
                <a16:creationId xmlns:a16="http://schemas.microsoft.com/office/drawing/2014/main" id="{A204C6AE-E9B3-B540-B356-F46B2C5525D0}"/>
              </a:ext>
            </a:extLst>
          </p:cNvPr>
          <p:cNvCxnSpPr>
            <a:cxnSpLocks/>
          </p:cNvCxnSpPr>
          <p:nvPr/>
        </p:nvCxnSpPr>
        <p:spPr>
          <a:xfrm>
            <a:off x="10553083" y="1537903"/>
            <a:ext cx="0" cy="1541216"/>
          </a:xfrm>
          <a:prstGeom prst="line">
            <a:avLst/>
          </a:prstGeom>
          <a:ln w="12700" cap="rnd">
            <a:solidFill>
              <a:srgbClr val="DBF11E"/>
            </a:solidFill>
            <a:prstDash val="sysDash"/>
            <a:round/>
            <a:headEnd type="oval" w="lg" len="lg"/>
            <a:tailEnd type="oval" w="lg" len="lg"/>
          </a:ln>
        </p:spPr>
        <p:style>
          <a:lnRef idx="1">
            <a:schemeClr val="accent1"/>
          </a:lnRef>
          <a:fillRef idx="0">
            <a:schemeClr val="accent1"/>
          </a:fillRef>
          <a:effectRef idx="0">
            <a:schemeClr val="accent1"/>
          </a:effectRef>
          <a:fontRef idx="minor">
            <a:schemeClr val="tx1"/>
          </a:fontRef>
        </p:style>
      </p:cxnSp>
      <p:cxnSp>
        <p:nvCxnSpPr>
          <p:cNvPr id="19" name="Connettore 1 18">
            <a:extLst>
              <a:ext uri="{FF2B5EF4-FFF2-40B4-BE49-F238E27FC236}">
                <a16:creationId xmlns:a16="http://schemas.microsoft.com/office/drawing/2014/main" id="{FE440DD1-2DE3-AF44-9C36-71DA7C833FAC}"/>
              </a:ext>
            </a:extLst>
          </p:cNvPr>
          <p:cNvCxnSpPr>
            <a:cxnSpLocks/>
          </p:cNvCxnSpPr>
          <p:nvPr/>
        </p:nvCxnSpPr>
        <p:spPr>
          <a:xfrm>
            <a:off x="10559710" y="1537252"/>
            <a:ext cx="0" cy="1541216"/>
          </a:xfrm>
          <a:prstGeom prst="line">
            <a:avLst/>
          </a:prstGeom>
          <a:ln w="12700" cap="rnd">
            <a:solidFill>
              <a:srgbClr val="DBF11E"/>
            </a:solidFill>
            <a:prstDash val="sysDash"/>
            <a:round/>
            <a:headEnd type="oval" w="lg" len="lg"/>
            <a:tailEnd type="oval" w="lg" len="lg"/>
          </a:ln>
        </p:spPr>
        <p:style>
          <a:lnRef idx="1">
            <a:schemeClr val="accent1"/>
          </a:lnRef>
          <a:fillRef idx="0">
            <a:schemeClr val="accent1"/>
          </a:fillRef>
          <a:effectRef idx="0">
            <a:schemeClr val="accent1"/>
          </a:effectRef>
          <a:fontRef idx="minor">
            <a:schemeClr val="tx1"/>
          </a:fontRef>
        </p:style>
      </p:cxnSp>
      <p:sp>
        <p:nvSpPr>
          <p:cNvPr id="20" name="Rettangolo 19">
            <a:extLst>
              <a:ext uri="{FF2B5EF4-FFF2-40B4-BE49-F238E27FC236}">
                <a16:creationId xmlns:a16="http://schemas.microsoft.com/office/drawing/2014/main" id="{6F1955BF-33F6-084F-AAC9-B49723F8582C}"/>
              </a:ext>
            </a:extLst>
          </p:cNvPr>
          <p:cNvSpPr/>
          <p:nvPr/>
        </p:nvSpPr>
        <p:spPr>
          <a:xfrm>
            <a:off x="1916261" y="4170994"/>
            <a:ext cx="1258678" cy="461665"/>
          </a:xfrm>
          <a:prstGeom prst="rect">
            <a:avLst/>
          </a:prstGeom>
        </p:spPr>
        <p:txBody>
          <a:bodyPr wrap="square">
            <a:spAutoFit/>
          </a:bodyPr>
          <a:lstStyle/>
          <a:p>
            <a:pPr algn="ctr"/>
            <a:r>
              <a:rPr lang="it-IT" sz="900" b="1">
                <a:latin typeface="Montserrat" panose="00000500000000000000" pitchFamily="2" charset="0"/>
              </a:rPr>
              <a:t>24 Jul</a:t>
            </a:r>
          </a:p>
          <a:p>
            <a:pPr algn="ctr"/>
            <a:r>
              <a:rPr lang="it-IT" sz="900" err="1">
                <a:latin typeface="Montserrat" panose="00000500000000000000" pitchFamily="2" charset="0"/>
              </a:rPr>
              <a:t>Threat model</a:t>
            </a:r>
            <a:r>
              <a:rPr lang="it-IT" sz="1200">
                <a:latin typeface="Montserrat" panose="00000500000000000000" pitchFamily="2" charset="0"/>
              </a:rPr>
              <a:t/>
            </a:r>
            <a:r>
              <a:rPr lang="it-IT" sz="1200" err="1">
                <a:latin typeface="Montserrat" panose="00000500000000000000" pitchFamily="2" charset="0"/>
              </a:rPr>
              <a:t/>
            </a:r>
            <a:r>
              <a:rPr lang="it-IT" sz="1200">
                <a:latin typeface="Montserrat" panose="00000500000000000000" pitchFamily="2" charset="0"/>
              </a:rPr>
              <a:t/>
            </a:r>
          </a:p>
        </p:txBody>
      </p:sp>
      <p:sp>
        <p:nvSpPr>
          <p:cNvPr id="21" name="Rettangolo 20">
            <a:extLst>
              <a:ext uri="{FF2B5EF4-FFF2-40B4-BE49-F238E27FC236}">
                <a16:creationId xmlns:a16="http://schemas.microsoft.com/office/drawing/2014/main" id="{E4EC1246-9DBB-F948-90F1-11DEAF81B535}"/>
              </a:ext>
            </a:extLst>
          </p:cNvPr>
          <p:cNvSpPr/>
          <p:nvPr/>
        </p:nvSpPr>
        <p:spPr>
          <a:xfrm>
            <a:off x="3017166" y="4170994"/>
            <a:ext cx="1258678" cy="461665"/>
          </a:xfrm>
          <a:prstGeom prst="rect">
            <a:avLst/>
          </a:prstGeom>
        </p:spPr>
        <p:txBody>
          <a:bodyPr wrap="square">
            <a:spAutoFit/>
          </a:bodyPr>
          <a:lstStyle/>
          <a:p>
            <a:pPr algn="ctr"/>
            <a:r>
              <a:rPr lang="it-IT" sz="900" b="1">
                <a:latin typeface="Montserrat" panose="00000500000000000000" pitchFamily="2" charset="0"/>
              </a:rPr>
              <a:t>10 Aug</a:t>
            </a:r>
          </a:p>
          <a:p>
            <a:pPr algn="ctr"/>
            <a:r>
              <a:rPr lang="it-IT" sz="900" err="1">
                <a:latin typeface="Montserrat" panose="00000500000000000000" pitchFamily="2" charset="0"/>
              </a:rPr>
              <a:t>Baseline detector</a:t>
            </a:r>
            <a:r>
              <a:rPr lang="it-IT" sz="1200">
                <a:latin typeface="Montserrat" panose="00000500000000000000" pitchFamily="2" charset="0"/>
              </a:rPr>
              <a:t/>
            </a:r>
            <a:r>
              <a:rPr lang="it-IT" sz="1200" err="1">
                <a:latin typeface="Montserrat" panose="00000500000000000000" pitchFamily="2" charset="0"/>
              </a:rPr>
              <a:t/>
            </a:r>
            <a:r>
              <a:rPr lang="it-IT" sz="1200">
                <a:latin typeface="Montserrat" panose="00000500000000000000" pitchFamily="2" charset="0"/>
              </a:rPr>
              <a:t/>
            </a:r>
          </a:p>
        </p:txBody>
      </p:sp>
      <p:sp>
        <p:nvSpPr>
          <p:cNvPr id="22" name="Rettangolo 21">
            <a:extLst>
              <a:ext uri="{FF2B5EF4-FFF2-40B4-BE49-F238E27FC236}">
                <a16:creationId xmlns:a16="http://schemas.microsoft.com/office/drawing/2014/main" id="{D573897A-CEC2-0C4C-BC6F-180DFEB11992}"/>
              </a:ext>
            </a:extLst>
          </p:cNvPr>
          <p:cNvSpPr/>
          <p:nvPr/>
        </p:nvSpPr>
        <p:spPr>
          <a:xfrm>
            <a:off x="4017247" y="5150912"/>
            <a:ext cx="1258678" cy="461665"/>
          </a:xfrm>
          <a:prstGeom prst="rect">
            <a:avLst/>
          </a:prstGeom>
        </p:spPr>
        <p:txBody>
          <a:bodyPr wrap="square">
            <a:spAutoFit/>
          </a:bodyPr>
          <a:lstStyle/>
          <a:p>
            <a:pPr algn="ctr"/>
            <a:r>
              <a:rPr lang="it-IT" sz="900" b="1">
                <a:latin typeface="Montserrat" panose="00000500000000000000" pitchFamily="2" charset="0"/>
              </a:rPr>
              <a:t>7 Sep</a:t>
            </a:r>
          </a:p>
          <a:p>
            <a:pPr algn="ctr"/>
            <a:r>
              <a:rPr lang="it-IT" sz="900" err="1">
                <a:latin typeface="Montserrat" panose="00000500000000000000" pitchFamily="2" charset="0"/>
              </a:rPr>
              <a:t>Gate 1 proposal</a:t>
            </a:r>
            <a:r>
              <a:rPr lang="it-IT" sz="1200">
                <a:latin typeface="Montserrat" panose="00000500000000000000" pitchFamily="2" charset="0"/>
              </a:rPr>
              <a:t/>
            </a:r>
            <a:r>
              <a:rPr lang="it-IT" sz="1200" err="1">
                <a:latin typeface="Montserrat" panose="00000500000000000000" pitchFamily="2" charset="0"/>
              </a:rPr>
              <a:t/>
            </a:r>
            <a:r>
              <a:rPr lang="it-IT" sz="1200">
                <a:latin typeface="Montserrat" panose="00000500000000000000" pitchFamily="2" charset="0"/>
              </a:rPr>
              <a:t/>
            </a:r>
          </a:p>
        </p:txBody>
      </p:sp>
      <p:sp>
        <p:nvSpPr>
          <p:cNvPr id="23" name="Rettangolo 22">
            <a:extLst>
              <a:ext uri="{FF2B5EF4-FFF2-40B4-BE49-F238E27FC236}">
                <a16:creationId xmlns:a16="http://schemas.microsoft.com/office/drawing/2014/main" id="{D2C0968D-F53F-EA4C-8320-325150C5FE6C}"/>
              </a:ext>
            </a:extLst>
          </p:cNvPr>
          <p:cNvSpPr/>
          <p:nvPr/>
        </p:nvSpPr>
        <p:spPr>
          <a:xfrm>
            <a:off x="2913344" y="1978272"/>
            <a:ext cx="1258678" cy="461665"/>
          </a:xfrm>
          <a:prstGeom prst="rect">
            <a:avLst/>
          </a:prstGeom>
        </p:spPr>
        <p:txBody>
          <a:bodyPr wrap="square">
            <a:spAutoFit/>
          </a:bodyPr>
          <a:lstStyle/>
          <a:p>
            <a:pPr algn="ctr"/>
            <a:r>
              <a:rPr lang="it-IT" sz="900" b="1">
                <a:latin typeface="Montserrat" panose="00000500000000000000" pitchFamily="2" charset="0"/>
              </a:rPr>
              <a:t>27 Jul</a:t>
            </a:r>
          </a:p>
          <a:p>
            <a:pPr algn="ctr"/>
            <a:r>
              <a:rPr lang="it-IT" sz="900" err="1">
                <a:latin typeface="Montserrat" panose="00000500000000000000" pitchFamily="2" charset="0"/>
              </a:rPr>
              <a:t>Traffic generator</a:t>
            </a:r>
            <a:r>
              <a:rPr lang="it-IT" sz="1200">
                <a:latin typeface="Montserrat" panose="00000500000000000000" pitchFamily="2" charset="0"/>
              </a:rPr>
              <a:t/>
            </a:r>
            <a:r>
              <a:rPr lang="it-IT" sz="1200" err="1">
                <a:latin typeface="Montserrat" panose="00000500000000000000" pitchFamily="2" charset="0"/>
              </a:rPr>
              <a:t/>
            </a:r>
            <a:r>
              <a:rPr lang="it-IT" sz="1200">
                <a:latin typeface="Montserrat" panose="00000500000000000000" pitchFamily="2" charset="0"/>
              </a:rPr>
              <a:t/>
            </a:r>
          </a:p>
        </p:txBody>
      </p:sp>
      <p:sp>
        <p:nvSpPr>
          <p:cNvPr id="24" name="Rettangolo 23">
            <a:extLst>
              <a:ext uri="{FF2B5EF4-FFF2-40B4-BE49-F238E27FC236}">
                <a16:creationId xmlns:a16="http://schemas.microsoft.com/office/drawing/2014/main" id="{8E913041-54FE-5841-96EF-5640AFC558FA}"/>
              </a:ext>
            </a:extLst>
          </p:cNvPr>
          <p:cNvSpPr/>
          <p:nvPr/>
        </p:nvSpPr>
        <p:spPr>
          <a:xfrm>
            <a:off x="3204892" y="1015578"/>
            <a:ext cx="1258678" cy="461665"/>
          </a:xfrm>
          <a:prstGeom prst="rect">
            <a:avLst/>
          </a:prstGeom>
        </p:spPr>
        <p:txBody>
          <a:bodyPr wrap="square">
            <a:spAutoFit/>
          </a:bodyPr>
          <a:lstStyle/>
          <a:p>
            <a:pPr algn="ctr"/>
            <a:r>
              <a:rPr lang="it-IT" sz="900" b="1">
                <a:latin typeface="Montserrat" panose="00000500000000000000" pitchFamily="2" charset="0"/>
              </a:rPr>
              <a:t>2 Sep</a:t>
            </a:r>
          </a:p>
          <a:p>
            <a:pPr algn="ctr"/>
            <a:r>
              <a:rPr lang="it-IT" sz="900" err="1">
                <a:latin typeface="Montserrat" panose="00000500000000000000" pitchFamily="2" charset="0"/>
              </a:rPr>
              <a:t>Fastweb meeting</a:t>
            </a:r>
            <a:r>
              <a:rPr lang="it-IT" sz="1200">
                <a:latin typeface="Montserrat" panose="00000500000000000000" pitchFamily="2" charset="0"/>
              </a:rPr>
              <a:t/>
            </a:r>
            <a:r>
              <a:rPr lang="it-IT" sz="1200" err="1">
                <a:latin typeface="Montserrat" panose="00000500000000000000" pitchFamily="2" charset="0"/>
              </a:rPr>
              <a:t/>
            </a:r>
            <a:r>
              <a:rPr lang="it-IT" sz="1200">
                <a:latin typeface="Montserrat" panose="00000500000000000000" pitchFamily="2" charset="0"/>
              </a:rPr>
              <a:t/>
            </a:r>
          </a:p>
        </p:txBody>
      </p:sp>
      <p:sp>
        <p:nvSpPr>
          <p:cNvPr id="25" name="Rettangolo 24">
            <a:extLst>
              <a:ext uri="{FF2B5EF4-FFF2-40B4-BE49-F238E27FC236}">
                <a16:creationId xmlns:a16="http://schemas.microsoft.com/office/drawing/2014/main" id="{5F599D06-0796-E84B-AA26-759F2FB6D1B7}"/>
              </a:ext>
            </a:extLst>
          </p:cNvPr>
          <p:cNvSpPr/>
          <p:nvPr/>
        </p:nvSpPr>
        <p:spPr>
          <a:xfrm>
            <a:off x="4437344" y="1978271"/>
            <a:ext cx="1258678" cy="461665"/>
          </a:xfrm>
          <a:prstGeom prst="rect">
            <a:avLst/>
          </a:prstGeom>
        </p:spPr>
        <p:txBody>
          <a:bodyPr wrap="square">
            <a:spAutoFit/>
          </a:bodyPr>
          <a:lstStyle/>
          <a:p>
            <a:pPr algn="ctr"/>
            <a:r>
              <a:rPr lang="it-IT" sz="900" b="1">
                <a:latin typeface="Montserrat" panose="00000500000000000000" pitchFamily="2" charset="0"/>
              </a:rPr>
              <a:t>22 Sep</a:t>
            </a:r>
          </a:p>
          <a:p>
            <a:pPr algn="ctr"/>
            <a:r>
              <a:rPr lang="it-IT" sz="900" err="1">
                <a:latin typeface="Montserrat" panose="00000500000000000000" pitchFamily="2" charset="0"/>
              </a:rPr>
              <a:t>Gate 2 performance analysis</a:t>
            </a:r>
            <a:r>
              <a:rPr lang="it-IT" sz="1200">
                <a:latin typeface="Montserrat" panose="00000500000000000000" pitchFamily="2" charset="0"/>
              </a:rPr>
              <a:t/>
            </a:r>
            <a:r>
              <a:rPr lang="it-IT" sz="1200" err="1">
                <a:latin typeface="Montserrat" panose="00000500000000000000" pitchFamily="2" charset="0"/>
              </a:rPr>
              <a:t/>
            </a:r>
            <a:r>
              <a:rPr lang="it-IT" sz="1200">
                <a:latin typeface="Montserrat" panose="00000500000000000000" pitchFamily="2" charset="0"/>
              </a:rPr>
              <a:t/>
            </a:r>
          </a:p>
        </p:txBody>
      </p:sp>
      <p:sp>
        <p:nvSpPr>
          <p:cNvPr id="26" name="Rettangolo 25">
            <a:extLst>
              <a:ext uri="{FF2B5EF4-FFF2-40B4-BE49-F238E27FC236}">
                <a16:creationId xmlns:a16="http://schemas.microsoft.com/office/drawing/2014/main" id="{1D5C02E3-8F5C-2645-B9C2-8D700CDB15BD}"/>
              </a:ext>
            </a:extLst>
          </p:cNvPr>
          <p:cNvSpPr/>
          <p:nvPr/>
        </p:nvSpPr>
        <p:spPr>
          <a:xfrm>
            <a:off x="9923744" y="983600"/>
            <a:ext cx="1258678" cy="461665"/>
          </a:xfrm>
          <a:prstGeom prst="rect">
            <a:avLst/>
          </a:prstGeom>
        </p:spPr>
        <p:txBody>
          <a:bodyPr wrap="square">
            <a:spAutoFit/>
          </a:bodyPr>
          <a:lstStyle/>
          <a:p>
            <a:pPr algn="ctr"/>
            <a:r>
              <a:rPr lang="it-IT" sz="900" b="1">
                <a:latin typeface="Montserrat" panose="00000500000000000000" pitchFamily="2" charset="0"/>
              </a:rPr>
              <a:t>1 Nov</a:t>
            </a:r>
          </a:p>
          <a:p>
            <a:pPr algn="ctr"/>
            <a:r>
              <a:rPr lang="it-IT" sz="900" err="1">
                <a:latin typeface="Montserrat" panose="00000500000000000000" pitchFamily="2" charset="0"/>
              </a:rPr>
              <a:t>Final video</a:t>
            </a:r>
            <a:r>
              <a:rPr lang="it-IT" sz="1200">
                <a:latin typeface="Montserrat" panose="00000500000000000000" pitchFamily="2" charset="0"/>
              </a:rPr>
              <a:t/>
            </a:r>
            <a:r>
              <a:rPr lang="it-IT" sz="1200" err="1">
                <a:latin typeface="Montserrat" panose="00000500000000000000" pitchFamily="2" charset="0"/>
              </a:rPr>
              <a:t/>
            </a:r>
            <a:r>
              <a:rPr lang="it-IT" sz="1200">
                <a:latin typeface="Montserrat" panose="00000500000000000000" pitchFamily="2" charset="0"/>
              </a:rPr>
              <a:t/>
            </a:r>
          </a:p>
        </p:txBody>
      </p:sp>
      <p:sp>
        <p:nvSpPr>
          <p:cNvPr id="27" name="Rettangolo 26">
            <a:extLst>
              <a:ext uri="{FF2B5EF4-FFF2-40B4-BE49-F238E27FC236}">
                <a16:creationId xmlns:a16="http://schemas.microsoft.com/office/drawing/2014/main" id="{11761DE1-2B13-0849-90B9-C09F53DF146E}"/>
              </a:ext>
            </a:extLst>
          </p:cNvPr>
          <p:cNvSpPr/>
          <p:nvPr/>
        </p:nvSpPr>
        <p:spPr>
          <a:xfrm>
            <a:off x="7889536" y="4170994"/>
            <a:ext cx="1258678" cy="276999"/>
          </a:xfrm>
          <a:prstGeom prst="rect">
            <a:avLst/>
          </a:prstGeom>
        </p:spPr>
        <p:txBody>
          <a:bodyPr wrap="square">
            <a:spAutoFit/>
          </a:bodyPr>
          <a:lstStyle/>
          <a:p>
            <a:pPr algn="ctr"/>
            <a:r>
              <a:rPr lang="it-IT" sz="900" err="1">
                <a:latin typeface="Montserrat" panose="00000500000000000000" pitchFamily="2" charset="0"/>
              </a:rPr>
              <a:t>Oct - PoC evaluation</a:t>
            </a:r>
            <a:r>
              <a:rPr lang="it-IT" sz="1200">
                <a:latin typeface="Montserrat" panose="00000500000000000000" pitchFamily="2" charset="0"/>
              </a:rPr>
              <a:t/>
            </a:r>
            <a:r>
              <a:rPr lang="it-IT" sz="1200" err="1">
                <a:latin typeface="Montserrat" panose="00000500000000000000" pitchFamily="2" charset="0"/>
              </a:rPr>
              <a:t/>
            </a:r>
            <a:r>
              <a:rPr lang="it-IT" sz="1200">
                <a:latin typeface="Montserrat" panose="00000500000000000000" pitchFamily="2" charset="0"/>
              </a:rPr>
              <a:t/>
            </a:r>
          </a:p>
        </p:txBody>
      </p:sp>
      <p:sp>
        <p:nvSpPr>
          <p:cNvPr id="28" name="Rettangolo 27">
            <a:extLst>
              <a:ext uri="{FF2B5EF4-FFF2-40B4-BE49-F238E27FC236}">
                <a16:creationId xmlns:a16="http://schemas.microsoft.com/office/drawing/2014/main" id="{25EA970E-4DB2-5A46-9388-67628EE21C3E}"/>
              </a:ext>
            </a:extLst>
          </p:cNvPr>
          <p:cNvSpPr/>
          <p:nvPr/>
        </p:nvSpPr>
        <p:spPr>
          <a:xfrm>
            <a:off x="7041397" y="5147162"/>
            <a:ext cx="1258678" cy="461665"/>
          </a:xfrm>
          <a:prstGeom prst="rect">
            <a:avLst/>
          </a:prstGeom>
        </p:spPr>
        <p:txBody>
          <a:bodyPr wrap="square">
            <a:spAutoFit/>
          </a:bodyPr>
          <a:lstStyle/>
          <a:p>
            <a:pPr algn="ctr"/>
            <a:r>
              <a:rPr lang="it-IT" sz="900" b="1">
                <a:latin typeface="Montserrat" panose="00000500000000000000" pitchFamily="2" charset="0"/>
              </a:rPr>
              <a:t>15 Oct</a:t>
            </a:r>
          </a:p>
          <a:p>
            <a:pPr algn="ctr"/>
            <a:r>
              <a:rPr lang="it-IT" sz="900" err="1">
                <a:latin typeface="Montserrat" panose="00000500000000000000" pitchFamily="2" charset="0"/>
              </a:rPr>
              <a:t>Gate 3 PoC demo</a:t>
            </a:r>
            <a:r>
              <a:rPr lang="it-IT" sz="1200">
                <a:latin typeface="Montserrat" panose="00000500000000000000" pitchFamily="2" charset="0"/>
              </a:rPr>
              <a:t/>
            </a:r>
            <a:r>
              <a:rPr lang="it-IT" sz="1200" err="1">
                <a:latin typeface="Montserrat" panose="00000500000000000000" pitchFamily="2" charset="0"/>
              </a:rPr>
              <a:t/>
            </a:r>
            <a:r>
              <a:rPr lang="it-IT" sz="1200">
                <a:latin typeface="Montserrat" panose="00000500000000000000" pitchFamily="2" charset="0"/>
              </a:rPr>
              <a:t/>
            </a:r>
          </a:p>
        </p:txBody>
      </p:sp>
      <p:sp>
        <p:nvSpPr>
          <p:cNvPr id="29" name="Parentesi graffa aperta 28">
            <a:extLst>
              <a:ext uri="{FF2B5EF4-FFF2-40B4-BE49-F238E27FC236}">
                <a16:creationId xmlns:a16="http://schemas.microsoft.com/office/drawing/2014/main" id="{D1E242D9-EC64-E140-994F-F02EBD9A7B82}"/>
              </a:ext>
            </a:extLst>
          </p:cNvPr>
          <p:cNvSpPr/>
          <p:nvPr/>
        </p:nvSpPr>
        <p:spPr>
          <a:xfrm rot="16200000">
            <a:off x="6124944" y="2946247"/>
            <a:ext cx="487017" cy="1742147"/>
          </a:xfrm>
          <a:prstGeom prst="leftBrace">
            <a:avLst>
              <a:gd name="adj1" fmla="val 22576"/>
              <a:gd name="adj2" fmla="val 49276"/>
            </a:avLst>
          </a:prstGeom>
          <a:ln w="12700" cap="rnd">
            <a:solidFill>
              <a:srgbClr val="DBF11E"/>
            </a:solidFill>
            <a:prstDash val="sysDash"/>
            <a:beve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it-IT">
              <a:latin typeface="Montserrat" panose="00000500000000000000" pitchFamily="2" charset="0"/>
            </a:endParaRPr>
          </a:p>
        </p:txBody>
      </p:sp>
      <p:sp>
        <p:nvSpPr>
          <p:cNvPr id="30" name="Parentesi graffa aperta 29">
            <a:extLst>
              <a:ext uri="{FF2B5EF4-FFF2-40B4-BE49-F238E27FC236}">
                <a16:creationId xmlns:a16="http://schemas.microsoft.com/office/drawing/2014/main" id="{ECCFFDFD-AB68-094D-982F-1963B75E6211}"/>
              </a:ext>
            </a:extLst>
          </p:cNvPr>
          <p:cNvSpPr/>
          <p:nvPr/>
        </p:nvSpPr>
        <p:spPr>
          <a:xfrm rot="5400000">
            <a:off x="6556154" y="1955612"/>
            <a:ext cx="487017" cy="1742147"/>
          </a:xfrm>
          <a:prstGeom prst="leftBrace">
            <a:avLst>
              <a:gd name="adj1" fmla="val 22576"/>
              <a:gd name="adj2" fmla="val 49276"/>
            </a:avLst>
          </a:prstGeom>
          <a:ln w="12700" cap="rnd">
            <a:solidFill>
              <a:srgbClr val="DBF11E"/>
            </a:solidFill>
            <a:prstDash val="sysDash"/>
            <a:beve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it-IT">
              <a:latin typeface="Montserrat" panose="00000500000000000000" pitchFamily="2" charset="0"/>
            </a:endParaRPr>
          </a:p>
        </p:txBody>
      </p:sp>
      <p:sp>
        <p:nvSpPr>
          <p:cNvPr id="31" name="Rettangolo 30">
            <a:extLst>
              <a:ext uri="{FF2B5EF4-FFF2-40B4-BE49-F238E27FC236}">
                <a16:creationId xmlns:a16="http://schemas.microsoft.com/office/drawing/2014/main" id="{1D62376A-3494-BE4C-8373-5E55F84E3A75}"/>
              </a:ext>
            </a:extLst>
          </p:cNvPr>
          <p:cNvSpPr/>
          <p:nvPr/>
        </p:nvSpPr>
        <p:spPr>
          <a:xfrm>
            <a:off x="5739113" y="4060829"/>
            <a:ext cx="1258678" cy="276999"/>
          </a:xfrm>
          <a:prstGeom prst="rect">
            <a:avLst/>
          </a:prstGeom>
        </p:spPr>
        <p:txBody>
          <a:bodyPr wrap="square">
            <a:spAutoFit/>
          </a:bodyPr>
          <a:lstStyle/>
          <a:p>
            <a:pPr algn="ctr"/>
            <a:r>
              <a:rPr lang="it-IT" sz="900" err="1">
                <a:latin typeface="Montserrat" panose="00000500000000000000" pitchFamily="2" charset="0"/>
              </a:rPr>
              <a:t>24 Sep - Storyboard</a:t>
            </a:r>
            <a:r>
              <a:rPr lang="it-IT" sz="1200">
                <a:latin typeface="Montserrat" panose="00000500000000000000" pitchFamily="2" charset="0"/>
              </a:rPr>
              <a:t/>
            </a:r>
            <a:r>
              <a:rPr lang="it-IT" sz="1200" err="1">
                <a:latin typeface="Montserrat" panose="00000500000000000000" pitchFamily="2" charset="0"/>
              </a:rPr>
              <a:t/>
            </a:r>
            <a:r>
              <a:rPr lang="it-IT" sz="1200">
                <a:latin typeface="Montserrat" panose="00000500000000000000" pitchFamily="2" charset="0"/>
              </a:rPr>
              <a:t/>
            </a:r>
          </a:p>
        </p:txBody>
      </p:sp>
      <p:sp>
        <p:nvSpPr>
          <p:cNvPr id="32" name="Rettangolo 31">
            <a:extLst>
              <a:ext uri="{FF2B5EF4-FFF2-40B4-BE49-F238E27FC236}">
                <a16:creationId xmlns:a16="http://schemas.microsoft.com/office/drawing/2014/main" id="{4C683310-3309-9841-87F8-AACA4C427FCE}"/>
              </a:ext>
            </a:extLst>
          </p:cNvPr>
          <p:cNvSpPr/>
          <p:nvPr/>
        </p:nvSpPr>
        <p:spPr>
          <a:xfrm>
            <a:off x="6170323" y="2169360"/>
            <a:ext cx="1258678" cy="276999"/>
          </a:xfrm>
          <a:prstGeom prst="rect">
            <a:avLst/>
          </a:prstGeom>
        </p:spPr>
        <p:txBody>
          <a:bodyPr wrap="square">
            <a:spAutoFit/>
          </a:bodyPr>
          <a:lstStyle/>
          <a:p>
            <a:pPr algn="ctr"/>
            <a:r>
              <a:rPr lang="it-IT" sz="900" err="1">
                <a:latin typeface="Montserrat" panose="00000500000000000000" pitchFamily="2" charset="0"/>
              </a:rPr>
              <a:t>Oct - Video shoot</a:t>
            </a:r>
            <a:r>
              <a:rPr lang="it-IT" sz="1200">
                <a:latin typeface="Montserrat" panose="00000500000000000000" pitchFamily="2" charset="0"/>
              </a:rPr>
              <a:t/>
            </a:r>
            <a:r>
              <a:rPr lang="it-IT" sz="1200" err="1">
                <a:latin typeface="Montserrat" panose="00000500000000000000" pitchFamily="2" charset="0"/>
              </a:rPr>
              <a:t/>
            </a:r>
            <a:r>
              <a:rPr lang="it-IT" sz="1200">
                <a:latin typeface="Montserrat" panose="00000500000000000000" pitchFamily="2" charset="0"/>
              </a:rPr>
              <a:t/>
            </a:r>
          </a:p>
        </p:txBody>
      </p:sp>
      <p:sp>
        <p:nvSpPr>
          <p:cNvPr id="33" name="Titolo 1">
            <a:extLst>
              <a:ext uri="{FF2B5EF4-FFF2-40B4-BE49-F238E27FC236}">
                <a16:creationId xmlns:a16="http://schemas.microsoft.com/office/drawing/2014/main" id="{C2F960C9-372D-3B43-B4E4-E69711F594B3}"/>
              </a:ext>
            </a:extLst>
          </p:cNvPr>
          <p:cNvSpPr txBox="1">
            <a:spLocks/>
          </p:cNvSpPr>
          <p:nvPr/>
        </p:nvSpPr>
        <p:spPr>
          <a:xfrm>
            <a:off x="758695" y="264055"/>
            <a:ext cx="8771114" cy="1137390"/>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it-IT">
                <a:solidFill>
                  <a:srgbClr val="134193"/>
                </a:solidFill>
                <a:latin typeface="Montserrat"/>
                <a:ea typeface="+mj-lt"/>
                <a:cs typeface="+mj-lt"/>
              </a:rPr>
              <a:t>Project Roadmap &amp; Timeline </a:t>
            </a:r>
            <a:endParaRPr lang="it-IT"/>
          </a:p>
        </p:txBody>
      </p:sp>
    </p:spTree>
    <p:extLst>
      <p:ext uri="{BB962C8B-B14F-4D97-AF65-F5344CB8AC3E}">
        <p14:creationId xmlns:p14="http://schemas.microsoft.com/office/powerpoint/2010/main" val="25934614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FFD755C-5A5A-9B41-B2DB-938A4BE3305B}"/>
              </a:ext>
            </a:extLst>
          </p:cNvPr>
          <p:cNvSpPr txBox="1">
            <a:spLocks/>
          </p:cNvSpPr>
          <p:nvPr/>
        </p:nvSpPr>
        <p:spPr>
          <a:xfrm>
            <a:off x="758695" y="264055"/>
            <a:ext cx="7726086" cy="110110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it-IT">
                <a:solidFill>
                  <a:srgbClr val="134193"/>
                </a:solidFill>
                <a:latin typeface="Montserrat" panose="00000500000000000000" pitchFamily="2" charset="0"/>
              </a:rPr>
              <a:t>High </a:t>
            </a:r>
            <a:r>
              <a:rPr lang="it-IT" err="1">
                <a:solidFill>
                  <a:srgbClr val="134193"/>
                </a:solidFill>
                <a:latin typeface="Montserrat" panose="00000500000000000000" pitchFamily="2" charset="0"/>
              </a:rPr>
              <a:t>level</a:t>
            </a:r>
            <a:r>
              <a:rPr lang="it-IT">
                <a:solidFill>
                  <a:srgbClr val="134193"/>
                </a:solidFill>
                <a:latin typeface="Montserrat" panose="00000500000000000000" pitchFamily="2" charset="0"/>
              </a:rPr>
              <a:t> plan</a:t>
            </a:r>
          </a:p>
        </p:txBody>
      </p:sp>
      <p:graphicFrame>
        <p:nvGraphicFramePr>
          <p:cNvPr id="32" name="Tabella 31">
            <a:extLst>
              <a:ext uri="{FF2B5EF4-FFF2-40B4-BE49-F238E27FC236}">
                <a16:creationId xmlns:a16="http://schemas.microsoft.com/office/drawing/2014/main" id="{A0B6D61A-08A2-5241-ACE5-E70700759EBE}"/>
              </a:ext>
            </a:extLst>
          </p:cNvPr>
          <p:cNvGraphicFramePr>
            <a:graphicFrameLocks noGrp="1"/>
          </p:cNvGraphicFramePr>
          <p:nvPr>
            <p:extLst>
              <p:ext uri="{D42A27DB-BD31-4B8C-83A1-F6EECF244321}">
                <p14:modId xmlns:p14="http://schemas.microsoft.com/office/powerpoint/2010/main" val="4075295247"/>
              </p:ext>
            </p:extLst>
          </p:nvPr>
        </p:nvGraphicFramePr>
        <p:xfrm>
          <a:off x="595328" y="1088877"/>
          <a:ext cx="10976996" cy="4517144"/>
        </p:xfrm>
        <a:graphic>
          <a:graphicData uri="http://schemas.openxmlformats.org/drawingml/2006/table">
            <a:tbl>
              <a:tblPr>
                <a:tableStyleId>{5C22544A-7EE6-4342-B048-85BDC9FD1C3A}</a:tableStyleId>
              </a:tblPr>
              <a:tblGrid>
                <a:gridCol w="1829499">
                  <a:extLst>
                    <a:ext uri="{9D8B030D-6E8A-4147-A177-3AD203B41FA5}">
                      <a16:colId xmlns:a16="http://schemas.microsoft.com/office/drawing/2014/main" val="852354952"/>
                    </a:ext>
                  </a:extLst>
                </a:gridCol>
                <a:gridCol w="1829499">
                  <a:extLst>
                    <a:ext uri="{9D8B030D-6E8A-4147-A177-3AD203B41FA5}">
                      <a16:colId xmlns:a16="http://schemas.microsoft.com/office/drawing/2014/main" val="2955485408"/>
                    </a:ext>
                  </a:extLst>
                </a:gridCol>
                <a:gridCol w="914750">
                  <a:extLst>
                    <a:ext uri="{9D8B030D-6E8A-4147-A177-3AD203B41FA5}">
                      <a16:colId xmlns:a16="http://schemas.microsoft.com/office/drawing/2014/main" val="508374645"/>
                    </a:ext>
                  </a:extLst>
                </a:gridCol>
                <a:gridCol w="914750">
                  <a:extLst>
                    <a:ext uri="{9D8B030D-6E8A-4147-A177-3AD203B41FA5}">
                      <a16:colId xmlns:a16="http://schemas.microsoft.com/office/drawing/2014/main" val="3697791871"/>
                    </a:ext>
                  </a:extLst>
                </a:gridCol>
                <a:gridCol w="1829499">
                  <a:extLst>
                    <a:ext uri="{9D8B030D-6E8A-4147-A177-3AD203B41FA5}">
                      <a16:colId xmlns:a16="http://schemas.microsoft.com/office/drawing/2014/main" val="186020627"/>
                    </a:ext>
                  </a:extLst>
                </a:gridCol>
                <a:gridCol w="1829499">
                  <a:extLst>
                    <a:ext uri="{9D8B030D-6E8A-4147-A177-3AD203B41FA5}">
                      <a16:colId xmlns:a16="http://schemas.microsoft.com/office/drawing/2014/main" val="3440923042"/>
                    </a:ext>
                  </a:extLst>
                </a:gridCol>
                <a:gridCol w="914750">
                  <a:extLst>
                    <a:ext uri="{9D8B030D-6E8A-4147-A177-3AD203B41FA5}">
                      <a16:colId xmlns:a16="http://schemas.microsoft.com/office/drawing/2014/main" val="244658507"/>
                    </a:ext>
                  </a:extLst>
                </a:gridCol>
                <a:gridCol w="914750">
                  <a:extLst>
                    <a:ext uri="{9D8B030D-6E8A-4147-A177-3AD203B41FA5}">
                      <a16:colId xmlns:a16="http://schemas.microsoft.com/office/drawing/2014/main" val="1954602126"/>
                    </a:ext>
                  </a:extLst>
                </a:gridCol>
              </a:tblGrid>
              <a:tr h="307412">
                <a:tc rowSpan="2">
                  <a:txBody>
                    <a:bodyPr/>
                    <a:lstStyle/>
                    <a:p>
                      <a:pPr algn="ctr"/>
                      <a:r>
                        <a:rPr lang="it-IT" sz="1400" b="1" err="1">
                          <a:solidFill>
                            <a:schemeClr val="bg1"/>
                          </a:solidFill>
                        </a:rPr>
                        <a:t>Activities</a:t>
                      </a:r>
                      <a:endParaRPr lang="it-IT" sz="1400" b="1">
                        <a:solidFill>
                          <a:schemeClr val="bg1"/>
                        </a:solidFill>
                      </a:endParaRPr>
                    </a:p>
                  </a:txBody>
                  <a:tcPr anchor="ctr">
                    <a:solidFill>
                      <a:srgbClr val="17428B"/>
                    </a:solidFill>
                  </a:tcPr>
                </a:tc>
                <a:tc>
                  <a:txBody>
                    <a:bodyPr/>
                    <a:lstStyle/>
                    <a:p>
                      <a:pPr algn="ctr"/>
                      <a:r>
                        <a:rPr lang="it-IT" sz="1400" b="1" err="1"/>
                        <a:t>May</a:t>
                      </a:r>
                      <a:endParaRPr lang="it-IT" sz="1400" b="1"/>
                    </a:p>
                  </a:txBody>
                  <a:tcPr anchor="ctr">
                    <a:solidFill>
                      <a:srgbClr val="ADDDFF"/>
                    </a:solidFill>
                  </a:tcPr>
                </a:tc>
                <a:tc gridSpan="2">
                  <a:txBody>
                    <a:bodyPr/>
                    <a:lstStyle/>
                    <a:p>
                      <a:pPr algn="ctr"/>
                      <a:r>
                        <a:rPr lang="it-IT" sz="1400" b="1" err="1"/>
                        <a:t>June</a:t>
                      </a:r>
                      <a:endParaRPr lang="it-IT" sz="1400" b="1"/>
                    </a:p>
                  </a:txBody>
                  <a:tcPr anchor="ctr">
                    <a:solidFill>
                      <a:srgbClr val="ADDDFF"/>
                    </a:solidFill>
                  </a:tcPr>
                </a:tc>
                <a:tc hMerge="1">
                  <a:txBody>
                    <a:bodyPr/>
                    <a:lstStyle/>
                    <a:p>
                      <a:endParaRPr lang="it-IT"/>
                    </a:p>
                  </a:txBody>
                  <a:tcPr/>
                </a:tc>
                <a:tc>
                  <a:txBody>
                    <a:bodyPr/>
                    <a:lstStyle/>
                    <a:p>
                      <a:pPr algn="ctr"/>
                      <a:r>
                        <a:rPr lang="it-IT" sz="1400" b="1" err="1"/>
                        <a:t>July</a:t>
                      </a:r>
                      <a:endParaRPr lang="it-IT" sz="1400" b="1"/>
                    </a:p>
                  </a:txBody>
                  <a:tcPr anchor="ctr">
                    <a:solidFill>
                      <a:srgbClr val="ADDDFF"/>
                    </a:solidFill>
                  </a:tcPr>
                </a:tc>
                <a:tc>
                  <a:txBody>
                    <a:bodyPr/>
                    <a:lstStyle/>
                    <a:p>
                      <a:pPr algn="ctr"/>
                      <a:r>
                        <a:rPr lang="it-IT" sz="1400" b="1"/>
                        <a:t>August</a:t>
                      </a:r>
                    </a:p>
                  </a:txBody>
                  <a:tcPr anchor="ctr">
                    <a:solidFill>
                      <a:srgbClr val="ADDDFF"/>
                    </a:solidFill>
                  </a:tcPr>
                </a:tc>
                <a:tc gridSpan="2">
                  <a:txBody>
                    <a:bodyPr/>
                    <a:lstStyle/>
                    <a:p>
                      <a:pPr algn="ctr"/>
                      <a:r>
                        <a:rPr lang="it-IT" sz="1400" b="1" err="1"/>
                        <a:t>September</a:t>
                      </a:r>
                      <a:endParaRPr lang="it-IT" sz="1400" b="1"/>
                    </a:p>
                  </a:txBody>
                  <a:tcPr anchor="ctr">
                    <a:solidFill>
                      <a:srgbClr val="ADDDFF"/>
                    </a:solidFill>
                  </a:tcPr>
                </a:tc>
                <a:tc hMerge="1">
                  <a:txBody>
                    <a:bodyPr/>
                    <a:lstStyle/>
                    <a:p>
                      <a:endParaRPr lang="it-IT"/>
                    </a:p>
                  </a:txBody>
                  <a:tcPr/>
                </a:tc>
                <a:extLst>
                  <a:ext uri="{0D108BD9-81ED-4DB2-BD59-A6C34878D82A}">
                    <a16:rowId xmlns:a16="http://schemas.microsoft.com/office/drawing/2014/main" val="1669983942"/>
                  </a:ext>
                </a:extLst>
              </a:tr>
              <a:tr h="307412">
                <a:tc vMerge="1">
                  <a:txBody>
                    <a:bodyPr/>
                    <a:lstStyle/>
                    <a:p>
                      <a:endParaRPr lang="it-IT"/>
                    </a:p>
                  </a:txBody>
                  <a:tcPr/>
                </a:tc>
                <a:tc>
                  <a:txBody>
                    <a:bodyPr/>
                    <a:lstStyle/>
                    <a:p>
                      <a:pPr algn="ctr"/>
                      <a:endParaRPr lang="it-IT" sz="1100" b="1"/>
                    </a:p>
                  </a:txBody>
                  <a:tcPr anchor="ctr">
                    <a:solidFill>
                      <a:srgbClr val="ADDDFF"/>
                    </a:solidFill>
                  </a:tcPr>
                </a:tc>
                <a:tc>
                  <a:txBody>
                    <a:bodyPr/>
                    <a:lstStyle/>
                    <a:p>
                      <a:pPr algn="r"/>
                      <a:r>
                        <a:rPr lang="it-IT" sz="1100" b="1"/>
                        <a:t>17</a:t>
                      </a:r>
                    </a:p>
                  </a:txBody>
                  <a:tcPr anchor="ctr">
                    <a:solidFill>
                      <a:srgbClr val="ADDDFF"/>
                    </a:solidFill>
                  </a:tcPr>
                </a:tc>
                <a:tc>
                  <a:txBody>
                    <a:bodyPr/>
                    <a:lstStyle/>
                    <a:p>
                      <a:pPr algn="r"/>
                      <a:r>
                        <a:rPr lang="it-IT" sz="1100" b="1"/>
                        <a:t>29</a:t>
                      </a:r>
                    </a:p>
                  </a:txBody>
                  <a:tcPr anchor="ctr">
                    <a:solidFill>
                      <a:srgbClr val="ADDDFF"/>
                    </a:solidFill>
                  </a:tcPr>
                </a:tc>
                <a:tc>
                  <a:txBody>
                    <a:bodyPr/>
                    <a:lstStyle/>
                    <a:p>
                      <a:pPr algn="r"/>
                      <a:r>
                        <a:rPr lang="it-IT" sz="1100" b="1"/>
                        <a:t>22</a:t>
                      </a:r>
                    </a:p>
                  </a:txBody>
                  <a:tcPr anchor="ctr">
                    <a:solidFill>
                      <a:srgbClr val="ADDDFF"/>
                    </a:solidFill>
                  </a:tcPr>
                </a:tc>
                <a:tc>
                  <a:txBody>
                    <a:bodyPr/>
                    <a:lstStyle/>
                    <a:p>
                      <a:pPr algn="ctr"/>
                      <a:endParaRPr lang="it-IT" sz="1100" b="1"/>
                    </a:p>
                  </a:txBody>
                  <a:tcPr anchor="ctr">
                    <a:solidFill>
                      <a:srgbClr val="ADDDFF"/>
                    </a:solidFill>
                  </a:tcPr>
                </a:tc>
                <a:tc>
                  <a:txBody>
                    <a:bodyPr/>
                    <a:lstStyle/>
                    <a:p>
                      <a:pPr algn="r"/>
                      <a:r>
                        <a:rPr lang="it-IT" sz="1100" b="1"/>
                        <a:t>6</a:t>
                      </a:r>
                    </a:p>
                  </a:txBody>
                  <a:tcPr anchor="ctr">
                    <a:solidFill>
                      <a:srgbClr val="ADDDFF"/>
                    </a:solidFill>
                  </a:tcPr>
                </a:tc>
                <a:tc>
                  <a:txBody>
                    <a:bodyPr/>
                    <a:lstStyle/>
                    <a:p>
                      <a:pPr algn="r"/>
                      <a:r>
                        <a:rPr lang="it-IT" sz="1100" b="1"/>
                        <a:t>30</a:t>
                      </a:r>
                    </a:p>
                  </a:txBody>
                  <a:tcPr anchor="ctr">
                    <a:solidFill>
                      <a:srgbClr val="ADDDFF"/>
                    </a:solidFill>
                  </a:tcPr>
                </a:tc>
                <a:extLst>
                  <a:ext uri="{0D108BD9-81ED-4DB2-BD59-A6C34878D82A}">
                    <a16:rowId xmlns:a16="http://schemas.microsoft.com/office/drawing/2014/main" val="653187382"/>
                  </a:ext>
                </a:extLst>
              </a:tr>
              <a:tr h="500402">
                <a:tc rowSpan="3">
                  <a:txBody>
                    <a:bodyPr wrap="square"/>
                    <a:lstStyle/>
                    <a:p>
                      <a:r>
                        <a:rPr sz="1000"/>
                        <a:t>Data foundation &amp; threat model</a:t>
                      </a:r>
                    </a:p>
                  </a:txBody>
                  <a:tcPr anchor="ctr">
                    <a:solidFill>
                      <a:srgbClr val="ADDDFF"/>
                    </a:solidFill>
                  </a:tcPr>
                </a:tc>
                <a:tc>
                  <a:txBody>
                    <a:bodyPr/>
                    <a:lstStyle/>
                    <a:p>
                      <a:pPr algn="ctr"/>
                      <a:endParaRPr lang="it-IT" sz="1400"/>
                    </a:p>
                  </a:txBody>
                  <a:tcPr>
                    <a:noFill/>
                  </a:tcPr>
                </a:tc>
                <a:tc gridSpan="2">
                  <a:txBody>
                    <a:bodyPr/>
                    <a:lstStyle/>
                    <a:p>
                      <a:endParaRPr lang="it-IT" sz="1400"/>
                    </a:p>
                  </a:txBody>
                  <a:tcPr>
                    <a:noFill/>
                  </a:tcPr>
                </a:tc>
                <a:tc hMerge="1">
                  <a:txBody>
                    <a:bodyPr/>
                    <a:lstStyle/>
                    <a:p>
                      <a:endParaRPr lang="it-IT"/>
                    </a:p>
                  </a:txBody>
                  <a:tcPr/>
                </a:tc>
                <a:tc rowSpan="3">
                  <a:txBody>
                    <a:bodyPr/>
                    <a:lstStyle/>
                    <a:p>
                      <a:endParaRPr lang="it-IT" sz="1400"/>
                    </a:p>
                  </a:txBody>
                  <a:tcPr>
                    <a:noFill/>
                  </a:tcPr>
                </a:tc>
                <a:tc rowSpan="3">
                  <a:txBody>
                    <a:bodyPr/>
                    <a:lstStyle/>
                    <a:p>
                      <a:endParaRPr lang="it-IT" sz="1400"/>
                    </a:p>
                  </a:txBody>
                  <a:tcPr>
                    <a:noFill/>
                  </a:tcPr>
                </a:tc>
                <a:tc rowSpan="3" gridSpan="2">
                  <a:txBody>
                    <a:bodyPr/>
                    <a:lstStyle/>
                    <a:p>
                      <a:endParaRPr lang="it-IT" sz="1400"/>
                    </a:p>
                  </a:txBody>
                  <a:tcPr>
                    <a:noFill/>
                  </a:tcPr>
                </a:tc>
                <a:tc rowSpan="3" hMerge="1">
                  <a:txBody>
                    <a:bodyPr/>
                    <a:lstStyle/>
                    <a:p>
                      <a:endParaRPr lang="it-IT"/>
                    </a:p>
                  </a:txBody>
                  <a:tcPr/>
                </a:tc>
                <a:extLst>
                  <a:ext uri="{0D108BD9-81ED-4DB2-BD59-A6C34878D82A}">
                    <a16:rowId xmlns:a16="http://schemas.microsoft.com/office/drawing/2014/main" val="2096273300"/>
                  </a:ext>
                </a:extLst>
              </a:tr>
              <a:tr h="500402">
                <a:tc vMerge="1">
                  <a:txBody>
                    <a:bodyPr wrap="square"/>
                    <a:lstStyle/>
                    <a:p>
                      <a:r>
                        <a:rPr sz="1000"/>
                        <a:t>Synthetic traffic generator + baseline detector</a:t>
                      </a:r>
                    </a:p>
                  </a:txBody>
                  <a:tcPr/>
                </a:tc>
                <a:tc>
                  <a:txBody>
                    <a:bodyPr/>
                    <a:lstStyle/>
                    <a:p>
                      <a:endParaRPr lang="it-IT" sz="1400"/>
                    </a:p>
                  </a:txBody>
                  <a:tcP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it-IT" sz="1400"/>
                    </a:p>
                  </a:txBody>
                  <a:tcPr>
                    <a:noFill/>
                  </a:tcPr>
                </a:tc>
                <a:tc hMerge="1">
                  <a:txBody>
                    <a:bodyPr/>
                    <a:lstStyle/>
                    <a:p>
                      <a:endParaRPr lang="it-IT"/>
                    </a:p>
                  </a:txBody>
                  <a:tcPr/>
                </a:tc>
                <a:tc vMerge="1">
                  <a:txBody>
                    <a:bodyPr/>
                    <a:lstStyle/>
                    <a:p>
                      <a:endParaRPr lang="it-IT"/>
                    </a:p>
                  </a:txBody>
                  <a:tcPr/>
                </a:tc>
                <a:tc vMerge="1">
                  <a:txBody>
                    <a:bodyPr/>
                    <a:lstStyle/>
                    <a:p>
                      <a:endParaRPr lang="it-IT"/>
                    </a:p>
                  </a:txBody>
                  <a:tcPr/>
                </a:tc>
                <a:tc gridSpan="2" vMerge="1">
                  <a:txBody>
                    <a:bodyPr/>
                    <a:lstStyle/>
                    <a:p>
                      <a:endParaRPr lang="it-IT"/>
                    </a:p>
                  </a:txBody>
                  <a:tcPr/>
                </a:tc>
                <a:tc hMerge="1" vMerge="1">
                  <a:txBody>
                    <a:bodyPr/>
                    <a:lstStyle/>
                    <a:p>
                      <a:endParaRPr lang="it-IT"/>
                    </a:p>
                  </a:txBody>
                  <a:tcPr/>
                </a:tc>
                <a:extLst>
                  <a:ext uri="{0D108BD9-81ED-4DB2-BD59-A6C34878D82A}">
                    <a16:rowId xmlns:a16="http://schemas.microsoft.com/office/drawing/2014/main" val="3046017914"/>
                  </a:ext>
                </a:extLst>
              </a:tr>
              <a:tr h="500402">
                <a:tc vMerge="1">
                  <a:txBody>
                    <a:bodyPr wrap="square"/>
                    <a:lstStyle/>
                    <a:p>
                      <a:r>
                        <a:rPr sz="1000"/>
                        <a:t>Gate 1 - Project proposal</a:t>
                      </a:r>
                    </a:p>
                  </a:txBody>
                  <a:tcPr/>
                </a:tc>
                <a:tc>
                  <a:txBody>
                    <a:bodyPr/>
                    <a:lstStyle/>
                    <a:p>
                      <a:endParaRPr lang="it-IT" sz="1400"/>
                    </a:p>
                  </a:txBody>
                  <a:tcPr anchor="ctr">
                    <a:noFill/>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it-IT" sz="1400"/>
                    </a:p>
                  </a:txBody>
                  <a:tcPr>
                    <a:noFill/>
                  </a:tcPr>
                </a:tc>
                <a:tc hMerge="1">
                  <a:txBody>
                    <a:bodyPr/>
                    <a:lstStyle/>
                    <a:p>
                      <a:endParaRPr lang="it-IT"/>
                    </a:p>
                  </a:txBody>
                  <a:tcPr/>
                </a:tc>
                <a:tc vMerge="1">
                  <a:txBody>
                    <a:bodyPr/>
                    <a:lstStyle/>
                    <a:p>
                      <a:endParaRPr lang="it-IT"/>
                    </a:p>
                  </a:txBody>
                  <a:tcPr/>
                </a:tc>
                <a:tc vMerge="1">
                  <a:txBody>
                    <a:bodyPr/>
                    <a:lstStyle/>
                    <a:p>
                      <a:endParaRPr lang="it-IT"/>
                    </a:p>
                  </a:txBody>
                  <a:tcPr/>
                </a:tc>
                <a:tc gridSpan="2" vMerge="1">
                  <a:txBody>
                    <a:bodyPr/>
                    <a:lstStyle/>
                    <a:p>
                      <a:endParaRPr lang="it-IT"/>
                    </a:p>
                  </a:txBody>
                  <a:tcPr/>
                </a:tc>
                <a:tc hMerge="1" vMerge="1">
                  <a:txBody>
                    <a:bodyPr/>
                    <a:lstStyle/>
                    <a:p>
                      <a:endParaRPr lang="it-IT"/>
                    </a:p>
                  </a:txBody>
                  <a:tcPr/>
                </a:tc>
                <a:extLst>
                  <a:ext uri="{0D108BD9-81ED-4DB2-BD59-A6C34878D82A}">
                    <a16:rowId xmlns:a16="http://schemas.microsoft.com/office/drawing/2014/main" val="2366633884"/>
                  </a:ext>
                </a:extLst>
              </a:tr>
              <a:tr h="564888">
                <a:tc rowSpan="4">
                  <a:txBody>
                    <a:bodyPr wrap="square"/>
                    <a:lstStyle/>
                    <a:p>
                      <a:r>
                        <a:rPr sz="1000"/>
                        <a:t>Gate 2 - Technical solution &amp; performance analysis</a:t>
                      </a:r>
                    </a:p>
                  </a:txBody>
                  <a:tcPr anchor="ctr">
                    <a:solidFill>
                      <a:srgbClr val="ADDDFF"/>
                    </a:solidFill>
                  </a:tcPr>
                </a:tc>
                <a:tc>
                  <a:txBody>
                    <a:bodyPr/>
                    <a:lstStyle/>
                    <a:p>
                      <a:endParaRPr lang="it-IT" sz="1400"/>
                    </a:p>
                  </a:txBody>
                  <a:tcPr>
                    <a:noFill/>
                  </a:tcPr>
                </a:tc>
                <a:tc gridSpan="2">
                  <a:txBody>
                    <a:bodyPr/>
                    <a:lstStyle/>
                    <a:p>
                      <a:endParaRPr lang="it-IT" sz="1400"/>
                    </a:p>
                  </a:txBody>
                  <a:tcPr>
                    <a:noFill/>
                  </a:tcPr>
                </a:tc>
                <a:tc hMerge="1">
                  <a:txBody>
                    <a:bodyPr/>
                    <a:lstStyle/>
                    <a:p>
                      <a:endParaRPr lang="it-IT"/>
                    </a:p>
                  </a:txBody>
                  <a:tcPr/>
                </a:tc>
                <a:tc>
                  <a:txBody>
                    <a:bodyPr/>
                    <a:lstStyle/>
                    <a:p>
                      <a:endParaRPr lang="it-IT" sz="1400"/>
                    </a:p>
                  </a:txBody>
                  <a:tcPr>
                    <a:noFill/>
                  </a:tcPr>
                </a:tc>
                <a:tc>
                  <a:txBody>
                    <a:bodyPr/>
                    <a:lstStyle/>
                    <a:p>
                      <a:endParaRPr lang="it-IT" sz="1400"/>
                    </a:p>
                  </a:txBody>
                  <a:tcPr>
                    <a:noFill/>
                  </a:tcPr>
                </a:tc>
                <a:tc gridSpan="2">
                  <a:txBody>
                    <a:bodyPr/>
                    <a:lstStyle/>
                    <a:p>
                      <a:endParaRPr lang="it-IT" sz="1400"/>
                    </a:p>
                  </a:txBody>
                  <a:tcPr>
                    <a:noFill/>
                  </a:tcPr>
                </a:tc>
                <a:tc hMerge="1">
                  <a:txBody>
                    <a:bodyPr/>
                    <a:lstStyle/>
                    <a:p>
                      <a:endParaRPr lang="it-IT"/>
                    </a:p>
                  </a:txBody>
                  <a:tcPr/>
                </a:tc>
                <a:extLst>
                  <a:ext uri="{0D108BD9-81ED-4DB2-BD59-A6C34878D82A}">
                    <a16:rowId xmlns:a16="http://schemas.microsoft.com/office/drawing/2014/main" val="3861556849"/>
                  </a:ext>
                </a:extLst>
              </a:tr>
              <a:tr h="564888">
                <a:tc vMerge="1">
                  <a:txBody>
                    <a:bodyPr wrap="square"/>
                    <a:lstStyle/>
                    <a:p>
                      <a:r>
                        <a:rPr sz="1000"/>
                        <a:t>Real-data integration (if granted by Fastweb/Vodafone)</a:t>
                      </a:r>
                    </a:p>
                  </a:txBody>
                  <a:tcPr anchor="ctr"/>
                </a:tc>
                <a:tc>
                  <a:txBody>
                    <a:bodyPr/>
                    <a:lstStyle/>
                    <a:p>
                      <a:endParaRPr lang="it-IT" sz="1400"/>
                    </a:p>
                  </a:txBody>
                  <a:tcPr>
                    <a:noFill/>
                  </a:tcPr>
                </a:tc>
                <a:tc gridSpan="2">
                  <a:txBody>
                    <a:bodyPr/>
                    <a:lstStyle/>
                    <a:p>
                      <a:endParaRPr lang="it-IT" sz="1400"/>
                    </a:p>
                  </a:txBody>
                  <a:tcPr>
                    <a:noFill/>
                  </a:tcPr>
                </a:tc>
                <a:tc hMerge="1">
                  <a:txBody>
                    <a:bodyPr/>
                    <a:lstStyle/>
                    <a:p>
                      <a:endParaRPr lang="it-IT"/>
                    </a:p>
                  </a:txBody>
                  <a:tcPr/>
                </a:tc>
                <a:tc>
                  <a:txBody>
                    <a:bodyPr/>
                    <a:lstStyle/>
                    <a:p>
                      <a:endParaRPr lang="it-IT" sz="1400"/>
                    </a:p>
                  </a:txBody>
                  <a:tcPr>
                    <a:noFill/>
                  </a:tcPr>
                </a:tc>
                <a:tc>
                  <a:txBody>
                    <a:bodyPr/>
                    <a:lstStyle/>
                    <a:p>
                      <a:endParaRPr lang="it-IT" sz="1400"/>
                    </a:p>
                  </a:txBody>
                  <a:tcPr>
                    <a:noFill/>
                  </a:tcPr>
                </a:tc>
                <a:tc gridSpan="2">
                  <a:txBody>
                    <a:bodyPr/>
                    <a:lstStyle/>
                    <a:p>
                      <a:endParaRPr lang="it-IT" sz="1400"/>
                    </a:p>
                  </a:txBody>
                  <a:tcPr>
                    <a:noFill/>
                  </a:tcPr>
                </a:tc>
                <a:tc hMerge="1">
                  <a:txBody>
                    <a:bodyPr/>
                    <a:lstStyle/>
                    <a:p>
                      <a:endParaRPr lang="it-IT"/>
                    </a:p>
                  </a:txBody>
                  <a:tcPr/>
                </a:tc>
                <a:extLst>
                  <a:ext uri="{0D108BD9-81ED-4DB2-BD59-A6C34878D82A}">
                    <a16:rowId xmlns:a16="http://schemas.microsoft.com/office/drawing/2014/main" val="308320936"/>
                  </a:ext>
                </a:extLst>
              </a:tr>
              <a:tr h="564888">
                <a:tc vMerge="1">
                  <a:txBody>
                    <a:bodyPr wrap="square"/>
                    <a:lstStyle/>
                    <a:p>
                      <a:r>
                        <a:rPr sz="1000"/>
                        <a:t>Gate 3 - Proof of Concept &amp; live demo</a:t>
                      </a:r>
                    </a:p>
                  </a:txBody>
                  <a:tcPr anchor="ctr"/>
                </a:tc>
                <a:tc>
                  <a:txBody>
                    <a:bodyPr/>
                    <a:lstStyle/>
                    <a:p>
                      <a:endParaRPr lang="it-IT" sz="1400"/>
                    </a:p>
                  </a:txBody>
                  <a:tcPr>
                    <a:noFill/>
                  </a:tcPr>
                </a:tc>
                <a:tc gridSpan="2">
                  <a:txBody>
                    <a:bodyPr/>
                    <a:lstStyle/>
                    <a:p>
                      <a:endParaRPr lang="it-IT" sz="1400"/>
                    </a:p>
                  </a:txBody>
                  <a:tcPr>
                    <a:noFill/>
                  </a:tcPr>
                </a:tc>
                <a:tc hMerge="1">
                  <a:txBody>
                    <a:bodyPr/>
                    <a:lstStyle/>
                    <a:p>
                      <a:endParaRPr lang="it-IT"/>
                    </a:p>
                  </a:txBody>
                  <a:tcPr/>
                </a:tc>
                <a:tc>
                  <a:txBody>
                    <a:bodyPr/>
                    <a:lstStyle/>
                    <a:p>
                      <a:endParaRPr lang="it-IT" sz="1400"/>
                    </a:p>
                  </a:txBody>
                  <a:tcPr>
                    <a:noFill/>
                  </a:tcPr>
                </a:tc>
                <a:tc>
                  <a:txBody>
                    <a:bodyPr/>
                    <a:lstStyle/>
                    <a:p>
                      <a:endParaRPr lang="it-IT" sz="1400"/>
                    </a:p>
                  </a:txBody>
                  <a:tcPr>
                    <a:noFill/>
                  </a:tcPr>
                </a:tc>
                <a:tc gridSpan="2">
                  <a:txBody>
                    <a:bodyPr/>
                    <a:lstStyle/>
                    <a:p>
                      <a:endParaRPr lang="it-IT" sz="1400"/>
                    </a:p>
                  </a:txBody>
                  <a:tcPr>
                    <a:noFill/>
                  </a:tcPr>
                </a:tc>
                <a:tc hMerge="1">
                  <a:txBody>
                    <a:bodyPr/>
                    <a:lstStyle/>
                    <a:p>
                      <a:endParaRPr lang="it-IT"/>
                    </a:p>
                  </a:txBody>
                  <a:tcPr/>
                </a:tc>
                <a:extLst>
                  <a:ext uri="{0D108BD9-81ED-4DB2-BD59-A6C34878D82A}">
                    <a16:rowId xmlns:a16="http://schemas.microsoft.com/office/drawing/2014/main" val="1162973326"/>
                  </a:ext>
                </a:extLst>
              </a:tr>
              <a:tr h="706450">
                <a:tc vMerge="1">
                  <a:txBody>
                    <a:bodyPr wrap="square"/>
                    <a:lstStyle/>
                    <a:p>
                      <a:r>
                        <a:rPr sz="1000"/>
                        <a:t>Storyboard, shooting &amp; final video</a:t>
                      </a:r>
                    </a:p>
                  </a:txBody>
                  <a:tcPr anchor="ctr"/>
                </a:tc>
                <a:tc>
                  <a:txBody>
                    <a:bodyPr/>
                    <a:lstStyle/>
                    <a:p>
                      <a:endParaRPr lang="it-IT" sz="1400"/>
                    </a:p>
                  </a:txBody>
                  <a:tcPr>
                    <a:noFill/>
                  </a:tcPr>
                </a:tc>
                <a:tc gridSpan="2">
                  <a:txBody>
                    <a:bodyPr/>
                    <a:lstStyle/>
                    <a:p>
                      <a:endParaRPr lang="it-IT" sz="1400"/>
                    </a:p>
                  </a:txBody>
                  <a:tcPr>
                    <a:noFill/>
                  </a:tcPr>
                </a:tc>
                <a:tc hMerge="1">
                  <a:txBody>
                    <a:bodyPr/>
                    <a:lstStyle/>
                    <a:p>
                      <a:endParaRPr lang="it-IT"/>
                    </a:p>
                  </a:txBody>
                  <a:tcPr/>
                </a:tc>
                <a:tc>
                  <a:txBody>
                    <a:bodyPr/>
                    <a:lstStyle/>
                    <a:p>
                      <a:endParaRPr lang="it-IT" sz="1400"/>
                    </a:p>
                  </a:txBody>
                  <a:tcPr>
                    <a:noFill/>
                  </a:tcPr>
                </a:tc>
                <a:tc>
                  <a:txBody>
                    <a:bodyPr/>
                    <a:lstStyle/>
                    <a:p>
                      <a:endParaRPr lang="it-IT" sz="1400"/>
                    </a:p>
                  </a:txBody>
                  <a:tcPr>
                    <a:noFill/>
                  </a:tcPr>
                </a:tc>
                <a:tc gridSpan="2">
                  <a:txBody>
                    <a:bodyPr/>
                    <a:lstStyle/>
                    <a:p>
                      <a:endParaRPr lang="it-IT" sz="1400"/>
                    </a:p>
                  </a:txBody>
                  <a:tcPr>
                    <a:noFill/>
                  </a:tcPr>
                </a:tc>
                <a:tc hMerge="1">
                  <a:txBody>
                    <a:bodyPr/>
                    <a:lstStyle/>
                    <a:p>
                      <a:endParaRPr lang="it-IT"/>
                    </a:p>
                  </a:txBody>
                  <a:tcPr/>
                </a:tc>
                <a:extLst>
                  <a:ext uri="{0D108BD9-81ED-4DB2-BD59-A6C34878D82A}">
                    <a16:rowId xmlns:a16="http://schemas.microsoft.com/office/drawing/2014/main" val="413142752"/>
                  </a:ext>
                </a:extLst>
              </a:tr>
            </a:tbl>
          </a:graphicData>
        </a:graphic>
      </p:graphicFrame>
      <p:sp>
        <p:nvSpPr>
          <p:cNvPr id="36" name="Rettangolo 35">
            <a:extLst>
              <a:ext uri="{FF2B5EF4-FFF2-40B4-BE49-F238E27FC236}">
                <a16:creationId xmlns:a16="http://schemas.microsoft.com/office/drawing/2014/main" id="{4B06625C-E9E8-E74F-B45F-7678847923CE}"/>
              </a:ext>
            </a:extLst>
          </p:cNvPr>
          <p:cNvSpPr/>
          <p:nvPr/>
        </p:nvSpPr>
        <p:spPr>
          <a:xfrm>
            <a:off x="2447841" y="1863751"/>
            <a:ext cx="2295387" cy="159136"/>
          </a:xfrm>
          <a:prstGeom prst="rect">
            <a:avLst/>
          </a:prstGeom>
          <a:solidFill>
            <a:srgbClr val="DBF11E"/>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wrap="square">
            <a:flatTx/>
          </a:bodyPr>
          <a:lstStyle/>
          <a:p>
            <a:pPr algn="ctr"/>
            <a:r>
              <a:rPr lang="it-IT" sz="900">
                <a:solidFill>
                  <a:srgbClr val="17428B"/>
                </a:solidFill>
                <a:latin typeface="Montserrat" panose="00000500000000000000" pitchFamily="2" charset="0"/>
              </a:rPr>
              <a:t>Threat model</a:t>
            </a:r>
            <a:r>
              <a:rPr lang="it-IT" sz="1000" err="1">
                <a:solidFill>
                  <a:srgbClr val="17428B"/>
                </a:solidFill>
                <a:latin typeface="Montserrat" panose="00000500000000000000" pitchFamily="2" charset="0"/>
              </a:rPr>
              <a:t/>
            </a:r>
            <a:r>
              <a:rPr lang="it-IT" sz="1000">
                <a:solidFill>
                  <a:srgbClr val="17428B"/>
                </a:solidFill>
                <a:latin typeface="Montserrat" panose="00000500000000000000" pitchFamily="2" charset="0"/>
              </a:rPr>
              <a:t/>
            </a:r>
            <a:r>
              <a:rPr lang="it-IT" sz="1000" err="1">
                <a:solidFill>
                  <a:srgbClr val="17428B"/>
                </a:solidFill>
                <a:latin typeface="Montserrat" panose="00000500000000000000" pitchFamily="2" charset="0"/>
              </a:rPr>
              <a:t/>
            </a:r>
            <a:endParaRPr lang="it-IT" sz="1000">
              <a:solidFill>
                <a:srgbClr val="17428B"/>
              </a:solidFill>
              <a:latin typeface="Montserrat" panose="00000500000000000000" pitchFamily="2" charset="0"/>
            </a:endParaRPr>
          </a:p>
        </p:txBody>
      </p:sp>
      <p:sp>
        <p:nvSpPr>
          <p:cNvPr id="37" name="Rettangolo 36">
            <a:extLst>
              <a:ext uri="{FF2B5EF4-FFF2-40B4-BE49-F238E27FC236}">
                <a16:creationId xmlns:a16="http://schemas.microsoft.com/office/drawing/2014/main" id="{F08740E7-17DB-D248-92D7-BCB8C8C41B8A}"/>
              </a:ext>
            </a:extLst>
          </p:cNvPr>
          <p:cNvSpPr/>
          <p:nvPr/>
        </p:nvSpPr>
        <p:spPr>
          <a:xfrm>
            <a:off x="4357858" y="2203218"/>
            <a:ext cx="677075" cy="145422"/>
          </a:xfrm>
          <a:prstGeom prst="rect">
            <a:avLst/>
          </a:prstGeom>
          <a:solidFill>
            <a:srgbClr val="DBF11E"/>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wrap="square">
            <a:flatTx/>
          </a:bodyPr>
          <a:lstStyle/>
          <a:p>
            <a:pPr algn="ctr"/>
            <a:r>
              <a:rPr lang="it-IT" sz="800">
                <a:solidFill>
                  <a:srgbClr val="17428B"/>
                </a:solidFill>
                <a:latin typeface="Montserrat" panose="00000500000000000000" pitchFamily="2" charset="0"/>
              </a:rPr>
              <a:t>Traffic gen. built</a:t>
            </a:r>
            <a:r>
              <a:rPr lang="it-IT" sz="900" err="1">
                <a:solidFill>
                  <a:srgbClr val="17428B"/>
                </a:solidFill>
                <a:latin typeface="Montserrat" panose="00000500000000000000" pitchFamily="2" charset="0"/>
              </a:rPr>
              <a:t/>
            </a:r>
            <a:endParaRPr lang="it-IT" sz="900">
              <a:solidFill>
                <a:srgbClr val="17428B"/>
              </a:solidFill>
              <a:latin typeface="Montserrat" panose="00000500000000000000" pitchFamily="2" charset="0"/>
            </a:endParaRPr>
          </a:p>
        </p:txBody>
      </p:sp>
      <p:grpSp>
        <p:nvGrpSpPr>
          <p:cNvPr id="41" name="Gruppo 40">
            <a:extLst>
              <a:ext uri="{FF2B5EF4-FFF2-40B4-BE49-F238E27FC236}">
                <a16:creationId xmlns:a16="http://schemas.microsoft.com/office/drawing/2014/main" id="{D2A1D7C4-3BCC-DD4A-9900-637D46FEAAA6}"/>
              </a:ext>
            </a:extLst>
          </p:cNvPr>
          <p:cNvGrpSpPr/>
          <p:nvPr/>
        </p:nvGrpSpPr>
        <p:grpSpPr>
          <a:xfrm>
            <a:off x="4953387" y="2437073"/>
            <a:ext cx="899456" cy="507831"/>
            <a:chOff x="5175706" y="2421637"/>
            <a:chExt cx="899456" cy="507831"/>
          </a:xfrm>
        </p:grpSpPr>
        <p:sp>
          <p:nvSpPr>
            <p:cNvPr id="39" name="Rombo 38">
              <a:extLst>
                <a:ext uri="{FF2B5EF4-FFF2-40B4-BE49-F238E27FC236}">
                  <a16:creationId xmlns:a16="http://schemas.microsoft.com/office/drawing/2014/main" id="{FC9C2E74-BBC4-354E-8ECB-9579D9C25522}"/>
                </a:ext>
              </a:extLst>
            </p:cNvPr>
            <p:cNvSpPr/>
            <p:nvPr/>
          </p:nvSpPr>
          <p:spPr>
            <a:xfrm>
              <a:off x="5175706" y="2710842"/>
              <a:ext cx="156610" cy="148480"/>
            </a:xfrm>
            <a:prstGeom prst="diamond">
              <a:avLst/>
            </a:prstGeom>
            <a:solidFill>
              <a:srgbClr val="DBF11E"/>
            </a:solidFill>
            <a:ln>
              <a:solidFill>
                <a:srgbClr val="DBF11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2800">
                <a:solidFill>
                  <a:srgbClr val="17428B"/>
                </a:solidFill>
                <a:latin typeface="Montserrat" panose="00000500000000000000" pitchFamily="2" charset="0"/>
              </a:endParaRPr>
            </a:p>
          </p:txBody>
        </p:sp>
        <p:sp>
          <p:nvSpPr>
            <p:cNvPr id="40" name="Callout 13 39">
              <a:extLst>
                <a:ext uri="{FF2B5EF4-FFF2-40B4-BE49-F238E27FC236}">
                  <a16:creationId xmlns:a16="http://schemas.microsoft.com/office/drawing/2014/main" id="{DB416A6A-0624-C14C-8404-E0826A58E3B6}"/>
                </a:ext>
              </a:extLst>
            </p:cNvPr>
            <p:cNvSpPr/>
            <p:nvPr/>
          </p:nvSpPr>
          <p:spPr>
            <a:xfrm>
              <a:off x="5443672" y="2421637"/>
              <a:ext cx="631490" cy="507831"/>
            </a:xfrm>
            <a:prstGeom prst="accentBorderCallout1">
              <a:avLst>
                <a:gd name="adj1" fmla="val 18750"/>
                <a:gd name="adj2" fmla="val -8333"/>
                <a:gd name="adj3" fmla="val 70143"/>
                <a:gd name="adj4" fmla="val -26354"/>
              </a:avLst>
            </a:prstGeom>
            <a:solidFill>
              <a:schemeClr val="bg1"/>
            </a:solidFill>
            <a:ln>
              <a:solidFill>
                <a:srgbClr val="DBF11E"/>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spAutoFit/>
            </a:bodyPr>
            <a:lstStyle/>
            <a:p>
              <a:r>
                <a:rPr lang="it-IT" sz="900">
                  <a:solidFill>
                    <a:srgbClr val="17428B"/>
                  </a:solidFill>
                  <a:latin typeface="Montserrat" panose="00000500000000000000" pitchFamily="2" charset="0"/>
                </a:rPr>
                <a:t>Kick-off </a:t>
              </a:r>
              <a:r>
                <a:rPr lang="it-IT" sz="900" err="1">
                  <a:solidFill>
                    <a:srgbClr val="17428B"/>
                  </a:solidFill>
                  <a:latin typeface="Montserrat" panose="00000500000000000000" pitchFamily="2" charset="0"/>
                </a:rPr>
                <a:t>project</a:t>
              </a:r>
              <a:r>
                <a:rPr lang="it-IT" sz="900">
                  <a:solidFill>
                    <a:srgbClr val="17428B"/>
                  </a:solidFill>
                  <a:latin typeface="Montserrat" panose="00000500000000000000" pitchFamily="2" charset="0"/>
                </a:rPr>
                <a:t> </a:t>
              </a:r>
              <a:r>
                <a:rPr lang="it-IT" sz="900" err="1">
                  <a:solidFill>
                    <a:srgbClr val="17428B"/>
                  </a:solidFill>
                  <a:latin typeface="Montserrat" panose="00000500000000000000" pitchFamily="2" charset="0"/>
                </a:rPr>
                <a:t>works</a:t>
              </a:r>
              <a:endParaRPr lang="it-IT" sz="900">
                <a:solidFill>
                  <a:srgbClr val="17428B"/>
                </a:solidFill>
                <a:latin typeface="Montserrat" panose="00000500000000000000" pitchFamily="2" charset="0"/>
              </a:endParaRPr>
            </a:p>
          </p:txBody>
        </p:sp>
      </p:grpSp>
      <p:sp>
        <p:nvSpPr>
          <p:cNvPr id="42" name="Rettangolo 41">
            <a:extLst>
              <a:ext uri="{FF2B5EF4-FFF2-40B4-BE49-F238E27FC236}">
                <a16:creationId xmlns:a16="http://schemas.microsoft.com/office/drawing/2014/main" id="{3757BB1D-1ECD-BF44-8861-0985BB890EC2}"/>
              </a:ext>
            </a:extLst>
          </p:cNvPr>
          <p:cNvSpPr/>
          <p:nvPr/>
        </p:nvSpPr>
        <p:spPr>
          <a:xfrm>
            <a:off x="5109997" y="3307393"/>
            <a:ext cx="709759" cy="154800"/>
          </a:xfrm>
          <a:prstGeom prst="rect">
            <a:avLst/>
          </a:prstGeom>
          <a:solidFill>
            <a:srgbClr val="DBF11E"/>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wrap="square">
            <a:flatTx/>
          </a:bodyPr>
          <a:lstStyle/>
          <a:p>
            <a:r>
              <a:rPr lang="it-IT" sz="900">
                <a:solidFill>
                  <a:srgbClr val="17428B"/>
                </a:solidFill>
                <a:latin typeface="Montserrat" panose="00000500000000000000" pitchFamily="2" charset="0"/>
              </a:rPr>
              <a:t>Gate 1 - 7 Sep</a:t>
            </a:r>
          </a:p>
        </p:txBody>
      </p:sp>
      <p:sp>
        <p:nvSpPr>
          <p:cNvPr id="43" name="Rettangolo 42">
            <a:extLst>
              <a:ext uri="{FF2B5EF4-FFF2-40B4-BE49-F238E27FC236}">
                <a16:creationId xmlns:a16="http://schemas.microsoft.com/office/drawing/2014/main" id="{55D39DC8-84E2-EA41-9D29-35B844AB7B54}"/>
              </a:ext>
            </a:extLst>
          </p:cNvPr>
          <p:cNvSpPr/>
          <p:nvPr/>
        </p:nvSpPr>
        <p:spPr>
          <a:xfrm>
            <a:off x="4357858" y="3852494"/>
            <a:ext cx="3308592" cy="184741"/>
          </a:xfrm>
          <a:prstGeom prst="rect">
            <a:avLst/>
          </a:prstGeom>
          <a:solidFill>
            <a:srgbClr val="DBF11E"/>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wrap="square">
            <a:flatTx/>
          </a:bodyPr>
          <a:lstStyle/>
          <a:p>
            <a:r>
              <a:rPr lang="it-IT" sz="900" err="1">
                <a:solidFill>
                  <a:srgbClr val="17428B"/>
                </a:solidFill>
                <a:latin typeface="Montserrat" panose="00000500000000000000" pitchFamily="2" charset="0"/>
              </a:rPr>
              <a:t>Fastweb meeting</a:t>
            </a:r>
            <a:endParaRPr lang="it-IT" sz="1000">
              <a:solidFill>
                <a:srgbClr val="17428B"/>
              </a:solidFill>
              <a:latin typeface="Montserrat" panose="00000500000000000000" pitchFamily="2" charset="0"/>
            </a:endParaRPr>
          </a:p>
        </p:txBody>
      </p:sp>
      <p:sp>
        <p:nvSpPr>
          <p:cNvPr id="44" name="Rettangolo 43">
            <a:extLst>
              <a:ext uri="{FF2B5EF4-FFF2-40B4-BE49-F238E27FC236}">
                <a16:creationId xmlns:a16="http://schemas.microsoft.com/office/drawing/2014/main" id="{18648A00-37A2-454B-9467-DB949ED38A08}"/>
              </a:ext>
            </a:extLst>
          </p:cNvPr>
          <p:cNvSpPr/>
          <p:nvPr/>
        </p:nvSpPr>
        <p:spPr>
          <a:xfrm>
            <a:off x="5285055" y="4251355"/>
            <a:ext cx="5243258" cy="184741"/>
          </a:xfrm>
          <a:prstGeom prst="rect">
            <a:avLst/>
          </a:prstGeom>
          <a:solidFill>
            <a:srgbClr val="DBF11E"/>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wrap="square">
            <a:flatTx/>
          </a:bodyPr>
          <a:lstStyle/>
          <a:p>
            <a:r>
              <a:rPr lang="it-IT" sz="900">
                <a:solidFill>
                  <a:srgbClr val="17428B"/>
                </a:solidFill>
                <a:latin typeface="Montserrat" panose="00000500000000000000" pitchFamily="2" charset="0"/>
              </a:rPr>
              <a:t>Progress review</a:t>
            </a:r>
          </a:p>
        </p:txBody>
      </p:sp>
      <p:sp>
        <p:nvSpPr>
          <p:cNvPr id="45" name="Rettangolo 44">
            <a:extLst>
              <a:ext uri="{FF2B5EF4-FFF2-40B4-BE49-F238E27FC236}">
                <a16:creationId xmlns:a16="http://schemas.microsoft.com/office/drawing/2014/main" id="{0F2F8673-9B56-D245-A2F5-2D1ACDEBC782}"/>
              </a:ext>
            </a:extLst>
          </p:cNvPr>
          <p:cNvSpPr/>
          <p:nvPr/>
        </p:nvSpPr>
        <p:spPr>
          <a:xfrm>
            <a:off x="6595314" y="4878342"/>
            <a:ext cx="1159568" cy="147117"/>
          </a:xfrm>
          <a:prstGeom prst="rect">
            <a:avLst/>
          </a:prstGeom>
          <a:solidFill>
            <a:srgbClr val="DBF11E"/>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wrap="square">
            <a:flatTx/>
          </a:bodyPr>
          <a:lstStyle/>
          <a:p>
            <a:r>
              <a:rPr lang="it-IT" sz="900">
                <a:solidFill>
                  <a:srgbClr val="17428B"/>
                </a:solidFill>
                <a:latin typeface="Montserrat" panose="00000500000000000000" pitchFamily="2" charset="0"/>
              </a:rPr>
              <a:t>Gate 2 - 22 Sep</a:t>
            </a:r>
          </a:p>
        </p:txBody>
      </p:sp>
      <p:sp>
        <p:nvSpPr>
          <p:cNvPr id="46" name="Rettangolo 45">
            <a:extLst>
              <a:ext uri="{FF2B5EF4-FFF2-40B4-BE49-F238E27FC236}">
                <a16:creationId xmlns:a16="http://schemas.microsoft.com/office/drawing/2014/main" id="{B20CED98-81F1-D84E-8E7E-2A7D14FD82B5}"/>
              </a:ext>
            </a:extLst>
          </p:cNvPr>
          <p:cNvSpPr/>
          <p:nvPr/>
        </p:nvSpPr>
        <p:spPr>
          <a:xfrm>
            <a:off x="5008329" y="4583469"/>
            <a:ext cx="5519984" cy="184741"/>
          </a:xfrm>
          <a:prstGeom prst="rect">
            <a:avLst/>
          </a:prstGeom>
          <a:solidFill>
            <a:srgbClr val="DBF11E"/>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wrap="square">
            <a:flatTx/>
          </a:bodyPr>
          <a:lstStyle/>
          <a:p>
            <a:r>
              <a:rPr lang="it-IT" sz="900" err="1">
                <a:solidFill>
                  <a:srgbClr val="17428B"/>
                </a:solidFill>
                <a:latin typeface="Montserrat" panose="00000500000000000000" pitchFamily="2" charset="0"/>
              </a:rPr>
              <a:t>Hardening + real data</a:t>
            </a:r>
            <a:r>
              <a:rPr lang="it-IT" sz="1000">
                <a:solidFill>
                  <a:srgbClr val="17428B"/>
                </a:solidFill>
                <a:latin typeface="Montserrat" panose="00000500000000000000" pitchFamily="2" charset="0"/>
              </a:rPr>
              <a:t/>
            </a:r>
            <a:r>
              <a:rPr lang="it-IT" sz="1000" err="1">
                <a:solidFill>
                  <a:srgbClr val="17428B"/>
                </a:solidFill>
                <a:latin typeface="Montserrat" panose="00000500000000000000" pitchFamily="2" charset="0"/>
              </a:rPr>
              <a:t/>
            </a:r>
            <a:r>
              <a:rPr lang="it-IT" sz="1000">
                <a:solidFill>
                  <a:srgbClr val="17428B"/>
                </a:solidFill>
                <a:latin typeface="Montserrat" panose="00000500000000000000" pitchFamily="2" charset="0"/>
              </a:rPr>
              <a:t/>
            </a:r>
            <a:r>
              <a:rPr lang="it-IT" sz="1000" err="1">
                <a:solidFill>
                  <a:srgbClr val="17428B"/>
                </a:solidFill>
                <a:latin typeface="Montserrat" panose="00000500000000000000" pitchFamily="2" charset="0"/>
              </a:rPr>
              <a:t/>
            </a:r>
            <a:endParaRPr lang="it-IT" sz="1000">
              <a:solidFill>
                <a:srgbClr val="17428B"/>
              </a:solidFill>
              <a:latin typeface="Montserrat" panose="00000500000000000000" pitchFamily="2" charset="0"/>
            </a:endParaRPr>
          </a:p>
        </p:txBody>
      </p:sp>
      <p:sp>
        <p:nvSpPr>
          <p:cNvPr id="47" name="Rettangolo 46">
            <a:extLst>
              <a:ext uri="{FF2B5EF4-FFF2-40B4-BE49-F238E27FC236}">
                <a16:creationId xmlns:a16="http://schemas.microsoft.com/office/drawing/2014/main" id="{2CC85688-6B2B-E14F-8D70-361DD5EE4672}"/>
              </a:ext>
            </a:extLst>
          </p:cNvPr>
          <p:cNvSpPr/>
          <p:nvPr/>
        </p:nvSpPr>
        <p:spPr>
          <a:xfrm>
            <a:off x="7748011" y="5157141"/>
            <a:ext cx="2780302" cy="154800"/>
          </a:xfrm>
          <a:prstGeom prst="rect">
            <a:avLst/>
          </a:prstGeom>
          <a:solidFill>
            <a:srgbClr val="DBF11E"/>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wrap="square">
            <a:flatTx/>
          </a:bodyPr>
          <a:lstStyle/>
          <a:p>
            <a:r>
              <a:rPr lang="it-IT" sz="900">
                <a:solidFill>
                  <a:srgbClr val="17428B"/>
                </a:solidFill>
                <a:latin typeface="Montserrat" panose="00000500000000000000" pitchFamily="2" charset="0"/>
              </a:rPr>
              <a:t>Gate 3 - 15 Oct</a:t>
            </a:r>
          </a:p>
        </p:txBody>
      </p:sp>
      <p:grpSp>
        <p:nvGrpSpPr>
          <p:cNvPr id="48" name="Gruppo 47">
            <a:extLst>
              <a:ext uri="{FF2B5EF4-FFF2-40B4-BE49-F238E27FC236}">
                <a16:creationId xmlns:a16="http://schemas.microsoft.com/office/drawing/2014/main" id="{889636E7-FB27-8E4C-AEAA-FF82BB934195}"/>
              </a:ext>
            </a:extLst>
          </p:cNvPr>
          <p:cNvGrpSpPr/>
          <p:nvPr/>
        </p:nvGrpSpPr>
        <p:grpSpPr>
          <a:xfrm>
            <a:off x="5819756" y="3207451"/>
            <a:ext cx="1512729" cy="244555"/>
            <a:chOff x="5175706" y="2614767"/>
            <a:chExt cx="1512729" cy="244555"/>
          </a:xfrm>
        </p:grpSpPr>
        <p:sp>
          <p:nvSpPr>
            <p:cNvPr id="49" name="Rombo 48">
              <a:extLst>
                <a:ext uri="{FF2B5EF4-FFF2-40B4-BE49-F238E27FC236}">
                  <a16:creationId xmlns:a16="http://schemas.microsoft.com/office/drawing/2014/main" id="{6BED206C-B8F5-8A45-95AF-D147389A7440}"/>
                </a:ext>
              </a:extLst>
            </p:cNvPr>
            <p:cNvSpPr/>
            <p:nvPr/>
          </p:nvSpPr>
          <p:spPr>
            <a:xfrm>
              <a:off x="5175706" y="2710842"/>
              <a:ext cx="156610" cy="148480"/>
            </a:xfrm>
            <a:prstGeom prst="diamond">
              <a:avLst/>
            </a:prstGeom>
            <a:solidFill>
              <a:srgbClr val="DBF11E"/>
            </a:solidFill>
            <a:ln>
              <a:solidFill>
                <a:srgbClr val="DBF11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2800">
                <a:solidFill>
                  <a:srgbClr val="17428B"/>
                </a:solidFill>
                <a:latin typeface="Montserrat" panose="00000500000000000000" pitchFamily="2" charset="0"/>
              </a:endParaRPr>
            </a:p>
          </p:txBody>
        </p:sp>
        <p:sp>
          <p:nvSpPr>
            <p:cNvPr id="50" name="Callout 13 49">
              <a:extLst>
                <a:ext uri="{FF2B5EF4-FFF2-40B4-BE49-F238E27FC236}">
                  <a16:creationId xmlns:a16="http://schemas.microsoft.com/office/drawing/2014/main" id="{83852356-4D91-A04B-ADFF-6F94EE722217}"/>
                </a:ext>
              </a:extLst>
            </p:cNvPr>
            <p:cNvSpPr/>
            <p:nvPr/>
          </p:nvSpPr>
          <p:spPr>
            <a:xfrm>
              <a:off x="5484349" y="2614767"/>
              <a:ext cx="1204086" cy="230832"/>
            </a:xfrm>
            <a:prstGeom prst="accentBorderCallout1">
              <a:avLst>
                <a:gd name="adj1" fmla="val 18750"/>
                <a:gd name="adj2" fmla="val -8333"/>
                <a:gd name="adj3" fmla="val 67119"/>
                <a:gd name="adj4" fmla="val -18238"/>
              </a:avLst>
            </a:prstGeom>
            <a:solidFill>
              <a:schemeClr val="bg1"/>
            </a:solidFill>
            <a:ln>
              <a:solidFill>
                <a:srgbClr val="DBF11E"/>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spAutoFit/>
            </a:bodyPr>
            <a:lstStyle/>
            <a:p>
              <a:r>
                <a:rPr lang="it-IT" sz="900">
                  <a:solidFill>
                    <a:srgbClr val="17428B"/>
                  </a:solidFill>
                  <a:latin typeface="Montserrat" panose="00000500000000000000" pitchFamily="2" charset="0"/>
                </a:rPr>
                <a:t>1</a:t>
              </a:r>
              <a:r>
                <a:rPr lang="it-IT" sz="900" baseline="30000">
                  <a:solidFill>
                    <a:srgbClr val="17428B"/>
                  </a:solidFill>
                  <a:latin typeface="Montserrat" panose="00000500000000000000" pitchFamily="2" charset="0"/>
                </a:rPr>
                <a:t>st</a:t>
              </a:r>
              <a:r>
                <a:rPr lang="it-IT" sz="900">
                  <a:solidFill>
                    <a:srgbClr val="17428B"/>
                  </a:solidFill>
                  <a:latin typeface="Montserrat" panose="00000500000000000000" pitchFamily="2" charset="0"/>
                </a:rPr>
                <a:t> Gate </a:t>
              </a:r>
              <a:r>
                <a:rPr lang="it-IT" sz="900" err="1">
                  <a:solidFill>
                    <a:srgbClr val="17428B"/>
                  </a:solidFill>
                  <a:latin typeface="Montserrat" panose="00000500000000000000" pitchFamily="2" charset="0"/>
                </a:rPr>
                <a:t>deadline</a:t>
              </a:r>
              <a:endParaRPr lang="it-IT" sz="900">
                <a:solidFill>
                  <a:srgbClr val="17428B"/>
                </a:solidFill>
                <a:latin typeface="Montserrat" panose="00000500000000000000" pitchFamily="2" charset="0"/>
              </a:endParaRPr>
            </a:p>
          </p:txBody>
        </p:sp>
      </p:grpSp>
      <p:grpSp>
        <p:nvGrpSpPr>
          <p:cNvPr id="51" name="Gruppo 50">
            <a:extLst>
              <a:ext uri="{FF2B5EF4-FFF2-40B4-BE49-F238E27FC236}">
                <a16:creationId xmlns:a16="http://schemas.microsoft.com/office/drawing/2014/main" id="{51824F8A-CA27-9748-850E-1FB98F3AC4E6}"/>
              </a:ext>
            </a:extLst>
          </p:cNvPr>
          <p:cNvGrpSpPr/>
          <p:nvPr/>
        </p:nvGrpSpPr>
        <p:grpSpPr>
          <a:xfrm>
            <a:off x="7756720" y="4797762"/>
            <a:ext cx="1512729" cy="230832"/>
            <a:chOff x="5175706" y="2632185"/>
            <a:chExt cx="1512729" cy="230832"/>
          </a:xfrm>
        </p:grpSpPr>
        <p:sp>
          <p:nvSpPr>
            <p:cNvPr id="52" name="Rombo 51">
              <a:extLst>
                <a:ext uri="{FF2B5EF4-FFF2-40B4-BE49-F238E27FC236}">
                  <a16:creationId xmlns:a16="http://schemas.microsoft.com/office/drawing/2014/main" id="{8A32DC75-3912-114E-B678-308EF06E2051}"/>
                </a:ext>
              </a:extLst>
            </p:cNvPr>
            <p:cNvSpPr/>
            <p:nvPr/>
          </p:nvSpPr>
          <p:spPr>
            <a:xfrm>
              <a:off x="5175706" y="2710842"/>
              <a:ext cx="156610" cy="148480"/>
            </a:xfrm>
            <a:prstGeom prst="diamond">
              <a:avLst/>
            </a:prstGeom>
            <a:solidFill>
              <a:srgbClr val="DBF11E"/>
            </a:solidFill>
            <a:ln>
              <a:solidFill>
                <a:srgbClr val="DBF11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2800">
                <a:solidFill>
                  <a:srgbClr val="17428B"/>
                </a:solidFill>
                <a:latin typeface="Montserrat" panose="00000500000000000000" pitchFamily="2" charset="0"/>
              </a:endParaRPr>
            </a:p>
          </p:txBody>
        </p:sp>
        <p:sp>
          <p:nvSpPr>
            <p:cNvPr id="53" name="Callout 13 52">
              <a:extLst>
                <a:ext uri="{FF2B5EF4-FFF2-40B4-BE49-F238E27FC236}">
                  <a16:creationId xmlns:a16="http://schemas.microsoft.com/office/drawing/2014/main" id="{16598437-C035-A645-BBC7-D351C25E75F0}"/>
                </a:ext>
              </a:extLst>
            </p:cNvPr>
            <p:cNvSpPr/>
            <p:nvPr/>
          </p:nvSpPr>
          <p:spPr>
            <a:xfrm>
              <a:off x="5484349" y="2632185"/>
              <a:ext cx="1204086" cy="230832"/>
            </a:xfrm>
            <a:prstGeom prst="accentBorderCallout1">
              <a:avLst>
                <a:gd name="adj1" fmla="val 18750"/>
                <a:gd name="adj2" fmla="val -8333"/>
                <a:gd name="adj3" fmla="val 67119"/>
                <a:gd name="adj4" fmla="val -18238"/>
              </a:avLst>
            </a:prstGeom>
            <a:solidFill>
              <a:schemeClr val="bg1"/>
            </a:solidFill>
            <a:ln>
              <a:solidFill>
                <a:srgbClr val="DBF11E"/>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spAutoFit/>
            </a:bodyPr>
            <a:lstStyle/>
            <a:p>
              <a:r>
                <a:rPr lang="it-IT" sz="900">
                  <a:solidFill>
                    <a:srgbClr val="17428B"/>
                  </a:solidFill>
                  <a:latin typeface="Montserrat" panose="00000500000000000000" pitchFamily="2" charset="0"/>
                </a:rPr>
                <a:t>2</a:t>
              </a:r>
              <a:r>
                <a:rPr lang="it-IT" sz="900" baseline="30000">
                  <a:solidFill>
                    <a:srgbClr val="17428B"/>
                  </a:solidFill>
                  <a:latin typeface="Montserrat" panose="00000500000000000000" pitchFamily="2" charset="0"/>
                </a:rPr>
                <a:t>nd</a:t>
              </a:r>
              <a:r>
                <a:rPr lang="it-IT" sz="900">
                  <a:solidFill>
                    <a:srgbClr val="17428B"/>
                  </a:solidFill>
                  <a:latin typeface="Montserrat" panose="00000500000000000000" pitchFamily="2" charset="0"/>
                </a:rPr>
                <a:t> Gate </a:t>
              </a:r>
              <a:r>
                <a:rPr lang="it-IT" sz="900" err="1">
                  <a:solidFill>
                    <a:srgbClr val="17428B"/>
                  </a:solidFill>
                  <a:latin typeface="Montserrat" panose="00000500000000000000" pitchFamily="2" charset="0"/>
                </a:rPr>
                <a:t>deadline</a:t>
              </a:r>
              <a:endParaRPr lang="it-IT" sz="900">
                <a:solidFill>
                  <a:srgbClr val="17428B"/>
                </a:solidFill>
                <a:latin typeface="Montserrat" panose="00000500000000000000" pitchFamily="2" charset="0"/>
              </a:endParaRPr>
            </a:p>
          </p:txBody>
        </p:sp>
      </p:grpSp>
      <p:grpSp>
        <p:nvGrpSpPr>
          <p:cNvPr id="54" name="Gruppo 53">
            <a:extLst>
              <a:ext uri="{FF2B5EF4-FFF2-40B4-BE49-F238E27FC236}">
                <a16:creationId xmlns:a16="http://schemas.microsoft.com/office/drawing/2014/main" id="{677478AD-93DB-4F44-9776-9DE63600E750}"/>
              </a:ext>
            </a:extLst>
          </p:cNvPr>
          <p:cNvGrpSpPr/>
          <p:nvPr/>
        </p:nvGrpSpPr>
        <p:grpSpPr>
          <a:xfrm>
            <a:off x="10554460" y="5010992"/>
            <a:ext cx="941845" cy="369332"/>
            <a:chOff x="5175706" y="2560466"/>
            <a:chExt cx="941845" cy="369332"/>
          </a:xfrm>
        </p:grpSpPr>
        <p:sp>
          <p:nvSpPr>
            <p:cNvPr id="55" name="Rombo 54">
              <a:extLst>
                <a:ext uri="{FF2B5EF4-FFF2-40B4-BE49-F238E27FC236}">
                  <a16:creationId xmlns:a16="http://schemas.microsoft.com/office/drawing/2014/main" id="{679E89E7-D679-2444-AF83-2AF447DF917A}"/>
                </a:ext>
              </a:extLst>
            </p:cNvPr>
            <p:cNvSpPr/>
            <p:nvPr/>
          </p:nvSpPr>
          <p:spPr>
            <a:xfrm>
              <a:off x="5175706" y="2710842"/>
              <a:ext cx="156610" cy="148480"/>
            </a:xfrm>
            <a:prstGeom prst="diamond">
              <a:avLst/>
            </a:prstGeom>
            <a:solidFill>
              <a:srgbClr val="DBF11E"/>
            </a:solidFill>
            <a:ln>
              <a:solidFill>
                <a:srgbClr val="DBF11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2800">
                <a:solidFill>
                  <a:srgbClr val="17428B"/>
                </a:solidFill>
                <a:latin typeface="Montserrat" panose="00000500000000000000" pitchFamily="2" charset="0"/>
              </a:endParaRPr>
            </a:p>
          </p:txBody>
        </p:sp>
        <p:sp>
          <p:nvSpPr>
            <p:cNvPr id="56" name="Callout 13 55">
              <a:extLst>
                <a:ext uri="{FF2B5EF4-FFF2-40B4-BE49-F238E27FC236}">
                  <a16:creationId xmlns:a16="http://schemas.microsoft.com/office/drawing/2014/main" id="{E31E406F-4F9D-1748-ACD6-89AEE0833165}"/>
                </a:ext>
              </a:extLst>
            </p:cNvPr>
            <p:cNvSpPr/>
            <p:nvPr/>
          </p:nvSpPr>
          <p:spPr>
            <a:xfrm>
              <a:off x="5408332" y="2560466"/>
              <a:ext cx="709219" cy="369332"/>
            </a:xfrm>
            <a:prstGeom prst="accentBorderCallout1">
              <a:avLst>
                <a:gd name="adj1" fmla="val 18750"/>
                <a:gd name="adj2" fmla="val -8333"/>
                <a:gd name="adj3" fmla="val 67119"/>
                <a:gd name="adj4" fmla="val -18238"/>
              </a:avLst>
            </a:prstGeom>
            <a:solidFill>
              <a:schemeClr val="bg1"/>
            </a:solidFill>
            <a:ln>
              <a:solidFill>
                <a:srgbClr val="DBF11E"/>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spAutoFit/>
            </a:bodyPr>
            <a:lstStyle/>
            <a:p>
              <a:r>
                <a:rPr lang="it-IT" sz="900">
                  <a:solidFill>
                    <a:srgbClr val="17428B"/>
                  </a:solidFill>
                  <a:latin typeface="Montserrat" panose="00000500000000000000" pitchFamily="2" charset="0"/>
                </a:rPr>
                <a:t>3</a:t>
              </a:r>
              <a:r>
                <a:rPr lang="it-IT" sz="900" baseline="30000">
                  <a:solidFill>
                    <a:srgbClr val="17428B"/>
                  </a:solidFill>
                  <a:latin typeface="Montserrat" panose="00000500000000000000" pitchFamily="2" charset="0"/>
                </a:rPr>
                <a:t>rd</a:t>
              </a:r>
              <a:r>
                <a:rPr lang="it-IT" sz="900">
                  <a:solidFill>
                    <a:srgbClr val="17428B"/>
                  </a:solidFill>
                  <a:latin typeface="Montserrat" panose="00000500000000000000" pitchFamily="2" charset="0"/>
                </a:rPr>
                <a:t> Gate </a:t>
              </a:r>
              <a:r>
                <a:rPr lang="it-IT" sz="900" err="1">
                  <a:solidFill>
                    <a:srgbClr val="17428B"/>
                  </a:solidFill>
                  <a:latin typeface="Montserrat" panose="00000500000000000000" pitchFamily="2" charset="0"/>
                </a:rPr>
                <a:t>deadline</a:t>
              </a:r>
              <a:endParaRPr lang="it-IT" sz="900">
                <a:solidFill>
                  <a:srgbClr val="17428B"/>
                </a:solidFill>
                <a:latin typeface="Montserrat" panose="00000500000000000000" pitchFamily="2" charset="0"/>
              </a:endParaRPr>
            </a:p>
          </p:txBody>
        </p:sp>
      </p:grpSp>
      <p:grpSp>
        <p:nvGrpSpPr>
          <p:cNvPr id="57" name="Gruppo 56">
            <a:extLst>
              <a:ext uri="{FF2B5EF4-FFF2-40B4-BE49-F238E27FC236}">
                <a16:creationId xmlns:a16="http://schemas.microsoft.com/office/drawing/2014/main" id="{26A6844F-2A05-5946-8D8B-0A4193C6074C}"/>
              </a:ext>
            </a:extLst>
          </p:cNvPr>
          <p:cNvGrpSpPr/>
          <p:nvPr/>
        </p:nvGrpSpPr>
        <p:grpSpPr>
          <a:xfrm>
            <a:off x="11288486" y="5413765"/>
            <a:ext cx="870859" cy="507831"/>
            <a:chOff x="5175706" y="2560466"/>
            <a:chExt cx="875539" cy="507831"/>
          </a:xfrm>
        </p:grpSpPr>
        <p:sp>
          <p:nvSpPr>
            <p:cNvPr id="58" name="Rombo 57">
              <a:extLst>
                <a:ext uri="{FF2B5EF4-FFF2-40B4-BE49-F238E27FC236}">
                  <a16:creationId xmlns:a16="http://schemas.microsoft.com/office/drawing/2014/main" id="{D7BCA310-BAB8-E84A-B500-83327905D2FF}"/>
                </a:ext>
              </a:extLst>
            </p:cNvPr>
            <p:cNvSpPr/>
            <p:nvPr/>
          </p:nvSpPr>
          <p:spPr>
            <a:xfrm>
              <a:off x="5175706" y="2710842"/>
              <a:ext cx="156610" cy="148480"/>
            </a:xfrm>
            <a:prstGeom prst="diamond">
              <a:avLst/>
            </a:prstGeom>
            <a:solidFill>
              <a:srgbClr val="DBF11E"/>
            </a:solidFill>
            <a:ln>
              <a:solidFill>
                <a:srgbClr val="DBF11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sz="2800">
                <a:solidFill>
                  <a:srgbClr val="17428B"/>
                </a:solidFill>
                <a:latin typeface="Montserrat" panose="00000500000000000000" pitchFamily="2" charset="0"/>
              </a:endParaRPr>
            </a:p>
          </p:txBody>
        </p:sp>
        <p:sp>
          <p:nvSpPr>
            <p:cNvPr id="59" name="Callout 13 58">
              <a:extLst>
                <a:ext uri="{FF2B5EF4-FFF2-40B4-BE49-F238E27FC236}">
                  <a16:creationId xmlns:a16="http://schemas.microsoft.com/office/drawing/2014/main" id="{AE2017B0-5644-C243-A946-B6089068A9E4}"/>
                </a:ext>
              </a:extLst>
            </p:cNvPr>
            <p:cNvSpPr/>
            <p:nvPr/>
          </p:nvSpPr>
          <p:spPr>
            <a:xfrm>
              <a:off x="5408333" y="2560466"/>
              <a:ext cx="642912" cy="507831"/>
            </a:xfrm>
            <a:prstGeom prst="accentBorderCallout1">
              <a:avLst>
                <a:gd name="adj1" fmla="val 18750"/>
                <a:gd name="adj2" fmla="val -8333"/>
                <a:gd name="adj3" fmla="val 67119"/>
                <a:gd name="adj4" fmla="val -18238"/>
              </a:avLst>
            </a:prstGeom>
            <a:solidFill>
              <a:schemeClr val="bg1"/>
            </a:solidFill>
            <a:ln>
              <a:solidFill>
                <a:srgbClr val="DBF11E"/>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spAutoFit/>
            </a:bodyPr>
            <a:lstStyle/>
            <a:p>
              <a:r>
                <a:rPr lang="it-IT" sz="900" err="1">
                  <a:solidFill>
                    <a:srgbClr val="17428B"/>
                  </a:solidFill>
                  <a:latin typeface="Montserrat" panose="00000500000000000000" pitchFamily="2" charset="0"/>
                </a:rPr>
                <a:t>Closing</a:t>
              </a:r>
              <a:r>
                <a:rPr lang="it-IT" sz="900">
                  <a:solidFill>
                    <a:srgbClr val="17428B"/>
                  </a:solidFill>
                  <a:latin typeface="Montserrat" panose="00000500000000000000" pitchFamily="2" charset="0"/>
                </a:rPr>
                <a:t> </a:t>
              </a:r>
              <a:r>
                <a:rPr lang="it-IT" sz="900" err="1">
                  <a:solidFill>
                    <a:srgbClr val="17428B"/>
                  </a:solidFill>
                  <a:latin typeface="Montserrat" panose="00000500000000000000" pitchFamily="2" charset="0"/>
                </a:rPr>
                <a:t>Cerimony</a:t>
              </a:r>
              <a:endParaRPr lang="it-IT" sz="900">
                <a:solidFill>
                  <a:srgbClr val="17428B"/>
                </a:solidFill>
                <a:latin typeface="Montserrat" panose="00000500000000000000" pitchFamily="2" charset="0"/>
              </a:endParaRPr>
            </a:p>
          </p:txBody>
        </p:sp>
      </p:grpSp>
    </p:spTree>
    <p:extLst>
      <p:ext uri="{BB962C8B-B14F-4D97-AF65-F5344CB8AC3E}">
        <p14:creationId xmlns:p14="http://schemas.microsoft.com/office/powerpoint/2010/main" val="885594136"/>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olo 1">
            <a:extLst>
              <a:ext uri="{FF2B5EF4-FFF2-40B4-BE49-F238E27FC236}">
                <a16:creationId xmlns:a16="http://schemas.microsoft.com/office/drawing/2014/main" id="{92E68C12-A3F0-B644-AD84-E1B865BFF450}"/>
              </a:ext>
            </a:extLst>
          </p:cNvPr>
          <p:cNvSpPr txBox="1">
            <a:spLocks/>
          </p:cNvSpPr>
          <p:nvPr/>
        </p:nvSpPr>
        <p:spPr>
          <a:xfrm>
            <a:off x="758695" y="264055"/>
            <a:ext cx="7726086" cy="110110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it-IT">
                <a:solidFill>
                  <a:srgbClr val="134193"/>
                </a:solidFill>
                <a:latin typeface="Montserrat" panose="00000500000000000000" pitchFamily="2" charset="0"/>
              </a:rPr>
              <a:t>High </a:t>
            </a:r>
            <a:r>
              <a:rPr lang="it-IT" err="1">
                <a:solidFill>
                  <a:srgbClr val="134193"/>
                </a:solidFill>
                <a:latin typeface="Montserrat" panose="00000500000000000000" pitchFamily="2" charset="0"/>
              </a:rPr>
              <a:t>level</a:t>
            </a:r>
            <a:r>
              <a:rPr lang="it-IT">
                <a:solidFill>
                  <a:srgbClr val="134193"/>
                </a:solidFill>
                <a:latin typeface="Montserrat" panose="00000500000000000000" pitchFamily="2" charset="0"/>
              </a:rPr>
              <a:t> </a:t>
            </a:r>
            <a:r>
              <a:rPr lang="it-IT" err="1">
                <a:solidFill>
                  <a:srgbClr val="134193"/>
                </a:solidFill>
                <a:latin typeface="Montserrat" panose="00000500000000000000" pitchFamily="2" charset="0"/>
              </a:rPr>
              <a:t>plan</a:t>
            </a:r>
            <a:endParaRPr lang="it-IT">
              <a:solidFill>
                <a:srgbClr val="134193"/>
              </a:solidFill>
              <a:latin typeface="Montserrat" panose="00000500000000000000" pitchFamily="2" charset="0"/>
            </a:endParaRPr>
          </a:p>
        </p:txBody>
      </p:sp>
      <p:pic>
        <p:nvPicPr>
          <p:cNvPr id="7" name="Picture 6" descr="aegis_gantt.png"/>
          <p:cNvPicPr>
            <a:picLocks noChangeAspect="1"/>
          </p:cNvPicPr>
          <p:nvPr/>
        </p:nvPicPr>
        <p:blipFill>
          <a:blip r:embed="rId4"/>
          <a:stretch>
            <a:fillRect/>
          </a:stretch>
        </p:blipFill>
        <p:spPr>
          <a:xfrm>
            <a:off x="1040748" y="1064357"/>
            <a:ext cx="9255820" cy="4949293"/>
          </a:xfrm>
          <a:prstGeom prst="rect">
            <a:avLst/>
          </a:prstGeom>
        </p:spPr>
      </p:pic>
    </p:spTree>
    <p:extLst>
      <p:ext uri="{BB962C8B-B14F-4D97-AF65-F5344CB8AC3E}">
        <p14:creationId xmlns:p14="http://schemas.microsoft.com/office/powerpoint/2010/main" val="3484281282"/>
      </p:ext>
    </p:extLst>
  </p:cSld>
  <p:clrMapOvr>
    <a:masterClrMapping/>
  </p:clrMapOvr>
  <p:extLst>
    <p:ext uri="{6950BFC3-D8DA-4A85-94F7-54DA5524770B}">
      <p188:commentRel xmlns:p188="http://schemas.microsoft.com/office/powerpoint/2018/8/main" r:id="rId2"/>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Tabella 3">
            <a:extLst>
              <a:ext uri="{FF2B5EF4-FFF2-40B4-BE49-F238E27FC236}">
                <a16:creationId xmlns:a16="http://schemas.microsoft.com/office/drawing/2014/main" id="{0F9E298A-E924-3D46-A8F3-ADFAFCA3E8A2}"/>
              </a:ext>
            </a:extLst>
          </p:cNvPr>
          <p:cNvGraphicFramePr>
            <a:graphicFrameLocks noGrp="1"/>
          </p:cNvGraphicFramePr>
          <p:nvPr>
            <p:extLst>
              <p:ext uri="{D42A27DB-BD31-4B8C-83A1-F6EECF244321}">
                <p14:modId xmlns:p14="http://schemas.microsoft.com/office/powerpoint/2010/main" val="4040339849"/>
              </p:ext>
            </p:extLst>
          </p:nvPr>
        </p:nvGraphicFramePr>
        <p:xfrm>
          <a:off x="171449" y="1218899"/>
          <a:ext cx="11858872" cy="3039333"/>
        </p:xfrm>
        <a:graphic>
          <a:graphicData uri="http://schemas.openxmlformats.org/drawingml/2006/table">
            <a:tbl>
              <a:tblPr firstRow="1" bandRow="1">
                <a:tableStyleId>{5940675A-B579-460E-94D1-54222C63F5DA}</a:tableStyleId>
              </a:tblPr>
              <a:tblGrid>
                <a:gridCol w="3996871">
                  <a:extLst>
                    <a:ext uri="{9D8B030D-6E8A-4147-A177-3AD203B41FA5}">
                      <a16:colId xmlns:a16="http://schemas.microsoft.com/office/drawing/2014/main" val="943799126"/>
                    </a:ext>
                  </a:extLst>
                </a:gridCol>
                <a:gridCol w="1618927">
                  <a:extLst>
                    <a:ext uri="{9D8B030D-6E8A-4147-A177-3AD203B41FA5}">
                      <a16:colId xmlns:a16="http://schemas.microsoft.com/office/drawing/2014/main" val="1653647726"/>
                    </a:ext>
                  </a:extLst>
                </a:gridCol>
                <a:gridCol w="1314513">
                  <a:extLst>
                    <a:ext uri="{9D8B030D-6E8A-4147-A177-3AD203B41FA5}">
                      <a16:colId xmlns:a16="http://schemas.microsoft.com/office/drawing/2014/main" val="3771449743"/>
                    </a:ext>
                  </a:extLst>
                </a:gridCol>
                <a:gridCol w="4928561">
                  <a:extLst>
                    <a:ext uri="{9D8B030D-6E8A-4147-A177-3AD203B41FA5}">
                      <a16:colId xmlns:a16="http://schemas.microsoft.com/office/drawing/2014/main" val="4194400007"/>
                    </a:ext>
                  </a:extLst>
                </a:gridCol>
              </a:tblGrid>
              <a:tr h="448533">
                <a:tc>
                  <a:txBody>
                    <a:bodyPr/>
                    <a:lstStyle/>
                    <a:p>
                      <a:pPr algn="l"/>
                      <a:r>
                        <a:rPr lang="en-US" sz="1600" b="1" kern="1200" noProof="0">
                          <a:solidFill>
                            <a:schemeClr val="lt1"/>
                          </a:solidFill>
                          <a:latin typeface="Montserrat" panose="00000500000000000000" pitchFamily="2" charset="0"/>
                          <a:ea typeface="+mn-ea"/>
                          <a:cs typeface="+mn-cs"/>
                        </a:rPr>
                        <a:t>Risk</a:t>
                      </a:r>
                    </a:p>
                  </a:txBody>
                  <a:tcPr>
                    <a:solidFill>
                      <a:srgbClr val="002060"/>
                    </a:solidFill>
                  </a:tcPr>
                </a:tc>
                <a:tc>
                  <a:txBody>
                    <a:bodyPr/>
                    <a:lstStyle/>
                    <a:p>
                      <a:pPr algn="ctr"/>
                      <a:r>
                        <a:rPr lang="en-US" sz="1600" b="1" kern="1200" noProof="0">
                          <a:solidFill>
                            <a:schemeClr val="lt1"/>
                          </a:solidFill>
                          <a:latin typeface="Montserrat" panose="00000500000000000000" pitchFamily="2" charset="0"/>
                          <a:ea typeface="+mn-ea"/>
                          <a:cs typeface="+mn-cs"/>
                        </a:rPr>
                        <a:t>Likelihood</a:t>
                      </a:r>
                    </a:p>
                  </a:txBody>
                  <a:tcPr>
                    <a:solidFill>
                      <a:srgbClr val="002060"/>
                    </a:solidFill>
                  </a:tcPr>
                </a:tc>
                <a:tc>
                  <a:txBody>
                    <a:bodyPr/>
                    <a:lstStyle/>
                    <a:p>
                      <a:pPr algn="ctr"/>
                      <a:r>
                        <a:rPr lang="en-US" sz="1600" b="1" kern="1200" noProof="0">
                          <a:solidFill>
                            <a:schemeClr val="lt1"/>
                          </a:solidFill>
                          <a:latin typeface="Montserrat" panose="00000500000000000000" pitchFamily="2" charset="0"/>
                          <a:ea typeface="+mn-ea"/>
                          <a:cs typeface="+mn-cs"/>
                        </a:rPr>
                        <a:t>Severity</a:t>
                      </a:r>
                    </a:p>
                  </a:txBody>
                  <a:tcPr>
                    <a:solidFill>
                      <a:srgbClr val="002060"/>
                    </a:solidFill>
                  </a:tcPr>
                </a:tc>
                <a:tc>
                  <a:txBody>
                    <a:bodyPr/>
                    <a:lstStyle/>
                    <a:p>
                      <a:pPr algn="ctr"/>
                      <a:r>
                        <a:rPr lang="en-US" sz="1600" b="1" kern="1200" noProof="0">
                          <a:solidFill>
                            <a:schemeClr val="lt1"/>
                          </a:solidFill>
                          <a:latin typeface="Montserrat" panose="00000500000000000000" pitchFamily="2" charset="0"/>
                          <a:ea typeface="+mn-ea"/>
                          <a:cs typeface="+mn-cs"/>
                        </a:rPr>
                        <a:t>Remediation</a:t>
                      </a:r>
                    </a:p>
                  </a:txBody>
                  <a:tcPr>
                    <a:solidFill>
                      <a:srgbClr val="002060"/>
                    </a:solidFill>
                  </a:tcPr>
                </a:tc>
                <a:extLst>
                  <a:ext uri="{0D108BD9-81ED-4DB2-BD59-A6C34878D82A}">
                    <a16:rowId xmlns:a16="http://schemas.microsoft.com/office/drawing/2014/main" val="1009046926"/>
                  </a:ext>
                </a:extLst>
              </a:tr>
              <a:tr h="251003">
                <a:tc>
                  <a:txBody>
                    <a:bodyPr wrap="square"/>
                    <a:lstStyle/>
                    <a:p>
                      <a:r>
                        <a:rPr sz="1000"/>
                        <a:t>Risk #1 - Real data not shared in time</a:t>
                      </a:r>
                    </a:p>
                  </a:txBody>
                  <a:tcPr>
                    <a:solidFill>
                      <a:srgbClr val="ADDDFF"/>
                    </a:solidFill>
                  </a:tcPr>
                </a:tc>
                <a:tc>
                  <a:txBody>
                    <a:bodyPr wrap="square"/>
                    <a:lstStyle/>
                    <a:p>
                      <a:r>
                        <a:rPr sz="1000"/>
                        <a:t>Medium</a:t>
                      </a:r>
                    </a:p>
                  </a:txBody>
                  <a:tcPr anchor="ctr">
                    <a:solidFill>
                      <a:schemeClr val="accent6">
                        <a:lumMod val="20000"/>
                        <a:lumOff val="80000"/>
                      </a:schemeClr>
                    </a:solidFill>
                  </a:tcPr>
                </a:tc>
                <a:tc>
                  <a:txBody>
                    <a:bodyPr wrap="square"/>
                    <a:lstStyle/>
                    <a:p>
                      <a:r>
                        <a:rPr sz="1000"/>
                        <a:t>High</a:t>
                      </a:r>
                    </a:p>
                  </a:txBody>
                  <a:tcPr anchor="ctr">
                    <a:solidFill>
                      <a:schemeClr val="accent4">
                        <a:lumMod val="20000"/>
                        <a:lumOff val="80000"/>
                      </a:schemeClr>
                    </a:solidFill>
                  </a:tcPr>
                </a:tc>
                <a:tc>
                  <a:txBody>
                    <a:bodyPr wrap="square"/>
                    <a:lstStyle/>
                    <a:p>
                      <a:r>
                        <a:rPr sz="900"/>
                        <a:t>Stay synthetic-first: the baseline PoC already works without real data; real data upgrades the result, it does not block delivery.</a:t>
                      </a:r>
                    </a:p>
                  </a:txBody>
                  <a:tcPr>
                    <a:noFill/>
                  </a:tcPr>
                </a:tc>
                <a:extLst>
                  <a:ext uri="{0D108BD9-81ED-4DB2-BD59-A6C34878D82A}">
                    <a16:rowId xmlns:a16="http://schemas.microsoft.com/office/drawing/2014/main" val="1103223226"/>
                  </a:ext>
                </a:extLst>
              </a:tr>
              <a:tr h="194419">
                <a:tc>
                  <a:txBody>
                    <a:bodyPr wrap="square"/>
                    <a:lstStyle/>
                    <a:p>
                      <a:r>
                        <a:rPr sz="1000"/>
                        <a:t>Risk #2 - FASTedge has no inline policy hook</a:t>
                      </a:r>
                    </a:p>
                  </a:txBody>
                  <a:tcPr>
                    <a:solidFill>
                      <a:srgbClr val="ADDDFF"/>
                    </a:solidFill>
                  </a:tcPr>
                </a:tc>
                <a:tc>
                  <a:txBody>
                    <a:bodyPr wrap="square"/>
                    <a:lstStyle/>
                    <a:p>
                      <a:r>
                        <a:rPr sz="1000"/>
                        <a:t>Medium</a:t>
                      </a:r>
                    </a:p>
                  </a:txBody>
                  <a:tcPr anchor="ctr">
                    <a:solidFill>
                      <a:srgbClr val="FF8D8A"/>
                    </a:solidFill>
                  </a:tcPr>
                </a:tc>
                <a:tc>
                  <a:txBody>
                    <a:bodyPr wrap="square"/>
                    <a:lstStyle/>
                    <a:p>
                      <a:r>
                        <a:rPr sz="1000"/>
                        <a:t>Medium</a:t>
                      </a:r>
                    </a:p>
                  </a:txBody>
                  <a:tcPr anchor="ctr">
                    <a:solidFill>
                      <a:schemeClr val="accent6">
                        <a:lumMod val="20000"/>
                        <a:lumOff val="80000"/>
                      </a:schemeClr>
                    </a:solidFill>
                  </a:tcPr>
                </a:tc>
                <a:tc>
                  <a:txBody>
                    <a:bodyPr wrap="square"/>
                    <a:lstStyle/>
                    <a:p>
                      <a:r>
                        <a:rPr sz="900"/>
                        <a:t>Demo as a passive observe-and-alert system feeding a SOC workflow instead of inline enforcement, still a complete, useful PoC.</a:t>
                      </a:r>
                    </a:p>
                  </a:txBody>
                  <a:tcPr>
                    <a:noFill/>
                  </a:tcPr>
                </a:tc>
                <a:extLst>
                  <a:ext uri="{0D108BD9-81ED-4DB2-BD59-A6C34878D82A}">
                    <a16:rowId xmlns:a16="http://schemas.microsoft.com/office/drawing/2014/main" val="1679141287"/>
                  </a:ext>
                </a:extLst>
              </a:tr>
              <a:tr h="307142">
                <a:tc>
                  <a:txBody>
                    <a:bodyPr wrap="square"/>
                    <a:lstStyle/>
                    <a:p>
                      <a:r>
                        <a:rPr sz="1000"/>
                        <a:t>Risk #3 - Detector doesn't generalise to real traffic noise</a:t>
                      </a:r>
                    </a:p>
                  </a:txBody>
                  <a:tcPr>
                    <a:solidFill>
                      <a:srgbClr val="ADDDFF"/>
                    </a:solidFill>
                  </a:tcPr>
                </a:tc>
                <a:tc>
                  <a:txBody>
                    <a:bodyPr wrap="square"/>
                    <a:lstStyle/>
                    <a:p>
                      <a:r>
                        <a:rPr sz="1000"/>
                        <a:t>Low</a:t>
                      </a:r>
                    </a:p>
                  </a:txBody>
                  <a:tcPr anchor="ctr">
                    <a:solidFill>
                      <a:schemeClr val="accent4">
                        <a:lumMod val="20000"/>
                        <a:lumOff val="80000"/>
                      </a:schemeClr>
                    </a:solidFill>
                  </a:tcPr>
                </a:tc>
                <a:tc>
                  <a:txBody>
                    <a:bodyPr wrap="square"/>
                    <a:lstStyle/>
                    <a:p>
                      <a:r>
                        <a:rPr sz="1000"/>
                        <a:t>High</a:t>
                      </a:r>
                    </a:p>
                  </a:txBody>
                  <a:tcPr anchor="ctr">
                    <a:solidFill>
                      <a:srgbClr val="FF8D8A"/>
                    </a:solidFill>
                  </a:tcPr>
                </a:tc>
                <a:tc>
                  <a:txBody>
                    <a:bodyPr wrap="square"/>
                    <a:lstStyle/>
                    <a:p>
                      <a:r>
                        <a:rPr sz="900"/>
                        <a:t>Validate early against any real sample offered; keep the deterministic rules layer as a robust fallback alongside the ML model.</a:t>
                      </a:r>
                    </a:p>
                  </a:txBody>
                  <a:tcPr>
                    <a:noFill/>
                  </a:tcPr>
                </a:tc>
                <a:extLst>
                  <a:ext uri="{0D108BD9-81ED-4DB2-BD59-A6C34878D82A}">
                    <a16:rowId xmlns:a16="http://schemas.microsoft.com/office/drawing/2014/main" val="3989941247"/>
                  </a:ext>
                </a:extLst>
              </a:tr>
              <a:tr h="318052">
                <a:tc>
                  <a:txBody>
                    <a:bodyPr wrap="square"/>
                    <a:lstStyle/>
                    <a:p>
                      <a:r>
                        <a:rPr sz="1000"/>
                        <a:t>Risk #4 - Timeline slip before Gate 2 / Gate 3</a:t>
                      </a:r>
                    </a:p>
                  </a:txBody>
                  <a:tcPr>
                    <a:solidFill>
                      <a:srgbClr val="ADDDFF"/>
                    </a:solidFill>
                  </a:tcPr>
                </a:tc>
                <a:tc>
                  <a:txBody>
                    <a:bodyPr wrap="square"/>
                    <a:lstStyle/>
                    <a:p>
                      <a:r>
                        <a:rPr sz="1000"/>
                        <a:t>Low</a:t>
                      </a:r>
                    </a:p>
                  </a:txBody>
                  <a:tcPr anchor="ctr">
                    <a:solidFill>
                      <a:schemeClr val="accent6">
                        <a:lumMod val="20000"/>
                        <a:lumOff val="80000"/>
                      </a:schemeClr>
                    </a:solidFill>
                  </a:tcPr>
                </a:tc>
                <a:tc>
                  <a:txBody>
                    <a:bodyPr wrap="square"/>
                    <a:lstStyle/>
                    <a:p>
                      <a:r>
                        <a:rPr sz="1000"/>
                        <a:t>Medium</a:t>
                      </a:r>
                    </a:p>
                  </a:txBody>
                  <a:tcPr anchor="ctr">
                    <a:solidFill>
                      <a:schemeClr val="accent4">
                        <a:lumMod val="20000"/>
                        <a:lumOff val="80000"/>
                      </a:schemeClr>
                    </a:solidFill>
                  </a:tcPr>
                </a:tc>
                <a:tc>
                  <a:txBody>
                    <a:bodyPr wrap="square"/>
                    <a:lstStyle/>
                    <a:p>
                      <a:r>
                        <a:rPr sz="900"/>
                        <a:t>Foundation and baseline detector are already complete ahead of schedule, giving buffer through the Sep-Oct plan.</a:t>
                      </a:r>
                    </a:p>
                  </a:txBody>
                  <a:tcPr>
                    <a:noFill/>
                  </a:tcPr>
                </a:tc>
                <a:extLst>
                  <a:ext uri="{0D108BD9-81ED-4DB2-BD59-A6C34878D82A}">
                    <a16:rowId xmlns:a16="http://schemas.microsoft.com/office/drawing/2014/main" val="1798014968"/>
                  </a:ext>
                </a:extLst>
              </a:tr>
              <a:tr h="164227">
                <a:tc>
                  <a:txBody>
                    <a:bodyPr wrap="square"/>
                    <a:lstStyle/>
                    <a:p>
                      <a:r>
                        <a:rPr sz="1000"/>
                        <a:t>Risk #5 - Team bandwidth / academic workload conflicts</a:t>
                      </a:r>
                    </a:p>
                  </a:txBody>
                  <a:tcPr>
                    <a:solidFill>
                      <a:srgbClr val="ADDDFF"/>
                    </a:solidFill>
                  </a:tcPr>
                </a:tc>
                <a:tc>
                  <a:txBody>
                    <a:bodyPr wrap="square"/>
                    <a:lstStyle/>
                    <a:p>
                      <a:r>
                        <a:rPr sz="1000"/>
                        <a:t>Medium</a:t>
                      </a:r>
                    </a:p>
                  </a:txBody>
                  <a:tcPr anchor="ctr">
                    <a:solidFill>
                      <a:schemeClr val="accent6">
                        <a:lumMod val="20000"/>
                        <a:lumOff val="80000"/>
                      </a:schemeClr>
                    </a:solidFill>
                  </a:tcPr>
                </a:tc>
                <a:tc>
                  <a:txBody>
                    <a:bodyPr wrap="square"/>
                    <a:lstStyle/>
                    <a:p>
                      <a:r>
                        <a:rPr sz="1000"/>
                        <a:t>Low</a:t>
                      </a:r>
                    </a:p>
                  </a:txBody>
                  <a:tcPr anchor="ctr">
                    <a:solidFill>
                      <a:schemeClr val="accent6">
                        <a:lumMod val="20000"/>
                        <a:lumOff val="80000"/>
                      </a:schemeClr>
                    </a:solidFill>
                  </a:tcPr>
                </a:tc>
                <a:tc>
                  <a:txBody>
                    <a:bodyPr wrap="square"/>
                    <a:lstStyle/>
                    <a:p>
                      <a:r>
                        <a:rPr sz="900"/>
                        <a:t>Clear task ownership per member, weekly sync, captain tracks blockers early.</a:t>
                      </a:r>
                    </a:p>
                  </a:txBody>
                  <a:tcPr>
                    <a:noFill/>
                  </a:tcPr>
                </a:tc>
                <a:extLst>
                  <a:ext uri="{0D108BD9-81ED-4DB2-BD59-A6C34878D82A}">
                    <a16:rowId xmlns:a16="http://schemas.microsoft.com/office/drawing/2014/main" val="2121300882"/>
                  </a:ext>
                </a:extLst>
              </a:tr>
            </a:tbl>
          </a:graphicData>
        </a:graphic>
      </p:graphicFrame>
      <p:sp>
        <p:nvSpPr>
          <p:cNvPr id="10" name="Titolo 1">
            <a:extLst>
              <a:ext uri="{FF2B5EF4-FFF2-40B4-BE49-F238E27FC236}">
                <a16:creationId xmlns:a16="http://schemas.microsoft.com/office/drawing/2014/main" id="{16AF9DDC-8A87-044F-A7CA-4A40E7019179}"/>
              </a:ext>
            </a:extLst>
          </p:cNvPr>
          <p:cNvSpPr txBox="1">
            <a:spLocks/>
          </p:cNvSpPr>
          <p:nvPr/>
        </p:nvSpPr>
        <p:spPr>
          <a:xfrm>
            <a:off x="758695" y="264055"/>
            <a:ext cx="7726086" cy="110110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it-IT" err="1">
                <a:solidFill>
                  <a:srgbClr val="134193"/>
                </a:solidFill>
                <a:latin typeface="Montserrat" panose="00000500000000000000" pitchFamily="2" charset="0"/>
              </a:rPr>
              <a:t>Risk</a:t>
            </a:r>
            <a:r>
              <a:rPr lang="it-IT">
                <a:solidFill>
                  <a:srgbClr val="134193"/>
                </a:solidFill>
                <a:latin typeface="Montserrat" panose="00000500000000000000" pitchFamily="2" charset="0"/>
              </a:rPr>
              <a:t> Analysis</a:t>
            </a:r>
          </a:p>
        </p:txBody>
      </p:sp>
    </p:spTree>
    <p:extLst>
      <p:ext uri="{BB962C8B-B14F-4D97-AF65-F5344CB8AC3E}">
        <p14:creationId xmlns:p14="http://schemas.microsoft.com/office/powerpoint/2010/main" val="2060938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ella 4">
            <a:extLst>
              <a:ext uri="{FF2B5EF4-FFF2-40B4-BE49-F238E27FC236}">
                <a16:creationId xmlns:a16="http://schemas.microsoft.com/office/drawing/2014/main" id="{E7941E38-7D8D-2B4C-8797-42816D17E83D}"/>
              </a:ext>
            </a:extLst>
          </p:cNvPr>
          <p:cNvGraphicFramePr>
            <a:graphicFrameLocks noGrp="1"/>
          </p:cNvGraphicFramePr>
          <p:nvPr>
            <p:extLst>
              <p:ext uri="{D42A27DB-BD31-4B8C-83A1-F6EECF244321}">
                <p14:modId xmlns:p14="http://schemas.microsoft.com/office/powerpoint/2010/main" val="4125186645"/>
              </p:ext>
            </p:extLst>
          </p:nvPr>
        </p:nvGraphicFramePr>
        <p:xfrm>
          <a:off x="2103573" y="1149235"/>
          <a:ext cx="9494869" cy="5310096"/>
        </p:xfrm>
        <a:graphic>
          <a:graphicData uri="http://schemas.openxmlformats.org/drawingml/2006/table">
            <a:tbl>
              <a:tblPr firstRow="1" firstCol="1" bandRow="1">
                <a:tableStyleId>{5C22544A-7EE6-4342-B048-85BDC9FD1C3A}</a:tableStyleId>
              </a:tblPr>
              <a:tblGrid>
                <a:gridCol w="1259569">
                  <a:extLst>
                    <a:ext uri="{9D8B030D-6E8A-4147-A177-3AD203B41FA5}">
                      <a16:colId xmlns:a16="http://schemas.microsoft.com/office/drawing/2014/main" val="135401727"/>
                    </a:ext>
                  </a:extLst>
                </a:gridCol>
                <a:gridCol w="7035388">
                  <a:extLst>
                    <a:ext uri="{9D8B030D-6E8A-4147-A177-3AD203B41FA5}">
                      <a16:colId xmlns:a16="http://schemas.microsoft.com/office/drawing/2014/main" val="2738241087"/>
                    </a:ext>
                  </a:extLst>
                </a:gridCol>
                <a:gridCol w="1199912">
                  <a:extLst>
                    <a:ext uri="{9D8B030D-6E8A-4147-A177-3AD203B41FA5}">
                      <a16:colId xmlns:a16="http://schemas.microsoft.com/office/drawing/2014/main" val="2255875680"/>
                    </a:ext>
                  </a:extLst>
                </a:gridCol>
              </a:tblGrid>
              <a:tr h="280742">
                <a:tc>
                  <a:txBody>
                    <a:bodyPr/>
                    <a:lstStyle/>
                    <a:p>
                      <a:pPr algn="ctr"/>
                      <a:r>
                        <a:rPr lang="it-IT" sz="1400">
                          <a:latin typeface="Montserrat" panose="00000500000000000000" pitchFamily="2" charset="0"/>
                        </a:rPr>
                        <a:t>Area</a:t>
                      </a:r>
                      <a:endParaRPr lang="en-US" sz="1400">
                        <a:latin typeface="Montserrat" panose="00000500000000000000" pitchFamily="2" charset="0"/>
                      </a:endParaRPr>
                    </a:p>
                  </a:txBody>
                  <a:tcPr>
                    <a:lnB w="12700" cap="flat" cmpd="sng" algn="ctr">
                      <a:solidFill>
                        <a:schemeClr val="tx1"/>
                      </a:solidFill>
                      <a:prstDash val="solid"/>
                      <a:round/>
                      <a:headEnd type="none" w="med" len="med"/>
                      <a:tailEnd type="none" w="med" len="med"/>
                    </a:lnB>
                    <a:solidFill>
                      <a:srgbClr val="002060"/>
                    </a:solidFill>
                  </a:tcPr>
                </a:tc>
                <a:tc>
                  <a:txBody>
                    <a:bodyPr/>
                    <a:lstStyle/>
                    <a:p>
                      <a:pPr algn="ctr"/>
                      <a:r>
                        <a:rPr lang="it-IT" sz="1400">
                          <a:latin typeface="Montserrat" panose="00000500000000000000" pitchFamily="2" charset="0"/>
                        </a:rPr>
                        <a:t>Actions/Notes</a:t>
                      </a:r>
                      <a:endParaRPr lang="en-US" sz="1400">
                        <a:latin typeface="Montserrat" panose="00000500000000000000" pitchFamily="2" charset="0"/>
                      </a:endParaRPr>
                    </a:p>
                  </a:txBody>
                  <a:tcPr>
                    <a:lnB w="12700" cap="flat" cmpd="sng" algn="ctr">
                      <a:solidFill>
                        <a:schemeClr val="tx1"/>
                      </a:solidFill>
                      <a:prstDash val="solid"/>
                      <a:round/>
                      <a:headEnd type="none" w="med" len="med"/>
                      <a:tailEnd type="none" w="med" len="med"/>
                    </a:lnB>
                    <a:solidFill>
                      <a:srgbClr val="002060"/>
                    </a:solidFill>
                  </a:tcPr>
                </a:tc>
                <a:tc>
                  <a:txBody>
                    <a:bodyPr/>
                    <a:lstStyle/>
                    <a:p>
                      <a:pPr algn="ctr"/>
                      <a:r>
                        <a:rPr lang="it-IT" sz="1400">
                          <a:latin typeface="Montserrat" panose="00000500000000000000" pitchFamily="2" charset="0"/>
                        </a:rPr>
                        <a:t>Status</a:t>
                      </a:r>
                      <a:endParaRPr lang="en-US" sz="1400">
                        <a:latin typeface="Montserrat" panose="00000500000000000000" pitchFamily="2" charset="0"/>
                      </a:endParaRPr>
                    </a:p>
                  </a:txBody>
                  <a:tcPr>
                    <a:lnB w="12700" cap="flat" cmpd="sng" algn="ctr">
                      <a:solidFill>
                        <a:schemeClr val="tx1"/>
                      </a:solidFill>
                      <a:prstDash val="solid"/>
                      <a:round/>
                      <a:headEnd type="none" w="med" len="med"/>
                      <a:tailEnd type="none" w="med" len="med"/>
                    </a:lnB>
                    <a:solidFill>
                      <a:srgbClr val="002060"/>
                    </a:solidFill>
                  </a:tcPr>
                </a:tc>
                <a:extLst>
                  <a:ext uri="{0D108BD9-81ED-4DB2-BD59-A6C34878D82A}">
                    <a16:rowId xmlns:a16="http://schemas.microsoft.com/office/drawing/2014/main" val="3566808597"/>
                  </a:ext>
                </a:extLst>
              </a:tr>
              <a:tr h="254880">
                <a:tc rowSpan="3">
                  <a:txBody>
                    <a:bodyPr/>
                    <a:lstStyle/>
                    <a:p>
                      <a:pPr algn="l"/>
                      <a:r>
                        <a:rPr lang="it-IT" sz="1200">
                          <a:solidFill>
                            <a:schemeClr val="tx1"/>
                          </a:solidFill>
                          <a:latin typeface="Montserrat" panose="00000500000000000000" pitchFamily="2" charset="0"/>
                        </a:rPr>
                        <a:t>        Financial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ADDDFF"/>
                    </a:solidFill>
                  </a:tcPr>
                </a:tc>
                <a:tc rowSpan="3">
                  <a:txBody>
                    <a:bodyPr wrap="square"/>
                    <a:lstStyle/>
                    <a:p>
                      <a:r>
                        <a:rPr sz="900"/>
                        <a:t>Cost: no licensing, 100% open-source, runs on a laptop; production adds only light edge compute.</a:t>
                      </a:r>
                    </a:p>
                    <a:p>
                      <a:r>
                        <a:rPr sz="900"/>
                        <a:t>Value: cuts detection time from hours to seconds, enables safer network automation, and gives audit-ready evidence for NIS2/GDPR/EU AI Act.</a:t>
                      </a:r>
                    </a:p>
                    <a:p>
                      <a:r>
                        <a:rPr sz="900"/>
                        <a:t>To be jointly costed and validated with Fastweb + Vodafone.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200">
                        <a:latin typeface="Montserrat" panose="00000500000000000000" pitchFamily="2" charset="0"/>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842371242"/>
                  </a:ext>
                </a:extLst>
              </a:tr>
              <a:tr h="254880">
                <a:tc vMerge="1">
                  <a:txBody>
                    <a:bodyPr/>
                    <a:lstStyle/>
                    <a:p>
                      <a:endParaRPr lang="en-US"/>
                    </a:p>
                  </a:txBody>
                  <a:tcPr/>
                </a:tc>
                <a:tc vMerge="1">
                  <a:txBody>
                    <a:bodyPr/>
                    <a:lstStyle/>
                    <a:p>
                      <a:endParaRPr lang="en-US" sz="1200"/>
                    </a:p>
                  </a:txBody>
                  <a:tcPr anchor="ctr"/>
                </a:tc>
                <a:tc>
                  <a:txBody>
                    <a:bodyPr/>
                    <a:lstStyle/>
                    <a:p>
                      <a:pPr algn="ctr"/>
                      <a:r>
                        <a:rPr lang="en-US" sz="1200">
                          <a:latin typeface="Montserrat" panose="00000500000000000000" pitchFamily="2" charset="0"/>
                        </a:rPr>
                        <a:t>Completed</a:t>
                      </a:r>
                    </a:p>
                  </a:txBody>
                  <a:tcPr anchor="ctr">
                    <a:lnR w="12700" cap="flat" cmpd="sng" algn="ctr">
                      <a:solidFill>
                        <a:schemeClr val="tx1"/>
                      </a:solidFill>
                      <a:prstDash val="solid"/>
                      <a:round/>
                      <a:headEnd type="none" w="med" len="med"/>
                      <a:tailEnd type="none" w="med" len="med"/>
                    </a:lnR>
                    <a:solidFill>
                      <a:schemeClr val="accent6"/>
                    </a:solidFill>
                  </a:tcPr>
                </a:tc>
                <a:extLst>
                  <a:ext uri="{0D108BD9-81ED-4DB2-BD59-A6C34878D82A}">
                    <a16:rowId xmlns:a16="http://schemas.microsoft.com/office/drawing/2014/main" val="4038346522"/>
                  </a:ext>
                </a:extLst>
              </a:tr>
              <a:tr h="254880">
                <a:tc vMerge="1">
                  <a:txBody>
                    <a:bodyPr/>
                    <a:lstStyle/>
                    <a:p>
                      <a:endParaRPr lang="en-US"/>
                    </a:p>
                  </a:txBody>
                  <a:tcPr/>
                </a:tc>
                <a:tc vMerge="1">
                  <a:txBody>
                    <a:bodyPr/>
                    <a:lstStyle/>
                    <a:p>
                      <a:endParaRPr lang="en-US" sz="1200"/>
                    </a:p>
                  </a:txBody>
                  <a:tcPr anchor="ctr">
                    <a:lnB w="12700" cap="flat" cmpd="sng" algn="ctr">
                      <a:solidFill>
                        <a:schemeClr val="tx1"/>
                      </a:solidFill>
                      <a:prstDash val="solid"/>
                      <a:round/>
                      <a:headEnd type="none" w="med" len="med"/>
                      <a:tailEnd type="none" w="med" len="med"/>
                    </a:lnB>
                  </a:tcPr>
                </a:tc>
                <a:tc>
                  <a:txBody>
                    <a:bodyPr/>
                    <a:lstStyle/>
                    <a:p>
                      <a:pPr algn="ctr"/>
                      <a:r>
                        <a:rPr lang="en-US" sz="1200">
                          <a:latin typeface="Montserrat" panose="00000500000000000000" pitchFamily="2" charset="0"/>
                        </a:rPr>
                        <a:t>Completed</a:t>
                      </a:r>
                    </a:p>
                  </a:txBody>
                  <a:tcPr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2150622628"/>
                  </a:ext>
                </a:extLst>
              </a:tr>
              <a:tr h="254880">
                <a:tc rowSpan="3">
                  <a:txBody>
                    <a:bodyPr/>
                    <a:lstStyle/>
                    <a:p>
                      <a:pPr algn="ctr"/>
                      <a:r>
                        <a:rPr lang="it-IT" sz="1200">
                          <a:solidFill>
                            <a:schemeClr val="tx1"/>
                          </a:solidFill>
                          <a:latin typeface="Montserrat" panose="00000500000000000000" pitchFamily="2" charset="0"/>
                        </a:rPr>
                        <a:t> </a:t>
                      </a:r>
                      <a:r>
                        <a:rPr lang="it-IT" sz="1200" err="1">
                          <a:solidFill>
                            <a:schemeClr val="tx1"/>
                          </a:solidFill>
                          <a:latin typeface="Montserrat" panose="00000500000000000000" pitchFamily="2" charset="0"/>
                        </a:rPr>
                        <a:t>Engineering</a:t>
                      </a:r>
                      <a:endParaRPr lang="it-IT" sz="1200">
                        <a:solidFill>
                          <a:schemeClr val="tx1"/>
                        </a:solidFill>
                        <a:latin typeface="Montserrat" panose="00000500000000000000" pitchFamily="2" charset="0"/>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ADDDFF"/>
                    </a:solidFill>
                  </a:tcPr>
                </a:tc>
                <a:tc rowSpan="3">
                  <a:txBody>
                    <a:bodyPr wrap="square"/>
                    <a:lstStyle/>
                    <a:p>
                      <a:r>
                        <a:rPr sz="900"/>
                        <a:t>Detector hardening (recon, temporal features): on going.</a:t>
                      </a:r>
                    </a:p>
                    <a:p>
                      <a:r>
                        <a:rPr sz="900"/>
                        <a:t>Real-data integration if Fastweb/Vodafone grant access: to be confirmed.</a:t>
                      </a:r>
                    </a:p>
                    <a:p>
                      <a:r>
                        <a:rPr sz="900"/>
                        <a:t>Synthetic traffic generator + baseline detector (rules + ML): completed.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it-IT" sz="1200">
                          <a:latin typeface="Montserrat" panose="00000500000000000000" pitchFamily="2" charset="0"/>
                        </a:rPr>
                        <a:t>On </a:t>
                      </a:r>
                      <a:r>
                        <a:rPr lang="it-IT" sz="1200" err="1">
                          <a:latin typeface="Montserrat" panose="00000500000000000000" pitchFamily="2" charset="0"/>
                        </a:rPr>
                        <a:t>going</a:t>
                      </a:r>
                      <a:endParaRPr lang="it-IT" sz="1200">
                        <a:latin typeface="Montserrat" panose="00000500000000000000" pitchFamily="2" charset="0"/>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4">
                        <a:lumMod val="60000"/>
                        <a:lumOff val="40000"/>
                      </a:schemeClr>
                    </a:solidFill>
                  </a:tcPr>
                </a:tc>
                <a:extLst>
                  <a:ext uri="{0D108BD9-81ED-4DB2-BD59-A6C34878D82A}">
                    <a16:rowId xmlns:a16="http://schemas.microsoft.com/office/drawing/2014/main" val="1103641056"/>
                  </a:ext>
                </a:extLst>
              </a:tr>
              <a:tr h="254880">
                <a:tc vMerge="1">
                  <a:txBody>
                    <a:bodyPr/>
                    <a:lstStyle/>
                    <a:p>
                      <a:endParaRPr lang="en-US"/>
                    </a:p>
                  </a:txBody>
                  <a:tcPr/>
                </a:tc>
                <a:tc vMerge="1">
                  <a:txBody>
                    <a:bodyPr/>
                    <a:lstStyle/>
                    <a:p>
                      <a:endParaRPr lang="it-IT" sz="1200"/>
                    </a:p>
                  </a:txBody>
                  <a:tcPr anchor="ctr"/>
                </a:tc>
                <a:tc>
                  <a:txBody>
                    <a:bodyPr/>
                    <a:lstStyle/>
                    <a:p>
                      <a:pPr algn="ctr"/>
                      <a:r>
                        <a:rPr lang="it-IT" sz="1200">
                          <a:latin typeface="Montserrat" panose="00000500000000000000" pitchFamily="2" charset="0"/>
                        </a:rPr>
                        <a:t>To be </a:t>
                      </a:r>
                      <a:r>
                        <a:rPr lang="it-IT" sz="1200" err="1">
                          <a:latin typeface="Montserrat" panose="00000500000000000000" pitchFamily="2" charset="0"/>
                        </a:rPr>
                        <a:t>confirmed</a:t>
                      </a:r>
                      <a:endParaRPr lang="it-IT" sz="1200">
                        <a:latin typeface="Montserrat" panose="00000500000000000000" pitchFamily="2" charset="0"/>
                      </a:endParaRPr>
                    </a:p>
                  </a:txBody>
                  <a:tcPr anchor="ctr">
                    <a:lnR w="12700" cap="flat" cmpd="sng" algn="ctr">
                      <a:solidFill>
                        <a:schemeClr val="tx1"/>
                      </a:solidFill>
                      <a:prstDash val="solid"/>
                      <a:round/>
                      <a:headEnd type="none" w="med" len="med"/>
                      <a:tailEnd type="none" w="med" len="med"/>
                    </a:lnR>
                    <a:solidFill>
                      <a:schemeClr val="accent4">
                        <a:lumMod val="60000"/>
                        <a:lumOff val="40000"/>
                      </a:schemeClr>
                    </a:solidFill>
                  </a:tcPr>
                </a:tc>
                <a:extLst>
                  <a:ext uri="{0D108BD9-81ED-4DB2-BD59-A6C34878D82A}">
                    <a16:rowId xmlns:a16="http://schemas.microsoft.com/office/drawing/2014/main" val="3064408415"/>
                  </a:ext>
                </a:extLst>
              </a:tr>
              <a:tr h="254880">
                <a:tc vMerge="1">
                  <a:txBody>
                    <a:bodyPr/>
                    <a:lstStyle/>
                    <a:p>
                      <a:endParaRPr lang="en-US"/>
                    </a:p>
                  </a:txBody>
                  <a:tcPr/>
                </a:tc>
                <a:tc vMerge="1">
                  <a:txBody>
                    <a:bodyPr/>
                    <a:lstStyle/>
                    <a:p>
                      <a:endParaRPr lang="it-IT" sz="1200"/>
                    </a:p>
                  </a:txBody>
                  <a:tcPr anchor="ctr">
                    <a:lnB w="12700" cap="flat" cmpd="sng" algn="ctr">
                      <a:solidFill>
                        <a:schemeClr val="tx1"/>
                      </a:solidFill>
                      <a:prstDash val="solid"/>
                      <a:round/>
                      <a:headEnd type="none" w="med" len="med"/>
                      <a:tailEnd type="none" w="med" len="med"/>
                    </a:lnB>
                  </a:tcPr>
                </a:tc>
                <a:tc>
                  <a:txBody>
                    <a:bodyPr/>
                    <a:lstStyle/>
                    <a:p>
                      <a:pPr algn="ctr"/>
                      <a:r>
                        <a:rPr lang="it-IT" sz="1200" err="1">
                          <a:latin typeface="Montserrat" panose="00000500000000000000" pitchFamily="2" charset="0"/>
                        </a:rPr>
                        <a:t>Completed</a:t>
                      </a:r>
                      <a:endParaRPr lang="it-IT" sz="1200">
                        <a:latin typeface="Montserrat" panose="00000500000000000000" pitchFamily="2" charset="0"/>
                      </a:endParaRPr>
                    </a:p>
                  </a:txBody>
                  <a:tcPr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185649434"/>
                  </a:ext>
                </a:extLst>
              </a:tr>
              <a:tr h="254880">
                <a:tc rowSpan="3">
                  <a:txBody>
                    <a:bodyPr/>
                    <a:lstStyle/>
                    <a:p>
                      <a:pPr algn="r"/>
                      <a:r>
                        <a:rPr lang="it-IT" sz="1200" err="1">
                          <a:solidFill>
                            <a:schemeClr val="tx1"/>
                          </a:solidFill>
                          <a:latin typeface="Montserrat" panose="00000500000000000000" pitchFamily="2" charset="0"/>
                        </a:rPr>
                        <a:t>Communication</a:t>
                      </a:r>
                      <a:endParaRPr lang="it-IT" sz="1200">
                        <a:solidFill>
                          <a:schemeClr val="tx1"/>
                        </a:solidFill>
                        <a:latin typeface="Montserrat" panose="00000500000000000000" pitchFamily="2" charset="0"/>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ADDDFF"/>
                    </a:solidFill>
                  </a:tcPr>
                </a:tc>
                <a:tc rowSpan="3">
                  <a:txBody>
                    <a:bodyPr wrap="square"/>
                    <a:lstStyle/>
                    <a:p>
                      <a:r>
                        <a:rPr sz="900"/>
                        <a:t>2 Sep dev meeting with Fastweb + Vodafone: completed.</a:t>
                      </a:r>
                    </a:p>
                    <a:p>
                      <a:r>
                        <a:rPr sz="900"/>
                        <a:t>Follow-up on data access, FASTedge hook, priority agent types: tbd.</a:t>
                      </a:r>
                    </a:p>
                    <a:p>
                      <a:r>
                        <a:rPr sz="900"/>
                        <a:t>Gate 1 presentation slot &amp; internal review: defined.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it-IT" sz="1200" err="1">
                          <a:latin typeface="Montserrat" panose="00000500000000000000" pitchFamily="2" charset="0"/>
                        </a:rPr>
                        <a:t>Completed</a:t>
                      </a:r>
                      <a:endParaRPr lang="it-IT" sz="1200">
                        <a:latin typeface="Montserrat" panose="00000500000000000000" pitchFamily="2" charset="0"/>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6"/>
                    </a:solidFill>
                  </a:tcPr>
                </a:tc>
                <a:extLst>
                  <a:ext uri="{0D108BD9-81ED-4DB2-BD59-A6C34878D82A}">
                    <a16:rowId xmlns:a16="http://schemas.microsoft.com/office/drawing/2014/main" val="3085370458"/>
                  </a:ext>
                </a:extLst>
              </a:tr>
              <a:tr h="254880">
                <a:tc vMerge="1">
                  <a:txBody>
                    <a:bodyPr/>
                    <a:lstStyle/>
                    <a:p>
                      <a:endParaRPr lang="en-US"/>
                    </a:p>
                  </a:txBody>
                  <a:tcPr/>
                </a:tc>
                <a:tc vMerge="1">
                  <a:txBody>
                    <a:bodyPr/>
                    <a:lstStyle/>
                    <a:p>
                      <a:endParaRPr lang="it-IT" sz="1200"/>
                    </a:p>
                  </a:txBody>
                  <a:tcPr anchor="ctr"/>
                </a:tc>
                <a:tc>
                  <a:txBody>
                    <a:bodyPr/>
                    <a:lstStyle/>
                    <a:p>
                      <a:pPr algn="ctr"/>
                      <a:r>
                        <a:rPr lang="it-IT" sz="1200" err="1">
                          <a:latin typeface="Montserrat" panose="00000500000000000000" pitchFamily="2" charset="0"/>
                        </a:rPr>
                        <a:t>tbd</a:t>
                      </a:r>
                      <a:endParaRPr lang="it-IT" sz="1200">
                        <a:latin typeface="Montserrat" panose="00000500000000000000" pitchFamily="2" charset="0"/>
                      </a:endParaRPr>
                    </a:p>
                  </a:txBody>
                  <a:tcPr anchor="ctr">
                    <a:lnR w="12700" cap="flat" cmpd="sng" algn="ctr">
                      <a:solidFill>
                        <a:schemeClr val="tx1"/>
                      </a:solidFill>
                      <a:prstDash val="solid"/>
                      <a:round/>
                      <a:headEnd type="none" w="med" len="med"/>
                      <a:tailEnd type="none" w="med" len="med"/>
                    </a:lnR>
                    <a:solidFill>
                      <a:schemeClr val="accent4">
                        <a:lumMod val="60000"/>
                        <a:lumOff val="40000"/>
                      </a:schemeClr>
                    </a:solidFill>
                  </a:tcPr>
                </a:tc>
                <a:extLst>
                  <a:ext uri="{0D108BD9-81ED-4DB2-BD59-A6C34878D82A}">
                    <a16:rowId xmlns:a16="http://schemas.microsoft.com/office/drawing/2014/main" val="1250885823"/>
                  </a:ext>
                </a:extLst>
              </a:tr>
              <a:tr h="252668">
                <a:tc vMerge="1">
                  <a:txBody>
                    <a:bodyPr/>
                    <a:lstStyle/>
                    <a:p>
                      <a:endParaRPr lang="en-US"/>
                    </a:p>
                  </a:txBody>
                  <a:tcPr/>
                </a:tc>
                <a:tc vMerge="1">
                  <a:txBody>
                    <a:bodyPr/>
                    <a:lstStyle/>
                    <a:p>
                      <a:endParaRPr lang="it-IT" sz="1200"/>
                    </a:p>
                  </a:txBody>
                  <a:tcPr anchor="ctr">
                    <a:lnB w="12700" cap="flat" cmpd="sng" algn="ctr">
                      <a:solidFill>
                        <a:schemeClr val="tx1"/>
                      </a:solidFill>
                      <a:prstDash val="solid"/>
                      <a:round/>
                      <a:headEnd type="none" w="med" len="med"/>
                      <a:tailEnd type="none" w="med" len="med"/>
                    </a:lnB>
                  </a:tcPr>
                </a:tc>
                <a:tc>
                  <a:txBody>
                    <a:bodyPr/>
                    <a:lstStyle/>
                    <a:p>
                      <a:pPr algn="ctr"/>
                      <a:r>
                        <a:rPr lang="it-IT" sz="1200" err="1">
                          <a:latin typeface="Montserrat" panose="00000500000000000000" pitchFamily="2" charset="0"/>
                        </a:rPr>
                        <a:t>Defined</a:t>
                      </a:r>
                      <a:endParaRPr lang="it-IT" sz="1200">
                        <a:latin typeface="Montserrat" panose="00000500000000000000" pitchFamily="2" charset="0"/>
                      </a:endParaRPr>
                    </a:p>
                  </a:txBody>
                  <a:tcPr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517518014"/>
                  </a:ext>
                </a:extLst>
              </a:tr>
              <a:tr h="254880">
                <a:tc rowSpan="3">
                  <a:txBody>
                    <a:bodyPr/>
                    <a:lstStyle/>
                    <a:p>
                      <a:pPr algn="ctr"/>
                      <a:r>
                        <a:rPr lang="it-IT" sz="1200">
                          <a:solidFill>
                            <a:schemeClr val="tx1"/>
                          </a:solidFill>
                          <a:latin typeface="Montserrat" panose="00000500000000000000" pitchFamily="2" charset="0"/>
                        </a:rPr>
                        <a:t>  Presentation</a:t>
                      </a:r>
                    </a:p>
                  </a:txBody>
                  <a:tcPr anchor="ct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ADDDFF"/>
                    </a:solidFill>
                  </a:tcPr>
                </a:tc>
                <a:tc rowSpan="3">
                  <a:txBody>
                    <a:bodyPr wrap="square"/>
                    <a:lstStyle/>
                    <a:p>
                      <a:r>
                        <a:rPr sz="900"/>
                        <a:t>Gate 1 slide deck &amp; speaking roles across all 4 members: tbd until final rehearsal.</a:t>
                      </a:r>
                    </a:p>
                    <a:p>
                      <a:r>
                        <a:rPr sz="900"/>
                        <a:t>Live dashboard walkthrough script: tbd until dry-run timing confirmed.</a:t>
                      </a:r>
                    </a:p>
                    <a:p>
                      <a:r>
                        <a:rPr sz="900"/>
                        <a:t>Presentation structure (this deck): defined.</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err="1">
                          <a:latin typeface="Montserrat" panose="00000500000000000000" pitchFamily="2" charset="0"/>
                        </a:rPr>
                        <a:t>tbd</a:t>
                      </a:r>
                      <a:endParaRPr lang="en-US" sz="1200">
                        <a:latin typeface="Montserrat" panose="00000500000000000000" pitchFamily="2" charset="0"/>
                      </a:endParaRPr>
                    </a:p>
                  </a:txBody>
                  <a:tcPr anchor="ctr">
                    <a:lnL w="12700" cmpd="sng">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60000"/>
                        <a:lumOff val="40000"/>
                      </a:schemeClr>
                    </a:solidFill>
                  </a:tcPr>
                </a:tc>
                <a:extLst>
                  <a:ext uri="{0D108BD9-81ED-4DB2-BD59-A6C34878D82A}">
                    <a16:rowId xmlns:a16="http://schemas.microsoft.com/office/drawing/2014/main" val="2406884438"/>
                  </a:ext>
                </a:extLst>
              </a:tr>
              <a:tr h="252668">
                <a:tc vMerge="1">
                  <a:txBody>
                    <a:bodyPr/>
                    <a:lstStyle/>
                    <a:p>
                      <a:endParaRPr lang="en-US"/>
                    </a:p>
                  </a:txBody>
                  <a:tcPr/>
                </a:tc>
                <a:tc vMerge="1">
                  <a:txBody>
                    <a:bodyPr/>
                    <a:lstStyle/>
                    <a:p>
                      <a:endParaRPr lang="en-US" sz="1200"/>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200" err="1">
                          <a:latin typeface="Montserrat" panose="00000500000000000000" pitchFamily="2" charset="0"/>
                        </a:rPr>
                        <a:t>tbd</a:t>
                      </a:r>
                      <a:endParaRPr lang="en-US" sz="1200">
                        <a:latin typeface="Montserrat" panose="00000500000000000000" pitchFamily="2" charset="0"/>
                      </a:endParaRPr>
                    </a:p>
                  </a:txBody>
                  <a:tcPr anchor="ctr">
                    <a:lnL w="12700" cmpd="sng">
                      <a:noFill/>
                    </a:lnL>
                    <a:lnR w="12700" cap="flat" cmpd="sng" algn="ctr">
                      <a:solidFill>
                        <a:schemeClr val="tx1"/>
                      </a:solid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extLst>
                  <a:ext uri="{0D108BD9-81ED-4DB2-BD59-A6C34878D82A}">
                    <a16:rowId xmlns:a16="http://schemas.microsoft.com/office/drawing/2014/main" val="2802072740"/>
                  </a:ext>
                </a:extLst>
              </a:tr>
              <a:tr h="252668">
                <a:tc vMerge="1">
                  <a:txBody>
                    <a:bodyPr/>
                    <a:lstStyle/>
                    <a:p>
                      <a:endParaRPr lang="en-US"/>
                    </a:p>
                  </a:txBody>
                  <a:tcPr/>
                </a:tc>
                <a:tc vMerge="1">
                  <a:txBody>
                    <a:bodyPr/>
                    <a:lstStyle/>
                    <a:p>
                      <a:endParaRPr lang="it-IT" sz="1200"/>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sz="1200" err="1">
                          <a:latin typeface="Montserrat" panose="00000500000000000000" pitchFamily="2" charset="0"/>
                        </a:rPr>
                        <a:t>Defined</a:t>
                      </a:r>
                      <a:endParaRPr lang="it-IT" sz="1200">
                        <a:latin typeface="Montserrat" panose="00000500000000000000" pitchFamily="2" charset="0"/>
                      </a:endParaRPr>
                    </a:p>
                  </a:txBody>
                  <a:tcPr anchor="ctr">
                    <a:lnL w="12700" cmpd="sng">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355305395"/>
                  </a:ext>
                </a:extLst>
              </a:tr>
              <a:tr h="254880">
                <a:tc rowSpan="3">
                  <a:txBody>
                    <a:bodyPr/>
                    <a:lstStyle/>
                    <a:p>
                      <a:pPr algn="ctr"/>
                      <a:r>
                        <a:rPr lang="it-IT" sz="1200" err="1">
                          <a:solidFill>
                            <a:schemeClr val="tx1"/>
                          </a:solidFill>
                          <a:latin typeface="Montserrat" panose="00000500000000000000" pitchFamily="2" charset="0"/>
                        </a:rPr>
                        <a:t>Next</a:t>
                      </a:r>
                      <a:r>
                        <a:rPr lang="it-IT" sz="1200">
                          <a:solidFill>
                            <a:schemeClr val="tx1"/>
                          </a:solidFill>
                          <a:latin typeface="Montserrat" panose="00000500000000000000" pitchFamily="2" charset="0"/>
                        </a:rPr>
                        <a:t> </a:t>
                      </a:r>
                      <a:r>
                        <a:rPr lang="it-IT" sz="1200" err="1">
                          <a:solidFill>
                            <a:schemeClr val="tx1"/>
                          </a:solidFill>
                          <a:latin typeface="Montserrat" panose="00000500000000000000" pitchFamily="2" charset="0"/>
                        </a:rPr>
                        <a:t>Steps</a:t>
                      </a:r>
                      <a:endParaRPr lang="it-IT" sz="1200">
                        <a:solidFill>
                          <a:schemeClr val="tx1"/>
                        </a:solidFill>
                        <a:latin typeface="Montserrat" panose="00000500000000000000" pitchFamily="2" charset="0"/>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ADDDFF"/>
                    </a:solidFill>
                  </a:tcPr>
                </a:tc>
                <a:tc rowSpan="3">
                  <a:txBody>
                    <a:bodyPr wrap="square"/>
                    <a:lstStyle/>
                    <a:p>
                      <a:r>
                        <a:rPr sz="900"/>
                        <a:t>Gate 2 numerical performance hardening (recon/temporal features).</a:t>
                      </a:r>
                    </a:p>
                    <a:p>
                      <a:r>
                        <a:rPr sz="900"/>
                        <a:t>Real-data integration: delayed pending Fastweb/Vodafone data-sharing decision.</a:t>
                      </a:r>
                    </a:p>
                    <a:p>
                      <a:r>
                        <a:rPr sz="900"/>
                        <a:t>Gate 3 live end-to-end dashboard demo.</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200" err="1">
                          <a:latin typeface="Montserrat" panose="00000500000000000000" pitchFamily="2" charset="0"/>
                        </a:rPr>
                        <a:t>tbd</a:t>
                      </a:r>
                      <a:endParaRPr lang="en-US" sz="1200">
                        <a:latin typeface="Montserrat" panose="00000500000000000000" pitchFamily="2" charset="0"/>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4">
                        <a:lumMod val="60000"/>
                        <a:lumOff val="40000"/>
                      </a:schemeClr>
                    </a:solidFill>
                  </a:tcPr>
                </a:tc>
                <a:extLst>
                  <a:ext uri="{0D108BD9-81ED-4DB2-BD59-A6C34878D82A}">
                    <a16:rowId xmlns:a16="http://schemas.microsoft.com/office/drawing/2014/main" val="2181555038"/>
                  </a:ext>
                </a:extLst>
              </a:tr>
              <a:tr h="433296">
                <a:tc vMerge="1">
                  <a:txBody>
                    <a:bodyPr/>
                    <a:lstStyle/>
                    <a:p>
                      <a:endParaRPr lang="en-US"/>
                    </a:p>
                  </a:txBody>
                  <a:tcPr/>
                </a:tc>
                <a:tc vMerge="1">
                  <a:txBody>
                    <a:bodyPr/>
                    <a:lstStyle/>
                    <a:p>
                      <a:pPr lvl="0">
                        <a:buNone/>
                      </a:pPr>
                      <a:endParaRPr lang="en-US" sz="1200" b="0" i="0" u="none" strike="noStrike" noProof="0">
                        <a:latin typeface="Verdana"/>
                      </a:endParaRPr>
                    </a:p>
                  </a:txBody>
                  <a:tcPr anchor="ctr"/>
                </a:tc>
                <a:tc>
                  <a:txBody>
                    <a:bodyPr/>
                    <a:lstStyle/>
                    <a:p>
                      <a:pPr algn="ctr"/>
                      <a:r>
                        <a:rPr lang="en-US" sz="1200">
                          <a:latin typeface="Montserrat" panose="00000500000000000000" pitchFamily="2" charset="0"/>
                        </a:rPr>
                        <a:t>Delay</a:t>
                      </a:r>
                    </a:p>
                  </a:txBody>
                  <a:tcPr anchor="ctr">
                    <a:lnR w="12700" cap="flat" cmpd="sng" algn="ctr">
                      <a:solidFill>
                        <a:schemeClr val="tx1"/>
                      </a:solidFill>
                      <a:prstDash val="solid"/>
                      <a:round/>
                      <a:headEnd type="none" w="med" len="med"/>
                      <a:tailEnd type="none" w="med" len="med"/>
                    </a:lnR>
                    <a:solidFill>
                      <a:srgbClr val="DF0000"/>
                    </a:solidFill>
                  </a:tcPr>
                </a:tc>
                <a:extLst>
                  <a:ext uri="{0D108BD9-81ED-4DB2-BD59-A6C34878D82A}">
                    <a16:rowId xmlns:a16="http://schemas.microsoft.com/office/drawing/2014/main" val="2191697076"/>
                  </a:ext>
                </a:extLst>
              </a:tr>
              <a:tr h="254880">
                <a:tc vMerge="1">
                  <a:txBody>
                    <a:bodyPr/>
                    <a:lstStyle/>
                    <a:p>
                      <a:endParaRPr lang="en-US"/>
                    </a:p>
                  </a:txBody>
                  <a:tcPr/>
                </a:tc>
                <a:tc vMerge="1">
                  <a:txBody>
                    <a:bodyPr/>
                    <a:lstStyle/>
                    <a:p>
                      <a:endParaRPr lang="en-US" sz="1200"/>
                    </a:p>
                  </a:txBody>
                  <a:tcPr anchor="ctr"/>
                </a:tc>
                <a:tc>
                  <a:txBody>
                    <a:bodyPr/>
                    <a:lstStyle/>
                    <a:p>
                      <a:pPr algn="ctr"/>
                      <a:r>
                        <a:rPr lang="en-US" sz="1200" err="1">
                          <a:latin typeface="Montserrat" panose="00000500000000000000" pitchFamily="2" charset="0"/>
                        </a:rPr>
                        <a:t>tbd</a:t>
                      </a:r>
                      <a:endParaRPr lang="en-US" sz="1200">
                        <a:latin typeface="Montserrat" panose="00000500000000000000" pitchFamily="2" charset="0"/>
                      </a:endParaRPr>
                    </a:p>
                  </a:txBody>
                  <a:tcPr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175684856"/>
                  </a:ext>
                </a:extLst>
              </a:tr>
              <a:tr h="254880">
                <a:tc rowSpan="2">
                  <a:txBody>
                    <a:bodyPr wrap="square"/>
                    <a:lstStyle/>
                    <a:p>
                      <a:r>
                        <a:rPr sz="1000"/>
                        <a:t>AoB</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ADDDFF"/>
                    </a:solidFill>
                  </a:tcPr>
                </a:tc>
                <a:tc rowSpan="2">
                  <a:txBody>
                    <a:bodyPr wrap="square"/>
                    <a:lstStyle/>
                    <a:p>
                      <a:r>
                        <a:rPr sz="1000"/>
                        <a:t>None raised at this time.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1200">
                        <a:latin typeface="Montserrat" panose="00000500000000000000" pitchFamily="2" charset="0"/>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980467274"/>
                  </a:ext>
                </a:extLst>
              </a:tr>
              <a:tr h="254880">
                <a:tc vMerge="1">
                  <a:txBody>
                    <a:bodyPr/>
                    <a:lstStyle/>
                    <a:p>
                      <a:endParaRPr lang="en-US"/>
                    </a:p>
                  </a:txBody>
                  <a:tcPr/>
                </a:tc>
                <a:tc vMerge="1">
                  <a:txBody>
                    <a:bodyPr/>
                    <a:lstStyle/>
                    <a:p>
                      <a:endParaRPr lang="it-IT" sz="1200"/>
                    </a:p>
                  </a:txBody>
                  <a:tcPr anchor="ctr">
                    <a:lnB w="12700" cap="flat" cmpd="sng" algn="ctr">
                      <a:solidFill>
                        <a:schemeClr val="tx1"/>
                      </a:solidFill>
                      <a:prstDash val="solid"/>
                      <a:round/>
                      <a:headEnd type="none" w="med" len="med"/>
                      <a:tailEnd type="none" w="med" len="med"/>
                    </a:lnB>
                  </a:tcPr>
                </a:tc>
                <a:tc>
                  <a:txBody>
                    <a:bodyPr/>
                    <a:lstStyle/>
                    <a:p>
                      <a:pPr algn="ctr"/>
                      <a:endParaRPr lang="it-IT" sz="1200">
                        <a:latin typeface="Montserrat" panose="00000500000000000000" pitchFamily="2" charset="0"/>
                      </a:endParaRPr>
                    </a:p>
                  </a:txBody>
                  <a:tcPr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1197436"/>
                  </a:ext>
                </a:extLst>
              </a:tr>
            </a:tbl>
          </a:graphicData>
        </a:graphic>
      </p:graphicFrame>
      <p:sp>
        <p:nvSpPr>
          <p:cNvPr id="4" name="Titolo 1">
            <a:extLst>
              <a:ext uri="{FF2B5EF4-FFF2-40B4-BE49-F238E27FC236}">
                <a16:creationId xmlns:a16="http://schemas.microsoft.com/office/drawing/2014/main" id="{EB65F758-A676-6F48-8C3F-A70E743A5903}"/>
              </a:ext>
            </a:extLst>
          </p:cNvPr>
          <p:cNvSpPr txBox="1">
            <a:spLocks/>
          </p:cNvSpPr>
          <p:nvPr/>
        </p:nvSpPr>
        <p:spPr>
          <a:xfrm>
            <a:off x="758695" y="264055"/>
            <a:ext cx="7726086" cy="110110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it-IT">
                <a:solidFill>
                  <a:srgbClr val="134193"/>
                </a:solidFill>
                <a:latin typeface="Montserrat" panose="00000500000000000000" pitchFamily="2" charset="0"/>
              </a:rPr>
              <a:t>Open </a:t>
            </a:r>
            <a:r>
              <a:rPr lang="it-IT" err="1">
                <a:solidFill>
                  <a:srgbClr val="134193"/>
                </a:solidFill>
                <a:latin typeface="Montserrat" panose="00000500000000000000" pitchFamily="2" charset="0"/>
              </a:rPr>
              <a:t>points</a:t>
            </a:r>
            <a:endParaRPr lang="it-IT">
              <a:solidFill>
                <a:srgbClr val="134193"/>
              </a:solidFill>
              <a:latin typeface="Montserrat" panose="00000500000000000000" pitchFamily="2" charset="0"/>
            </a:endParaRPr>
          </a:p>
        </p:txBody>
      </p:sp>
      <p:sp>
        <p:nvSpPr>
          <p:cNvPr id="11" name="Rombo 10">
            <a:extLst>
              <a:ext uri="{FF2B5EF4-FFF2-40B4-BE49-F238E27FC236}">
                <a16:creationId xmlns:a16="http://schemas.microsoft.com/office/drawing/2014/main" id="{9F8D8588-B489-DE47-B44D-1E667DA7D8C0}"/>
              </a:ext>
            </a:extLst>
          </p:cNvPr>
          <p:cNvSpPr/>
          <p:nvPr/>
        </p:nvSpPr>
        <p:spPr>
          <a:xfrm>
            <a:off x="2216306" y="1743284"/>
            <a:ext cx="231130" cy="228600"/>
          </a:xfrm>
          <a:prstGeom prst="diamond">
            <a:avLst/>
          </a:prstGeom>
          <a:solidFill>
            <a:srgbClr val="DBF11E"/>
          </a:solidFill>
          <a:ln>
            <a:solidFill>
              <a:srgbClr val="DBF11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200">
                <a:ln>
                  <a:solidFill>
                    <a:srgbClr val="17428B"/>
                  </a:solidFill>
                </a:ln>
                <a:latin typeface="Montserrat" panose="00000500000000000000" pitchFamily="2" charset="0"/>
              </a:rPr>
              <a:t>1</a:t>
            </a:r>
            <a:endParaRPr lang="it-IT">
              <a:ln>
                <a:solidFill>
                  <a:srgbClr val="17428B"/>
                </a:solidFill>
              </a:ln>
              <a:latin typeface="Montserrat" panose="00000500000000000000" pitchFamily="2" charset="0"/>
            </a:endParaRPr>
          </a:p>
        </p:txBody>
      </p:sp>
      <p:sp>
        <p:nvSpPr>
          <p:cNvPr id="12" name="Rombo 11">
            <a:extLst>
              <a:ext uri="{FF2B5EF4-FFF2-40B4-BE49-F238E27FC236}">
                <a16:creationId xmlns:a16="http://schemas.microsoft.com/office/drawing/2014/main" id="{F1338086-1FEE-8B41-B5FD-017C9F573609}"/>
              </a:ext>
            </a:extLst>
          </p:cNvPr>
          <p:cNvSpPr/>
          <p:nvPr/>
        </p:nvSpPr>
        <p:spPr>
          <a:xfrm>
            <a:off x="2216306" y="2581436"/>
            <a:ext cx="231130" cy="228600"/>
          </a:xfrm>
          <a:prstGeom prst="diamond">
            <a:avLst/>
          </a:prstGeom>
          <a:solidFill>
            <a:srgbClr val="DBF11E"/>
          </a:solidFill>
          <a:ln>
            <a:solidFill>
              <a:srgbClr val="DBF11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200">
                <a:ln>
                  <a:solidFill>
                    <a:srgbClr val="17428B"/>
                  </a:solidFill>
                </a:ln>
                <a:latin typeface="Montserrat" panose="00000500000000000000" pitchFamily="2" charset="0"/>
              </a:rPr>
              <a:t>2</a:t>
            </a:r>
            <a:endParaRPr lang="it-IT">
              <a:ln>
                <a:solidFill>
                  <a:srgbClr val="17428B"/>
                </a:solidFill>
              </a:ln>
              <a:latin typeface="Montserrat" panose="00000500000000000000" pitchFamily="2" charset="0"/>
            </a:endParaRPr>
          </a:p>
        </p:txBody>
      </p:sp>
      <p:sp>
        <p:nvSpPr>
          <p:cNvPr id="13" name="Rombo 12">
            <a:extLst>
              <a:ext uri="{FF2B5EF4-FFF2-40B4-BE49-F238E27FC236}">
                <a16:creationId xmlns:a16="http://schemas.microsoft.com/office/drawing/2014/main" id="{AA15CFB5-5B7A-EB4E-A5DC-C559056D7248}"/>
              </a:ext>
            </a:extLst>
          </p:cNvPr>
          <p:cNvSpPr/>
          <p:nvPr/>
        </p:nvSpPr>
        <p:spPr>
          <a:xfrm>
            <a:off x="2216306" y="3400538"/>
            <a:ext cx="231130" cy="228600"/>
          </a:xfrm>
          <a:prstGeom prst="diamond">
            <a:avLst/>
          </a:prstGeom>
          <a:solidFill>
            <a:srgbClr val="DBF11E"/>
          </a:solidFill>
          <a:ln>
            <a:solidFill>
              <a:srgbClr val="DBF11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200">
                <a:ln>
                  <a:solidFill>
                    <a:srgbClr val="17428B"/>
                  </a:solidFill>
                </a:ln>
                <a:latin typeface="Montserrat" panose="00000500000000000000" pitchFamily="2" charset="0"/>
              </a:rPr>
              <a:t>3</a:t>
            </a:r>
            <a:endParaRPr lang="it-IT">
              <a:ln>
                <a:solidFill>
                  <a:srgbClr val="17428B"/>
                </a:solidFill>
              </a:ln>
              <a:latin typeface="Montserrat" panose="00000500000000000000" pitchFamily="2" charset="0"/>
            </a:endParaRPr>
          </a:p>
        </p:txBody>
      </p:sp>
      <p:sp>
        <p:nvSpPr>
          <p:cNvPr id="14" name="Rombo 13">
            <a:extLst>
              <a:ext uri="{FF2B5EF4-FFF2-40B4-BE49-F238E27FC236}">
                <a16:creationId xmlns:a16="http://schemas.microsoft.com/office/drawing/2014/main" id="{17458950-83EF-A543-8A0E-18C87F721157}"/>
              </a:ext>
            </a:extLst>
          </p:cNvPr>
          <p:cNvSpPr/>
          <p:nvPr/>
        </p:nvSpPr>
        <p:spPr>
          <a:xfrm>
            <a:off x="2216306" y="4213290"/>
            <a:ext cx="231130" cy="228600"/>
          </a:xfrm>
          <a:prstGeom prst="diamond">
            <a:avLst/>
          </a:prstGeom>
          <a:solidFill>
            <a:srgbClr val="DBF11E"/>
          </a:solidFill>
          <a:ln>
            <a:solidFill>
              <a:srgbClr val="DBF11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200">
                <a:ln>
                  <a:solidFill>
                    <a:srgbClr val="17428B"/>
                  </a:solidFill>
                </a:ln>
                <a:latin typeface="Montserrat" panose="00000500000000000000" pitchFamily="2" charset="0"/>
              </a:rPr>
              <a:t>4</a:t>
            </a:r>
            <a:endParaRPr lang="it-IT">
              <a:ln>
                <a:solidFill>
                  <a:srgbClr val="17428B"/>
                </a:solidFill>
              </a:ln>
              <a:latin typeface="Montserrat" panose="00000500000000000000" pitchFamily="2" charset="0"/>
            </a:endParaRPr>
          </a:p>
        </p:txBody>
      </p:sp>
      <p:sp>
        <p:nvSpPr>
          <p:cNvPr id="15" name="Rombo 14">
            <a:extLst>
              <a:ext uri="{FF2B5EF4-FFF2-40B4-BE49-F238E27FC236}">
                <a16:creationId xmlns:a16="http://schemas.microsoft.com/office/drawing/2014/main" id="{C08384D8-5B71-E04C-A333-C364D5BB1660}"/>
              </a:ext>
            </a:extLst>
          </p:cNvPr>
          <p:cNvSpPr/>
          <p:nvPr/>
        </p:nvSpPr>
        <p:spPr>
          <a:xfrm>
            <a:off x="2216306" y="5130570"/>
            <a:ext cx="231130" cy="228600"/>
          </a:xfrm>
          <a:prstGeom prst="diamond">
            <a:avLst/>
          </a:prstGeom>
          <a:solidFill>
            <a:srgbClr val="DBF11E"/>
          </a:solidFill>
          <a:ln>
            <a:solidFill>
              <a:srgbClr val="DBF11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200">
                <a:ln>
                  <a:solidFill>
                    <a:srgbClr val="17428B"/>
                  </a:solidFill>
                </a:ln>
                <a:latin typeface="Montserrat" panose="00000500000000000000" pitchFamily="2" charset="0"/>
              </a:rPr>
              <a:t>5</a:t>
            </a:r>
            <a:endParaRPr lang="it-IT">
              <a:ln>
                <a:solidFill>
                  <a:srgbClr val="17428B"/>
                </a:solidFill>
              </a:ln>
              <a:latin typeface="Montserrat" panose="00000500000000000000" pitchFamily="2" charset="0"/>
            </a:endParaRPr>
          </a:p>
        </p:txBody>
      </p:sp>
      <p:sp>
        <p:nvSpPr>
          <p:cNvPr id="16" name="Rombo 15">
            <a:extLst>
              <a:ext uri="{FF2B5EF4-FFF2-40B4-BE49-F238E27FC236}">
                <a16:creationId xmlns:a16="http://schemas.microsoft.com/office/drawing/2014/main" id="{76733FD6-22F4-D74A-8C34-22F86AE06F3C}"/>
              </a:ext>
            </a:extLst>
          </p:cNvPr>
          <p:cNvSpPr/>
          <p:nvPr/>
        </p:nvSpPr>
        <p:spPr>
          <a:xfrm>
            <a:off x="2217483" y="5886235"/>
            <a:ext cx="231130" cy="228600"/>
          </a:xfrm>
          <a:prstGeom prst="diamond">
            <a:avLst/>
          </a:prstGeom>
          <a:solidFill>
            <a:srgbClr val="DBF11E"/>
          </a:solidFill>
          <a:ln>
            <a:solidFill>
              <a:srgbClr val="DBF11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200">
                <a:ln>
                  <a:solidFill>
                    <a:srgbClr val="17428B"/>
                  </a:solidFill>
                </a:ln>
                <a:latin typeface="Montserrat" panose="00000500000000000000" pitchFamily="2" charset="0"/>
              </a:rPr>
              <a:t>6</a:t>
            </a:r>
            <a:endParaRPr lang="it-IT">
              <a:ln>
                <a:solidFill>
                  <a:srgbClr val="17428B"/>
                </a:solidFill>
              </a:ln>
              <a:latin typeface="Montserrat" panose="00000500000000000000" pitchFamily="2" charset="0"/>
            </a:endParaRPr>
          </a:p>
        </p:txBody>
      </p:sp>
    </p:spTree>
    <p:extLst>
      <p:ext uri="{BB962C8B-B14F-4D97-AF65-F5344CB8AC3E}">
        <p14:creationId xmlns:p14="http://schemas.microsoft.com/office/powerpoint/2010/main" val="8600363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E0E7C1-CDA4-4C0F-80DC-9A12CDFBE407}"/>
              </a:ext>
            </a:extLst>
          </p:cNvPr>
          <p:cNvSpPr>
            <a:spLocks noGrp="1"/>
          </p:cNvSpPr>
          <p:nvPr>
            <p:ph type="title" idx="4294967295"/>
          </p:nvPr>
        </p:nvSpPr>
        <p:spPr>
          <a:xfrm>
            <a:off x="0" y="0"/>
            <a:ext cx="0" cy="0"/>
          </a:xfrm>
        </p:spPr>
        <p:txBody>
          <a:bodyPr/>
          <a:lstStyle/>
          <a:p>
            <a:r>
              <a:rPr lang="it-IT">
                <a:latin typeface="Montserrat" panose="00000500000000000000" pitchFamily="2" charset="0"/>
              </a:rPr>
              <a:t> </a:t>
            </a:r>
          </a:p>
        </p:txBody>
      </p:sp>
      <p:grpSp>
        <p:nvGrpSpPr>
          <p:cNvPr id="13" name="Google Shape;847;p72">
            <a:extLst>
              <a:ext uri="{FF2B5EF4-FFF2-40B4-BE49-F238E27FC236}">
                <a16:creationId xmlns:a16="http://schemas.microsoft.com/office/drawing/2014/main" id="{1DA0B581-90E9-9641-B715-49E1B734B570}"/>
              </a:ext>
            </a:extLst>
          </p:cNvPr>
          <p:cNvGrpSpPr/>
          <p:nvPr/>
        </p:nvGrpSpPr>
        <p:grpSpPr>
          <a:xfrm>
            <a:off x="275981" y="1858510"/>
            <a:ext cx="1683400" cy="1699781"/>
            <a:chOff x="4044273" y="640400"/>
            <a:chExt cx="864427" cy="868457"/>
          </a:xfrm>
          <a:solidFill>
            <a:schemeClr val="bg2"/>
          </a:solidFill>
        </p:grpSpPr>
        <p:sp>
          <p:nvSpPr>
            <p:cNvPr id="14" name="Google Shape;848;p72">
              <a:extLst>
                <a:ext uri="{FF2B5EF4-FFF2-40B4-BE49-F238E27FC236}">
                  <a16:creationId xmlns:a16="http://schemas.microsoft.com/office/drawing/2014/main" id="{63375655-A24D-0342-983B-997D57C5A0ED}"/>
                </a:ext>
              </a:extLst>
            </p:cNvPr>
            <p:cNvSpPr/>
            <p:nvPr/>
          </p:nvSpPr>
          <p:spPr>
            <a:xfrm>
              <a:off x="4049800" y="640400"/>
              <a:ext cx="858900" cy="858900"/>
            </a:xfrm>
            <a:prstGeom prst="donut">
              <a:avLst>
                <a:gd name="adj" fmla="val 13218"/>
              </a:avLst>
            </a:prstGeom>
            <a:solidFill>
              <a:schemeClr val="bg1">
                <a:lumMod val="95000"/>
              </a:schemeClr>
            </a:solidFill>
            <a:ln w="9525" cap="flat" cmpd="sng">
              <a:solidFill>
                <a:schemeClr val="bg1">
                  <a:lumMod val="95000"/>
                </a:scheme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ontserrat" panose="00000500000000000000" pitchFamily="2" charset="0"/>
              </a:endParaRPr>
            </a:p>
          </p:txBody>
        </p:sp>
        <p:sp>
          <p:nvSpPr>
            <p:cNvPr id="15" name="Google Shape;849;p72">
              <a:extLst>
                <a:ext uri="{FF2B5EF4-FFF2-40B4-BE49-F238E27FC236}">
                  <a16:creationId xmlns:a16="http://schemas.microsoft.com/office/drawing/2014/main" id="{009F84DC-9B3A-AA49-BFC3-AC93B8034C2C}"/>
                </a:ext>
              </a:extLst>
            </p:cNvPr>
            <p:cNvSpPr/>
            <p:nvPr/>
          </p:nvSpPr>
          <p:spPr>
            <a:xfrm rot="10800000">
              <a:off x="4044273" y="649957"/>
              <a:ext cx="858900" cy="858900"/>
            </a:xfrm>
            <a:prstGeom prst="blockArc">
              <a:avLst>
                <a:gd name="adj1" fmla="val 16616254"/>
                <a:gd name="adj2" fmla="val 21083433"/>
                <a:gd name="adj3" fmla="val 14328"/>
              </a:avLst>
            </a:prstGeom>
            <a:solidFill>
              <a:srgbClr val="DBF11E"/>
            </a:solidFill>
            <a:ln w="9525" cap="flat" cmpd="sng">
              <a:solidFill>
                <a:srgbClr val="DBF11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ontserrat" panose="00000500000000000000" pitchFamily="2" charset="0"/>
              </a:endParaRPr>
            </a:p>
          </p:txBody>
        </p:sp>
      </p:grpSp>
      <p:sp>
        <p:nvSpPr>
          <p:cNvPr id="2" name="CasellaDiTesto 1">
            <a:extLst>
              <a:ext uri="{FF2B5EF4-FFF2-40B4-BE49-F238E27FC236}">
                <a16:creationId xmlns:a16="http://schemas.microsoft.com/office/drawing/2014/main" id="{740E7C67-B3D2-4C4C-B3F6-03FBA265142A}"/>
              </a:ext>
            </a:extLst>
          </p:cNvPr>
          <p:cNvSpPr txBox="1"/>
          <p:nvPr/>
        </p:nvSpPr>
        <p:spPr>
          <a:xfrm>
            <a:off x="220581" y="3714182"/>
            <a:ext cx="1879600" cy="369332"/>
          </a:xfrm>
          <a:prstGeom prst="rect">
            <a:avLst/>
          </a:prstGeom>
          <a:noFill/>
        </p:spPr>
        <p:txBody>
          <a:bodyPr wrap="square" rtlCol="0">
            <a:spAutoFit/>
          </a:bodyPr>
          <a:lstStyle/>
          <a:p>
            <a:pPr algn="ctr"/>
            <a:r>
              <a:rPr lang="it-IT" b="1">
                <a:solidFill>
                  <a:srgbClr val="054994"/>
                </a:solidFill>
                <a:latin typeface="Montserrat" panose="00000500000000000000" pitchFamily="2" charset="0"/>
              </a:rPr>
              <a:t>Week 1</a:t>
            </a:r>
          </a:p>
        </p:txBody>
      </p:sp>
      <p:sp>
        <p:nvSpPr>
          <p:cNvPr id="41" name="CasellaDiTesto 40">
            <a:extLst>
              <a:ext uri="{FF2B5EF4-FFF2-40B4-BE49-F238E27FC236}">
                <a16:creationId xmlns:a16="http://schemas.microsoft.com/office/drawing/2014/main" id="{DE3C784F-736A-E04C-9289-D1FF832695A5}"/>
              </a:ext>
            </a:extLst>
          </p:cNvPr>
          <p:cNvSpPr txBox="1"/>
          <p:nvPr/>
        </p:nvSpPr>
        <p:spPr>
          <a:xfrm>
            <a:off x="141359" y="4245278"/>
            <a:ext cx="2264289" cy="954107"/>
          </a:xfrm>
          <a:prstGeom prst="rect">
            <a:avLst/>
          </a:prstGeom>
          <a:noFill/>
        </p:spPr>
        <p:txBody>
          <a:bodyPr wrap="square" lIns="91440" tIns="45720" rIns="91440" bIns="45720" rtlCol="0" anchor="t">
            <a:spAutoFit/>
          </a:bodyPr>
          <a:lstStyle/>
          <a:p>
            <a:pPr algn="just"/>
            <a:r>
              <a:rPr lang="en-US" sz="1100">
                <a:latin typeface="Montserrat" panose="00000500000000000000" pitchFamily="2" charset="0"/>
              </a:rPr>
              <a:t>Sep 8-14: kick off Gate 2 hardening, add recon/temporal detection features and expand attack variants.</a:t>
            </a:r>
            <a:endParaRPr lang="it-IT">
              <a:latin typeface="Montserrat" panose="00000500000000000000" pitchFamily="2" charset="0"/>
            </a:endParaRPr>
          </a:p>
        </p:txBody>
      </p:sp>
      <p:pic>
        <p:nvPicPr>
          <p:cNvPr id="56" name="Elemento grafico 55">
            <a:extLst>
              <a:ext uri="{FF2B5EF4-FFF2-40B4-BE49-F238E27FC236}">
                <a16:creationId xmlns:a16="http://schemas.microsoft.com/office/drawing/2014/main" id="{BE726B66-E3E0-DA43-9774-F0E317981F12}"/>
              </a:ext>
            </a:extLst>
          </p:cNvPr>
          <p:cNvPicPr>
            <a:picLocks noChangeAspect="1"/>
          </p:cNvPicPr>
          <p:nvPr/>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725225" y="2206488"/>
            <a:ext cx="795673" cy="985119"/>
          </a:xfrm>
          <a:prstGeom prst="rect">
            <a:avLst/>
          </a:prstGeom>
        </p:spPr>
      </p:pic>
      <p:grpSp>
        <p:nvGrpSpPr>
          <p:cNvPr id="57" name="Google Shape;847;p72">
            <a:extLst>
              <a:ext uri="{FF2B5EF4-FFF2-40B4-BE49-F238E27FC236}">
                <a16:creationId xmlns:a16="http://schemas.microsoft.com/office/drawing/2014/main" id="{033E37E9-E83A-4F48-95F1-69DE150A0DF5}"/>
              </a:ext>
            </a:extLst>
          </p:cNvPr>
          <p:cNvGrpSpPr/>
          <p:nvPr/>
        </p:nvGrpSpPr>
        <p:grpSpPr>
          <a:xfrm>
            <a:off x="2663327" y="1858510"/>
            <a:ext cx="1683400" cy="1708248"/>
            <a:chOff x="4044273" y="640400"/>
            <a:chExt cx="864427" cy="872783"/>
          </a:xfrm>
          <a:solidFill>
            <a:schemeClr val="bg2"/>
          </a:solidFill>
        </p:grpSpPr>
        <p:sp>
          <p:nvSpPr>
            <p:cNvPr id="58" name="Google Shape;848;p72">
              <a:extLst>
                <a:ext uri="{FF2B5EF4-FFF2-40B4-BE49-F238E27FC236}">
                  <a16:creationId xmlns:a16="http://schemas.microsoft.com/office/drawing/2014/main" id="{D098266E-E2D5-804E-8F85-E8CE818A12EF}"/>
                </a:ext>
              </a:extLst>
            </p:cNvPr>
            <p:cNvSpPr/>
            <p:nvPr/>
          </p:nvSpPr>
          <p:spPr>
            <a:xfrm>
              <a:off x="4049800" y="640400"/>
              <a:ext cx="858900" cy="858900"/>
            </a:xfrm>
            <a:prstGeom prst="donut">
              <a:avLst>
                <a:gd name="adj" fmla="val 13218"/>
              </a:avLst>
            </a:prstGeom>
            <a:solidFill>
              <a:schemeClr val="bg1">
                <a:lumMod val="95000"/>
              </a:schemeClr>
            </a:solidFill>
            <a:ln w="9525" cap="flat" cmpd="sng">
              <a:solidFill>
                <a:schemeClr val="bg1">
                  <a:lumMod val="95000"/>
                </a:scheme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ontserrat" panose="00000500000000000000" pitchFamily="2" charset="0"/>
              </a:endParaRPr>
            </a:p>
          </p:txBody>
        </p:sp>
        <p:sp>
          <p:nvSpPr>
            <p:cNvPr id="59" name="Google Shape;849;p72">
              <a:extLst>
                <a:ext uri="{FF2B5EF4-FFF2-40B4-BE49-F238E27FC236}">
                  <a16:creationId xmlns:a16="http://schemas.microsoft.com/office/drawing/2014/main" id="{548F0040-DB82-7048-9E2B-E6F012DED741}"/>
                </a:ext>
              </a:extLst>
            </p:cNvPr>
            <p:cNvSpPr/>
            <p:nvPr/>
          </p:nvSpPr>
          <p:spPr>
            <a:xfrm rot="10800000">
              <a:off x="4044273" y="654283"/>
              <a:ext cx="858900" cy="858900"/>
            </a:xfrm>
            <a:prstGeom prst="blockArc">
              <a:avLst>
                <a:gd name="adj1" fmla="val 13111540"/>
                <a:gd name="adj2" fmla="val 71456"/>
                <a:gd name="adj3" fmla="val 14722"/>
              </a:avLst>
            </a:prstGeom>
            <a:solidFill>
              <a:srgbClr val="DBF11E"/>
            </a:solidFill>
            <a:ln w="9525" cap="flat" cmpd="sng">
              <a:solidFill>
                <a:srgbClr val="DBF11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ontserrat" panose="00000500000000000000" pitchFamily="2" charset="0"/>
              </a:endParaRPr>
            </a:p>
          </p:txBody>
        </p:sp>
      </p:grpSp>
      <p:sp>
        <p:nvSpPr>
          <p:cNvPr id="60" name="CasellaDiTesto 59">
            <a:extLst>
              <a:ext uri="{FF2B5EF4-FFF2-40B4-BE49-F238E27FC236}">
                <a16:creationId xmlns:a16="http://schemas.microsoft.com/office/drawing/2014/main" id="{96ADB8B8-555E-B640-B9C8-D7619178E75B}"/>
              </a:ext>
            </a:extLst>
          </p:cNvPr>
          <p:cNvSpPr txBox="1"/>
          <p:nvPr/>
        </p:nvSpPr>
        <p:spPr>
          <a:xfrm>
            <a:off x="2607927" y="3714182"/>
            <a:ext cx="1879600" cy="369332"/>
          </a:xfrm>
          <a:prstGeom prst="rect">
            <a:avLst/>
          </a:prstGeom>
          <a:noFill/>
        </p:spPr>
        <p:txBody>
          <a:bodyPr wrap="square" rtlCol="0">
            <a:spAutoFit/>
          </a:bodyPr>
          <a:lstStyle/>
          <a:p>
            <a:pPr algn="ctr"/>
            <a:r>
              <a:rPr lang="it-IT" b="1">
                <a:solidFill>
                  <a:srgbClr val="054994"/>
                </a:solidFill>
                <a:latin typeface="Montserrat" panose="00000500000000000000" pitchFamily="2" charset="0"/>
              </a:rPr>
              <a:t>Week 2</a:t>
            </a:r>
          </a:p>
        </p:txBody>
      </p:sp>
      <p:sp>
        <p:nvSpPr>
          <p:cNvPr id="61" name="CasellaDiTesto 60">
            <a:extLst>
              <a:ext uri="{FF2B5EF4-FFF2-40B4-BE49-F238E27FC236}">
                <a16:creationId xmlns:a16="http://schemas.microsoft.com/office/drawing/2014/main" id="{1BC3255E-BC28-CC49-87B4-F7023A634296}"/>
              </a:ext>
            </a:extLst>
          </p:cNvPr>
          <p:cNvSpPr txBox="1"/>
          <p:nvPr/>
        </p:nvSpPr>
        <p:spPr>
          <a:xfrm>
            <a:off x="2482052" y="4244546"/>
            <a:ext cx="2264289" cy="954107"/>
          </a:xfrm>
          <a:prstGeom prst="rect">
            <a:avLst/>
          </a:prstGeom>
          <a:noFill/>
        </p:spPr>
        <p:txBody>
          <a:bodyPr wrap="square" lIns="91440" tIns="45720" rIns="91440" bIns="45720" rtlCol="0" anchor="t">
            <a:spAutoFit/>
          </a:bodyPr>
          <a:lstStyle/>
          <a:p>
            <a:pPr algn="just"/>
            <a:r>
              <a:rPr lang="en-US" sz="1100">
                <a:latin typeface="Montserrat" panose="00000500000000000000" pitchFamily="2" charset="0"/>
              </a:rPr>
              <a:t>Sep 15-21: finish the numerical performance analysis and prepare the Gate 2 report and deck.</a:t>
            </a:r>
            <a:endParaRPr lang="it-IT">
              <a:latin typeface="Montserrat" panose="00000500000000000000" pitchFamily="2" charset="0"/>
            </a:endParaRPr>
          </a:p>
        </p:txBody>
      </p:sp>
      <p:pic>
        <p:nvPicPr>
          <p:cNvPr id="63" name="Graphic 167">
            <a:extLst>
              <a:ext uri="{FF2B5EF4-FFF2-40B4-BE49-F238E27FC236}">
                <a16:creationId xmlns:a16="http://schemas.microsoft.com/office/drawing/2014/main" id="{6FD332AD-DBDA-7B47-8D41-E87B54AA1BB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54839" y="2372947"/>
            <a:ext cx="689612" cy="689612"/>
          </a:xfrm>
          <a:prstGeom prst="rect">
            <a:avLst/>
          </a:prstGeom>
        </p:spPr>
      </p:pic>
      <p:grpSp>
        <p:nvGrpSpPr>
          <p:cNvPr id="64" name="Google Shape;847;p72">
            <a:extLst>
              <a:ext uri="{FF2B5EF4-FFF2-40B4-BE49-F238E27FC236}">
                <a16:creationId xmlns:a16="http://schemas.microsoft.com/office/drawing/2014/main" id="{82A62CC3-AFBA-0C48-AC45-8F0B9512DE64}"/>
              </a:ext>
            </a:extLst>
          </p:cNvPr>
          <p:cNvGrpSpPr/>
          <p:nvPr/>
        </p:nvGrpSpPr>
        <p:grpSpPr>
          <a:xfrm>
            <a:off x="5194598" y="1877214"/>
            <a:ext cx="1683400" cy="1682847"/>
            <a:chOff x="4044273" y="640400"/>
            <a:chExt cx="864427" cy="859805"/>
          </a:xfrm>
          <a:solidFill>
            <a:schemeClr val="bg2"/>
          </a:solidFill>
        </p:grpSpPr>
        <p:sp>
          <p:nvSpPr>
            <p:cNvPr id="65" name="Google Shape;848;p72">
              <a:extLst>
                <a:ext uri="{FF2B5EF4-FFF2-40B4-BE49-F238E27FC236}">
                  <a16:creationId xmlns:a16="http://schemas.microsoft.com/office/drawing/2014/main" id="{7AB0055E-8C92-D34E-8F00-D845070D0FA7}"/>
                </a:ext>
              </a:extLst>
            </p:cNvPr>
            <p:cNvSpPr/>
            <p:nvPr/>
          </p:nvSpPr>
          <p:spPr>
            <a:xfrm>
              <a:off x="4049800" y="640400"/>
              <a:ext cx="858900" cy="858900"/>
            </a:xfrm>
            <a:prstGeom prst="donut">
              <a:avLst>
                <a:gd name="adj" fmla="val 13218"/>
              </a:avLst>
            </a:prstGeom>
            <a:solidFill>
              <a:schemeClr val="bg1">
                <a:lumMod val="95000"/>
              </a:schemeClr>
            </a:solidFill>
            <a:ln w="9525" cap="flat" cmpd="sng">
              <a:solidFill>
                <a:schemeClr val="bg1">
                  <a:lumMod val="95000"/>
                </a:scheme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ontserrat" panose="00000500000000000000" pitchFamily="2" charset="0"/>
              </a:endParaRPr>
            </a:p>
          </p:txBody>
        </p:sp>
        <p:sp>
          <p:nvSpPr>
            <p:cNvPr id="66" name="Google Shape;849;p72">
              <a:extLst>
                <a:ext uri="{FF2B5EF4-FFF2-40B4-BE49-F238E27FC236}">
                  <a16:creationId xmlns:a16="http://schemas.microsoft.com/office/drawing/2014/main" id="{4BA67F39-04EB-874F-B4DF-EA983F973E16}"/>
                </a:ext>
              </a:extLst>
            </p:cNvPr>
            <p:cNvSpPr/>
            <p:nvPr/>
          </p:nvSpPr>
          <p:spPr>
            <a:xfrm rot="10800000">
              <a:off x="4044273" y="641305"/>
              <a:ext cx="858900" cy="858900"/>
            </a:xfrm>
            <a:prstGeom prst="blockArc">
              <a:avLst>
                <a:gd name="adj1" fmla="val 9504681"/>
                <a:gd name="adj2" fmla="val 2074724"/>
                <a:gd name="adj3" fmla="val 12690"/>
              </a:avLst>
            </a:prstGeom>
            <a:solidFill>
              <a:srgbClr val="DBF11E"/>
            </a:solidFill>
            <a:ln w="9525" cap="flat" cmpd="sng">
              <a:solidFill>
                <a:srgbClr val="DBF11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ontserrat" panose="00000500000000000000" pitchFamily="2" charset="0"/>
              </a:endParaRPr>
            </a:p>
          </p:txBody>
        </p:sp>
      </p:grpSp>
      <p:sp>
        <p:nvSpPr>
          <p:cNvPr id="67" name="CasellaDiTesto 66">
            <a:extLst>
              <a:ext uri="{FF2B5EF4-FFF2-40B4-BE49-F238E27FC236}">
                <a16:creationId xmlns:a16="http://schemas.microsoft.com/office/drawing/2014/main" id="{22D420A0-9EAD-D549-A1CC-29936679280D}"/>
              </a:ext>
            </a:extLst>
          </p:cNvPr>
          <p:cNvSpPr txBox="1"/>
          <p:nvPr/>
        </p:nvSpPr>
        <p:spPr>
          <a:xfrm>
            <a:off x="5139198" y="3732886"/>
            <a:ext cx="1879600" cy="369332"/>
          </a:xfrm>
          <a:prstGeom prst="rect">
            <a:avLst/>
          </a:prstGeom>
          <a:noFill/>
        </p:spPr>
        <p:txBody>
          <a:bodyPr wrap="square" rtlCol="0">
            <a:spAutoFit/>
          </a:bodyPr>
          <a:lstStyle/>
          <a:p>
            <a:pPr algn="ctr"/>
            <a:r>
              <a:rPr lang="it-IT" b="1">
                <a:solidFill>
                  <a:srgbClr val="054994"/>
                </a:solidFill>
                <a:latin typeface="Montserrat" panose="00000500000000000000" pitchFamily="2" charset="0"/>
              </a:rPr>
              <a:t>Week 3</a:t>
            </a:r>
          </a:p>
        </p:txBody>
      </p:sp>
      <p:sp>
        <p:nvSpPr>
          <p:cNvPr id="68" name="CasellaDiTesto 67">
            <a:extLst>
              <a:ext uri="{FF2B5EF4-FFF2-40B4-BE49-F238E27FC236}">
                <a16:creationId xmlns:a16="http://schemas.microsoft.com/office/drawing/2014/main" id="{64F0A8E2-18D8-FA43-9C0B-376B6CF7F6D3}"/>
              </a:ext>
            </a:extLst>
          </p:cNvPr>
          <p:cNvSpPr txBox="1"/>
          <p:nvPr/>
        </p:nvSpPr>
        <p:spPr>
          <a:xfrm>
            <a:off x="5013323" y="4263250"/>
            <a:ext cx="2264289" cy="954107"/>
          </a:xfrm>
          <a:prstGeom prst="rect">
            <a:avLst/>
          </a:prstGeom>
          <a:noFill/>
        </p:spPr>
        <p:txBody>
          <a:bodyPr wrap="square" lIns="91440" tIns="45720" rIns="91440" bIns="45720" rtlCol="0" anchor="t">
            <a:spAutoFit/>
          </a:bodyPr>
          <a:lstStyle/>
          <a:p>
            <a:pPr algn="just"/>
            <a:r>
              <a:rPr lang="en-US" sz="1100">
                <a:latin typeface="Montserrat" panose="00000500000000000000" pitchFamily="2" charset="0"/>
              </a:rPr>
              <a:t>Sep 22-28: Gate 2 submitted; start dashboard hardening and the demo-video storyboard.</a:t>
            </a:r>
            <a:endParaRPr lang="it-IT">
              <a:latin typeface="Montserrat" panose="00000500000000000000" pitchFamily="2" charset="0"/>
            </a:endParaRPr>
          </a:p>
        </p:txBody>
      </p:sp>
      <p:grpSp>
        <p:nvGrpSpPr>
          <p:cNvPr id="4" name="Gruppo 3">
            <a:extLst>
              <a:ext uri="{FF2B5EF4-FFF2-40B4-BE49-F238E27FC236}">
                <a16:creationId xmlns:a16="http://schemas.microsoft.com/office/drawing/2014/main" id="{3E6DA024-F7B8-BE46-9F48-7FD3A4833406}"/>
              </a:ext>
            </a:extLst>
          </p:cNvPr>
          <p:cNvGrpSpPr/>
          <p:nvPr/>
        </p:nvGrpSpPr>
        <p:grpSpPr>
          <a:xfrm>
            <a:off x="5770266" y="2409374"/>
            <a:ext cx="617463" cy="654163"/>
            <a:chOff x="5932958" y="2369365"/>
            <a:chExt cx="617463" cy="654163"/>
          </a:xfrm>
        </p:grpSpPr>
        <p:pic>
          <p:nvPicPr>
            <p:cNvPr id="69" name="Graphic 132">
              <a:extLst>
                <a:ext uri="{FF2B5EF4-FFF2-40B4-BE49-F238E27FC236}">
                  <a16:creationId xmlns:a16="http://schemas.microsoft.com/office/drawing/2014/main" id="{98FE2AA5-7C5B-174D-A9BD-4017B4EEB80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5932958" y="2369365"/>
              <a:ext cx="341485" cy="341483"/>
            </a:xfrm>
            <a:prstGeom prst="rect">
              <a:avLst/>
            </a:prstGeom>
          </p:spPr>
        </p:pic>
        <p:pic>
          <p:nvPicPr>
            <p:cNvPr id="70" name="Graphic 132">
              <a:extLst>
                <a:ext uri="{FF2B5EF4-FFF2-40B4-BE49-F238E27FC236}">
                  <a16:creationId xmlns:a16="http://schemas.microsoft.com/office/drawing/2014/main" id="{6CD83143-86C6-014F-835F-89D75522735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080950" y="2554059"/>
              <a:ext cx="469471" cy="469469"/>
            </a:xfrm>
            <a:prstGeom prst="rect">
              <a:avLst/>
            </a:prstGeom>
          </p:spPr>
        </p:pic>
      </p:grpSp>
      <p:grpSp>
        <p:nvGrpSpPr>
          <p:cNvPr id="71" name="Google Shape;847;p72">
            <a:extLst>
              <a:ext uri="{FF2B5EF4-FFF2-40B4-BE49-F238E27FC236}">
                <a16:creationId xmlns:a16="http://schemas.microsoft.com/office/drawing/2014/main" id="{BCE86E22-7F30-BF4E-8E05-97DE6EEEBD93}"/>
              </a:ext>
            </a:extLst>
          </p:cNvPr>
          <p:cNvGrpSpPr/>
          <p:nvPr/>
        </p:nvGrpSpPr>
        <p:grpSpPr>
          <a:xfrm>
            <a:off x="7767545" y="1833109"/>
            <a:ext cx="1674933" cy="1687771"/>
            <a:chOff x="4048621" y="636979"/>
            <a:chExt cx="860079" cy="862321"/>
          </a:xfrm>
          <a:solidFill>
            <a:schemeClr val="bg2"/>
          </a:solidFill>
        </p:grpSpPr>
        <p:sp>
          <p:nvSpPr>
            <p:cNvPr id="72" name="Google Shape;848;p72">
              <a:extLst>
                <a:ext uri="{FF2B5EF4-FFF2-40B4-BE49-F238E27FC236}">
                  <a16:creationId xmlns:a16="http://schemas.microsoft.com/office/drawing/2014/main" id="{5C7680D9-EC53-784C-BFEB-48FC5189F092}"/>
                </a:ext>
              </a:extLst>
            </p:cNvPr>
            <p:cNvSpPr/>
            <p:nvPr/>
          </p:nvSpPr>
          <p:spPr>
            <a:xfrm>
              <a:off x="4049800" y="640400"/>
              <a:ext cx="858900" cy="858900"/>
            </a:xfrm>
            <a:prstGeom prst="donut">
              <a:avLst>
                <a:gd name="adj" fmla="val 13218"/>
              </a:avLst>
            </a:prstGeom>
            <a:solidFill>
              <a:schemeClr val="bg1">
                <a:lumMod val="95000"/>
              </a:schemeClr>
            </a:solidFill>
            <a:ln w="9525" cap="flat" cmpd="sng">
              <a:solidFill>
                <a:schemeClr val="bg1">
                  <a:lumMod val="95000"/>
                </a:scheme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ontserrat" panose="00000500000000000000" pitchFamily="2" charset="0"/>
              </a:endParaRPr>
            </a:p>
          </p:txBody>
        </p:sp>
        <p:sp>
          <p:nvSpPr>
            <p:cNvPr id="73" name="Google Shape;849;p72">
              <a:extLst>
                <a:ext uri="{FF2B5EF4-FFF2-40B4-BE49-F238E27FC236}">
                  <a16:creationId xmlns:a16="http://schemas.microsoft.com/office/drawing/2014/main" id="{7B29AC20-8F69-E748-BED4-CE4DDCF26364}"/>
                </a:ext>
              </a:extLst>
            </p:cNvPr>
            <p:cNvSpPr/>
            <p:nvPr/>
          </p:nvSpPr>
          <p:spPr>
            <a:xfrm rot="10800000">
              <a:off x="4048621" y="636979"/>
              <a:ext cx="858900" cy="858900"/>
            </a:xfrm>
            <a:prstGeom prst="blockArc">
              <a:avLst>
                <a:gd name="adj1" fmla="val 9181450"/>
                <a:gd name="adj2" fmla="val 5215825"/>
                <a:gd name="adj3" fmla="val 12474"/>
              </a:avLst>
            </a:prstGeom>
            <a:solidFill>
              <a:srgbClr val="DBF11E"/>
            </a:solidFill>
            <a:ln w="9525" cap="flat" cmpd="sng">
              <a:solidFill>
                <a:srgbClr val="DBF11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ontserrat" panose="00000500000000000000" pitchFamily="2" charset="0"/>
              </a:endParaRPr>
            </a:p>
          </p:txBody>
        </p:sp>
      </p:grpSp>
      <p:sp>
        <p:nvSpPr>
          <p:cNvPr id="74" name="CasellaDiTesto 73">
            <a:extLst>
              <a:ext uri="{FF2B5EF4-FFF2-40B4-BE49-F238E27FC236}">
                <a16:creationId xmlns:a16="http://schemas.microsoft.com/office/drawing/2014/main" id="{B2442C7A-6C12-2C42-A1E7-C9935BD350A0}"/>
              </a:ext>
            </a:extLst>
          </p:cNvPr>
          <p:cNvSpPr txBox="1"/>
          <p:nvPr/>
        </p:nvSpPr>
        <p:spPr>
          <a:xfrm>
            <a:off x="7703676" y="3695477"/>
            <a:ext cx="1879600" cy="369332"/>
          </a:xfrm>
          <a:prstGeom prst="rect">
            <a:avLst/>
          </a:prstGeom>
          <a:noFill/>
        </p:spPr>
        <p:txBody>
          <a:bodyPr wrap="square" rtlCol="0">
            <a:spAutoFit/>
          </a:bodyPr>
          <a:lstStyle/>
          <a:p>
            <a:pPr algn="ctr"/>
            <a:r>
              <a:rPr lang="it-IT" b="1">
                <a:solidFill>
                  <a:srgbClr val="054994"/>
                </a:solidFill>
                <a:latin typeface="Montserrat" panose="00000500000000000000" pitchFamily="2" charset="0"/>
              </a:rPr>
              <a:t>Week 4</a:t>
            </a:r>
          </a:p>
        </p:txBody>
      </p:sp>
      <p:sp>
        <p:nvSpPr>
          <p:cNvPr id="75" name="CasellaDiTesto 74">
            <a:extLst>
              <a:ext uri="{FF2B5EF4-FFF2-40B4-BE49-F238E27FC236}">
                <a16:creationId xmlns:a16="http://schemas.microsoft.com/office/drawing/2014/main" id="{28CE0E3E-9239-F740-8181-1F8EDB410885}"/>
              </a:ext>
            </a:extLst>
          </p:cNvPr>
          <p:cNvSpPr txBox="1"/>
          <p:nvPr/>
        </p:nvSpPr>
        <p:spPr>
          <a:xfrm>
            <a:off x="7577801" y="4225841"/>
            <a:ext cx="2264289" cy="954107"/>
          </a:xfrm>
          <a:prstGeom prst="rect">
            <a:avLst/>
          </a:prstGeom>
          <a:noFill/>
        </p:spPr>
        <p:txBody>
          <a:bodyPr wrap="square" lIns="91440" tIns="45720" rIns="91440" bIns="45720" rtlCol="0" anchor="t">
            <a:spAutoFit/>
          </a:bodyPr>
          <a:lstStyle/>
          <a:p>
            <a:pPr algn="just"/>
            <a:r>
              <a:rPr lang="en-US" sz="1100">
                <a:latin typeface="Montserrat" panose="00000500000000000000" pitchFamily="2" charset="0"/>
              </a:rPr>
              <a:t>Sep 29-Oct 5: integrate real data if granted; refine the live zero-trust gate dashboard.</a:t>
            </a:r>
            <a:endParaRPr lang="it-IT">
              <a:latin typeface="Montserrat" panose="00000500000000000000" pitchFamily="2" charset="0"/>
            </a:endParaRPr>
          </a:p>
        </p:txBody>
      </p:sp>
      <p:grpSp>
        <p:nvGrpSpPr>
          <p:cNvPr id="76" name="Google Shape;847;p72">
            <a:extLst>
              <a:ext uri="{FF2B5EF4-FFF2-40B4-BE49-F238E27FC236}">
                <a16:creationId xmlns:a16="http://schemas.microsoft.com/office/drawing/2014/main" id="{1DCAD6D6-E753-9743-96C3-2E1F81EEA04E}"/>
              </a:ext>
            </a:extLst>
          </p:cNvPr>
          <p:cNvGrpSpPr/>
          <p:nvPr/>
        </p:nvGrpSpPr>
        <p:grpSpPr>
          <a:xfrm>
            <a:off x="10167469" y="1846731"/>
            <a:ext cx="1683400" cy="1692854"/>
            <a:chOff x="4044273" y="634382"/>
            <a:chExt cx="864427" cy="864918"/>
          </a:xfrm>
          <a:solidFill>
            <a:schemeClr val="bg2"/>
          </a:solidFill>
        </p:grpSpPr>
        <p:sp>
          <p:nvSpPr>
            <p:cNvPr id="77" name="Google Shape;848;p72">
              <a:extLst>
                <a:ext uri="{FF2B5EF4-FFF2-40B4-BE49-F238E27FC236}">
                  <a16:creationId xmlns:a16="http://schemas.microsoft.com/office/drawing/2014/main" id="{9381A08C-9BD9-F04C-B709-40A5792DCF45}"/>
                </a:ext>
              </a:extLst>
            </p:cNvPr>
            <p:cNvSpPr/>
            <p:nvPr/>
          </p:nvSpPr>
          <p:spPr>
            <a:xfrm>
              <a:off x="4049800" y="640400"/>
              <a:ext cx="858900" cy="858900"/>
            </a:xfrm>
            <a:prstGeom prst="donut">
              <a:avLst>
                <a:gd name="adj" fmla="val 13218"/>
              </a:avLst>
            </a:prstGeom>
            <a:solidFill>
              <a:schemeClr val="bg1">
                <a:lumMod val="95000"/>
              </a:schemeClr>
            </a:solidFill>
            <a:ln w="9525" cap="flat" cmpd="sng">
              <a:solidFill>
                <a:schemeClr val="bg1">
                  <a:lumMod val="95000"/>
                </a:scheme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ontserrat" panose="00000500000000000000" pitchFamily="2" charset="0"/>
              </a:endParaRPr>
            </a:p>
          </p:txBody>
        </p:sp>
        <p:sp>
          <p:nvSpPr>
            <p:cNvPr id="78" name="Google Shape;849;p72">
              <a:extLst>
                <a:ext uri="{FF2B5EF4-FFF2-40B4-BE49-F238E27FC236}">
                  <a16:creationId xmlns:a16="http://schemas.microsoft.com/office/drawing/2014/main" id="{64EFCFF0-3867-DD48-8E5A-129320C62C62}"/>
                </a:ext>
              </a:extLst>
            </p:cNvPr>
            <p:cNvSpPr/>
            <p:nvPr/>
          </p:nvSpPr>
          <p:spPr>
            <a:xfrm rot="10800000">
              <a:off x="4044273" y="634382"/>
              <a:ext cx="858900" cy="858900"/>
            </a:xfrm>
            <a:prstGeom prst="blockArc">
              <a:avLst>
                <a:gd name="adj1" fmla="val 7676434"/>
                <a:gd name="adj2" fmla="val 6376296"/>
                <a:gd name="adj3" fmla="val 13817"/>
              </a:avLst>
            </a:prstGeom>
            <a:solidFill>
              <a:schemeClr val="accent2">
                <a:lumMod val="75000"/>
              </a:schemeClr>
            </a:solidFill>
            <a:ln w="9525" cap="flat" cmpd="sng">
              <a:solidFill>
                <a:schemeClr val="accent2">
                  <a:lumMod val="75000"/>
                </a:scheme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ontserrat" panose="00000500000000000000" pitchFamily="2" charset="0"/>
              </a:endParaRPr>
            </a:p>
          </p:txBody>
        </p:sp>
      </p:grpSp>
      <p:sp>
        <p:nvSpPr>
          <p:cNvPr id="79" name="CasellaDiTesto 78">
            <a:extLst>
              <a:ext uri="{FF2B5EF4-FFF2-40B4-BE49-F238E27FC236}">
                <a16:creationId xmlns:a16="http://schemas.microsoft.com/office/drawing/2014/main" id="{8ADF5DF1-87DE-644D-BD2E-FEAB2614F400}"/>
              </a:ext>
            </a:extLst>
          </p:cNvPr>
          <p:cNvSpPr txBox="1"/>
          <p:nvPr/>
        </p:nvSpPr>
        <p:spPr>
          <a:xfrm>
            <a:off x="10112069" y="3714182"/>
            <a:ext cx="1879600" cy="369332"/>
          </a:xfrm>
          <a:prstGeom prst="rect">
            <a:avLst/>
          </a:prstGeom>
          <a:noFill/>
        </p:spPr>
        <p:txBody>
          <a:bodyPr wrap="square" rtlCol="0">
            <a:spAutoFit/>
          </a:bodyPr>
          <a:lstStyle/>
          <a:p>
            <a:pPr algn="ctr"/>
            <a:r>
              <a:rPr lang="it-IT" b="1" err="1">
                <a:solidFill>
                  <a:schemeClr val="accent2">
                    <a:lumMod val="75000"/>
                  </a:schemeClr>
                </a:solidFill>
                <a:latin typeface="Montserrat" panose="00000500000000000000" pitchFamily="2" charset="0"/>
              </a:rPr>
              <a:t>Final</a:t>
            </a:r>
            <a:r>
              <a:rPr lang="it-IT" b="1">
                <a:solidFill>
                  <a:schemeClr val="accent2">
                    <a:lumMod val="75000"/>
                  </a:schemeClr>
                </a:solidFill>
                <a:latin typeface="Montserrat" panose="00000500000000000000" pitchFamily="2" charset="0"/>
              </a:rPr>
              <a:t> week</a:t>
            </a:r>
          </a:p>
        </p:txBody>
      </p:sp>
      <p:sp>
        <p:nvSpPr>
          <p:cNvPr id="80" name="CasellaDiTesto 79">
            <a:extLst>
              <a:ext uri="{FF2B5EF4-FFF2-40B4-BE49-F238E27FC236}">
                <a16:creationId xmlns:a16="http://schemas.microsoft.com/office/drawing/2014/main" id="{59CC1F5A-4EE0-BA48-B7D8-A9630823A23F}"/>
              </a:ext>
            </a:extLst>
          </p:cNvPr>
          <p:cNvSpPr txBox="1"/>
          <p:nvPr/>
        </p:nvSpPr>
        <p:spPr>
          <a:xfrm>
            <a:off x="9986194" y="4244546"/>
            <a:ext cx="2264289" cy="954107"/>
          </a:xfrm>
          <a:prstGeom prst="rect">
            <a:avLst/>
          </a:prstGeom>
          <a:noFill/>
        </p:spPr>
        <p:txBody>
          <a:bodyPr wrap="square" lIns="91440" tIns="45720" rIns="91440" bIns="45720" rtlCol="0" anchor="t">
            <a:spAutoFit/>
          </a:bodyPr>
          <a:lstStyle/>
          <a:p>
            <a:pPr algn="just"/>
            <a:r>
              <a:rPr lang="en-US" sz="1100">
                <a:latin typeface="Montserrat" panose="00000500000000000000" pitchFamily="2" charset="0"/>
              </a:rPr>
              <a:t>Oct 6-15: final PoC integration, rehearsal, and the Gate 3 live demo delivery.</a:t>
            </a:r>
            <a:endParaRPr lang="it-IT">
              <a:latin typeface="Montserrat" panose="00000500000000000000" pitchFamily="2" charset="0"/>
            </a:endParaRPr>
          </a:p>
        </p:txBody>
      </p:sp>
      <p:pic>
        <p:nvPicPr>
          <p:cNvPr id="81" name="Graphic 134">
            <a:extLst>
              <a:ext uri="{FF2B5EF4-FFF2-40B4-BE49-F238E27FC236}">
                <a16:creationId xmlns:a16="http://schemas.microsoft.com/office/drawing/2014/main" id="{13903208-2B44-884B-9073-F5554CBA1E7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18146" y="2334003"/>
            <a:ext cx="688694" cy="688690"/>
          </a:xfrm>
          <a:prstGeom prst="rect">
            <a:avLst/>
          </a:prstGeom>
        </p:spPr>
      </p:pic>
      <p:pic>
        <p:nvPicPr>
          <p:cNvPr id="82" name="Graphic 156">
            <a:extLst>
              <a:ext uri="{FF2B5EF4-FFF2-40B4-BE49-F238E27FC236}">
                <a16:creationId xmlns:a16="http://schemas.microsoft.com/office/drawing/2014/main" id="{79E89095-30B9-374C-966F-5B1177387EA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638130" y="2334003"/>
            <a:ext cx="804905" cy="804905"/>
          </a:xfrm>
          <a:prstGeom prst="rect">
            <a:avLst/>
          </a:prstGeom>
        </p:spPr>
      </p:pic>
      <p:sp>
        <p:nvSpPr>
          <p:cNvPr id="83" name="Titolo 1">
            <a:extLst>
              <a:ext uri="{FF2B5EF4-FFF2-40B4-BE49-F238E27FC236}">
                <a16:creationId xmlns:a16="http://schemas.microsoft.com/office/drawing/2014/main" id="{1D795F67-96FC-094B-9857-880EF4BE56E8}"/>
              </a:ext>
            </a:extLst>
          </p:cNvPr>
          <p:cNvSpPr txBox="1">
            <a:spLocks/>
          </p:cNvSpPr>
          <p:nvPr/>
        </p:nvSpPr>
        <p:spPr>
          <a:xfrm>
            <a:off x="758695" y="264055"/>
            <a:ext cx="7726086" cy="110110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it-IT" err="1">
                <a:solidFill>
                  <a:srgbClr val="134193"/>
                </a:solidFill>
                <a:latin typeface="Montserrat" panose="00000500000000000000" pitchFamily="2" charset="0"/>
              </a:rPr>
              <a:t>Next</a:t>
            </a:r>
            <a:r>
              <a:rPr lang="it-IT">
                <a:solidFill>
                  <a:srgbClr val="134193"/>
                </a:solidFill>
                <a:latin typeface="Montserrat" panose="00000500000000000000" pitchFamily="2" charset="0"/>
              </a:rPr>
              <a:t> </a:t>
            </a:r>
            <a:r>
              <a:rPr lang="it-IT" err="1">
                <a:solidFill>
                  <a:srgbClr val="134193"/>
                </a:solidFill>
                <a:latin typeface="Montserrat" panose="00000500000000000000" pitchFamily="2" charset="0"/>
              </a:rPr>
              <a:t>steps</a:t>
            </a:r>
            <a:endParaRPr lang="it-IT">
              <a:solidFill>
                <a:srgbClr val="134193"/>
              </a:solidFill>
              <a:latin typeface="Montserrat" panose="00000500000000000000" pitchFamily="2" charset="0"/>
            </a:endParaRPr>
          </a:p>
        </p:txBody>
      </p:sp>
    </p:spTree>
    <p:extLst>
      <p:ext uri="{BB962C8B-B14F-4D97-AF65-F5344CB8AC3E}">
        <p14:creationId xmlns:p14="http://schemas.microsoft.com/office/powerpoint/2010/main" val="39214228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033A1"/>
        </a:solidFill>
        <a:effectLst/>
      </p:bgPr>
    </p:bg>
    <p:spTree>
      <p:nvGrpSpPr>
        <p:cNvPr id="1" name=""/>
        <p:cNvGrpSpPr/>
        <p:nvPr/>
      </p:nvGrpSpPr>
      <p:grpSpPr>
        <a:xfrm>
          <a:off x="0" y="0"/>
          <a:ext cx="0" cy="0"/>
          <a:chOff x="0" y="0"/>
          <a:chExt cx="0" cy="0"/>
        </a:xfrm>
      </p:grpSpPr>
      <p:sp>
        <p:nvSpPr>
          <p:cNvPr id="15" name="TextBox 35">
            <a:extLst>
              <a:ext uri="{FF2B5EF4-FFF2-40B4-BE49-F238E27FC236}">
                <a16:creationId xmlns:a16="http://schemas.microsoft.com/office/drawing/2014/main" id="{F79DFFFD-69BC-67D0-2F6C-8A2757687FD5}"/>
              </a:ext>
            </a:extLst>
          </p:cNvPr>
          <p:cNvSpPr txBox="1"/>
          <p:nvPr/>
        </p:nvSpPr>
        <p:spPr>
          <a:xfrm>
            <a:off x="625129" y="5554809"/>
            <a:ext cx="5738726" cy="382412"/>
          </a:xfrm>
          <a:prstGeom prst="rect">
            <a:avLst/>
          </a:prstGeom>
        </p:spPr>
        <p:txBody>
          <a:bodyPr wrap="square" lIns="0" tIns="0" rIns="0" bIns="0" rtlCol="0" anchor="t">
            <a:spAutoFit/>
          </a:bodyPr>
          <a:lstStyle/>
          <a:p>
            <a:pPr defTabSz="609630">
              <a:lnSpc>
                <a:spcPts val="1628"/>
              </a:lnSpc>
            </a:pPr>
            <a:r>
              <a:rPr lang="en-US" sz="800" spc="13">
                <a:solidFill>
                  <a:srgbClr val="FFFFFF"/>
                </a:solidFill>
                <a:latin typeface="TIM Sans Light" panose="02020503040602060503" pitchFamily="18" charset="0"/>
                <a:ea typeface="TT Rounds Condensed"/>
                <a:cs typeface="TT Rounds Condensed"/>
                <a:sym typeface="TT Rounds Condensed"/>
              </a:rPr>
              <a:t>This presentation contains information that may be privileged or confidential and is the property of 5G Academy 2025/26.</a:t>
            </a:r>
            <a:r>
              <a:rPr lang="en-US" sz="800" spc="13">
                <a:solidFill>
                  <a:srgbClr val="000000"/>
                </a:solidFill>
                <a:latin typeface="TIM Sans Light" panose="02020503040602060503" pitchFamily="18" charset="0"/>
                <a:ea typeface="TT Rounds Condensed"/>
                <a:cs typeface="TT Rounds Condensed"/>
                <a:sym typeface="TT Rounds Condensed"/>
              </a:rPr>
              <a:t>​</a:t>
            </a:r>
          </a:p>
          <a:p>
            <a:pPr defTabSz="609630">
              <a:lnSpc>
                <a:spcPts val="1628"/>
              </a:lnSpc>
            </a:pPr>
            <a:r>
              <a:rPr lang="en-US" sz="800" spc="13">
                <a:solidFill>
                  <a:srgbClr val="FFFFFF"/>
                </a:solidFill>
                <a:latin typeface="TIM Sans Light" panose="02020503040602060503" pitchFamily="18" charset="0"/>
                <a:ea typeface="TT Rounds Condensed"/>
                <a:cs typeface="TT Rounds Condensed"/>
                <a:sym typeface="TT Rounds Condensed"/>
              </a:rPr>
              <a:t>Copyright © 2025/26 5G Academy. All rights reserved.</a:t>
            </a:r>
          </a:p>
        </p:txBody>
      </p:sp>
      <p:sp>
        <p:nvSpPr>
          <p:cNvPr id="16" name="TextBox 18">
            <a:extLst>
              <a:ext uri="{FF2B5EF4-FFF2-40B4-BE49-F238E27FC236}">
                <a16:creationId xmlns:a16="http://schemas.microsoft.com/office/drawing/2014/main" id="{545127C7-0F46-8704-D4BA-AF96F51AAE7E}"/>
              </a:ext>
            </a:extLst>
          </p:cNvPr>
          <p:cNvSpPr txBox="1"/>
          <p:nvPr/>
        </p:nvSpPr>
        <p:spPr>
          <a:xfrm>
            <a:off x="788526" y="4480530"/>
            <a:ext cx="5307474" cy="1179875"/>
          </a:xfrm>
          <a:prstGeom prst="rect">
            <a:avLst/>
          </a:prstGeom>
          <a:noFill/>
        </p:spPr>
        <p:txBody>
          <a:bodyPr vert="horz" wrap="square" lIns="0" tIns="0" rIns="0" bIns="0" rtlCol="0">
            <a:spAutoFit/>
          </a:bodyPr>
          <a:lstStyle/>
          <a:p>
            <a:pPr algn="ctr" defTabSz="609630">
              <a:defRPr/>
            </a:pPr>
            <a:r>
              <a:rPr lang="en-GB" sz="7667" spc="-13">
                <a:solidFill>
                  <a:prstClr val="white"/>
                </a:solidFill>
                <a:latin typeface="Montserrat Bold" panose="00000800000000000000" pitchFamily="2" charset="0"/>
                <a:cs typeface="Arial"/>
              </a:rPr>
              <a:t>Thank</a:t>
            </a:r>
            <a:r>
              <a:rPr lang="en-GB" sz="7667" spc="-13">
                <a:solidFill>
                  <a:prstClr val="white"/>
                </a:solidFill>
                <a:latin typeface="TIM Sans Thin" panose="02020503040602060503" pitchFamily="18" charset="0"/>
                <a:cs typeface="Arial"/>
              </a:rPr>
              <a:t> </a:t>
            </a:r>
            <a:r>
              <a:rPr lang="en-GB" sz="7667" spc="-13">
                <a:solidFill>
                  <a:prstClr val="white"/>
                </a:solidFill>
                <a:latin typeface="Montserrat Light" panose="00000400000000000000" pitchFamily="2" charset="0"/>
                <a:cs typeface="Arial"/>
              </a:rPr>
              <a:t>you</a:t>
            </a:r>
            <a:endParaRPr lang="fr-FR" sz="7667" spc="200">
              <a:solidFill>
                <a:prstClr val="white"/>
              </a:solidFill>
              <a:latin typeface="Montserrat Light" panose="00000400000000000000" pitchFamily="2" charset="0"/>
              <a:cs typeface="Arial"/>
            </a:endParaRPr>
          </a:p>
        </p:txBody>
      </p:sp>
      <p:pic>
        <p:nvPicPr>
          <p:cNvPr id="5" name="Immagine 4" descr="Immagine che contiene testo, schermata, Elementi grafici, logo&#10;&#10;Il contenuto generato dall'IA potrebbe non essere corretto.">
            <a:extLst>
              <a:ext uri="{FF2B5EF4-FFF2-40B4-BE49-F238E27FC236}">
                <a16:creationId xmlns:a16="http://schemas.microsoft.com/office/drawing/2014/main" id="{98455F16-3EC6-AA39-263F-05660E1A1615}"/>
              </a:ext>
            </a:extLst>
          </p:cNvPr>
          <p:cNvPicPr>
            <a:picLocks noChangeAspect="1"/>
          </p:cNvPicPr>
          <p:nvPr/>
        </p:nvPicPr>
        <p:blipFill>
          <a:blip r:embed="rId2">
            <a:alphaModFix/>
            <a:extLst>
              <a:ext uri="{28A0092B-C50C-407E-A947-70E740481C1C}">
                <a14:useLocalDpi xmlns:a14="http://schemas.microsoft.com/office/drawing/2010/main" val="0"/>
              </a:ext>
            </a:extLst>
          </a:blip>
          <a:srcRect l="7138" t="5161" r="3525" b="8645"/>
          <a:stretch>
            <a:fillRect/>
          </a:stretch>
        </p:blipFill>
        <p:spPr>
          <a:xfrm>
            <a:off x="5181600" y="334224"/>
            <a:ext cx="6638029" cy="4269628"/>
          </a:xfrm>
          <a:prstGeom prst="rect">
            <a:avLst/>
          </a:prstGeom>
        </p:spPr>
      </p:pic>
      <p:grpSp>
        <p:nvGrpSpPr>
          <p:cNvPr id="7" name="Gruppo 6">
            <a:extLst>
              <a:ext uri="{FF2B5EF4-FFF2-40B4-BE49-F238E27FC236}">
                <a16:creationId xmlns:a16="http://schemas.microsoft.com/office/drawing/2014/main" id="{997479B7-0E49-F31C-36F7-EE773C122418}"/>
              </a:ext>
            </a:extLst>
          </p:cNvPr>
          <p:cNvGrpSpPr/>
          <p:nvPr/>
        </p:nvGrpSpPr>
        <p:grpSpPr>
          <a:xfrm>
            <a:off x="127559" y="400092"/>
            <a:ext cx="7434251" cy="1259234"/>
            <a:chOff x="371318" y="651646"/>
            <a:chExt cx="7434251" cy="1259234"/>
          </a:xfrm>
        </p:grpSpPr>
        <p:sp>
          <p:nvSpPr>
            <p:cNvPr id="10" name="CasellaDiTesto 9">
              <a:extLst>
                <a:ext uri="{FF2B5EF4-FFF2-40B4-BE49-F238E27FC236}">
                  <a16:creationId xmlns:a16="http://schemas.microsoft.com/office/drawing/2014/main" id="{6F1D3B6C-2814-C3D5-D940-E19FF3A116FF}"/>
                </a:ext>
              </a:extLst>
            </p:cNvPr>
            <p:cNvSpPr txBox="1"/>
            <p:nvPr/>
          </p:nvSpPr>
          <p:spPr>
            <a:xfrm>
              <a:off x="371318" y="651646"/>
              <a:ext cx="4102465" cy="369332"/>
            </a:xfrm>
            <a:prstGeom prst="rect">
              <a:avLst/>
            </a:prstGeom>
            <a:noFill/>
          </p:spPr>
          <p:txBody>
            <a:bodyPr wrap="square" rtlCol="0">
              <a:spAutoFit/>
            </a:bodyPr>
            <a:lstStyle/>
            <a:p>
              <a:pPr defTabSz="609630"/>
              <a:r>
                <a:rPr lang="it-IT" spc="100">
                  <a:solidFill>
                    <a:srgbClr val="4F81BD">
                      <a:lumMod val="40000"/>
                      <a:lumOff val="60000"/>
                    </a:srgbClr>
                  </a:solidFill>
                  <a:latin typeface="Montserrat Medium" panose="00000600000000000000" pitchFamily="2" charset="0"/>
                </a:rPr>
                <a:t>ADVANCED STEM PROGRAM</a:t>
              </a:r>
            </a:p>
          </p:txBody>
        </p:sp>
        <p:sp>
          <p:nvSpPr>
            <p:cNvPr id="13" name="CasellaDiTesto 12">
              <a:extLst>
                <a:ext uri="{FF2B5EF4-FFF2-40B4-BE49-F238E27FC236}">
                  <a16:creationId xmlns:a16="http://schemas.microsoft.com/office/drawing/2014/main" id="{7445FC7E-1EBC-2CFC-DA3F-BD1CA8CF1391}"/>
                </a:ext>
              </a:extLst>
            </p:cNvPr>
            <p:cNvSpPr txBox="1"/>
            <p:nvPr/>
          </p:nvSpPr>
          <p:spPr>
            <a:xfrm>
              <a:off x="371318" y="801819"/>
              <a:ext cx="6407523" cy="830997"/>
            </a:xfrm>
            <a:prstGeom prst="rect">
              <a:avLst/>
            </a:prstGeom>
            <a:noFill/>
          </p:spPr>
          <p:txBody>
            <a:bodyPr wrap="none" rtlCol="0">
              <a:spAutoFit/>
            </a:bodyPr>
            <a:lstStyle/>
            <a:p>
              <a:pPr defTabSz="609630"/>
              <a:r>
                <a:rPr lang="it-IT" sz="4800" b="1" spc="-100">
                  <a:solidFill>
                    <a:prstClr val="white"/>
                  </a:solidFill>
                  <a:latin typeface="Montserrat Bold" panose="00000800000000000000" pitchFamily="2" charset="0"/>
                </a:rPr>
                <a:t>AI-Native Networks:</a:t>
              </a:r>
            </a:p>
          </p:txBody>
        </p:sp>
        <p:sp>
          <p:nvSpPr>
            <p:cNvPr id="14" name="CasellaDiTesto 13">
              <a:extLst>
                <a:ext uri="{FF2B5EF4-FFF2-40B4-BE49-F238E27FC236}">
                  <a16:creationId xmlns:a16="http://schemas.microsoft.com/office/drawing/2014/main" id="{24F6550C-87E5-F77F-BC5A-B2720984862A}"/>
                </a:ext>
              </a:extLst>
            </p:cNvPr>
            <p:cNvSpPr txBox="1"/>
            <p:nvPr/>
          </p:nvSpPr>
          <p:spPr>
            <a:xfrm>
              <a:off x="371318" y="1449215"/>
              <a:ext cx="7434251" cy="461665"/>
            </a:xfrm>
            <a:prstGeom prst="rect">
              <a:avLst/>
            </a:prstGeom>
            <a:noFill/>
          </p:spPr>
          <p:txBody>
            <a:bodyPr wrap="square" rtlCol="0">
              <a:spAutoFit/>
            </a:bodyPr>
            <a:lstStyle/>
            <a:p>
              <a:pPr defTabSz="609630"/>
              <a:r>
                <a:rPr lang="it-IT" sz="2400" spc="110">
                  <a:solidFill>
                    <a:srgbClr val="E6F0FF"/>
                  </a:solidFill>
                  <a:latin typeface="Proxima Nova:"/>
                </a:rPr>
                <a:t>Engineering the </a:t>
              </a:r>
              <a:r>
                <a:rPr lang="it-IT" sz="2400" spc="110" err="1">
                  <a:solidFill>
                    <a:srgbClr val="E6F0FF"/>
                  </a:solidFill>
                  <a:latin typeface="Proxima Nova:"/>
                </a:rPr>
                <a:t>Infrastructure</a:t>
              </a:r>
              <a:r>
                <a:rPr lang="it-IT" sz="2400" spc="110">
                  <a:solidFill>
                    <a:srgbClr val="E6F0FF"/>
                  </a:solidFill>
                  <a:latin typeface="Proxima Nova:"/>
                </a:rPr>
                <a:t> of the AI Era</a:t>
              </a:r>
            </a:p>
          </p:txBody>
        </p:sp>
      </p:grpSp>
      <p:grpSp>
        <p:nvGrpSpPr>
          <p:cNvPr id="19" name="Gruppo 18">
            <a:extLst>
              <a:ext uri="{FF2B5EF4-FFF2-40B4-BE49-F238E27FC236}">
                <a16:creationId xmlns:a16="http://schemas.microsoft.com/office/drawing/2014/main" id="{0DB533A8-695C-0589-EE61-7B7835E7359C}"/>
              </a:ext>
            </a:extLst>
          </p:cNvPr>
          <p:cNvGrpSpPr/>
          <p:nvPr/>
        </p:nvGrpSpPr>
        <p:grpSpPr>
          <a:xfrm>
            <a:off x="9034438" y="4847283"/>
            <a:ext cx="2628172" cy="1676493"/>
            <a:chOff x="1040621" y="3487333"/>
            <a:chExt cx="2628172" cy="1676493"/>
          </a:xfrm>
        </p:grpSpPr>
        <p:sp>
          <p:nvSpPr>
            <p:cNvPr id="20" name="CasellaDiTesto 19">
              <a:extLst>
                <a:ext uri="{FF2B5EF4-FFF2-40B4-BE49-F238E27FC236}">
                  <a16:creationId xmlns:a16="http://schemas.microsoft.com/office/drawing/2014/main" id="{473DBE2A-D16D-3CFA-D458-A36131CFF447}"/>
                </a:ext>
              </a:extLst>
            </p:cNvPr>
            <p:cNvSpPr txBox="1"/>
            <p:nvPr/>
          </p:nvSpPr>
          <p:spPr>
            <a:xfrm>
              <a:off x="1040621" y="3487333"/>
              <a:ext cx="1337226" cy="276999"/>
            </a:xfrm>
            <a:prstGeom prst="rect">
              <a:avLst/>
            </a:prstGeom>
            <a:noFill/>
          </p:spPr>
          <p:txBody>
            <a:bodyPr wrap="none" rtlCol="0">
              <a:spAutoFit/>
            </a:bodyPr>
            <a:lstStyle/>
            <a:p>
              <a:pPr defTabSz="609630"/>
              <a:r>
                <a:rPr lang="it-IT" sz="1200" b="1">
                  <a:solidFill>
                    <a:prstClr val="white"/>
                  </a:solidFill>
                  <a:latin typeface="Montserrat Medium" panose="00000600000000000000" pitchFamily="2" charset="0"/>
                </a:rPr>
                <a:t>CO-DESIGN BY</a:t>
              </a:r>
            </a:p>
          </p:txBody>
        </p:sp>
        <p:pic>
          <p:nvPicPr>
            <p:cNvPr id="21" name="Elemento grafico 20">
              <a:extLst>
                <a:ext uri="{FF2B5EF4-FFF2-40B4-BE49-F238E27FC236}">
                  <a16:creationId xmlns:a16="http://schemas.microsoft.com/office/drawing/2014/main" id="{69BCE9B7-B7D1-DD0B-6074-9D683022005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1721" y="3811564"/>
              <a:ext cx="2461333" cy="763161"/>
            </a:xfrm>
            <a:prstGeom prst="rect">
              <a:avLst/>
            </a:prstGeom>
          </p:spPr>
        </p:pic>
        <p:pic>
          <p:nvPicPr>
            <p:cNvPr id="22" name="Elemento grafico 21">
              <a:extLst>
                <a:ext uri="{FF2B5EF4-FFF2-40B4-BE49-F238E27FC236}">
                  <a16:creationId xmlns:a16="http://schemas.microsoft.com/office/drawing/2014/main" id="{4D03E4CC-2C12-2AD1-A2E3-B1F6D2E0573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46950" y="4669188"/>
              <a:ext cx="2521843" cy="494638"/>
            </a:xfrm>
            <a:prstGeom prst="rect">
              <a:avLst/>
            </a:prstGeom>
          </p:spPr>
        </p:pic>
      </p:grpSp>
    </p:spTree>
    <p:extLst>
      <p:ext uri="{BB962C8B-B14F-4D97-AF65-F5344CB8AC3E}">
        <p14:creationId xmlns:p14="http://schemas.microsoft.com/office/powerpoint/2010/main" val="29155074"/>
      </p:ext>
    </p:extLst>
  </p:cSld>
  <p:clrMapOvr>
    <a:masterClrMapping/>
  </p:clrMapOvr>
  <p:transition>
    <p:fade/>
  </p:transition>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2">
      <a:majorFont>
        <a:latin typeface="TIM Sans"/>
        <a:ea typeface=""/>
        <a:cs typeface=""/>
      </a:majorFont>
      <a:minorFont>
        <a:latin typeface="TI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42D7E2E766E274BA85FFEF303FE3B84" ma:contentTypeVersion="11" ma:contentTypeDescription="Create a new document." ma:contentTypeScope="" ma:versionID="161f57f8e4da8c53066cecce20e1cf28">
  <xsd:schema xmlns:xsd="http://www.w3.org/2001/XMLSchema" xmlns:xs="http://www.w3.org/2001/XMLSchema" xmlns:p="http://schemas.microsoft.com/office/2006/metadata/properties" xmlns:ns2="df1bf422-076b-4923-a343-86f92e681c13" xmlns:ns3="17320c4f-b4d7-4a2f-a568-c234bef09358" targetNamespace="http://schemas.microsoft.com/office/2006/metadata/properties" ma:root="true" ma:fieldsID="3f75c0bee81b84287f3a5e0ecbeaea68" ns2:_="" ns3:_="">
    <xsd:import namespace="df1bf422-076b-4923-a343-86f92e681c13"/>
    <xsd:import namespace="17320c4f-b4d7-4a2f-a568-c234bef09358"/>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f1bf422-076b-4923-a343-86f92e681c1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75195dc1-fe89-472b-8717-1a0640488213"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7320c4f-b4d7-4a2f-a568-c234bef09358"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d0e469e3-2d6b-4f07-ba7f-94947d0b2f8c}" ma:internalName="TaxCatchAll" ma:showField="CatchAllData" ma:web="17320c4f-b4d7-4a2f-a568-c234bef0935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f1bf422-076b-4923-a343-86f92e681c13">
      <Terms xmlns="http://schemas.microsoft.com/office/infopath/2007/PartnerControls"/>
    </lcf76f155ced4ddcb4097134ff3c332f>
    <TaxCatchAll xmlns="17320c4f-b4d7-4a2f-a568-c234bef09358" xsi:nil="true"/>
  </documentManagement>
</p:properties>
</file>

<file path=customXml/itemProps1.xml><?xml version="1.0" encoding="utf-8"?>
<ds:datastoreItem xmlns:ds="http://schemas.openxmlformats.org/officeDocument/2006/customXml" ds:itemID="{4556ADC4-199E-44DC-A523-D8744D7BC35E}">
  <ds:schemaRefs>
    <ds:schemaRef ds:uri="http://schemas.microsoft.com/sharepoint/v3/contenttype/forms"/>
  </ds:schemaRefs>
</ds:datastoreItem>
</file>

<file path=customXml/itemProps2.xml><?xml version="1.0" encoding="utf-8"?>
<ds:datastoreItem xmlns:ds="http://schemas.openxmlformats.org/officeDocument/2006/customXml" ds:itemID="{4CCF2E81-C883-4B0C-8083-6D912302FDE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f1bf422-076b-4923-a343-86f92e681c13"/>
    <ds:schemaRef ds:uri="17320c4f-b4d7-4a2f-a568-c234bef0935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A541EC5D-E343-4D44-BBD8-CEB67CBC2CC1}">
  <ds:schemaRefs>
    <ds:schemaRef ds:uri="0956c7b6-d154-4c2f-a855-f749c344b973"/>
    <ds:schemaRef ds:uri="85ac3166-3b04-459f-810a-4a1a3b1043f5"/>
    <ds:schemaRef ds:uri="9838d0a8-28ce-4517-850f-cd68f65e9223"/>
    <ds:schemaRef ds:uri="http://schemas.microsoft.com/office/2006/metadata/properties"/>
    <ds:schemaRef ds:uri="http://schemas.microsoft.com/office/infopath/2007/PartnerControls"/>
    <ds:schemaRef ds:uri="df1bf422-076b-4923-a343-86f92e681c13"/>
    <ds:schemaRef ds:uri="17320c4f-b4d7-4a2f-a568-c234bef09358"/>
  </ds:schemaRefs>
</ds:datastoreItem>
</file>

<file path=docProps/app.xml><?xml version="1.0" encoding="utf-8"?>
<Properties xmlns="http://schemas.openxmlformats.org/officeDocument/2006/extended-properties" xmlns:vt="http://schemas.openxmlformats.org/officeDocument/2006/docPropsVTypes">
  <TotalTime>8</TotalTime>
  <Words>543</Words>
  <Application>Microsoft Office PowerPoint</Application>
  <PresentationFormat>Widescreen</PresentationFormat>
  <Paragraphs>172</Paragraphs>
  <Slides>10</Slides>
  <Notes>1</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10</vt:i4>
      </vt:variant>
    </vt:vector>
  </HeadingPairs>
  <TitlesOfParts>
    <vt:vector size="22" baseType="lpstr">
      <vt:lpstr>Arial</vt:lpstr>
      <vt:lpstr>Calibri</vt:lpstr>
      <vt:lpstr>Montserrat</vt:lpstr>
      <vt:lpstr>Montserrat Bold</vt:lpstr>
      <vt:lpstr>Montserrat Light</vt:lpstr>
      <vt:lpstr>Montserrat Medium</vt:lpstr>
      <vt:lpstr>Proxima Nova:</vt:lpstr>
      <vt:lpstr>TIM Sans</vt:lpstr>
      <vt:lpstr>TIM Sans Light</vt:lpstr>
      <vt:lpstr>TIM Sans Thin</vt:lpstr>
      <vt:lpstr>Tema di Office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CYBORG ACADEMY</dc:title>
  <dc:creator>Microsoft Office User</dc:creator>
  <cp:lastModifiedBy>FAUZAN EJAZ</cp:lastModifiedBy>
  <cp:revision>7</cp:revision>
  <cp:lastPrinted>2019-09-27T11:11:51Z</cp:lastPrinted>
  <dcterms:created xsi:type="dcterms:W3CDTF">2019-09-25T16:06:26Z</dcterms:created>
  <dcterms:modified xsi:type="dcterms:W3CDTF">2026-09-03T18:08:40Z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5e397fc-1581-4f20-a09a-f1b2dd53ab2e_Enabled">
    <vt:lpwstr>true</vt:lpwstr>
  </property>
  <property fmtid="{D5CDD505-2E9C-101B-9397-08002B2CF9AE}" pid="3" name="MSIP_Label_d5e397fc-1581-4f20-a09a-f1b2dd53ab2e_SetDate">
    <vt:lpwstr>2021-11-17T09:55:24Z</vt:lpwstr>
  </property>
  <property fmtid="{D5CDD505-2E9C-101B-9397-08002B2CF9AE}" pid="4" name="MSIP_Label_d5e397fc-1581-4f20-a09a-f1b2dd53ab2e_Method">
    <vt:lpwstr>Privileged</vt:lpwstr>
  </property>
  <property fmtid="{D5CDD505-2E9C-101B-9397-08002B2CF9AE}" pid="5" name="MSIP_Label_d5e397fc-1581-4f20-a09a-f1b2dd53ab2e_Name">
    <vt:lpwstr>PUBBLICO</vt:lpwstr>
  </property>
  <property fmtid="{D5CDD505-2E9C-101B-9397-08002B2CF9AE}" pid="6" name="MSIP_Label_d5e397fc-1581-4f20-a09a-f1b2dd53ab2e_SiteId">
    <vt:lpwstr>6815f468-021c-48f2-a6b2-d65c8e979dfb</vt:lpwstr>
  </property>
  <property fmtid="{D5CDD505-2E9C-101B-9397-08002B2CF9AE}" pid="7" name="MSIP_Label_d5e397fc-1581-4f20-a09a-f1b2dd53ab2e_ActionId">
    <vt:lpwstr>7b197b8f-7652-45e1-ab4f-07a24c18b5db</vt:lpwstr>
  </property>
  <property fmtid="{D5CDD505-2E9C-101B-9397-08002B2CF9AE}" pid="8" name="MSIP_Label_d5e397fc-1581-4f20-a09a-f1b2dd53ab2e_ContentBits">
    <vt:lpwstr>0</vt:lpwstr>
  </property>
  <property fmtid="{D5CDD505-2E9C-101B-9397-08002B2CF9AE}" pid="9" name="ContentTypeId">
    <vt:lpwstr>0x010100942D7E2E766E274BA85FFEF303FE3B84</vt:lpwstr>
  </property>
  <property fmtid="{D5CDD505-2E9C-101B-9397-08002B2CF9AE}" pid="10" name="MSIP_Label_2ad0b24d-6422-44b0-b3de-abb3a9e8c81a_Enabled">
    <vt:lpwstr>true</vt:lpwstr>
  </property>
  <property fmtid="{D5CDD505-2E9C-101B-9397-08002B2CF9AE}" pid="11" name="MSIP_Label_2ad0b24d-6422-44b0-b3de-abb3a9e8c81a_SetDate">
    <vt:lpwstr>2026-07-01T14:43:44Z</vt:lpwstr>
  </property>
  <property fmtid="{D5CDD505-2E9C-101B-9397-08002B2CF9AE}" pid="12" name="MSIP_Label_2ad0b24d-6422-44b0-b3de-abb3a9e8c81a_Method">
    <vt:lpwstr>Standard</vt:lpwstr>
  </property>
  <property fmtid="{D5CDD505-2E9C-101B-9397-08002B2CF9AE}" pid="13" name="MSIP_Label_2ad0b24d-6422-44b0-b3de-abb3a9e8c81a_Name">
    <vt:lpwstr>defa4170-0d19-0005-0004-bc88714345d2</vt:lpwstr>
  </property>
  <property fmtid="{D5CDD505-2E9C-101B-9397-08002B2CF9AE}" pid="14" name="MSIP_Label_2ad0b24d-6422-44b0-b3de-abb3a9e8c81a_SiteId">
    <vt:lpwstr>2fcfe26a-bb62-46b0-b1e3-28f9da0c45fd</vt:lpwstr>
  </property>
  <property fmtid="{D5CDD505-2E9C-101B-9397-08002B2CF9AE}" pid="15" name="MSIP_Label_2ad0b24d-6422-44b0-b3de-abb3a9e8c81a_ActionId">
    <vt:lpwstr>bd5a7b6a-91db-4137-b6db-996924422879</vt:lpwstr>
  </property>
  <property fmtid="{D5CDD505-2E9C-101B-9397-08002B2CF9AE}" pid="16" name="MSIP_Label_2ad0b24d-6422-44b0-b3de-abb3a9e8c81a_ContentBits">
    <vt:lpwstr>0</vt:lpwstr>
  </property>
  <property fmtid="{D5CDD505-2E9C-101B-9397-08002B2CF9AE}" pid="17" name="MSIP_Label_2ad0b24d-6422-44b0-b3de-abb3a9e8c81a_Tag">
    <vt:lpwstr>10, 3, 0, 1</vt:lpwstr>
  </property>
  <property fmtid="{D5CDD505-2E9C-101B-9397-08002B2CF9AE}" pid="18" name="MediaServiceImageTags">
    <vt:lpwstr/>
  </property>
</Properties>
</file>