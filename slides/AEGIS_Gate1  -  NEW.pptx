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snapToObjects="1">
      <p:cViewPr varScale="1">
        <p:scale>
          <a:sx n="91" d="100"/>
          <a:sy n="91" d="100"/>
        </p:scale>
        <p:origin x="3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05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FAUZAN · 0:00-1:00 · Intro</a:t>
            </a:r>
          </a:p>
          <a:p>
            <a:r>
              <a:t>Good morning. We're Team 4 and we're presenting AEGIS, a zero-trust identity check for the AI agents and automations that now operate the 5G network. One line to remember us by: credentials prove what you have, AEGIS verifies how you behave. I'm Fauzan, team captain, and with me are Adithya, Ghazanfar and Llagami, we'll each walk through a part of this.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FAUZAN · 1:00-2:00 · Plain-English primer</a:t>
            </a:r>
          </a:p>
          <a:p>
            <a:r>
              <a:t>Before we go further, five quick terms so nothing after this sounds like jargon. A Network Function is one specialised system inside the 5G network, think of it like one department in a company. An agent is a piece of automated software that logs in and acts on its own, no human clicking anything. A behavioural fingerprint is the normal working pattern we learn for each agent. A risk score is one number from 0 to 1 saying how unusual an agent's recent activity looks. And PASS, STEP-UP, BLOCK are the three outcomes: let it through, challenge it, or stop it and alert a human. Keep these five in your head and the rest of this talk will make full sense.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ADITHYA · 2:00-5:00 · The problem</a:t>
            </a:r>
          </a:p>
          <a:p>
            <a:r>
              <a:t>As networks become AI-native, it's increasingly automations, not humans, calling the network's control systems directly, orchestration tools, closed-loop automation, AI copilots. Here's the gap: today, the only check on these agents is a login check, does the credential work. But a stolen or misused credential still passes that check every time, the password is valid, but the actor behind it isn't who it should be. Authentication can only ever answer 'is this credential valid', never 'is this really our agent, behaving the way it always does'. That second question is what AEGIS answers, continuously, in line with the zero-trust principle of never trust, always verify. And to be clear on scope: this is about machine agents on the network's control systems, not end users, and not general AI safety, a concrete security gap that exists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ADITHYA · 5:00-8:00 · Threat model</a:t>
            </a:r>
          </a:p>
          <a:p>
            <a:r>
              <a:t>We assume the attacker already has a valid credential, the realistic, hard case. We modelled seven ways that credential could be misused: impersonation, where an identity suddenly behaves like a completely different one; a compromised agent drifting into new behaviour; reconnaissance, broad scanning across systems it wouldn't normally touch; a volumetric flood; slow, quiet data exfiltration; a broken call sequence, like closing something that was never opened; and scope creep, touching a system outside its role entirely. All seven are built into our working prototype and, as we'll show, all seven are currently detected.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GHAZANFAR · 8:00-11:00 · Architecture</a:t>
            </a:r>
          </a:p>
          <a:p>
            <a:r>
              <a:t>Here's how the gate actually works, four steps. First, Observe: every request an agent makes gets logged, who, what, when, how big, what came back. Second, Fingerprint: we build a short-term behavioural profile for that agent and compare it against its own normal pattern. Third, Score: two independent checks run together, a set of hard, clear-cut rules, and a machine-learning model trained only on normal behaviour, that spots anything statistically unlike that agent's usual self. Those combine into one risk number. Fourth, Decide: fixed thresholds turn that number into pass, step-up, or block, always with a plain-language reason attached, never a black box. In production, this would run inline at the network edge; today it runs on replayed traffic.</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GHAZANFAR · 11:00-13:30 · Technology</a:t>
            </a:r>
          </a:p>
          <a:p>
            <a:r>
              <a:t>Everything here is open-source and runs on an ordinary laptop, no special hardware or licensing. On the data side, we built our own synthetic traffic generator producing labelled 5G-style requests, real logs are pluggable later if offered. On detection, it's a standard machine-learning library, plus deterministic rules and a session state machine, calibrated honestly on data the model never trained on. And for the gate itself, we built a live interactive dashboard showing every decision with its reasoning, which we'll show you running in a moment. This all lines up with recognised standards, zero-trust guidance, the 5G architecture standard, and supports compliance frameworks like GDPR and the EU AI Act.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LLAGAMI · 13:30-17:00 · Proof it works</a:t>
            </a:r>
          </a:p>
          <a:p>
            <a:r>
              <a:t>This isn't a design target, it's a working prototype, already producing real numbers. On our held-out test data, over eleven thousand time windows the model never saw during training, we correctly separated attacks from normal traffic 99% of the time, caught 98% of every attack we injected, and wrongly flagged fewer than 1% of legitimate traffic. All seven threat types are detected. On the left, you can see normal traffic sitting calmly near zero risk while attacks spike clearly above our decision lines, on the right, detection broken down by attack type. The one honest caveat: this proves the method works on data we built ourselves, real traffic is the next validation step, which is exactly what we're asking Fastweb and Vodafone for.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LLAGAMI · 17:00-19:30 · Schedule</a:t>
            </a:r>
          </a:p>
          <a:p>
            <a:r>
              <a:t>Here's where we actually are. Everything in green is done already: the threat model, the synthetic data generator, and the baseline detector you just saw results from, that's not a plan, that's built and working. From here to Gate 2 on 22 September, we're hardening detection and building out the full numerical analysis. Real-data integration slots in if we're granted access. Gate 3 on 15 October is the live, end-to-end zero-trust gate demo, with the video shoot running in parallel after that.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LLAGAMI · 19:30-23:00 · Why it matters, why it's deliverable</a:t>
            </a:r>
          </a:p>
          <a:p>
            <a:r>
              <a:t>Four reasons this has real value: it avoids risk, catching a compromised automation before it acts, cutting detection time from hours to seconds. It enables safer automation, giving operators the confidence to expand closed-loop, self-healing systems. It supports compliance, every decision is logged and explainable, which is exactly what regulations like GDPR and the EU AI Act ask for. And it's low-effort operationally, automating a kind of monitoring no security team could do by hand at this scale. On feasibility, because we're synthetic-first, no data approval process blocks us from having a working system today, and the baseline numbers already prove the method. Real data only makes it stronger, it isn't a dependency.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FAUZAN · 23:00-27:00 · Asks and close</a:t>
            </a:r>
          </a:p>
          <a:p>
            <a:r>
              <a:t>To close, here's what's still open and where we're headed. We're still following up with Fastweb and Vodafone on three things: real or anonymised traffic to validate against, whether FASTedge can let our gate actually block a request inline rather than just flag it, and which agent types matter most to you so we prioritise correctly. Between now and Gate 3 on 15 October, we're hardening the detector, building the full live dashboard demo, and integrating real data if it's made available. We're confident in this direction because the hardest part, proving the detection method actually works, is already done, working, and in front of you today. Thank you,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36576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8688E1"/>
                </a:solidFill>
                <a:latin typeface="Segoe UI"/>
              </a:rPr>
              <a:t>5G ACADEMY 2026  ·  FASTWEB + VODAFONE  ·  TOPIC 2 - SECURITY</a:t>
            </a:r>
          </a:p>
        </p:txBody>
      </p:sp>
      <p:sp>
        <p:nvSpPr>
          <p:cNvPr id="5" name="TextBox 4"/>
          <p:cNvSpPr txBox="1"/>
          <p:nvPr/>
        </p:nvSpPr>
        <p:spPr>
          <a:xfrm>
            <a:off x="822960" y="1965960"/>
            <a:ext cx="10515600" cy="914400"/>
          </a:xfrm>
          <a:prstGeom prst="rect">
            <a:avLst/>
          </a:prstGeom>
          <a:noFill/>
        </p:spPr>
        <p:txBody>
          <a:bodyPr wrap="square" lIns="0" tIns="0" rIns="0" bIns="0" anchor="t">
            <a:spAutoFit/>
          </a:bodyPr>
          <a:lstStyle/>
          <a:p>
            <a:pPr algn="l">
              <a:lnSpc>
                <a:spcPct val="100000"/>
              </a:lnSpc>
              <a:spcBef>
                <a:spcPts val="0"/>
              </a:spcBef>
              <a:spcAft>
                <a:spcPts val="200"/>
              </a:spcAft>
            </a:pPr>
            <a:r>
              <a:rPr sz="6600" b="1" i="0">
                <a:solidFill>
                  <a:srgbClr val="FFFFFF"/>
                </a:solidFill>
                <a:latin typeface="Segoe UI"/>
              </a:rPr>
              <a:t>AEGIS</a:t>
            </a:r>
          </a:p>
        </p:txBody>
      </p:sp>
      <p:sp>
        <p:nvSpPr>
          <p:cNvPr id="6" name="TextBox 5"/>
          <p:cNvSpPr txBox="1"/>
          <p:nvPr/>
        </p:nvSpPr>
        <p:spPr>
          <a:xfrm>
            <a:off x="841248" y="3063240"/>
            <a:ext cx="10515600" cy="457200"/>
          </a:xfrm>
          <a:prstGeom prst="rect">
            <a:avLst/>
          </a:prstGeom>
          <a:noFill/>
        </p:spPr>
        <p:txBody>
          <a:bodyPr wrap="square" lIns="0" tIns="0" rIns="0" bIns="0" anchor="t">
            <a:spAutoFit/>
          </a:bodyPr>
          <a:lstStyle/>
          <a:p>
            <a:pPr algn="l">
              <a:lnSpc>
                <a:spcPct val="100000"/>
              </a:lnSpc>
              <a:spcBef>
                <a:spcPts val="0"/>
              </a:spcBef>
              <a:spcAft>
                <a:spcPts val="200"/>
              </a:spcAft>
            </a:pPr>
            <a:r>
              <a:rPr sz="2200" b="0" i="0">
                <a:solidFill>
                  <a:srgbClr val="A5A6E8"/>
                </a:solidFill>
                <a:latin typeface="Segoe UI"/>
              </a:rPr>
              <a:t>Zero-Trust Identity for AI Agents on the Network</a:t>
            </a:r>
          </a:p>
        </p:txBody>
      </p:sp>
      <p:sp>
        <p:nvSpPr>
          <p:cNvPr id="7" name="TextBox 6"/>
          <p:cNvSpPr txBox="1"/>
          <p:nvPr/>
        </p:nvSpPr>
        <p:spPr>
          <a:xfrm>
            <a:off x="841248" y="3794760"/>
            <a:ext cx="10515600" cy="365760"/>
          </a:xfrm>
          <a:prstGeom prst="rect">
            <a:avLst/>
          </a:prstGeom>
          <a:noFill/>
        </p:spPr>
        <p:txBody>
          <a:bodyPr wrap="square" lIns="0" tIns="0" rIns="0" bIns="0" anchor="t">
            <a:spAutoFit/>
          </a:bodyPr>
          <a:lstStyle/>
          <a:p>
            <a:pPr algn="l">
              <a:lnSpc>
                <a:spcPct val="100000"/>
              </a:lnSpc>
              <a:spcBef>
                <a:spcPts val="0"/>
              </a:spcBef>
              <a:spcAft>
                <a:spcPts val="200"/>
              </a:spcAft>
            </a:pPr>
            <a:r>
              <a:rPr sz="1400" b="0" i="1">
                <a:solidFill>
                  <a:srgbClr val="C7CEDB"/>
                </a:solidFill>
                <a:latin typeface="Segoe UI Light"/>
              </a:rPr>
              <a:t>Credentials prove what you have - AEGIS verifies how you behave.</a:t>
            </a:r>
          </a:p>
        </p:txBody>
      </p:sp>
      <p:sp>
        <p:nvSpPr>
          <p:cNvPr id="8" name="Rectangle 7"/>
          <p:cNvSpPr/>
          <p:nvPr/>
        </p:nvSpPr>
        <p:spPr>
          <a:xfrm>
            <a:off x="859536" y="4526280"/>
            <a:ext cx="731520" cy="36576"/>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4754880"/>
            <a:ext cx="10515600" cy="320040"/>
          </a:xfrm>
          <a:prstGeom prst="rect">
            <a:avLst/>
          </a:prstGeom>
          <a:noFill/>
        </p:spPr>
        <p:txBody>
          <a:bodyPr wrap="square" lIns="0" tIns="0" rIns="0" bIns="0" anchor="t">
            <a:spAutoFit/>
          </a:bodyPr>
          <a:lstStyle/>
          <a:p>
            <a:pPr algn="l">
              <a:lnSpc>
                <a:spcPct val="100000"/>
              </a:lnSpc>
              <a:spcBef>
                <a:spcPts val="0"/>
              </a:spcBef>
              <a:spcAft>
                <a:spcPts val="200"/>
              </a:spcAft>
            </a:pPr>
            <a:r>
              <a:rPr sz="1300" b="1" i="0">
                <a:solidFill>
                  <a:srgbClr val="FFFFFF"/>
                </a:solidFill>
                <a:latin typeface="Segoe UI"/>
              </a:rPr>
              <a:t>Gate 1 - Project Proposal  ·  prepared for the 2 September dev meeting</a:t>
            </a:r>
          </a:p>
        </p:txBody>
      </p:sp>
      <p:sp>
        <p:nvSpPr>
          <p:cNvPr id="10" name="TextBox 9"/>
          <p:cNvSpPr txBox="1"/>
          <p:nvPr/>
        </p:nvSpPr>
        <p:spPr>
          <a:xfrm>
            <a:off x="841248" y="5257800"/>
            <a:ext cx="10515600" cy="548640"/>
          </a:xfrm>
          <a:prstGeom prst="rect">
            <a:avLst/>
          </a:prstGeom>
          <a:noFill/>
        </p:spPr>
        <p:txBody>
          <a:bodyPr wrap="square" lIns="0" tIns="0" rIns="0" bIns="0" anchor="t">
            <a:spAutoFit/>
          </a:bodyPr>
          <a:lstStyle/>
          <a:p>
            <a:pPr algn="l">
              <a:lnSpc>
                <a:spcPct val="100000"/>
              </a:lnSpc>
              <a:spcBef>
                <a:spcPts val="0"/>
              </a:spcBef>
              <a:spcAft>
                <a:spcPts val="200"/>
              </a:spcAft>
            </a:pPr>
            <a:r>
              <a:rPr sz="1200" b="1" i="0">
                <a:solidFill>
                  <a:srgbClr val="9A9CE6"/>
                </a:solidFill>
                <a:latin typeface="Segoe UI"/>
              </a:rPr>
              <a:t>Team 4 - </a:t>
            </a:r>
            <a:r>
              <a:rPr sz="1200" b="0" i="0">
                <a:solidFill>
                  <a:srgbClr val="C7CEDB"/>
                </a:solidFill>
                <a:latin typeface="Segoe UI"/>
              </a:rPr>
              <a:t>Fauzan Ejaz (Captain) · Adithya Zacharia Valavi · Ghazanfar Anees Siddiqui · Llagami Tedi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BEFORE WE START</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Five terms you'll hear today, in plain English</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No prior 5G or AI knowledge assumed. Everything below is all you need to follow the rest of this talk.</a:t>
            </a:r>
          </a:p>
        </p:txBody>
      </p:sp>
      <p:sp>
        <p:nvSpPr>
          <p:cNvPr id="6" name="Rounded Rectangle 5"/>
          <p:cNvSpPr/>
          <p:nvPr/>
        </p:nvSpPr>
        <p:spPr>
          <a:xfrm>
            <a:off x="566928" y="1783080"/>
            <a:ext cx="11073384" cy="786384"/>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82296" cy="786384"/>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911095"/>
            <a:ext cx="2743200" cy="548640"/>
          </a:xfrm>
          <a:prstGeom prst="rect">
            <a:avLst/>
          </a:prstGeom>
          <a:noFill/>
        </p:spPr>
        <p:txBody>
          <a:bodyPr wrap="square" lIns="0" tIns="0" rIns="0" bIns="0" anchor="ctr">
            <a:spAutoFit/>
          </a:bodyPr>
          <a:lstStyle/>
          <a:p>
            <a:pPr algn="l">
              <a:lnSpc>
                <a:spcPct val="100000"/>
              </a:lnSpc>
              <a:spcBef>
                <a:spcPts val="0"/>
              </a:spcBef>
              <a:spcAft>
                <a:spcPts val="200"/>
              </a:spcAft>
            </a:pPr>
            <a:r>
              <a:rPr sz="1300" b="1" i="0">
                <a:solidFill>
                  <a:srgbClr val="3639CD"/>
                </a:solidFill>
                <a:latin typeface="Segoe UI"/>
              </a:rPr>
              <a:t>Network Function</a:t>
            </a:r>
          </a:p>
        </p:txBody>
      </p:sp>
      <p:sp>
        <p:nvSpPr>
          <p:cNvPr id="9" name="TextBox 8"/>
          <p:cNvSpPr txBox="1"/>
          <p:nvPr/>
        </p:nvSpPr>
        <p:spPr>
          <a:xfrm>
            <a:off x="3749039" y="1874519"/>
            <a:ext cx="7680960" cy="603504"/>
          </a:xfrm>
          <a:prstGeom prst="rect">
            <a:avLst/>
          </a:prstGeom>
          <a:noFill/>
        </p:spPr>
        <p:txBody>
          <a:bodyPr wrap="square" lIns="0" tIns="0" rIns="0" bIns="0" anchor="ctr">
            <a:spAutoFit/>
          </a:bodyPr>
          <a:lstStyle/>
          <a:p>
            <a:pPr algn="l">
              <a:lnSpc>
                <a:spcPct val="110000"/>
              </a:lnSpc>
              <a:spcBef>
                <a:spcPts val="0"/>
              </a:spcBef>
              <a:spcAft>
                <a:spcPts val="200"/>
              </a:spcAft>
            </a:pPr>
            <a:r>
              <a:rPr sz="1150" b="0" i="0">
                <a:solidFill>
                  <a:srgbClr val="334155"/>
                </a:solidFill>
                <a:latin typeface="Segoe UI"/>
              </a:rPr>
              <a:t>One specialised system inside the 5G network, like one department in a company (example: the system that tracks device sessions).</a:t>
            </a:r>
          </a:p>
        </p:txBody>
      </p:sp>
      <p:sp>
        <p:nvSpPr>
          <p:cNvPr id="10" name="Rounded Rectangle 9"/>
          <p:cNvSpPr/>
          <p:nvPr/>
        </p:nvSpPr>
        <p:spPr>
          <a:xfrm>
            <a:off x="566928" y="2679191"/>
            <a:ext cx="11073384" cy="786384"/>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2679191"/>
            <a:ext cx="82296" cy="786384"/>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807208"/>
            <a:ext cx="2743200" cy="548640"/>
          </a:xfrm>
          <a:prstGeom prst="rect">
            <a:avLst/>
          </a:prstGeom>
          <a:noFill/>
        </p:spPr>
        <p:txBody>
          <a:bodyPr wrap="square" lIns="0" tIns="0" rIns="0" bIns="0" anchor="ctr">
            <a:spAutoFit/>
          </a:bodyPr>
          <a:lstStyle/>
          <a:p>
            <a:pPr algn="l">
              <a:lnSpc>
                <a:spcPct val="100000"/>
              </a:lnSpc>
              <a:spcBef>
                <a:spcPts val="0"/>
              </a:spcBef>
              <a:spcAft>
                <a:spcPts val="200"/>
              </a:spcAft>
            </a:pPr>
            <a:r>
              <a:rPr sz="1300" b="1" i="0">
                <a:solidFill>
                  <a:srgbClr val="3639CD"/>
                </a:solidFill>
                <a:latin typeface="Segoe UI"/>
              </a:rPr>
              <a:t>Agent</a:t>
            </a:r>
          </a:p>
        </p:txBody>
      </p:sp>
      <p:sp>
        <p:nvSpPr>
          <p:cNvPr id="13" name="TextBox 12"/>
          <p:cNvSpPr txBox="1"/>
          <p:nvPr/>
        </p:nvSpPr>
        <p:spPr>
          <a:xfrm>
            <a:off x="3749039" y="2770632"/>
            <a:ext cx="7680960" cy="603504"/>
          </a:xfrm>
          <a:prstGeom prst="rect">
            <a:avLst/>
          </a:prstGeom>
          <a:noFill/>
        </p:spPr>
        <p:txBody>
          <a:bodyPr wrap="square" lIns="0" tIns="0" rIns="0" bIns="0" anchor="ctr">
            <a:spAutoFit/>
          </a:bodyPr>
          <a:lstStyle/>
          <a:p>
            <a:pPr algn="l">
              <a:lnSpc>
                <a:spcPct val="110000"/>
              </a:lnSpc>
              <a:spcBef>
                <a:spcPts val="0"/>
              </a:spcBef>
              <a:spcAft>
                <a:spcPts val="200"/>
              </a:spcAft>
            </a:pPr>
            <a:r>
              <a:rPr sz="1150" b="0" i="0">
                <a:solidFill>
                  <a:srgbClr val="334155"/>
                </a:solidFill>
                <a:latin typeface="Segoe UI"/>
              </a:rPr>
              <a:t>An automated piece of software, a bot or script, that logs in and calls the network on its own, with no human clicking anything, the way an employee would use an internal tool.</a:t>
            </a:r>
          </a:p>
        </p:txBody>
      </p:sp>
      <p:sp>
        <p:nvSpPr>
          <p:cNvPr id="14" name="Rounded Rectangle 13"/>
          <p:cNvSpPr/>
          <p:nvPr/>
        </p:nvSpPr>
        <p:spPr>
          <a:xfrm>
            <a:off x="566928" y="3575304"/>
            <a:ext cx="11073384" cy="786384"/>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3575304"/>
            <a:ext cx="82296" cy="786384"/>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703320"/>
            <a:ext cx="2743200" cy="548640"/>
          </a:xfrm>
          <a:prstGeom prst="rect">
            <a:avLst/>
          </a:prstGeom>
          <a:noFill/>
        </p:spPr>
        <p:txBody>
          <a:bodyPr wrap="square" lIns="0" tIns="0" rIns="0" bIns="0" anchor="ctr">
            <a:spAutoFit/>
          </a:bodyPr>
          <a:lstStyle/>
          <a:p>
            <a:pPr algn="l">
              <a:lnSpc>
                <a:spcPct val="100000"/>
              </a:lnSpc>
              <a:spcBef>
                <a:spcPts val="0"/>
              </a:spcBef>
              <a:spcAft>
                <a:spcPts val="200"/>
              </a:spcAft>
            </a:pPr>
            <a:r>
              <a:rPr sz="1300" b="1" i="0">
                <a:solidFill>
                  <a:srgbClr val="3639CD"/>
                </a:solidFill>
                <a:latin typeface="Segoe UI"/>
              </a:rPr>
              <a:t>Behavioural fingerprint</a:t>
            </a:r>
          </a:p>
        </p:txBody>
      </p:sp>
      <p:sp>
        <p:nvSpPr>
          <p:cNvPr id="17" name="TextBox 16"/>
          <p:cNvSpPr txBox="1"/>
          <p:nvPr/>
        </p:nvSpPr>
        <p:spPr>
          <a:xfrm>
            <a:off x="3749039" y="3666744"/>
            <a:ext cx="7680960" cy="603504"/>
          </a:xfrm>
          <a:prstGeom prst="rect">
            <a:avLst/>
          </a:prstGeom>
          <a:noFill/>
        </p:spPr>
        <p:txBody>
          <a:bodyPr wrap="square" lIns="0" tIns="0" rIns="0" bIns="0" anchor="ctr">
            <a:spAutoFit/>
          </a:bodyPr>
          <a:lstStyle/>
          <a:p>
            <a:pPr algn="l">
              <a:lnSpc>
                <a:spcPct val="110000"/>
              </a:lnSpc>
              <a:spcBef>
                <a:spcPts val="0"/>
              </a:spcBef>
              <a:spcAft>
                <a:spcPts val="200"/>
              </a:spcAft>
            </a:pPr>
            <a:r>
              <a:rPr sz="1150" b="0" i="0">
                <a:solidFill>
                  <a:srgbClr val="334155"/>
                </a:solidFill>
                <a:latin typeface="Segoe UI"/>
              </a:rPr>
              <a:t>The normal working pattern we learn for each agent, what it usually does, when, and how often, so we can tell if it starts acting differently.</a:t>
            </a:r>
          </a:p>
        </p:txBody>
      </p:sp>
      <p:sp>
        <p:nvSpPr>
          <p:cNvPr id="18" name="Rounded Rectangle 17"/>
          <p:cNvSpPr/>
          <p:nvPr/>
        </p:nvSpPr>
        <p:spPr>
          <a:xfrm>
            <a:off x="566928" y="4471416"/>
            <a:ext cx="11073384" cy="786384"/>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4471416"/>
            <a:ext cx="82296" cy="786384"/>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4599431"/>
            <a:ext cx="2743200" cy="548640"/>
          </a:xfrm>
          <a:prstGeom prst="rect">
            <a:avLst/>
          </a:prstGeom>
          <a:noFill/>
        </p:spPr>
        <p:txBody>
          <a:bodyPr wrap="square" lIns="0" tIns="0" rIns="0" bIns="0" anchor="ctr">
            <a:spAutoFit/>
          </a:bodyPr>
          <a:lstStyle/>
          <a:p>
            <a:pPr algn="l">
              <a:lnSpc>
                <a:spcPct val="100000"/>
              </a:lnSpc>
              <a:spcBef>
                <a:spcPts val="0"/>
              </a:spcBef>
              <a:spcAft>
                <a:spcPts val="200"/>
              </a:spcAft>
            </a:pPr>
            <a:r>
              <a:rPr sz="1300" b="1" i="0">
                <a:solidFill>
                  <a:srgbClr val="3639CD"/>
                </a:solidFill>
                <a:latin typeface="Segoe UI"/>
              </a:rPr>
              <a:t>Risk score</a:t>
            </a:r>
          </a:p>
        </p:txBody>
      </p:sp>
      <p:sp>
        <p:nvSpPr>
          <p:cNvPr id="21" name="TextBox 20"/>
          <p:cNvSpPr txBox="1"/>
          <p:nvPr/>
        </p:nvSpPr>
        <p:spPr>
          <a:xfrm>
            <a:off x="3749039" y="4562855"/>
            <a:ext cx="7680960" cy="603504"/>
          </a:xfrm>
          <a:prstGeom prst="rect">
            <a:avLst/>
          </a:prstGeom>
          <a:noFill/>
        </p:spPr>
        <p:txBody>
          <a:bodyPr wrap="square" lIns="0" tIns="0" rIns="0" bIns="0" anchor="ctr">
            <a:spAutoFit/>
          </a:bodyPr>
          <a:lstStyle/>
          <a:p>
            <a:pPr algn="l">
              <a:lnSpc>
                <a:spcPct val="110000"/>
              </a:lnSpc>
              <a:spcBef>
                <a:spcPts val="0"/>
              </a:spcBef>
              <a:spcAft>
                <a:spcPts val="200"/>
              </a:spcAft>
            </a:pPr>
            <a:r>
              <a:rPr sz="1150" b="0" i="0">
                <a:solidFill>
                  <a:srgbClr val="334155"/>
                </a:solidFill>
                <a:latin typeface="Segoe UI"/>
              </a:rPr>
              <a:t>A single number from 0 to 1 that says how unusual an agent's recent activity looks compared to its own normal pattern.</a:t>
            </a:r>
          </a:p>
        </p:txBody>
      </p:sp>
      <p:sp>
        <p:nvSpPr>
          <p:cNvPr id="22" name="Rounded Rectangle 21"/>
          <p:cNvSpPr/>
          <p:nvPr/>
        </p:nvSpPr>
        <p:spPr>
          <a:xfrm>
            <a:off x="566928" y="5367528"/>
            <a:ext cx="11073384" cy="786384"/>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5367528"/>
            <a:ext cx="82296" cy="786384"/>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495544"/>
            <a:ext cx="2743200" cy="548640"/>
          </a:xfrm>
          <a:prstGeom prst="rect">
            <a:avLst/>
          </a:prstGeom>
          <a:noFill/>
        </p:spPr>
        <p:txBody>
          <a:bodyPr wrap="square" lIns="0" tIns="0" rIns="0" bIns="0" anchor="ctr">
            <a:spAutoFit/>
          </a:bodyPr>
          <a:lstStyle/>
          <a:p>
            <a:pPr algn="l">
              <a:lnSpc>
                <a:spcPct val="100000"/>
              </a:lnSpc>
              <a:spcBef>
                <a:spcPts val="0"/>
              </a:spcBef>
              <a:spcAft>
                <a:spcPts val="200"/>
              </a:spcAft>
            </a:pPr>
            <a:r>
              <a:rPr sz="1300" b="1" i="0">
                <a:solidFill>
                  <a:srgbClr val="3639CD"/>
                </a:solidFill>
                <a:latin typeface="Segoe UI"/>
              </a:rPr>
              <a:t>PASS / STEP-UP / BLOCK</a:t>
            </a:r>
          </a:p>
        </p:txBody>
      </p:sp>
      <p:sp>
        <p:nvSpPr>
          <p:cNvPr id="25" name="TextBox 24"/>
          <p:cNvSpPr txBox="1"/>
          <p:nvPr/>
        </p:nvSpPr>
        <p:spPr>
          <a:xfrm>
            <a:off x="3749039" y="5458968"/>
            <a:ext cx="7680960" cy="603504"/>
          </a:xfrm>
          <a:prstGeom prst="rect">
            <a:avLst/>
          </a:prstGeom>
          <a:noFill/>
        </p:spPr>
        <p:txBody>
          <a:bodyPr wrap="square" lIns="0" tIns="0" rIns="0" bIns="0" anchor="ctr">
            <a:spAutoFit/>
          </a:bodyPr>
          <a:lstStyle/>
          <a:p>
            <a:pPr algn="l">
              <a:lnSpc>
                <a:spcPct val="110000"/>
              </a:lnSpc>
              <a:spcBef>
                <a:spcPts val="0"/>
              </a:spcBef>
              <a:spcAft>
                <a:spcPts val="200"/>
              </a:spcAft>
            </a:pPr>
            <a:r>
              <a:rPr sz="1150" b="0" i="0">
                <a:solidFill>
                  <a:srgbClr val="334155"/>
                </a:solidFill>
                <a:latin typeface="Segoe UI"/>
              </a:rPr>
              <a:t>The three outcomes: let it through, challenge it for extra verification, or stop it and alert a human.</a:t>
            </a:r>
          </a:p>
        </p:txBody>
      </p:sp>
      <p:sp>
        <p:nvSpPr>
          <p:cNvPr id="26" name="TextBox 25"/>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27" name="TextBox 26"/>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THE PROBLEM · WHY NOW</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Machine agents now command the network</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As networks become AI-native, automations - not humans - call the control plane.</a:t>
            </a:r>
          </a:p>
        </p:txBody>
      </p:sp>
      <p:sp>
        <p:nvSpPr>
          <p:cNvPr id="6" name="Rounded Rectangle 5"/>
          <p:cNvSpPr/>
          <p:nvPr/>
        </p:nvSpPr>
        <p:spPr>
          <a:xfrm>
            <a:off x="566928" y="1737360"/>
            <a:ext cx="3602736" cy="32004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37360"/>
            <a:ext cx="3602736" cy="82296"/>
          </a:xfrm>
          <a:prstGeom prst="roundRect">
            <a:avLst>
              <a:gd name="adj" fmla="val 50000"/>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965960"/>
            <a:ext cx="3145536" cy="320040"/>
          </a:xfrm>
          <a:prstGeom prst="rect">
            <a:avLst/>
          </a:prstGeom>
          <a:noFill/>
        </p:spPr>
        <p:txBody>
          <a:bodyPr wrap="square" lIns="0" tIns="0" rIns="0" bIns="0" anchor="t">
            <a:spAutoFit/>
          </a:bodyPr>
          <a:lstStyle/>
          <a:p>
            <a:pPr algn="l">
              <a:lnSpc>
                <a:spcPct val="100000"/>
              </a:lnSpc>
              <a:spcBef>
                <a:spcPts val="0"/>
              </a:spcBef>
              <a:spcAft>
                <a:spcPts val="200"/>
              </a:spcAft>
            </a:pPr>
            <a:r>
              <a:rPr sz="1500" b="1" i="0">
                <a:solidFill>
                  <a:srgbClr val="3639CD"/>
                </a:solidFill>
                <a:latin typeface="Segoe UI"/>
              </a:rPr>
              <a:t>The shift</a:t>
            </a:r>
          </a:p>
        </p:txBody>
      </p:sp>
      <p:sp>
        <p:nvSpPr>
          <p:cNvPr id="9" name="TextBox 8"/>
          <p:cNvSpPr txBox="1"/>
          <p:nvPr/>
        </p:nvSpPr>
        <p:spPr>
          <a:xfrm>
            <a:off x="822960" y="2423160"/>
            <a:ext cx="3099815" cy="2377440"/>
          </a:xfrm>
          <a:prstGeom prst="rect">
            <a:avLst/>
          </a:prstGeom>
          <a:noFill/>
        </p:spPr>
        <p:txBody>
          <a:bodyPr wrap="square" lIns="0" tIns="0" rIns="0" bIns="0" anchor="t">
            <a:spAutoFit/>
          </a:bodyPr>
          <a:lstStyle/>
          <a:p>
            <a:pPr algn="l">
              <a:lnSpc>
                <a:spcPct val="122000"/>
              </a:lnSpc>
              <a:spcBef>
                <a:spcPts val="0"/>
              </a:spcBef>
              <a:spcAft>
                <a:spcPts val="200"/>
              </a:spcAft>
            </a:pPr>
            <a:r>
              <a:rPr sz="1200" b="0" i="0">
                <a:solidFill>
                  <a:srgbClr val="334155"/>
                </a:solidFill>
                <a:latin typeface="Segoe UI"/>
              </a:rPr>
              <a:t>Orchestration, closed-loop automation, OSS jobs and LLM copilots call 5G Network Functions over the Service-Based Interface (SBI) - the same control APIs a human operator's tooling uses.</a:t>
            </a:r>
          </a:p>
        </p:txBody>
      </p:sp>
      <p:sp>
        <p:nvSpPr>
          <p:cNvPr id="10" name="Rounded Rectangle 9"/>
          <p:cNvSpPr/>
          <p:nvPr/>
        </p:nvSpPr>
        <p:spPr>
          <a:xfrm>
            <a:off x="4370832" y="1737360"/>
            <a:ext cx="3602736" cy="32004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70832" y="1737360"/>
            <a:ext cx="3602736" cy="82296"/>
          </a:xfrm>
          <a:prstGeom prst="roundRect">
            <a:avLst>
              <a:gd name="adj" fmla="val 5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26864" y="1965960"/>
            <a:ext cx="3145536" cy="320040"/>
          </a:xfrm>
          <a:prstGeom prst="rect">
            <a:avLst/>
          </a:prstGeom>
          <a:noFill/>
        </p:spPr>
        <p:txBody>
          <a:bodyPr wrap="square" lIns="0" tIns="0" rIns="0" bIns="0" anchor="t">
            <a:spAutoFit/>
          </a:bodyPr>
          <a:lstStyle/>
          <a:p>
            <a:pPr algn="l">
              <a:lnSpc>
                <a:spcPct val="100000"/>
              </a:lnSpc>
              <a:spcBef>
                <a:spcPts val="0"/>
              </a:spcBef>
              <a:spcAft>
                <a:spcPts val="200"/>
              </a:spcAft>
            </a:pPr>
            <a:r>
              <a:rPr sz="1500" b="1" i="0">
                <a:solidFill>
                  <a:srgbClr val="D1495B"/>
                </a:solidFill>
                <a:latin typeface="Segoe UI"/>
              </a:rPr>
              <a:t>The gap</a:t>
            </a:r>
          </a:p>
        </p:txBody>
      </p:sp>
      <p:sp>
        <p:nvSpPr>
          <p:cNvPr id="13" name="TextBox 12"/>
          <p:cNvSpPr txBox="1"/>
          <p:nvPr/>
        </p:nvSpPr>
        <p:spPr>
          <a:xfrm>
            <a:off x="4626864" y="2423160"/>
            <a:ext cx="3099815" cy="2377440"/>
          </a:xfrm>
          <a:prstGeom prst="rect">
            <a:avLst/>
          </a:prstGeom>
          <a:noFill/>
        </p:spPr>
        <p:txBody>
          <a:bodyPr wrap="square" lIns="0" tIns="0" rIns="0" bIns="0" anchor="t">
            <a:spAutoFit/>
          </a:bodyPr>
          <a:lstStyle/>
          <a:p>
            <a:pPr algn="l">
              <a:lnSpc>
                <a:spcPct val="122000"/>
              </a:lnSpc>
              <a:spcBef>
                <a:spcPts val="0"/>
              </a:spcBef>
              <a:spcAft>
                <a:spcPts val="200"/>
              </a:spcAft>
            </a:pPr>
            <a:r>
              <a:rPr sz="1200" b="0" i="0">
                <a:solidFill>
                  <a:srgbClr val="334155"/>
                </a:solidFill>
                <a:latin typeface="Segoe UI"/>
              </a:rPr>
              <a:t>A stolen token or a compromised automation account passes AAA - the credential is valid, but the actor behind it is not. Authentication asks “is the credential valid?”, never “is this really our agent, behaving as it always does?”</a:t>
            </a:r>
          </a:p>
        </p:txBody>
      </p:sp>
      <p:sp>
        <p:nvSpPr>
          <p:cNvPr id="14" name="Rounded Rectangle 13"/>
          <p:cNvSpPr/>
          <p:nvPr/>
        </p:nvSpPr>
        <p:spPr>
          <a:xfrm>
            <a:off x="8174736" y="1737360"/>
            <a:ext cx="3602736" cy="32004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74736" y="1737360"/>
            <a:ext cx="3602736" cy="82296"/>
          </a:xfrm>
          <a:prstGeom prst="roundRect">
            <a:avLst>
              <a:gd name="adj" fmla="val 5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7" y="1965960"/>
            <a:ext cx="3145536" cy="320040"/>
          </a:xfrm>
          <a:prstGeom prst="rect">
            <a:avLst/>
          </a:prstGeom>
          <a:noFill/>
        </p:spPr>
        <p:txBody>
          <a:bodyPr wrap="square" lIns="0" tIns="0" rIns="0" bIns="0" anchor="t">
            <a:spAutoFit/>
          </a:bodyPr>
          <a:lstStyle/>
          <a:p>
            <a:pPr algn="l">
              <a:lnSpc>
                <a:spcPct val="100000"/>
              </a:lnSpc>
              <a:spcBef>
                <a:spcPts val="0"/>
              </a:spcBef>
              <a:spcAft>
                <a:spcPts val="200"/>
              </a:spcAft>
            </a:pPr>
            <a:r>
              <a:rPr sz="1500" b="1" i="0">
                <a:solidFill>
                  <a:srgbClr val="0E9384"/>
                </a:solidFill>
                <a:latin typeface="Segoe UI"/>
              </a:rPr>
              <a:t>The answer</a:t>
            </a:r>
          </a:p>
        </p:txBody>
      </p:sp>
      <p:sp>
        <p:nvSpPr>
          <p:cNvPr id="17" name="TextBox 16"/>
          <p:cNvSpPr txBox="1"/>
          <p:nvPr/>
        </p:nvSpPr>
        <p:spPr>
          <a:xfrm>
            <a:off x="8430767" y="2423160"/>
            <a:ext cx="3099815" cy="2377440"/>
          </a:xfrm>
          <a:prstGeom prst="rect">
            <a:avLst/>
          </a:prstGeom>
          <a:noFill/>
        </p:spPr>
        <p:txBody>
          <a:bodyPr wrap="square" lIns="0" tIns="0" rIns="0" bIns="0" anchor="t">
            <a:spAutoFit/>
          </a:bodyPr>
          <a:lstStyle/>
          <a:p>
            <a:pPr algn="l">
              <a:lnSpc>
                <a:spcPct val="122000"/>
              </a:lnSpc>
              <a:spcBef>
                <a:spcPts val="0"/>
              </a:spcBef>
              <a:spcAft>
                <a:spcPts val="200"/>
              </a:spcAft>
            </a:pPr>
            <a:r>
              <a:rPr sz="1200" b="0" i="0">
                <a:solidFill>
                  <a:srgbClr val="334155"/>
                </a:solidFill>
                <a:latin typeface="Segoe UI"/>
              </a:rPr>
              <a:t>Zero-trust for machine identities (NIST SP 800-207): learn each agent's behavioural fingerprint and verify every request against it - continuously. Never trust, always verify.</a:t>
            </a:r>
          </a:p>
        </p:txBody>
      </p:sp>
      <p:sp>
        <p:nvSpPr>
          <p:cNvPr id="18" name="Rounded Rectangle 17"/>
          <p:cNvSpPr/>
          <p:nvPr/>
        </p:nvSpPr>
        <p:spPr>
          <a:xfrm>
            <a:off x="566928" y="5166360"/>
            <a:ext cx="11073384" cy="868680"/>
          </a:xfrm>
          <a:prstGeom prst="roundRect">
            <a:avLst>
              <a:gd name="adj" fmla="val 8000"/>
            </a:avLst>
          </a:prstGeom>
          <a:solidFill>
            <a:srgbClr val="EB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5166360"/>
            <a:ext cx="82296" cy="86868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358384"/>
            <a:ext cx="10607040" cy="457200"/>
          </a:xfrm>
          <a:prstGeom prst="rect">
            <a:avLst/>
          </a:prstGeom>
          <a:noFill/>
        </p:spPr>
        <p:txBody>
          <a:bodyPr wrap="square" lIns="0" tIns="0" rIns="0" bIns="0" anchor="t">
            <a:spAutoFit/>
          </a:bodyPr>
          <a:lstStyle/>
          <a:p>
            <a:pPr algn="l">
              <a:lnSpc>
                <a:spcPct val="110000"/>
              </a:lnSpc>
              <a:spcBef>
                <a:spcPts val="0"/>
              </a:spcBef>
              <a:spcAft>
                <a:spcPts val="200"/>
              </a:spcAft>
            </a:pPr>
            <a:r>
              <a:rPr sz="1250" b="1" i="0">
                <a:solidFill>
                  <a:srgbClr val="3639CD"/>
                </a:solidFill>
                <a:latin typeface="Segoe UI"/>
              </a:rPr>
              <a:t>In scope: </a:t>
            </a:r>
            <a:r>
              <a:rPr sz="1250" b="0" i="0">
                <a:solidFill>
                  <a:srgbClr val="0F172A"/>
                </a:solidFill>
                <a:latin typeface="Segoe UI"/>
              </a:rPr>
              <a:t>orchestration / API agents on network control services - a control-plane security problem that exists today, not a general “AI safety” concept.</a:t>
            </a:r>
          </a:p>
        </p:txBody>
      </p:sp>
      <p:sp>
        <p:nvSpPr>
          <p:cNvPr id="21" name="TextBox 20"/>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22" name="TextBox 21"/>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THREAT MODEL</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Seven threats - all built and detected</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We assume the attacker already holds a valid credential. AEGIS catches them by behaviour.</a:t>
            </a:r>
          </a:p>
        </p:txBody>
      </p:sp>
      <p:sp>
        <p:nvSpPr>
          <p:cNvPr id="6" name="Rounded Rectangle 5"/>
          <p:cNvSpPr/>
          <p:nvPr/>
        </p:nvSpPr>
        <p:spPr>
          <a:xfrm>
            <a:off x="566928" y="1691640"/>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691640"/>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691640"/>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T1</a:t>
            </a:r>
          </a:p>
        </p:txBody>
      </p:sp>
      <p:sp>
        <p:nvSpPr>
          <p:cNvPr id="9" name="TextBox 8"/>
          <p:cNvSpPr txBox="1"/>
          <p:nvPr/>
        </p:nvSpPr>
        <p:spPr>
          <a:xfrm>
            <a:off x="1133856" y="1819656"/>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Impersonation</a:t>
            </a:r>
          </a:p>
        </p:txBody>
      </p:sp>
      <p:sp>
        <p:nvSpPr>
          <p:cNvPr id="10" name="TextBox 9"/>
          <p:cNvSpPr txBox="1"/>
          <p:nvPr/>
        </p:nvSpPr>
        <p:spPr>
          <a:xfrm>
            <a:off x="1133856" y="2112264"/>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valid token, wrong role</a:t>
            </a:r>
          </a:p>
        </p:txBody>
      </p:sp>
      <p:sp>
        <p:nvSpPr>
          <p:cNvPr id="11" name="TextBox 10"/>
          <p:cNvSpPr txBox="1"/>
          <p:nvPr/>
        </p:nvSpPr>
        <p:spPr>
          <a:xfrm>
            <a:off x="1133856" y="2386584"/>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endpoint mix / timing mismatch</a:t>
            </a:r>
          </a:p>
        </p:txBody>
      </p:sp>
      <p:sp>
        <p:nvSpPr>
          <p:cNvPr id="12" name="Rounded Rectangle 11"/>
          <p:cNvSpPr/>
          <p:nvPr/>
        </p:nvSpPr>
        <p:spPr>
          <a:xfrm>
            <a:off x="4370832" y="1691640"/>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70832" y="1691640"/>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0832" y="1691640"/>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T2</a:t>
            </a:r>
          </a:p>
        </p:txBody>
      </p:sp>
      <p:sp>
        <p:nvSpPr>
          <p:cNvPr id="15" name="TextBox 14"/>
          <p:cNvSpPr txBox="1"/>
          <p:nvPr/>
        </p:nvSpPr>
        <p:spPr>
          <a:xfrm>
            <a:off x="4937760" y="1819656"/>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Compromised agent</a:t>
            </a:r>
          </a:p>
        </p:txBody>
      </p:sp>
      <p:sp>
        <p:nvSpPr>
          <p:cNvPr id="16" name="TextBox 15"/>
          <p:cNvSpPr txBox="1"/>
          <p:nvPr/>
        </p:nvSpPr>
        <p:spPr>
          <a:xfrm>
            <a:off x="4937760" y="2112264"/>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legit agent starts new actions</a:t>
            </a:r>
          </a:p>
        </p:txBody>
      </p:sp>
      <p:sp>
        <p:nvSpPr>
          <p:cNvPr id="17" name="TextBox 16"/>
          <p:cNvSpPr txBox="1"/>
          <p:nvPr/>
        </p:nvSpPr>
        <p:spPr>
          <a:xfrm>
            <a:off x="4937760" y="2386584"/>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drift from its own baseline</a:t>
            </a:r>
          </a:p>
        </p:txBody>
      </p:sp>
      <p:sp>
        <p:nvSpPr>
          <p:cNvPr id="18" name="Rounded Rectangle 17"/>
          <p:cNvSpPr/>
          <p:nvPr/>
        </p:nvSpPr>
        <p:spPr>
          <a:xfrm>
            <a:off x="8174736" y="1691640"/>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174736" y="1691640"/>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74736" y="1691640"/>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T3</a:t>
            </a:r>
          </a:p>
        </p:txBody>
      </p:sp>
      <p:sp>
        <p:nvSpPr>
          <p:cNvPr id="21" name="TextBox 20"/>
          <p:cNvSpPr txBox="1"/>
          <p:nvPr/>
        </p:nvSpPr>
        <p:spPr>
          <a:xfrm>
            <a:off x="8741663" y="1819656"/>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Recon / enumeration</a:t>
            </a:r>
          </a:p>
        </p:txBody>
      </p:sp>
      <p:sp>
        <p:nvSpPr>
          <p:cNvPr id="22" name="TextBox 21"/>
          <p:cNvSpPr txBox="1"/>
          <p:nvPr/>
        </p:nvSpPr>
        <p:spPr>
          <a:xfrm>
            <a:off x="8741663" y="2112264"/>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scanning endpoints &amp; IDs</a:t>
            </a:r>
          </a:p>
        </p:txBody>
      </p:sp>
      <p:sp>
        <p:nvSpPr>
          <p:cNvPr id="23" name="TextBox 22"/>
          <p:cNvSpPr txBox="1"/>
          <p:nvPr/>
        </p:nvSpPr>
        <p:spPr>
          <a:xfrm>
            <a:off x="8741663" y="2386584"/>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high error rate, broad surface</a:t>
            </a:r>
          </a:p>
        </p:txBody>
      </p:sp>
      <p:sp>
        <p:nvSpPr>
          <p:cNvPr id="24" name="Rounded Rectangle 23"/>
          <p:cNvSpPr/>
          <p:nvPr/>
        </p:nvSpPr>
        <p:spPr>
          <a:xfrm>
            <a:off x="566928" y="3044952"/>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66928" y="3044952"/>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3044952"/>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T4</a:t>
            </a:r>
          </a:p>
        </p:txBody>
      </p:sp>
      <p:sp>
        <p:nvSpPr>
          <p:cNvPr id="27" name="TextBox 26"/>
          <p:cNvSpPr txBox="1"/>
          <p:nvPr/>
        </p:nvSpPr>
        <p:spPr>
          <a:xfrm>
            <a:off x="1133856" y="3172968"/>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Volumetric abuse</a:t>
            </a:r>
          </a:p>
        </p:txBody>
      </p:sp>
      <p:sp>
        <p:nvSpPr>
          <p:cNvPr id="28" name="TextBox 27"/>
          <p:cNvSpPr txBox="1"/>
          <p:nvPr/>
        </p:nvSpPr>
        <p:spPr>
          <a:xfrm>
            <a:off x="1133856" y="3465576"/>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flooding a Network Function</a:t>
            </a:r>
          </a:p>
        </p:txBody>
      </p:sp>
      <p:sp>
        <p:nvSpPr>
          <p:cNvPr id="29" name="TextBox 28"/>
          <p:cNvSpPr txBox="1"/>
          <p:nvPr/>
        </p:nvSpPr>
        <p:spPr>
          <a:xfrm>
            <a:off x="1133856" y="3739896"/>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request-rate spike vs envelope</a:t>
            </a:r>
          </a:p>
        </p:txBody>
      </p:sp>
      <p:sp>
        <p:nvSpPr>
          <p:cNvPr id="30" name="Rounded Rectangle 29"/>
          <p:cNvSpPr/>
          <p:nvPr/>
        </p:nvSpPr>
        <p:spPr>
          <a:xfrm>
            <a:off x="4370832" y="3044952"/>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370832" y="3044952"/>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70832" y="3044952"/>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T5</a:t>
            </a:r>
          </a:p>
        </p:txBody>
      </p:sp>
      <p:sp>
        <p:nvSpPr>
          <p:cNvPr id="33" name="TextBox 32"/>
          <p:cNvSpPr txBox="1"/>
          <p:nvPr/>
        </p:nvSpPr>
        <p:spPr>
          <a:xfrm>
            <a:off x="4937760" y="3172968"/>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Exfiltration</a:t>
            </a:r>
          </a:p>
        </p:txBody>
      </p:sp>
      <p:sp>
        <p:nvSpPr>
          <p:cNvPr id="34" name="TextBox 33"/>
          <p:cNvSpPr txBox="1"/>
          <p:nvPr/>
        </p:nvSpPr>
        <p:spPr>
          <a:xfrm>
            <a:off x="4937760" y="3465576"/>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quiet, large data pulls</a:t>
            </a:r>
          </a:p>
        </p:txBody>
      </p:sp>
      <p:sp>
        <p:nvSpPr>
          <p:cNvPr id="35" name="TextBox 34"/>
          <p:cNvSpPr txBox="1"/>
          <p:nvPr/>
        </p:nvSpPr>
        <p:spPr>
          <a:xfrm>
            <a:off x="4937760" y="3739896"/>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payload size + off-hours</a:t>
            </a:r>
          </a:p>
        </p:txBody>
      </p:sp>
      <p:sp>
        <p:nvSpPr>
          <p:cNvPr id="36" name="Rounded Rectangle 35"/>
          <p:cNvSpPr/>
          <p:nvPr/>
        </p:nvSpPr>
        <p:spPr>
          <a:xfrm>
            <a:off x="8174736" y="3044952"/>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74736" y="3044952"/>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74736" y="3044952"/>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T6</a:t>
            </a:r>
          </a:p>
        </p:txBody>
      </p:sp>
      <p:sp>
        <p:nvSpPr>
          <p:cNvPr id="39" name="TextBox 38"/>
          <p:cNvSpPr txBox="1"/>
          <p:nvPr/>
        </p:nvSpPr>
        <p:spPr>
          <a:xfrm>
            <a:off x="8741663" y="3172968"/>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Bad call sequence</a:t>
            </a:r>
          </a:p>
        </p:txBody>
      </p:sp>
      <p:sp>
        <p:nvSpPr>
          <p:cNvPr id="40" name="TextBox 39"/>
          <p:cNvSpPr txBox="1"/>
          <p:nvPr/>
        </p:nvSpPr>
        <p:spPr>
          <a:xfrm>
            <a:off x="8741663" y="3465576"/>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release before create</a:t>
            </a:r>
          </a:p>
        </p:txBody>
      </p:sp>
      <p:sp>
        <p:nvSpPr>
          <p:cNvPr id="41" name="TextBox 40"/>
          <p:cNvSpPr txBox="1"/>
          <p:nvPr/>
        </p:nvSpPr>
        <p:spPr>
          <a:xfrm>
            <a:off x="8741663" y="3739896"/>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orphan session state machine</a:t>
            </a:r>
          </a:p>
        </p:txBody>
      </p:sp>
      <p:sp>
        <p:nvSpPr>
          <p:cNvPr id="42" name="Rounded Rectangle 41"/>
          <p:cNvSpPr/>
          <p:nvPr/>
        </p:nvSpPr>
        <p:spPr>
          <a:xfrm>
            <a:off x="566928" y="4398264"/>
            <a:ext cx="3602736" cy="11704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66928" y="4398264"/>
            <a:ext cx="457200" cy="1170432"/>
          </a:xfrm>
          <a:prstGeom prst="roundRect">
            <a:avLst>
              <a:gd name="adj" fmla="val 10000"/>
            </a:avLst>
          </a:prstGeom>
          <a:solidFill>
            <a:srgbClr val="F8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6928" y="4398264"/>
            <a:ext cx="457200" cy="1170432"/>
          </a:xfrm>
          <a:prstGeom prst="rect">
            <a:avLst/>
          </a:prstGeom>
          <a:noFill/>
        </p:spPr>
        <p:txBody>
          <a:bodyPr wrap="square" lIns="0" tIns="0" rIns="0" bIns="0" anchor="ctr">
            <a:spAutoFit/>
          </a:bodyPr>
          <a:lstStyle/>
          <a:p>
            <a:pPr algn="ctr">
              <a:lnSpc>
                <a:spcPct val="100000"/>
              </a:lnSpc>
              <a:spcBef>
                <a:spcPts val="0"/>
              </a:spcBef>
              <a:spcAft>
                <a:spcPts val="200"/>
              </a:spcAft>
            </a:pPr>
            <a:r>
              <a:rPr sz="1500" b="1" i="0">
                <a:solidFill>
                  <a:srgbClr val="D1495B"/>
                </a:solidFill>
                <a:latin typeface="Segoe UI"/>
              </a:rPr>
              <a:t>T7</a:t>
            </a:r>
          </a:p>
        </p:txBody>
      </p:sp>
      <p:sp>
        <p:nvSpPr>
          <p:cNvPr id="45" name="TextBox 44"/>
          <p:cNvSpPr txBox="1"/>
          <p:nvPr/>
        </p:nvSpPr>
        <p:spPr>
          <a:xfrm>
            <a:off x="1133856" y="4526280"/>
            <a:ext cx="2962656" cy="27432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0F172A"/>
                </a:solidFill>
                <a:latin typeface="Segoe UI"/>
              </a:rPr>
              <a:t>Scope creep</a:t>
            </a:r>
          </a:p>
        </p:txBody>
      </p:sp>
      <p:sp>
        <p:nvSpPr>
          <p:cNvPr id="46" name="TextBox 45"/>
          <p:cNvSpPr txBox="1"/>
          <p:nvPr/>
        </p:nvSpPr>
        <p:spPr>
          <a:xfrm>
            <a:off x="1133856" y="4818888"/>
            <a:ext cx="2944368" cy="274320"/>
          </a:xfrm>
          <a:prstGeom prst="rect">
            <a:avLst/>
          </a:prstGeom>
          <a:noFill/>
        </p:spPr>
        <p:txBody>
          <a:bodyPr wrap="square" lIns="0" tIns="0" rIns="0" bIns="0" anchor="t">
            <a:spAutoFit/>
          </a:bodyPr>
          <a:lstStyle/>
          <a:p>
            <a:pPr algn="l">
              <a:lnSpc>
                <a:spcPct val="100000"/>
              </a:lnSpc>
              <a:spcBef>
                <a:spcPts val="0"/>
              </a:spcBef>
              <a:spcAft>
                <a:spcPts val="200"/>
              </a:spcAft>
            </a:pPr>
            <a:r>
              <a:rPr sz="1000" b="0" i="1">
                <a:solidFill>
                  <a:srgbClr val="6B7688"/>
                </a:solidFill>
                <a:latin typeface="Segoe UI"/>
              </a:rPr>
              <a:t>touching NFs outside role</a:t>
            </a:r>
          </a:p>
        </p:txBody>
      </p:sp>
      <p:sp>
        <p:nvSpPr>
          <p:cNvPr id="47" name="TextBox 46"/>
          <p:cNvSpPr txBox="1"/>
          <p:nvPr/>
        </p:nvSpPr>
        <p:spPr>
          <a:xfrm>
            <a:off x="1133856" y="5093208"/>
            <a:ext cx="2944368" cy="365760"/>
          </a:xfrm>
          <a:prstGeom prst="rect">
            <a:avLst/>
          </a:prstGeom>
          <a:noFill/>
        </p:spPr>
        <p:txBody>
          <a:bodyPr wrap="square" lIns="0" tIns="0" rIns="0" bIns="0" anchor="t">
            <a:spAutoFit/>
          </a:bodyPr>
          <a:lstStyle/>
          <a:p>
            <a:pPr algn="l">
              <a:lnSpc>
                <a:spcPct val="100000"/>
              </a:lnSpc>
              <a:spcBef>
                <a:spcPts val="0"/>
              </a:spcBef>
              <a:spcAft>
                <a:spcPts val="200"/>
              </a:spcAft>
            </a:pPr>
            <a:r>
              <a:rPr sz="1000" b="1" i="0">
                <a:solidFill>
                  <a:srgbClr val="0E9384"/>
                </a:solidFill>
                <a:latin typeface="Segoe UI"/>
              </a:rPr>
              <a:t>↳ </a:t>
            </a:r>
            <a:r>
              <a:rPr sz="1000" b="0" i="0">
                <a:solidFill>
                  <a:srgbClr val="334155"/>
                </a:solidFill>
                <a:latin typeface="Segoe UI"/>
              </a:rPr>
              <a:t>out-of-scope access</a:t>
            </a:r>
          </a:p>
        </p:txBody>
      </p:sp>
      <p:sp>
        <p:nvSpPr>
          <p:cNvPr id="48" name="Rounded Rectangle 47"/>
          <p:cNvSpPr/>
          <p:nvPr/>
        </p:nvSpPr>
        <p:spPr>
          <a:xfrm>
            <a:off x="8174736" y="4398264"/>
            <a:ext cx="3602736" cy="1170432"/>
          </a:xfrm>
          <a:prstGeom prst="roundRect">
            <a:avLst>
              <a:gd name="adj" fmla="val 6000"/>
            </a:avLst>
          </a:prstGeom>
          <a:solidFill>
            <a:srgbClr val="E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03336" y="4581144"/>
            <a:ext cx="3145536" cy="822960"/>
          </a:xfrm>
          <a:prstGeom prst="rect">
            <a:avLst/>
          </a:prstGeom>
          <a:noFill/>
        </p:spPr>
        <p:txBody>
          <a:bodyPr wrap="square" lIns="0" tIns="0" rIns="0" bIns="0" anchor="t">
            <a:spAutoFit/>
          </a:bodyPr>
          <a:lstStyle/>
          <a:p>
            <a:pPr algn="l">
              <a:lnSpc>
                <a:spcPct val="110000"/>
              </a:lnSpc>
              <a:spcBef>
                <a:spcPts val="0"/>
              </a:spcBef>
              <a:spcAft>
                <a:spcPts val="200"/>
              </a:spcAft>
            </a:pPr>
            <a:r>
              <a:rPr sz="1400" b="1" i="0">
                <a:solidFill>
                  <a:srgbClr val="0E9384"/>
                </a:solidFill>
                <a:latin typeface="Segoe UI"/>
              </a:rPr>
              <a:t>All 7 detected</a:t>
            </a:r>
          </a:p>
          <a:p>
            <a:pPr algn="l">
              <a:lnSpc>
                <a:spcPct val="110000"/>
              </a:lnSpc>
              <a:spcBef>
                <a:spcPts val="0"/>
              </a:spcBef>
              <a:spcAft>
                <a:spcPts val="200"/>
              </a:spcAft>
            </a:pPr>
            <a:r>
              <a:rPr sz="1100" b="0" i="0">
                <a:solidFill>
                  <a:srgbClr val="334155"/>
                </a:solidFill>
                <a:latin typeface="Segoe UI"/>
              </a:rPr>
              <a:t>in the working baseline - see results.</a:t>
            </a:r>
          </a:p>
        </p:txBody>
      </p:sp>
      <p:sp>
        <p:nvSpPr>
          <p:cNvPr id="50" name="TextBox 49"/>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51" name="TextBox 50"/>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ARCHITECTURE</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OBSERVE → FINGERPRINT → SCORE → DECIDE</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A zero-trust gate on every agent→NF request. Production: an inline policy check at the edge (FASTedge).</a:t>
            </a:r>
          </a:p>
        </p:txBody>
      </p:sp>
      <p:sp>
        <p:nvSpPr>
          <p:cNvPr id="6" name="Rounded Rectangle 5"/>
          <p:cNvSpPr/>
          <p:nvPr/>
        </p:nvSpPr>
        <p:spPr>
          <a:xfrm>
            <a:off x="566928" y="1920240"/>
            <a:ext cx="2651760" cy="18288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920240"/>
            <a:ext cx="2651760" cy="73152"/>
          </a:xfrm>
          <a:prstGeom prst="roundRect">
            <a:avLst>
              <a:gd name="adj" fmla="val 50000"/>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5528" y="2139696"/>
            <a:ext cx="402336" cy="402336"/>
          </a:xfrm>
          <a:prstGeom prst="ellipse">
            <a:avLst/>
          </a:prstGeom>
          <a:solidFill>
            <a:srgbClr val="E3E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139696"/>
            <a:ext cx="402336" cy="402336"/>
          </a:xfrm>
          <a:prstGeom prst="rect">
            <a:avLst/>
          </a:prstGeom>
          <a:noFill/>
        </p:spPr>
        <p:txBody>
          <a:bodyPr wrap="square" lIns="0" tIns="0" rIns="0" bIns="0" anchor="ctr">
            <a:spAutoFit/>
          </a:bodyPr>
          <a:lstStyle/>
          <a:p>
            <a:pPr algn="ctr">
              <a:lnSpc>
                <a:spcPct val="100000"/>
              </a:lnSpc>
              <a:spcBef>
                <a:spcPts val="0"/>
              </a:spcBef>
              <a:spcAft>
                <a:spcPts val="200"/>
              </a:spcAft>
            </a:pPr>
            <a:r>
              <a:rPr sz="1300" b="1" i="0">
                <a:solidFill>
                  <a:srgbClr val="3639CD"/>
                </a:solidFill>
                <a:latin typeface="Segoe UI"/>
              </a:rPr>
              <a:t>01</a:t>
            </a:r>
          </a:p>
        </p:txBody>
      </p:sp>
      <p:sp>
        <p:nvSpPr>
          <p:cNvPr id="10" name="TextBox 9"/>
          <p:cNvSpPr txBox="1"/>
          <p:nvPr/>
        </p:nvSpPr>
        <p:spPr>
          <a:xfrm>
            <a:off x="1298448" y="2194560"/>
            <a:ext cx="1828800" cy="320040"/>
          </a:xfrm>
          <a:prstGeom prst="rect">
            <a:avLst/>
          </a:prstGeom>
          <a:noFill/>
        </p:spPr>
        <p:txBody>
          <a:bodyPr wrap="square" lIns="0" tIns="0" rIns="0" bIns="0" anchor="ctr">
            <a:spAutoFit/>
          </a:bodyPr>
          <a:lstStyle/>
          <a:p>
            <a:pPr algn="l">
              <a:lnSpc>
                <a:spcPct val="100000"/>
              </a:lnSpc>
              <a:spcBef>
                <a:spcPts val="0"/>
              </a:spcBef>
              <a:spcAft>
                <a:spcPts val="200"/>
              </a:spcAft>
            </a:pPr>
            <a:r>
              <a:rPr sz="1350" b="1" i="0">
                <a:solidFill>
                  <a:srgbClr val="0F172A"/>
                </a:solidFill>
                <a:latin typeface="Segoe UI"/>
              </a:rPr>
              <a:t>OBSERVE</a:t>
            </a:r>
          </a:p>
        </p:txBody>
      </p:sp>
      <p:sp>
        <p:nvSpPr>
          <p:cNvPr id="11" name="TextBox 10"/>
          <p:cNvSpPr txBox="1"/>
          <p:nvPr/>
        </p:nvSpPr>
        <p:spPr>
          <a:xfrm>
            <a:off x="804672" y="2743200"/>
            <a:ext cx="2194560" cy="914400"/>
          </a:xfrm>
          <a:prstGeom prst="rect">
            <a:avLst/>
          </a:prstGeom>
          <a:noFill/>
        </p:spPr>
        <p:txBody>
          <a:bodyPr wrap="square" lIns="0" tIns="0" rIns="0" bIns="0" anchor="t">
            <a:spAutoFit/>
          </a:bodyPr>
          <a:lstStyle/>
          <a:p>
            <a:pPr algn="l">
              <a:lnSpc>
                <a:spcPct val="112000"/>
              </a:lnSpc>
              <a:spcBef>
                <a:spcPts val="0"/>
              </a:spcBef>
              <a:spcAft>
                <a:spcPts val="200"/>
              </a:spcAft>
            </a:pPr>
            <a:r>
              <a:rPr sz="1050" b="0" i="0">
                <a:solidFill>
                  <a:srgbClr val="334155"/>
                </a:solidFill>
                <a:latin typeface="Segoe UI"/>
              </a:rPr>
              <a:t>Parse each request: agent id, method, NF, endpoint, timing, payload, status.</a:t>
            </a:r>
          </a:p>
        </p:txBody>
      </p:sp>
      <p:sp>
        <p:nvSpPr>
          <p:cNvPr id="12" name="TextBox 11"/>
          <p:cNvSpPr txBox="1"/>
          <p:nvPr/>
        </p:nvSpPr>
        <p:spPr>
          <a:xfrm>
            <a:off x="3200400" y="2697480"/>
            <a:ext cx="219456" cy="365760"/>
          </a:xfrm>
          <a:prstGeom prst="rect">
            <a:avLst/>
          </a:prstGeom>
          <a:noFill/>
        </p:spPr>
        <p:txBody>
          <a:bodyPr wrap="square" lIns="0" tIns="0" rIns="0" bIns="0" anchor="t">
            <a:spAutoFit/>
          </a:bodyPr>
          <a:lstStyle/>
          <a:p>
            <a:pPr algn="ctr">
              <a:lnSpc>
                <a:spcPct val="100000"/>
              </a:lnSpc>
              <a:spcBef>
                <a:spcPts val="0"/>
              </a:spcBef>
              <a:spcAft>
                <a:spcPts val="200"/>
              </a:spcAft>
            </a:pPr>
            <a:r>
              <a:rPr sz="1700" b="1" i="0">
                <a:solidFill>
                  <a:srgbClr val="6B7688"/>
                </a:solidFill>
                <a:latin typeface="Segoe UI"/>
              </a:rPr>
              <a:t>→</a:t>
            </a:r>
          </a:p>
        </p:txBody>
      </p:sp>
      <p:sp>
        <p:nvSpPr>
          <p:cNvPr id="13" name="Rounded Rectangle 12"/>
          <p:cNvSpPr/>
          <p:nvPr/>
        </p:nvSpPr>
        <p:spPr>
          <a:xfrm>
            <a:off x="3392424" y="1920240"/>
            <a:ext cx="2651760" cy="18288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392424" y="1920240"/>
            <a:ext cx="2651760" cy="73152"/>
          </a:xfrm>
          <a:prstGeom prst="roundRect">
            <a:avLst>
              <a:gd name="adj" fmla="val 50000"/>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21024" y="2139696"/>
            <a:ext cx="402336" cy="402336"/>
          </a:xfrm>
          <a:prstGeom prst="ellipse">
            <a:avLst/>
          </a:prstGeom>
          <a:solidFill>
            <a:srgbClr val="E3E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21024" y="2139696"/>
            <a:ext cx="402336" cy="402336"/>
          </a:xfrm>
          <a:prstGeom prst="rect">
            <a:avLst/>
          </a:prstGeom>
          <a:noFill/>
        </p:spPr>
        <p:txBody>
          <a:bodyPr wrap="square" lIns="0" tIns="0" rIns="0" bIns="0" anchor="ctr">
            <a:spAutoFit/>
          </a:bodyPr>
          <a:lstStyle/>
          <a:p>
            <a:pPr algn="ctr">
              <a:lnSpc>
                <a:spcPct val="100000"/>
              </a:lnSpc>
              <a:spcBef>
                <a:spcPts val="0"/>
              </a:spcBef>
              <a:spcAft>
                <a:spcPts val="200"/>
              </a:spcAft>
            </a:pPr>
            <a:r>
              <a:rPr sz="1300" b="1" i="0">
                <a:solidFill>
                  <a:srgbClr val="3639CD"/>
                </a:solidFill>
                <a:latin typeface="Segoe UI"/>
              </a:rPr>
              <a:t>02</a:t>
            </a:r>
          </a:p>
        </p:txBody>
      </p:sp>
      <p:sp>
        <p:nvSpPr>
          <p:cNvPr id="17" name="TextBox 16"/>
          <p:cNvSpPr txBox="1"/>
          <p:nvPr/>
        </p:nvSpPr>
        <p:spPr>
          <a:xfrm>
            <a:off x="4123944" y="2194560"/>
            <a:ext cx="1828800" cy="320040"/>
          </a:xfrm>
          <a:prstGeom prst="rect">
            <a:avLst/>
          </a:prstGeom>
          <a:noFill/>
        </p:spPr>
        <p:txBody>
          <a:bodyPr wrap="square" lIns="0" tIns="0" rIns="0" bIns="0" anchor="ctr">
            <a:spAutoFit/>
          </a:bodyPr>
          <a:lstStyle/>
          <a:p>
            <a:pPr algn="l">
              <a:lnSpc>
                <a:spcPct val="100000"/>
              </a:lnSpc>
              <a:spcBef>
                <a:spcPts val="0"/>
              </a:spcBef>
              <a:spcAft>
                <a:spcPts val="200"/>
              </a:spcAft>
            </a:pPr>
            <a:r>
              <a:rPr sz="1350" b="1" i="0">
                <a:solidFill>
                  <a:srgbClr val="0F172A"/>
                </a:solidFill>
                <a:latin typeface="Segoe UI"/>
              </a:rPr>
              <a:t>FINGERPRINT</a:t>
            </a:r>
          </a:p>
        </p:txBody>
      </p:sp>
      <p:sp>
        <p:nvSpPr>
          <p:cNvPr id="18" name="TextBox 17"/>
          <p:cNvSpPr txBox="1"/>
          <p:nvPr/>
        </p:nvSpPr>
        <p:spPr>
          <a:xfrm>
            <a:off x="3630168" y="2743200"/>
            <a:ext cx="2194560" cy="914400"/>
          </a:xfrm>
          <a:prstGeom prst="rect">
            <a:avLst/>
          </a:prstGeom>
          <a:noFill/>
        </p:spPr>
        <p:txBody>
          <a:bodyPr wrap="square" lIns="0" tIns="0" rIns="0" bIns="0" anchor="t">
            <a:spAutoFit/>
          </a:bodyPr>
          <a:lstStyle/>
          <a:p>
            <a:pPr algn="l">
              <a:lnSpc>
                <a:spcPct val="112000"/>
              </a:lnSpc>
              <a:spcBef>
                <a:spcPts val="0"/>
              </a:spcBef>
              <a:spcAft>
                <a:spcPts val="200"/>
              </a:spcAft>
            </a:pPr>
            <a:r>
              <a:rPr sz="1050" b="0" i="0">
                <a:solidFill>
                  <a:srgbClr val="334155"/>
                </a:solidFill>
                <a:latin typeface="Segoe UI"/>
              </a:rPr>
              <a:t>Windowed behavioural vector vs the agent's known-good baseline (scope, rate, sequence, errors).</a:t>
            </a:r>
          </a:p>
        </p:txBody>
      </p:sp>
      <p:sp>
        <p:nvSpPr>
          <p:cNvPr id="19" name="TextBox 18"/>
          <p:cNvSpPr txBox="1"/>
          <p:nvPr/>
        </p:nvSpPr>
        <p:spPr>
          <a:xfrm>
            <a:off x="6025896" y="2697480"/>
            <a:ext cx="219456" cy="365760"/>
          </a:xfrm>
          <a:prstGeom prst="rect">
            <a:avLst/>
          </a:prstGeom>
          <a:noFill/>
        </p:spPr>
        <p:txBody>
          <a:bodyPr wrap="square" lIns="0" tIns="0" rIns="0" bIns="0" anchor="t">
            <a:spAutoFit/>
          </a:bodyPr>
          <a:lstStyle/>
          <a:p>
            <a:pPr algn="ctr">
              <a:lnSpc>
                <a:spcPct val="100000"/>
              </a:lnSpc>
              <a:spcBef>
                <a:spcPts val="0"/>
              </a:spcBef>
              <a:spcAft>
                <a:spcPts val="200"/>
              </a:spcAft>
            </a:pPr>
            <a:r>
              <a:rPr sz="1700" b="1" i="0">
                <a:solidFill>
                  <a:srgbClr val="6B7688"/>
                </a:solidFill>
                <a:latin typeface="Segoe UI"/>
              </a:rPr>
              <a:t>→</a:t>
            </a:r>
          </a:p>
        </p:txBody>
      </p:sp>
      <p:sp>
        <p:nvSpPr>
          <p:cNvPr id="20" name="Rounded Rectangle 19"/>
          <p:cNvSpPr/>
          <p:nvPr/>
        </p:nvSpPr>
        <p:spPr>
          <a:xfrm>
            <a:off x="6217920" y="1920240"/>
            <a:ext cx="2651760" cy="18288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17920" y="1920240"/>
            <a:ext cx="2651760" cy="73152"/>
          </a:xfrm>
          <a:prstGeom prst="roundRect">
            <a:avLst>
              <a:gd name="adj" fmla="val 50000"/>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46520" y="2139696"/>
            <a:ext cx="402336" cy="402336"/>
          </a:xfrm>
          <a:prstGeom prst="ellipse">
            <a:avLst/>
          </a:prstGeom>
          <a:solidFill>
            <a:srgbClr val="E3E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2139696"/>
            <a:ext cx="402336" cy="402336"/>
          </a:xfrm>
          <a:prstGeom prst="rect">
            <a:avLst/>
          </a:prstGeom>
          <a:noFill/>
        </p:spPr>
        <p:txBody>
          <a:bodyPr wrap="square" lIns="0" tIns="0" rIns="0" bIns="0" anchor="ctr">
            <a:spAutoFit/>
          </a:bodyPr>
          <a:lstStyle/>
          <a:p>
            <a:pPr algn="ctr">
              <a:lnSpc>
                <a:spcPct val="100000"/>
              </a:lnSpc>
              <a:spcBef>
                <a:spcPts val="0"/>
              </a:spcBef>
              <a:spcAft>
                <a:spcPts val="200"/>
              </a:spcAft>
            </a:pPr>
            <a:r>
              <a:rPr sz="1300" b="1" i="0">
                <a:solidFill>
                  <a:srgbClr val="3639CD"/>
                </a:solidFill>
                <a:latin typeface="Segoe UI"/>
              </a:rPr>
              <a:t>03</a:t>
            </a:r>
          </a:p>
        </p:txBody>
      </p:sp>
      <p:sp>
        <p:nvSpPr>
          <p:cNvPr id="24" name="TextBox 23"/>
          <p:cNvSpPr txBox="1"/>
          <p:nvPr/>
        </p:nvSpPr>
        <p:spPr>
          <a:xfrm>
            <a:off x="6949440" y="2194560"/>
            <a:ext cx="1828800" cy="320040"/>
          </a:xfrm>
          <a:prstGeom prst="rect">
            <a:avLst/>
          </a:prstGeom>
          <a:noFill/>
        </p:spPr>
        <p:txBody>
          <a:bodyPr wrap="square" lIns="0" tIns="0" rIns="0" bIns="0" anchor="ctr">
            <a:spAutoFit/>
          </a:bodyPr>
          <a:lstStyle/>
          <a:p>
            <a:pPr algn="l">
              <a:lnSpc>
                <a:spcPct val="100000"/>
              </a:lnSpc>
              <a:spcBef>
                <a:spcPts val="0"/>
              </a:spcBef>
              <a:spcAft>
                <a:spcPts val="200"/>
              </a:spcAft>
            </a:pPr>
            <a:r>
              <a:rPr sz="1350" b="1" i="0">
                <a:solidFill>
                  <a:srgbClr val="0F172A"/>
                </a:solidFill>
                <a:latin typeface="Segoe UI"/>
              </a:rPr>
              <a:t>SCORE</a:t>
            </a:r>
          </a:p>
        </p:txBody>
      </p:sp>
      <p:sp>
        <p:nvSpPr>
          <p:cNvPr id="25" name="TextBox 24"/>
          <p:cNvSpPr txBox="1"/>
          <p:nvPr/>
        </p:nvSpPr>
        <p:spPr>
          <a:xfrm>
            <a:off x="6455664" y="2743200"/>
            <a:ext cx="2194560" cy="914400"/>
          </a:xfrm>
          <a:prstGeom prst="rect">
            <a:avLst/>
          </a:prstGeom>
          <a:noFill/>
        </p:spPr>
        <p:txBody>
          <a:bodyPr wrap="square" lIns="0" tIns="0" rIns="0" bIns="0" anchor="t">
            <a:spAutoFit/>
          </a:bodyPr>
          <a:lstStyle/>
          <a:p>
            <a:pPr algn="l">
              <a:lnSpc>
                <a:spcPct val="112000"/>
              </a:lnSpc>
              <a:spcBef>
                <a:spcPts val="0"/>
              </a:spcBef>
              <a:spcAft>
                <a:spcPts val="200"/>
              </a:spcAft>
            </a:pPr>
            <a:r>
              <a:rPr sz="1050" b="0" i="0">
                <a:solidFill>
                  <a:srgbClr val="334155"/>
                </a:solidFill>
                <a:latin typeface="Segoe UI"/>
              </a:rPr>
              <a:t>Rules (hard limits) + ML anomaly (Isolation Forest, trained on legit only) → risk 0–1.</a:t>
            </a:r>
          </a:p>
        </p:txBody>
      </p:sp>
      <p:sp>
        <p:nvSpPr>
          <p:cNvPr id="26" name="TextBox 25"/>
          <p:cNvSpPr txBox="1"/>
          <p:nvPr/>
        </p:nvSpPr>
        <p:spPr>
          <a:xfrm>
            <a:off x="8851392" y="2697480"/>
            <a:ext cx="219456" cy="365760"/>
          </a:xfrm>
          <a:prstGeom prst="rect">
            <a:avLst/>
          </a:prstGeom>
          <a:noFill/>
        </p:spPr>
        <p:txBody>
          <a:bodyPr wrap="square" lIns="0" tIns="0" rIns="0" bIns="0" anchor="t">
            <a:spAutoFit/>
          </a:bodyPr>
          <a:lstStyle/>
          <a:p>
            <a:pPr algn="ctr">
              <a:lnSpc>
                <a:spcPct val="100000"/>
              </a:lnSpc>
              <a:spcBef>
                <a:spcPts val="0"/>
              </a:spcBef>
              <a:spcAft>
                <a:spcPts val="200"/>
              </a:spcAft>
            </a:pPr>
            <a:r>
              <a:rPr sz="1700" b="1" i="0">
                <a:solidFill>
                  <a:srgbClr val="6B7688"/>
                </a:solidFill>
                <a:latin typeface="Segoe UI"/>
              </a:rPr>
              <a:t>→</a:t>
            </a:r>
          </a:p>
        </p:txBody>
      </p:sp>
      <p:sp>
        <p:nvSpPr>
          <p:cNvPr id="27" name="Rounded Rectangle 26"/>
          <p:cNvSpPr/>
          <p:nvPr/>
        </p:nvSpPr>
        <p:spPr>
          <a:xfrm>
            <a:off x="9043415" y="1920240"/>
            <a:ext cx="2651760" cy="182880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043415" y="1920240"/>
            <a:ext cx="2651760" cy="73152"/>
          </a:xfrm>
          <a:prstGeom prst="roundRect">
            <a:avLst>
              <a:gd name="adj" fmla="val 50000"/>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272015" y="2139696"/>
            <a:ext cx="402336" cy="402336"/>
          </a:xfrm>
          <a:prstGeom prst="ellipse">
            <a:avLst/>
          </a:prstGeom>
          <a:solidFill>
            <a:srgbClr val="E3E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72015" y="2139696"/>
            <a:ext cx="402336" cy="402336"/>
          </a:xfrm>
          <a:prstGeom prst="rect">
            <a:avLst/>
          </a:prstGeom>
          <a:noFill/>
        </p:spPr>
        <p:txBody>
          <a:bodyPr wrap="square" lIns="0" tIns="0" rIns="0" bIns="0" anchor="ctr">
            <a:spAutoFit/>
          </a:bodyPr>
          <a:lstStyle/>
          <a:p>
            <a:pPr algn="ctr">
              <a:lnSpc>
                <a:spcPct val="100000"/>
              </a:lnSpc>
              <a:spcBef>
                <a:spcPts val="0"/>
              </a:spcBef>
              <a:spcAft>
                <a:spcPts val="200"/>
              </a:spcAft>
            </a:pPr>
            <a:r>
              <a:rPr sz="1300" b="1" i="0">
                <a:solidFill>
                  <a:srgbClr val="3639CD"/>
                </a:solidFill>
                <a:latin typeface="Segoe UI"/>
              </a:rPr>
              <a:t>04</a:t>
            </a:r>
          </a:p>
        </p:txBody>
      </p:sp>
      <p:sp>
        <p:nvSpPr>
          <p:cNvPr id="31" name="TextBox 30"/>
          <p:cNvSpPr txBox="1"/>
          <p:nvPr/>
        </p:nvSpPr>
        <p:spPr>
          <a:xfrm>
            <a:off x="9774936" y="2194560"/>
            <a:ext cx="1828800" cy="320040"/>
          </a:xfrm>
          <a:prstGeom prst="rect">
            <a:avLst/>
          </a:prstGeom>
          <a:noFill/>
        </p:spPr>
        <p:txBody>
          <a:bodyPr wrap="square" lIns="0" tIns="0" rIns="0" bIns="0" anchor="ctr">
            <a:spAutoFit/>
          </a:bodyPr>
          <a:lstStyle/>
          <a:p>
            <a:pPr algn="l">
              <a:lnSpc>
                <a:spcPct val="100000"/>
              </a:lnSpc>
              <a:spcBef>
                <a:spcPts val="0"/>
              </a:spcBef>
              <a:spcAft>
                <a:spcPts val="200"/>
              </a:spcAft>
            </a:pPr>
            <a:r>
              <a:rPr sz="1350" b="1" i="0">
                <a:solidFill>
                  <a:srgbClr val="0F172A"/>
                </a:solidFill>
                <a:latin typeface="Segoe UI"/>
              </a:rPr>
              <a:t>DECIDE</a:t>
            </a:r>
          </a:p>
        </p:txBody>
      </p:sp>
      <p:sp>
        <p:nvSpPr>
          <p:cNvPr id="32" name="TextBox 31"/>
          <p:cNvSpPr txBox="1"/>
          <p:nvPr/>
        </p:nvSpPr>
        <p:spPr>
          <a:xfrm>
            <a:off x="9281159" y="2743200"/>
            <a:ext cx="2194560" cy="914400"/>
          </a:xfrm>
          <a:prstGeom prst="rect">
            <a:avLst/>
          </a:prstGeom>
          <a:noFill/>
        </p:spPr>
        <p:txBody>
          <a:bodyPr wrap="square" lIns="0" tIns="0" rIns="0" bIns="0" anchor="t">
            <a:spAutoFit/>
          </a:bodyPr>
          <a:lstStyle/>
          <a:p>
            <a:pPr algn="l">
              <a:lnSpc>
                <a:spcPct val="112000"/>
              </a:lnSpc>
              <a:spcBef>
                <a:spcPts val="0"/>
              </a:spcBef>
              <a:spcAft>
                <a:spcPts val="200"/>
              </a:spcAft>
            </a:pPr>
            <a:r>
              <a:rPr sz="1050" b="0" i="0">
                <a:solidFill>
                  <a:srgbClr val="334155"/>
                </a:solidFill>
                <a:latin typeface="Segoe UI"/>
              </a:rPr>
              <a:t>Thresholds → PASS / STEP-UP / BLOCK, with a plain-language reason.</a:t>
            </a:r>
          </a:p>
        </p:txBody>
      </p:sp>
      <p:sp>
        <p:nvSpPr>
          <p:cNvPr id="33" name="Rounded Rectangle 32"/>
          <p:cNvSpPr/>
          <p:nvPr/>
        </p:nvSpPr>
        <p:spPr>
          <a:xfrm>
            <a:off x="566928" y="4114800"/>
            <a:ext cx="3639312" cy="914400"/>
          </a:xfrm>
          <a:prstGeom prst="roundRect">
            <a:avLst>
              <a:gd name="adj" fmla="val 8000"/>
            </a:avLst>
          </a:prstGeom>
          <a:solidFill>
            <a:srgbClr val="E7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6928" y="4114800"/>
            <a:ext cx="82296" cy="914400"/>
          </a:xfrm>
          <a:prstGeom prst="rect">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4279392"/>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400" b="1" i="0">
                <a:solidFill>
                  <a:srgbClr val="0E9384"/>
                </a:solidFill>
                <a:latin typeface="Segoe UI"/>
              </a:rPr>
              <a:t>PASS</a:t>
            </a:r>
          </a:p>
        </p:txBody>
      </p:sp>
      <p:sp>
        <p:nvSpPr>
          <p:cNvPr id="36" name="TextBox 35"/>
          <p:cNvSpPr txBox="1"/>
          <p:nvPr/>
        </p:nvSpPr>
        <p:spPr>
          <a:xfrm>
            <a:off x="822960" y="4626864"/>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100" b="0" i="0">
                <a:solidFill>
                  <a:srgbClr val="334155"/>
                </a:solidFill>
                <a:latin typeface="Segoe UI"/>
              </a:rPr>
              <a:t>behaves like its known-good self</a:t>
            </a:r>
          </a:p>
        </p:txBody>
      </p:sp>
      <p:sp>
        <p:nvSpPr>
          <p:cNvPr id="37" name="Rounded Rectangle 36"/>
          <p:cNvSpPr/>
          <p:nvPr/>
        </p:nvSpPr>
        <p:spPr>
          <a:xfrm>
            <a:off x="4379976" y="4114800"/>
            <a:ext cx="3639312" cy="914400"/>
          </a:xfrm>
          <a:prstGeom prst="roundRect">
            <a:avLst>
              <a:gd name="adj" fmla="val 8000"/>
            </a:avLst>
          </a:prstGeom>
          <a:solidFill>
            <a:srgbClr val="FC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379976" y="4114800"/>
            <a:ext cx="82296" cy="914400"/>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36008" y="4279392"/>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400" b="1" i="0">
                <a:solidFill>
                  <a:srgbClr val="E0A100"/>
                </a:solidFill>
                <a:latin typeface="Segoe UI"/>
              </a:rPr>
              <a:t>STEP-UP</a:t>
            </a:r>
          </a:p>
        </p:txBody>
      </p:sp>
      <p:sp>
        <p:nvSpPr>
          <p:cNvPr id="40" name="TextBox 39"/>
          <p:cNvSpPr txBox="1"/>
          <p:nvPr/>
        </p:nvSpPr>
        <p:spPr>
          <a:xfrm>
            <a:off x="4636008" y="4626864"/>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100" b="0" i="0">
                <a:solidFill>
                  <a:srgbClr val="334155"/>
                </a:solidFill>
                <a:latin typeface="Segoe UI"/>
              </a:rPr>
              <a:t>challenge - re-auth / approval / throttle</a:t>
            </a:r>
          </a:p>
        </p:txBody>
      </p:sp>
      <p:sp>
        <p:nvSpPr>
          <p:cNvPr id="41" name="Rounded Rectangle 40"/>
          <p:cNvSpPr/>
          <p:nvPr/>
        </p:nvSpPr>
        <p:spPr>
          <a:xfrm>
            <a:off x="8193023" y="4114800"/>
            <a:ext cx="3639312" cy="914400"/>
          </a:xfrm>
          <a:prstGeom prst="roundRect">
            <a:avLst>
              <a:gd name="adj" fmla="val 8000"/>
            </a:avLst>
          </a:prstGeom>
          <a:solidFill>
            <a:srgbClr val="F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193023" y="4114800"/>
            <a:ext cx="82296" cy="9144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49055" y="4279392"/>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400" b="1" i="0">
                <a:solidFill>
                  <a:srgbClr val="D1495B"/>
                </a:solidFill>
                <a:latin typeface="Segoe UI"/>
              </a:rPr>
              <a:t>BLOCK</a:t>
            </a:r>
          </a:p>
        </p:txBody>
      </p:sp>
      <p:sp>
        <p:nvSpPr>
          <p:cNvPr id="44" name="TextBox 43"/>
          <p:cNvSpPr txBox="1"/>
          <p:nvPr/>
        </p:nvSpPr>
        <p:spPr>
          <a:xfrm>
            <a:off x="8449055" y="4626864"/>
            <a:ext cx="3291840" cy="320040"/>
          </a:xfrm>
          <a:prstGeom prst="rect">
            <a:avLst/>
          </a:prstGeom>
          <a:noFill/>
        </p:spPr>
        <p:txBody>
          <a:bodyPr wrap="square" lIns="0" tIns="0" rIns="0" bIns="0" anchor="t">
            <a:spAutoFit/>
          </a:bodyPr>
          <a:lstStyle/>
          <a:p>
            <a:pPr algn="l">
              <a:lnSpc>
                <a:spcPct val="100000"/>
              </a:lnSpc>
              <a:spcBef>
                <a:spcPts val="0"/>
              </a:spcBef>
              <a:spcAft>
                <a:spcPts val="200"/>
              </a:spcAft>
            </a:pPr>
            <a:r>
              <a:rPr sz="1100" b="0" i="0">
                <a:solidFill>
                  <a:srgbClr val="334155"/>
                </a:solidFill>
                <a:latin typeface="Segoe UI"/>
              </a:rPr>
              <a:t>quarantine the identity, alert the SOC</a:t>
            </a:r>
          </a:p>
        </p:txBody>
      </p:sp>
      <p:sp>
        <p:nvSpPr>
          <p:cNvPr id="45" name="TextBox 44"/>
          <p:cNvSpPr txBox="1"/>
          <p:nvPr/>
        </p:nvSpPr>
        <p:spPr>
          <a:xfrm>
            <a:off x="566928" y="5349240"/>
            <a:ext cx="11064240" cy="457200"/>
          </a:xfrm>
          <a:prstGeom prst="rect">
            <a:avLst/>
          </a:prstGeom>
          <a:noFill/>
        </p:spPr>
        <p:txBody>
          <a:bodyPr wrap="square" lIns="0" tIns="0" rIns="0" bIns="0" anchor="t">
            <a:spAutoFit/>
          </a:bodyPr>
          <a:lstStyle/>
          <a:p>
            <a:pPr algn="l">
              <a:lnSpc>
                <a:spcPct val="110000"/>
              </a:lnSpc>
              <a:spcBef>
                <a:spcPts val="0"/>
              </a:spcBef>
              <a:spcAft>
                <a:spcPts val="200"/>
              </a:spcAft>
            </a:pPr>
            <a:r>
              <a:rPr sz="1150" b="1" i="0">
                <a:solidFill>
                  <a:srgbClr val="3639CD"/>
                </a:solidFill>
                <a:latin typeface="Segoe UI"/>
              </a:rPr>
              <a:t>Fingerprint features: </a:t>
            </a:r>
            <a:r>
              <a:rPr sz="1150" b="0" i="0">
                <a:solidFill>
                  <a:srgbClr val="334155"/>
                </a:solidFill>
                <a:latin typeface="Segoe UI"/>
              </a:rPr>
              <a:t>request rate &amp; inter-arrival · distinct NFs/endpoints · method mix · call-sequence (session state machine) · error rate · payload size · time-of-day.</a:t>
            </a:r>
          </a:p>
        </p:txBody>
      </p:sp>
      <p:sp>
        <p:nvSpPr>
          <p:cNvPr id="46" name="TextBox 45"/>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47" name="TextBox 46"/>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TECHNOLOGY STACK</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Open-source, reproducible, edge-deployable</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Everything the PoC needs runs on open-source; internal platforms are an upgrade, not a dependency.</a:t>
            </a:r>
          </a:p>
        </p:txBody>
      </p:sp>
      <p:sp>
        <p:nvSpPr>
          <p:cNvPr id="6" name="Rounded Rectangle 5"/>
          <p:cNvSpPr/>
          <p:nvPr/>
        </p:nvSpPr>
        <p:spPr>
          <a:xfrm>
            <a:off x="566928" y="1783080"/>
            <a:ext cx="3602736" cy="2926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83080"/>
            <a:ext cx="3602736" cy="82296"/>
          </a:xfrm>
          <a:prstGeom prst="roundRect">
            <a:avLst>
              <a:gd name="adj" fmla="val 5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011680"/>
            <a:ext cx="3108960" cy="320040"/>
          </a:xfrm>
          <a:prstGeom prst="rect">
            <a:avLst/>
          </a:prstGeom>
          <a:noFill/>
        </p:spPr>
        <p:txBody>
          <a:bodyPr wrap="square" lIns="0" tIns="0" rIns="0" bIns="0" anchor="t">
            <a:spAutoFit/>
          </a:bodyPr>
          <a:lstStyle/>
          <a:p>
            <a:pPr algn="l">
              <a:lnSpc>
                <a:spcPct val="100000"/>
              </a:lnSpc>
              <a:spcBef>
                <a:spcPts val="0"/>
              </a:spcBef>
              <a:spcAft>
                <a:spcPts val="200"/>
              </a:spcAft>
            </a:pPr>
            <a:r>
              <a:rPr sz="1400" b="1" i="0">
                <a:solidFill>
                  <a:srgbClr val="0E9384"/>
                </a:solidFill>
                <a:latin typeface="Segoe UI"/>
              </a:rPr>
              <a:t>DATA</a:t>
            </a:r>
          </a:p>
        </p:txBody>
      </p:sp>
      <p:sp>
        <p:nvSpPr>
          <p:cNvPr id="9" name="TextBox 8"/>
          <p:cNvSpPr txBox="1"/>
          <p:nvPr/>
        </p:nvSpPr>
        <p:spPr>
          <a:xfrm>
            <a:off x="841247" y="2450592"/>
            <a:ext cx="3108960" cy="2103120"/>
          </a:xfrm>
          <a:prstGeom prst="rect">
            <a:avLst/>
          </a:prstGeom>
          <a:noFill/>
        </p:spPr>
        <p:txBody>
          <a:bodyPr wrap="square" lIns="0" tIns="0" rIns="0" bIns="0" anchor="t">
            <a:spAutoFit/>
          </a:bodyPr>
          <a:lstStyle/>
          <a:p>
            <a:pPr algn="l">
              <a:lnSpc>
                <a:spcPct val="114000"/>
              </a:lnSpc>
              <a:spcBef>
                <a:spcPts val="0"/>
              </a:spcBef>
              <a:spcAft>
                <a:spcPts val="600"/>
              </a:spcAft>
            </a:pPr>
            <a:r>
              <a:rPr sz="1100" b="1" i="0">
                <a:solidFill>
                  <a:srgbClr val="0E9384"/>
                </a:solidFill>
                <a:latin typeface="Segoe UI"/>
              </a:rPr>
              <a:t>-  </a:t>
            </a:r>
            <a:r>
              <a:rPr sz="1100" b="0" i="0">
                <a:solidFill>
                  <a:srgbClr val="334155"/>
                </a:solidFill>
                <a:latin typeface="Segoe UI"/>
              </a:rPr>
              <a:t>Synthetic 5G SBA traffic generator (5 agents, threats T1–T7)</a:t>
            </a:r>
          </a:p>
          <a:p>
            <a:pPr algn="l">
              <a:lnSpc>
                <a:spcPct val="114000"/>
              </a:lnSpc>
              <a:spcBef>
                <a:spcPts val="0"/>
              </a:spcBef>
              <a:spcAft>
                <a:spcPts val="600"/>
              </a:spcAft>
            </a:pPr>
            <a:r>
              <a:rPr sz="1100" b="1" i="0">
                <a:solidFill>
                  <a:srgbClr val="0E9384"/>
                </a:solidFill>
                <a:latin typeface="Segoe UI"/>
              </a:rPr>
              <a:t>-  </a:t>
            </a:r>
            <a:r>
              <a:rPr sz="1100" b="0" i="0">
                <a:solidFill>
                  <a:srgbClr val="334155"/>
                </a:solidFill>
                <a:latin typeface="Segoe UI"/>
              </a:rPr>
              <a:t>208k labelled requests over the Service-Based Interface</a:t>
            </a:r>
          </a:p>
          <a:p>
            <a:pPr algn="l">
              <a:lnSpc>
                <a:spcPct val="114000"/>
              </a:lnSpc>
              <a:spcBef>
                <a:spcPts val="0"/>
              </a:spcBef>
              <a:spcAft>
                <a:spcPts val="600"/>
              </a:spcAft>
            </a:pPr>
            <a:r>
              <a:rPr sz="1100" b="1" i="0">
                <a:solidFill>
                  <a:srgbClr val="0E9384"/>
                </a:solidFill>
                <a:latin typeface="Segoe UI"/>
              </a:rPr>
              <a:t>-  </a:t>
            </a:r>
            <a:r>
              <a:rPr sz="1100" b="0" i="0">
                <a:solidFill>
                  <a:srgbClr val="334155"/>
                </a:solidFill>
                <a:latin typeface="Segoe UI"/>
              </a:rPr>
              <a:t>Real M2M / API-gateway logs pluggable if offered</a:t>
            </a:r>
          </a:p>
        </p:txBody>
      </p:sp>
      <p:sp>
        <p:nvSpPr>
          <p:cNvPr id="10" name="Rounded Rectangle 9"/>
          <p:cNvSpPr/>
          <p:nvPr/>
        </p:nvSpPr>
        <p:spPr>
          <a:xfrm>
            <a:off x="4370832" y="1783080"/>
            <a:ext cx="3602736" cy="2926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70832" y="1783080"/>
            <a:ext cx="3602736" cy="82296"/>
          </a:xfrm>
          <a:prstGeom prst="roundRect">
            <a:avLst>
              <a:gd name="adj" fmla="val 50000"/>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26864" y="2011680"/>
            <a:ext cx="3108960" cy="320040"/>
          </a:xfrm>
          <a:prstGeom prst="rect">
            <a:avLst/>
          </a:prstGeom>
          <a:noFill/>
        </p:spPr>
        <p:txBody>
          <a:bodyPr wrap="square" lIns="0" tIns="0" rIns="0" bIns="0" anchor="t">
            <a:spAutoFit/>
          </a:bodyPr>
          <a:lstStyle/>
          <a:p>
            <a:pPr algn="l">
              <a:lnSpc>
                <a:spcPct val="100000"/>
              </a:lnSpc>
              <a:spcBef>
                <a:spcPts val="0"/>
              </a:spcBef>
              <a:spcAft>
                <a:spcPts val="200"/>
              </a:spcAft>
            </a:pPr>
            <a:r>
              <a:rPr sz="1400" b="1" i="0">
                <a:solidFill>
                  <a:srgbClr val="3639CD"/>
                </a:solidFill>
                <a:latin typeface="Segoe UI"/>
              </a:rPr>
              <a:t>DETECTION</a:t>
            </a:r>
          </a:p>
        </p:txBody>
      </p:sp>
      <p:sp>
        <p:nvSpPr>
          <p:cNvPr id="13" name="TextBox 12"/>
          <p:cNvSpPr txBox="1"/>
          <p:nvPr/>
        </p:nvSpPr>
        <p:spPr>
          <a:xfrm>
            <a:off x="4645152" y="2450592"/>
            <a:ext cx="3108960" cy="2103120"/>
          </a:xfrm>
          <a:prstGeom prst="rect">
            <a:avLst/>
          </a:prstGeom>
          <a:noFill/>
        </p:spPr>
        <p:txBody>
          <a:bodyPr wrap="square" lIns="0" tIns="0" rIns="0" bIns="0" anchor="t">
            <a:spAutoFit/>
          </a:bodyPr>
          <a:lstStyle/>
          <a:p>
            <a:pPr algn="l">
              <a:lnSpc>
                <a:spcPct val="114000"/>
              </a:lnSpc>
              <a:spcBef>
                <a:spcPts val="0"/>
              </a:spcBef>
              <a:spcAft>
                <a:spcPts val="600"/>
              </a:spcAft>
            </a:pPr>
            <a:r>
              <a:rPr sz="1100" b="1" i="0">
                <a:solidFill>
                  <a:srgbClr val="3639CD"/>
                </a:solidFill>
                <a:latin typeface="Segoe UI"/>
              </a:rPr>
              <a:t>-  </a:t>
            </a:r>
            <a:r>
              <a:rPr sz="1100" b="0" i="0">
                <a:solidFill>
                  <a:srgbClr val="334155"/>
                </a:solidFill>
                <a:latin typeface="Segoe UI"/>
              </a:rPr>
              <a:t>Isolation Forest (scikit-learn), trained on legit only</a:t>
            </a:r>
          </a:p>
          <a:p>
            <a:pPr algn="l">
              <a:lnSpc>
                <a:spcPct val="114000"/>
              </a:lnSpc>
              <a:spcBef>
                <a:spcPts val="0"/>
              </a:spcBef>
              <a:spcAft>
                <a:spcPts val="600"/>
              </a:spcAft>
            </a:pPr>
            <a:r>
              <a:rPr sz="1100" b="1" i="0">
                <a:solidFill>
                  <a:srgbClr val="3639CD"/>
                </a:solidFill>
                <a:latin typeface="Segoe UI"/>
              </a:rPr>
              <a:t>-  </a:t>
            </a:r>
            <a:r>
              <a:rPr sz="1100" b="0" i="0">
                <a:solidFill>
                  <a:srgbClr val="334155"/>
                </a:solidFill>
                <a:latin typeface="Segoe UI"/>
              </a:rPr>
              <a:t>Deterministic rules + session state machine</a:t>
            </a:r>
          </a:p>
          <a:p>
            <a:pPr algn="l">
              <a:lnSpc>
                <a:spcPct val="114000"/>
              </a:lnSpc>
              <a:spcBef>
                <a:spcPts val="0"/>
              </a:spcBef>
              <a:spcAft>
                <a:spcPts val="600"/>
              </a:spcAft>
            </a:pPr>
            <a:r>
              <a:rPr sz="1100" b="1" i="0">
                <a:solidFill>
                  <a:srgbClr val="3639CD"/>
                </a:solidFill>
                <a:latin typeface="Segoe UI"/>
              </a:rPr>
              <a:t>-  </a:t>
            </a:r>
            <a:r>
              <a:rPr sz="1100" b="0" i="0">
                <a:solidFill>
                  <a:srgbClr val="334155"/>
                </a:solidFill>
                <a:latin typeface="Segoe UI"/>
              </a:rPr>
              <a:t>Held-out calibration → honest operating point</a:t>
            </a:r>
          </a:p>
        </p:txBody>
      </p:sp>
      <p:sp>
        <p:nvSpPr>
          <p:cNvPr id="14" name="Rounded Rectangle 13"/>
          <p:cNvSpPr/>
          <p:nvPr/>
        </p:nvSpPr>
        <p:spPr>
          <a:xfrm>
            <a:off x="8174736" y="1783080"/>
            <a:ext cx="3602736" cy="2926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74736" y="1783080"/>
            <a:ext cx="3602736" cy="82296"/>
          </a:xfrm>
          <a:prstGeom prst="roundRect">
            <a:avLst>
              <a:gd name="adj" fmla="val 50000"/>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7" y="2011680"/>
            <a:ext cx="3108960" cy="320040"/>
          </a:xfrm>
          <a:prstGeom prst="rect">
            <a:avLst/>
          </a:prstGeom>
          <a:noFill/>
        </p:spPr>
        <p:txBody>
          <a:bodyPr wrap="square" lIns="0" tIns="0" rIns="0" bIns="0" anchor="t">
            <a:spAutoFit/>
          </a:bodyPr>
          <a:lstStyle/>
          <a:p>
            <a:pPr algn="l">
              <a:lnSpc>
                <a:spcPct val="100000"/>
              </a:lnSpc>
              <a:spcBef>
                <a:spcPts val="0"/>
              </a:spcBef>
              <a:spcAft>
                <a:spcPts val="200"/>
              </a:spcAft>
            </a:pPr>
            <a:r>
              <a:rPr sz="1400" b="1" i="0">
                <a:solidFill>
                  <a:srgbClr val="E0A100"/>
                </a:solidFill>
                <a:latin typeface="Segoe UI"/>
              </a:rPr>
              <a:t>GATE &amp; DEMO</a:t>
            </a:r>
          </a:p>
        </p:txBody>
      </p:sp>
      <p:sp>
        <p:nvSpPr>
          <p:cNvPr id="17" name="TextBox 16"/>
          <p:cNvSpPr txBox="1"/>
          <p:nvPr/>
        </p:nvSpPr>
        <p:spPr>
          <a:xfrm>
            <a:off x="8449056" y="2450592"/>
            <a:ext cx="3108960" cy="2103120"/>
          </a:xfrm>
          <a:prstGeom prst="rect">
            <a:avLst/>
          </a:prstGeom>
          <a:noFill/>
        </p:spPr>
        <p:txBody>
          <a:bodyPr wrap="square" lIns="0" tIns="0" rIns="0" bIns="0" anchor="t">
            <a:spAutoFit/>
          </a:bodyPr>
          <a:lstStyle/>
          <a:p>
            <a:pPr algn="l">
              <a:lnSpc>
                <a:spcPct val="114000"/>
              </a:lnSpc>
              <a:spcBef>
                <a:spcPts val="0"/>
              </a:spcBef>
              <a:spcAft>
                <a:spcPts val="600"/>
              </a:spcAft>
            </a:pPr>
            <a:r>
              <a:rPr sz="1100" b="1" i="0">
                <a:solidFill>
                  <a:srgbClr val="E0A100"/>
                </a:solidFill>
                <a:latin typeface="Segoe UI"/>
              </a:rPr>
              <a:t>-  </a:t>
            </a:r>
            <a:r>
              <a:rPr sz="1100" b="0" i="0">
                <a:solidFill>
                  <a:srgbClr val="334155"/>
                </a:solidFill>
                <a:latin typeface="Segoe UI"/>
              </a:rPr>
              <a:t>Streamlit zero-trust gate dashboard (PASS/STEP-UP/BLOCK)</a:t>
            </a:r>
          </a:p>
          <a:p>
            <a:pPr algn="l">
              <a:lnSpc>
                <a:spcPct val="114000"/>
              </a:lnSpc>
              <a:spcBef>
                <a:spcPts val="0"/>
              </a:spcBef>
              <a:spcAft>
                <a:spcPts val="600"/>
              </a:spcAft>
            </a:pPr>
            <a:r>
              <a:rPr sz="1100" b="1" i="0">
                <a:solidFill>
                  <a:srgbClr val="E0A100"/>
                </a:solidFill>
                <a:latin typeface="Segoe UI"/>
              </a:rPr>
              <a:t>-  </a:t>
            </a:r>
            <a:r>
              <a:rPr sz="1100" b="0" i="0">
                <a:solidFill>
                  <a:srgbClr val="334155"/>
                </a:solidFill>
                <a:latin typeface="Segoe UI"/>
              </a:rPr>
              <a:t>Per-agent risk, incident inspector, plain-language ‘why’</a:t>
            </a:r>
          </a:p>
          <a:p>
            <a:pPr algn="l">
              <a:lnSpc>
                <a:spcPct val="114000"/>
              </a:lnSpc>
              <a:spcBef>
                <a:spcPts val="0"/>
              </a:spcBef>
              <a:spcAft>
                <a:spcPts val="600"/>
              </a:spcAft>
            </a:pPr>
            <a:r>
              <a:rPr sz="1100" b="1" i="0">
                <a:solidFill>
                  <a:srgbClr val="E0A100"/>
                </a:solidFill>
                <a:latin typeface="Segoe UI"/>
              </a:rPr>
              <a:t>-  </a:t>
            </a:r>
            <a:r>
              <a:rPr sz="1100" b="0" i="0">
                <a:solidFill>
                  <a:srgbClr val="334155"/>
                </a:solidFill>
                <a:latin typeface="Segoe UI"/>
              </a:rPr>
              <a:t>Production vision: inline policy check at FASTedge</a:t>
            </a:r>
          </a:p>
        </p:txBody>
      </p:sp>
      <p:sp>
        <p:nvSpPr>
          <p:cNvPr id="18" name="Rounded Rectangle 17"/>
          <p:cNvSpPr/>
          <p:nvPr/>
        </p:nvSpPr>
        <p:spPr>
          <a:xfrm>
            <a:off x="566928" y="4983480"/>
            <a:ext cx="11073384" cy="960120"/>
          </a:xfrm>
          <a:prstGeom prst="roundRect">
            <a:avLst>
              <a:gd name="adj" fmla="val 6000"/>
            </a:avLst>
          </a:prstGeom>
          <a:solidFill>
            <a:srgbClr val="EF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5138928"/>
            <a:ext cx="10607040" cy="32004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STANDARDS &amp; FRAMEWORKS</a:t>
            </a:r>
          </a:p>
        </p:txBody>
      </p:sp>
      <p:sp>
        <p:nvSpPr>
          <p:cNvPr id="20" name="TextBox 19"/>
          <p:cNvSpPr txBox="1"/>
          <p:nvPr/>
        </p:nvSpPr>
        <p:spPr>
          <a:xfrm>
            <a:off x="822960" y="5449824"/>
            <a:ext cx="10607040" cy="365760"/>
          </a:xfrm>
          <a:prstGeom prst="rect">
            <a:avLst/>
          </a:prstGeom>
          <a:noFill/>
        </p:spPr>
        <p:txBody>
          <a:bodyPr wrap="square" lIns="0" tIns="0" rIns="0" bIns="0" anchor="t">
            <a:spAutoFit/>
          </a:bodyPr>
          <a:lstStyle/>
          <a:p>
            <a:pPr algn="l">
              <a:lnSpc>
                <a:spcPct val="100000"/>
              </a:lnSpc>
              <a:spcBef>
                <a:spcPts val="0"/>
              </a:spcBef>
              <a:spcAft>
                <a:spcPts val="200"/>
              </a:spcAft>
            </a:pPr>
            <a:r>
              <a:rPr sz="1200" b="0" i="0">
                <a:solidFill>
                  <a:srgbClr val="334155"/>
                </a:solidFill>
                <a:latin typeface="Segoe UI"/>
              </a:rPr>
              <a:t>NIST SP 800-207 Zero-Trust  ·  3GPP Service-Based Architecture (SBI)  ·  TM Forum closed-loop / OODA  ·  aligns to NIS2 · GDPR · EU AI Act auditability</a:t>
            </a:r>
          </a:p>
        </p:txBody>
      </p:sp>
      <p:sp>
        <p:nvSpPr>
          <p:cNvPr id="21" name="TextBox 20"/>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22" name="TextBox 21"/>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PROOF IT WORKS · WORKING PoC</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Results on synthetic 5G SBA traffic</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A working prototype already at proposal stage - validated on 11,343 held-out request windows.</a:t>
            </a:r>
          </a:p>
        </p:txBody>
      </p:sp>
      <p:sp>
        <p:nvSpPr>
          <p:cNvPr id="6" name="Rounded Rectangle 5"/>
          <p:cNvSpPr/>
          <p:nvPr/>
        </p:nvSpPr>
        <p:spPr>
          <a:xfrm>
            <a:off x="566928" y="1691640"/>
            <a:ext cx="1847088" cy="914400"/>
          </a:xfrm>
          <a:prstGeom prst="roundRect">
            <a:avLst>
              <a:gd name="adj" fmla="val 10000"/>
            </a:avLst>
          </a:prstGeom>
          <a:solidFill>
            <a:srgbClr val="E7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810512"/>
            <a:ext cx="1847088" cy="457200"/>
          </a:xfrm>
          <a:prstGeom prst="rect">
            <a:avLst/>
          </a:prstGeom>
          <a:noFill/>
        </p:spPr>
        <p:txBody>
          <a:bodyPr wrap="square" lIns="0" tIns="0" rIns="0" bIns="0" anchor="t">
            <a:spAutoFit/>
          </a:bodyPr>
          <a:lstStyle/>
          <a:p>
            <a:pPr algn="ctr">
              <a:lnSpc>
                <a:spcPct val="100000"/>
              </a:lnSpc>
              <a:spcBef>
                <a:spcPts val="0"/>
              </a:spcBef>
              <a:spcAft>
                <a:spcPts val="200"/>
              </a:spcAft>
            </a:pPr>
            <a:r>
              <a:rPr sz="2400" b="1" i="0">
                <a:solidFill>
                  <a:srgbClr val="0E9384"/>
                </a:solidFill>
                <a:latin typeface="Segoe UI"/>
              </a:rPr>
              <a:t>0.99</a:t>
            </a:r>
          </a:p>
        </p:txBody>
      </p:sp>
      <p:sp>
        <p:nvSpPr>
          <p:cNvPr id="8" name="TextBox 7"/>
          <p:cNvSpPr txBox="1"/>
          <p:nvPr/>
        </p:nvSpPr>
        <p:spPr>
          <a:xfrm>
            <a:off x="566928" y="2304288"/>
            <a:ext cx="1847088" cy="256032"/>
          </a:xfrm>
          <a:prstGeom prst="rect">
            <a:avLst/>
          </a:prstGeom>
          <a:noFill/>
        </p:spPr>
        <p:txBody>
          <a:bodyPr wrap="square" lIns="0" tIns="0" rIns="0" bIns="0" anchor="t">
            <a:spAutoFit/>
          </a:bodyPr>
          <a:lstStyle/>
          <a:p>
            <a:pPr algn="ctr">
              <a:lnSpc>
                <a:spcPct val="100000"/>
              </a:lnSpc>
              <a:spcBef>
                <a:spcPts val="0"/>
              </a:spcBef>
              <a:spcAft>
                <a:spcPts val="200"/>
              </a:spcAft>
            </a:pPr>
            <a:r>
              <a:rPr sz="950" b="1" i="0">
                <a:solidFill>
                  <a:srgbClr val="6B7688"/>
                </a:solidFill>
                <a:latin typeface="Segoe UI"/>
              </a:rPr>
              <a:t>ROC-AUC</a:t>
            </a:r>
          </a:p>
        </p:txBody>
      </p:sp>
      <p:sp>
        <p:nvSpPr>
          <p:cNvPr id="9" name="Rounded Rectangle 8"/>
          <p:cNvSpPr/>
          <p:nvPr/>
        </p:nvSpPr>
        <p:spPr>
          <a:xfrm>
            <a:off x="2560320" y="1691640"/>
            <a:ext cx="1847088" cy="914400"/>
          </a:xfrm>
          <a:prstGeom prst="roundRect">
            <a:avLst>
              <a:gd name="adj" fmla="val 10000"/>
            </a:avLst>
          </a:prstGeom>
          <a:solidFill>
            <a:srgbClr val="E7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0" y="1810512"/>
            <a:ext cx="1847088" cy="457200"/>
          </a:xfrm>
          <a:prstGeom prst="rect">
            <a:avLst/>
          </a:prstGeom>
          <a:noFill/>
        </p:spPr>
        <p:txBody>
          <a:bodyPr wrap="square" lIns="0" tIns="0" rIns="0" bIns="0" anchor="t">
            <a:spAutoFit/>
          </a:bodyPr>
          <a:lstStyle/>
          <a:p>
            <a:pPr algn="ctr">
              <a:lnSpc>
                <a:spcPct val="100000"/>
              </a:lnSpc>
              <a:spcBef>
                <a:spcPts val="0"/>
              </a:spcBef>
              <a:spcAft>
                <a:spcPts val="200"/>
              </a:spcAft>
            </a:pPr>
            <a:r>
              <a:rPr sz="2400" b="1" i="0">
                <a:solidFill>
                  <a:srgbClr val="0E9384"/>
                </a:solidFill>
                <a:latin typeface="Segoe UI"/>
              </a:rPr>
              <a:t>98%</a:t>
            </a:r>
          </a:p>
        </p:txBody>
      </p:sp>
      <p:sp>
        <p:nvSpPr>
          <p:cNvPr id="11" name="TextBox 10"/>
          <p:cNvSpPr txBox="1"/>
          <p:nvPr/>
        </p:nvSpPr>
        <p:spPr>
          <a:xfrm>
            <a:off x="2560320" y="2304288"/>
            <a:ext cx="1847088" cy="256032"/>
          </a:xfrm>
          <a:prstGeom prst="rect">
            <a:avLst/>
          </a:prstGeom>
          <a:noFill/>
        </p:spPr>
        <p:txBody>
          <a:bodyPr wrap="square" lIns="0" tIns="0" rIns="0" bIns="0" anchor="t">
            <a:spAutoFit/>
          </a:bodyPr>
          <a:lstStyle/>
          <a:p>
            <a:pPr algn="ctr">
              <a:lnSpc>
                <a:spcPct val="100000"/>
              </a:lnSpc>
              <a:spcBef>
                <a:spcPts val="0"/>
              </a:spcBef>
              <a:spcAft>
                <a:spcPts val="200"/>
              </a:spcAft>
            </a:pPr>
            <a:r>
              <a:rPr sz="950" b="1" i="0">
                <a:solidFill>
                  <a:srgbClr val="6B7688"/>
                </a:solidFill>
                <a:latin typeface="Segoe UI"/>
              </a:rPr>
              <a:t>RECALL</a:t>
            </a:r>
          </a:p>
        </p:txBody>
      </p:sp>
      <p:sp>
        <p:nvSpPr>
          <p:cNvPr id="12" name="Rounded Rectangle 11"/>
          <p:cNvSpPr/>
          <p:nvPr/>
        </p:nvSpPr>
        <p:spPr>
          <a:xfrm>
            <a:off x="4553712" y="1691640"/>
            <a:ext cx="1847088" cy="914400"/>
          </a:xfrm>
          <a:prstGeom prst="roundRect">
            <a:avLst>
              <a:gd name="adj" fmla="val 10000"/>
            </a:avLst>
          </a:prstGeom>
          <a:solidFill>
            <a:srgbClr val="E7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810512"/>
            <a:ext cx="1847088" cy="457200"/>
          </a:xfrm>
          <a:prstGeom prst="rect">
            <a:avLst/>
          </a:prstGeom>
          <a:noFill/>
        </p:spPr>
        <p:txBody>
          <a:bodyPr wrap="square" lIns="0" tIns="0" rIns="0" bIns="0" anchor="t">
            <a:spAutoFit/>
          </a:bodyPr>
          <a:lstStyle/>
          <a:p>
            <a:pPr algn="ctr">
              <a:lnSpc>
                <a:spcPct val="100000"/>
              </a:lnSpc>
              <a:spcBef>
                <a:spcPts val="0"/>
              </a:spcBef>
              <a:spcAft>
                <a:spcPts val="200"/>
              </a:spcAft>
            </a:pPr>
            <a:r>
              <a:rPr sz="2400" b="1" i="0">
                <a:solidFill>
                  <a:srgbClr val="0E9384"/>
                </a:solidFill>
                <a:latin typeface="Segoe UI"/>
              </a:rPr>
              <a:t>0.8%</a:t>
            </a:r>
          </a:p>
        </p:txBody>
      </p:sp>
      <p:sp>
        <p:nvSpPr>
          <p:cNvPr id="14" name="TextBox 13"/>
          <p:cNvSpPr txBox="1"/>
          <p:nvPr/>
        </p:nvSpPr>
        <p:spPr>
          <a:xfrm>
            <a:off x="4553712" y="2304288"/>
            <a:ext cx="1847088" cy="256032"/>
          </a:xfrm>
          <a:prstGeom prst="rect">
            <a:avLst/>
          </a:prstGeom>
          <a:noFill/>
        </p:spPr>
        <p:txBody>
          <a:bodyPr wrap="square" lIns="0" tIns="0" rIns="0" bIns="0" anchor="t">
            <a:spAutoFit/>
          </a:bodyPr>
          <a:lstStyle/>
          <a:p>
            <a:pPr algn="ctr">
              <a:lnSpc>
                <a:spcPct val="100000"/>
              </a:lnSpc>
              <a:spcBef>
                <a:spcPts val="0"/>
              </a:spcBef>
              <a:spcAft>
                <a:spcPts val="200"/>
              </a:spcAft>
            </a:pPr>
            <a:r>
              <a:rPr sz="950" b="1" i="0">
                <a:solidFill>
                  <a:srgbClr val="6B7688"/>
                </a:solidFill>
                <a:latin typeface="Segoe UI"/>
              </a:rPr>
              <a:t>FALSE POSITIVES</a:t>
            </a:r>
          </a:p>
        </p:txBody>
      </p:sp>
      <p:sp>
        <p:nvSpPr>
          <p:cNvPr id="15" name="Rounded Rectangle 14"/>
          <p:cNvSpPr/>
          <p:nvPr/>
        </p:nvSpPr>
        <p:spPr>
          <a:xfrm>
            <a:off x="6547104" y="1691640"/>
            <a:ext cx="1847088" cy="914400"/>
          </a:xfrm>
          <a:prstGeom prst="roundRect">
            <a:avLst>
              <a:gd name="adj" fmla="val 10000"/>
            </a:avLst>
          </a:prstGeom>
          <a:solidFill>
            <a:srgbClr val="EB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47104" y="1810512"/>
            <a:ext cx="1847088" cy="457200"/>
          </a:xfrm>
          <a:prstGeom prst="rect">
            <a:avLst/>
          </a:prstGeom>
          <a:noFill/>
        </p:spPr>
        <p:txBody>
          <a:bodyPr wrap="square" lIns="0" tIns="0" rIns="0" bIns="0" anchor="t">
            <a:spAutoFit/>
          </a:bodyPr>
          <a:lstStyle/>
          <a:p>
            <a:pPr algn="ctr">
              <a:lnSpc>
                <a:spcPct val="100000"/>
              </a:lnSpc>
              <a:spcBef>
                <a:spcPts val="0"/>
              </a:spcBef>
              <a:spcAft>
                <a:spcPts val="200"/>
              </a:spcAft>
            </a:pPr>
            <a:r>
              <a:rPr sz="2400" b="1" i="0">
                <a:solidFill>
                  <a:srgbClr val="3639CD"/>
                </a:solidFill>
                <a:latin typeface="Segoe UI"/>
              </a:rPr>
              <a:t>7 / 7</a:t>
            </a:r>
          </a:p>
        </p:txBody>
      </p:sp>
      <p:sp>
        <p:nvSpPr>
          <p:cNvPr id="17" name="TextBox 16"/>
          <p:cNvSpPr txBox="1"/>
          <p:nvPr/>
        </p:nvSpPr>
        <p:spPr>
          <a:xfrm>
            <a:off x="6547104" y="2304288"/>
            <a:ext cx="1847088" cy="256032"/>
          </a:xfrm>
          <a:prstGeom prst="rect">
            <a:avLst/>
          </a:prstGeom>
          <a:noFill/>
        </p:spPr>
        <p:txBody>
          <a:bodyPr wrap="square" lIns="0" tIns="0" rIns="0" bIns="0" anchor="t">
            <a:spAutoFit/>
          </a:bodyPr>
          <a:lstStyle/>
          <a:p>
            <a:pPr algn="ctr">
              <a:lnSpc>
                <a:spcPct val="100000"/>
              </a:lnSpc>
              <a:spcBef>
                <a:spcPts val="0"/>
              </a:spcBef>
              <a:spcAft>
                <a:spcPts val="200"/>
              </a:spcAft>
            </a:pPr>
            <a:r>
              <a:rPr sz="950" b="1" i="0">
                <a:solidFill>
                  <a:srgbClr val="6B7688"/>
                </a:solidFill>
                <a:latin typeface="Segoe UI"/>
              </a:rPr>
              <a:t>THREATS COVERED</a:t>
            </a:r>
          </a:p>
        </p:txBody>
      </p:sp>
      <p:pic>
        <p:nvPicPr>
          <p:cNvPr id="18" name="Picture 17" descr="aegis_eval.png"/>
          <p:cNvPicPr>
            <a:picLocks noChangeAspect="1"/>
          </p:cNvPicPr>
          <p:nvPr/>
        </p:nvPicPr>
        <p:blipFill>
          <a:blip r:embed="rId3"/>
          <a:stretch>
            <a:fillRect/>
          </a:stretch>
        </p:blipFill>
        <p:spPr>
          <a:xfrm>
            <a:off x="566928" y="2788920"/>
            <a:ext cx="8595360" cy="3281865"/>
          </a:xfrm>
          <a:prstGeom prst="rect">
            <a:avLst/>
          </a:prstGeom>
        </p:spPr>
      </p:pic>
      <p:sp>
        <p:nvSpPr>
          <p:cNvPr id="19" name="TextBox 18"/>
          <p:cNvSpPr txBox="1"/>
          <p:nvPr/>
        </p:nvSpPr>
        <p:spPr>
          <a:xfrm>
            <a:off x="9372600" y="2880360"/>
            <a:ext cx="2468880" cy="3291840"/>
          </a:xfrm>
          <a:prstGeom prst="rect">
            <a:avLst/>
          </a:prstGeom>
          <a:noFill/>
        </p:spPr>
        <p:txBody>
          <a:bodyPr wrap="square" lIns="0" tIns="0" rIns="0" bIns="0" anchor="t">
            <a:spAutoFit/>
          </a:bodyPr>
          <a:lstStyle/>
          <a:p>
            <a:pPr algn="l">
              <a:lnSpc>
                <a:spcPct val="114000"/>
              </a:lnSpc>
              <a:spcBef>
                <a:spcPts val="0"/>
              </a:spcBef>
              <a:spcAft>
                <a:spcPts val="400"/>
              </a:spcAft>
            </a:pPr>
            <a:r>
              <a:rPr sz="1250" b="1" i="0">
                <a:solidFill>
                  <a:srgbClr val="0F172A"/>
                </a:solidFill>
                <a:latin typeface="Segoe UI"/>
              </a:rPr>
              <a:t>Reading it</a:t>
            </a:r>
          </a:p>
          <a:p>
            <a:pPr algn="l">
              <a:lnSpc>
                <a:spcPct val="114000"/>
              </a:lnSpc>
              <a:spcBef>
                <a:spcPts val="0"/>
              </a:spcBef>
              <a:spcAft>
                <a:spcPts val="400"/>
              </a:spcAft>
            </a:pPr>
            <a:r>
              <a:rPr sz="1050" b="0" i="0">
                <a:solidFill>
                  <a:srgbClr val="334155"/>
                </a:solidFill>
                <a:latin typeface="Segoe UI"/>
              </a:rPr>
              <a:t>Left: legit traffic sits near risk 0; attacks separate cleanly above the STEP-UP/BLOCK lines.</a:t>
            </a:r>
          </a:p>
          <a:p>
            <a:pPr algn="l">
              <a:lnSpc>
                <a:spcPct val="114000"/>
              </a:lnSpc>
              <a:spcBef>
                <a:spcPts val="0"/>
              </a:spcBef>
              <a:spcAft>
                <a:spcPts val="400"/>
              </a:spcAft>
            </a:pPr>
            <a:endParaRPr sz="1050" b="0" i="0">
              <a:solidFill>
                <a:srgbClr val="334155"/>
              </a:solidFill>
              <a:latin typeface="Segoe UI"/>
            </a:endParaRPr>
          </a:p>
          <a:p>
            <a:pPr algn="l">
              <a:lnSpc>
                <a:spcPct val="114000"/>
              </a:lnSpc>
              <a:spcBef>
                <a:spcPts val="0"/>
              </a:spcBef>
              <a:spcAft>
                <a:spcPts val="400"/>
              </a:spcAft>
            </a:pPr>
            <a:r>
              <a:rPr sz="1050" b="0" i="0">
                <a:solidFill>
                  <a:srgbClr val="334155"/>
                </a:solidFill>
                <a:latin typeface="Segoe UI"/>
              </a:rPr>
              <a:t>Right: every threat T1–T7 detected (recon 89%, the rest ~100%).</a:t>
            </a:r>
          </a:p>
          <a:p>
            <a:pPr algn="l">
              <a:lnSpc>
                <a:spcPct val="114000"/>
              </a:lnSpc>
              <a:spcBef>
                <a:spcPts val="0"/>
              </a:spcBef>
              <a:spcAft>
                <a:spcPts val="400"/>
              </a:spcAft>
            </a:pPr>
            <a:endParaRPr sz="1050" b="0" i="0">
              <a:solidFill>
                <a:srgbClr val="334155"/>
              </a:solidFill>
              <a:latin typeface="Segoe UI"/>
            </a:endParaRPr>
          </a:p>
          <a:p>
            <a:pPr algn="l">
              <a:lnSpc>
                <a:spcPct val="114000"/>
              </a:lnSpc>
              <a:spcBef>
                <a:spcPts val="0"/>
              </a:spcBef>
              <a:spcAft>
                <a:spcPts val="400"/>
              </a:spcAft>
            </a:pPr>
            <a:r>
              <a:rPr sz="1050" b="0" i="1">
                <a:solidFill>
                  <a:srgbClr val="6B7688"/>
                </a:solidFill>
                <a:latin typeface="Segoe UI"/>
              </a:rPr>
              <a:t>STEP-UP is a soft challenge; only ~0.8% of legit traffic is ever flagged.</a:t>
            </a:r>
          </a:p>
        </p:txBody>
      </p:sp>
      <p:sp>
        <p:nvSpPr>
          <p:cNvPr id="20" name="TextBox 19"/>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21" name="TextBox 20"/>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PROJECT SCHEDULE</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From proposal to a working PoC by 15 October</a:t>
            </a:r>
          </a:p>
        </p:txBody>
      </p:sp>
      <p:pic>
        <p:nvPicPr>
          <p:cNvPr id="5" name="Picture 4" descr="aegis_gantt.png"/>
          <p:cNvPicPr>
            <a:picLocks noChangeAspect="1"/>
          </p:cNvPicPr>
          <p:nvPr/>
        </p:nvPicPr>
        <p:blipFill>
          <a:blip r:embed="rId3"/>
          <a:stretch>
            <a:fillRect/>
          </a:stretch>
        </p:blipFill>
        <p:spPr>
          <a:xfrm>
            <a:off x="566928" y="1463040"/>
            <a:ext cx="11064240" cy="4840605"/>
          </a:xfrm>
          <a:prstGeom prst="rect">
            <a:avLst/>
          </a:prstGeom>
        </p:spPr>
      </p:pic>
      <p:sp>
        <p:nvSpPr>
          <p:cNvPr id="6" name="TextBox 5"/>
          <p:cNvSpPr txBox="1"/>
          <p:nvPr/>
        </p:nvSpPr>
        <p:spPr>
          <a:xfrm>
            <a:off x="566928" y="6172200"/>
            <a:ext cx="11064240" cy="274320"/>
          </a:xfrm>
          <a:prstGeom prst="rect">
            <a:avLst/>
          </a:prstGeom>
          <a:noFill/>
        </p:spPr>
        <p:txBody>
          <a:bodyPr wrap="square" lIns="0" tIns="0" rIns="0" bIns="0" anchor="t">
            <a:spAutoFit/>
          </a:bodyPr>
          <a:lstStyle/>
          <a:p>
            <a:pPr algn="l">
              <a:lnSpc>
                <a:spcPct val="100000"/>
              </a:lnSpc>
              <a:spcBef>
                <a:spcPts val="0"/>
              </a:spcBef>
              <a:spcAft>
                <a:spcPts val="200"/>
              </a:spcAft>
            </a:pPr>
            <a:r>
              <a:rPr sz="1050" b="1" i="0">
                <a:solidFill>
                  <a:srgbClr val="0E9384"/>
                </a:solidFill>
                <a:latin typeface="Segoe UI"/>
              </a:rPr>
              <a:t>Green = already done. </a:t>
            </a:r>
            <a:r>
              <a:rPr sz="1050" b="0" i="1">
                <a:solidFill>
                  <a:srgbClr val="6B7688"/>
                </a:solidFill>
                <a:latin typeface="Segoe UI"/>
              </a:rPr>
              <a:t>Data foundation, synthetic generator and the baseline detector are complete; the path to Gate 2/3 is hardening, dashboard and evaluation.</a:t>
            </a:r>
          </a:p>
        </p:txBody>
      </p:sp>
      <p:sp>
        <p:nvSpPr>
          <p:cNvPr id="7" name="TextBox 6"/>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8" name="TextBox 7"/>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BUSINESS CASE &amp; FEASIBILITY</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Why it matters - and why it’s deliverable</a:t>
            </a:r>
          </a:p>
        </p:txBody>
      </p:sp>
      <p:sp>
        <p:nvSpPr>
          <p:cNvPr id="5" name="TextBox 4"/>
          <p:cNvSpPr txBox="1"/>
          <p:nvPr/>
        </p:nvSpPr>
        <p:spPr>
          <a:xfrm>
            <a:off x="566928" y="1188720"/>
            <a:ext cx="110642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0" i="1">
                <a:solidFill>
                  <a:srgbClr val="6B7688"/>
                </a:solidFill>
                <a:latin typeface="Segoe UI Light"/>
              </a:rPr>
              <a:t>Illustrative value model, to be validated with Fastweb + Vodafone.</a:t>
            </a:r>
          </a:p>
        </p:txBody>
      </p:sp>
      <p:sp>
        <p:nvSpPr>
          <p:cNvPr id="6" name="Rounded Rectangle 5"/>
          <p:cNvSpPr/>
          <p:nvPr/>
        </p:nvSpPr>
        <p:spPr>
          <a:xfrm>
            <a:off x="566928" y="1783080"/>
            <a:ext cx="5532120"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73152" cy="13716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947672"/>
            <a:ext cx="5120640"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3639CD"/>
                </a:solidFill>
                <a:latin typeface="Segoe UI"/>
              </a:rPr>
              <a:t>Risk avoided</a:t>
            </a:r>
          </a:p>
        </p:txBody>
      </p:sp>
      <p:sp>
        <p:nvSpPr>
          <p:cNvPr id="9" name="TextBox 8"/>
          <p:cNvSpPr txBox="1"/>
          <p:nvPr/>
        </p:nvSpPr>
        <p:spPr>
          <a:xfrm>
            <a:off x="841247" y="2313432"/>
            <a:ext cx="5120640" cy="731520"/>
          </a:xfrm>
          <a:prstGeom prst="rect">
            <a:avLst/>
          </a:prstGeom>
          <a:noFill/>
        </p:spPr>
        <p:txBody>
          <a:bodyPr wrap="square" lIns="0" tIns="0" rIns="0" bIns="0" anchor="t">
            <a:spAutoFit/>
          </a:bodyPr>
          <a:lstStyle/>
          <a:p>
            <a:pPr algn="l">
              <a:lnSpc>
                <a:spcPct val="112000"/>
              </a:lnSpc>
              <a:spcBef>
                <a:spcPts val="0"/>
              </a:spcBef>
              <a:spcAft>
                <a:spcPts val="200"/>
              </a:spcAft>
            </a:pPr>
            <a:r>
              <a:rPr sz="1100" b="0" i="0">
                <a:solidFill>
                  <a:srgbClr val="334155"/>
                </a:solidFill>
                <a:latin typeface="Segoe UI"/>
              </a:rPr>
              <a:t>Detects a compromised / spoofed automation before it acts on the control plane - cutting mean-time-to-detect from hours to seconds and containing blast-radius.</a:t>
            </a:r>
          </a:p>
        </p:txBody>
      </p:sp>
      <p:sp>
        <p:nvSpPr>
          <p:cNvPr id="10" name="Rounded Rectangle 9"/>
          <p:cNvSpPr/>
          <p:nvPr/>
        </p:nvSpPr>
        <p:spPr>
          <a:xfrm>
            <a:off x="6300216" y="1783080"/>
            <a:ext cx="5532120"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0216" y="1783080"/>
            <a:ext cx="73152" cy="13716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74536" y="1947672"/>
            <a:ext cx="5120640"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3639CD"/>
                </a:solidFill>
                <a:latin typeface="Segoe UI"/>
              </a:rPr>
              <a:t>Enables safe automation</a:t>
            </a:r>
          </a:p>
        </p:txBody>
      </p:sp>
      <p:sp>
        <p:nvSpPr>
          <p:cNvPr id="13" name="TextBox 12"/>
          <p:cNvSpPr txBox="1"/>
          <p:nvPr/>
        </p:nvSpPr>
        <p:spPr>
          <a:xfrm>
            <a:off x="6574536" y="2313432"/>
            <a:ext cx="5120640" cy="731520"/>
          </a:xfrm>
          <a:prstGeom prst="rect">
            <a:avLst/>
          </a:prstGeom>
          <a:noFill/>
        </p:spPr>
        <p:txBody>
          <a:bodyPr wrap="square" lIns="0" tIns="0" rIns="0" bIns="0" anchor="t">
            <a:spAutoFit/>
          </a:bodyPr>
          <a:lstStyle/>
          <a:p>
            <a:pPr algn="l">
              <a:lnSpc>
                <a:spcPct val="112000"/>
              </a:lnSpc>
              <a:spcBef>
                <a:spcPts val="0"/>
              </a:spcBef>
              <a:spcAft>
                <a:spcPts val="200"/>
              </a:spcAft>
            </a:pPr>
            <a:r>
              <a:rPr sz="1100" b="0" i="0">
                <a:solidFill>
                  <a:srgbClr val="334155"/>
                </a:solidFill>
                <a:latin typeface="Segoe UI"/>
              </a:rPr>
              <a:t>Zero-trust on machine identities is the guardrail that lets the network move up the autonomy curve (closed-loop / self-healing) without new risk.</a:t>
            </a:r>
          </a:p>
        </p:txBody>
      </p:sp>
      <p:sp>
        <p:nvSpPr>
          <p:cNvPr id="14" name="Rounded Rectangle 13"/>
          <p:cNvSpPr/>
          <p:nvPr/>
        </p:nvSpPr>
        <p:spPr>
          <a:xfrm>
            <a:off x="566928" y="3319272"/>
            <a:ext cx="5532120"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3319272"/>
            <a:ext cx="73152" cy="13716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7" y="3483864"/>
            <a:ext cx="5120640"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3639CD"/>
                </a:solidFill>
                <a:latin typeface="Segoe UI"/>
              </a:rPr>
              <a:t>Compliance &amp; audit</a:t>
            </a:r>
          </a:p>
        </p:txBody>
      </p:sp>
      <p:sp>
        <p:nvSpPr>
          <p:cNvPr id="17" name="TextBox 16"/>
          <p:cNvSpPr txBox="1"/>
          <p:nvPr/>
        </p:nvSpPr>
        <p:spPr>
          <a:xfrm>
            <a:off x="841247" y="3849624"/>
            <a:ext cx="5120640" cy="731520"/>
          </a:xfrm>
          <a:prstGeom prst="rect">
            <a:avLst/>
          </a:prstGeom>
          <a:noFill/>
        </p:spPr>
        <p:txBody>
          <a:bodyPr wrap="square" lIns="0" tIns="0" rIns="0" bIns="0" anchor="t">
            <a:spAutoFit/>
          </a:bodyPr>
          <a:lstStyle/>
          <a:p>
            <a:pPr algn="l">
              <a:lnSpc>
                <a:spcPct val="112000"/>
              </a:lnSpc>
              <a:spcBef>
                <a:spcPts val="0"/>
              </a:spcBef>
              <a:spcAft>
                <a:spcPts val="200"/>
              </a:spcAft>
            </a:pPr>
            <a:r>
              <a:rPr sz="1100" b="0" i="0">
                <a:solidFill>
                  <a:srgbClr val="334155"/>
                </a:solidFill>
                <a:latin typeface="Segoe UI"/>
              </a:rPr>
              <a:t>Supports a NIS2 zero-trust posture; every decision is logged and explainable - direct evidence for GDPR / EU AI Act accountability.</a:t>
            </a:r>
          </a:p>
        </p:txBody>
      </p:sp>
      <p:sp>
        <p:nvSpPr>
          <p:cNvPr id="18" name="Rounded Rectangle 17"/>
          <p:cNvSpPr/>
          <p:nvPr/>
        </p:nvSpPr>
        <p:spPr>
          <a:xfrm>
            <a:off x="6300216" y="3319272"/>
            <a:ext cx="5532120"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0216" y="3319272"/>
            <a:ext cx="73152" cy="13716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74536" y="3483864"/>
            <a:ext cx="5120640" cy="320040"/>
          </a:xfrm>
          <a:prstGeom prst="rect">
            <a:avLst/>
          </a:prstGeom>
          <a:noFill/>
        </p:spPr>
        <p:txBody>
          <a:bodyPr wrap="square" lIns="0" tIns="0" rIns="0" bIns="0" anchor="t">
            <a:spAutoFit/>
          </a:bodyPr>
          <a:lstStyle/>
          <a:p>
            <a:pPr algn="l">
              <a:lnSpc>
                <a:spcPct val="100000"/>
              </a:lnSpc>
              <a:spcBef>
                <a:spcPts val="0"/>
              </a:spcBef>
              <a:spcAft>
                <a:spcPts val="200"/>
              </a:spcAft>
            </a:pPr>
            <a:r>
              <a:rPr sz="1350" b="1" i="0">
                <a:solidFill>
                  <a:srgbClr val="3639CD"/>
                </a:solidFill>
                <a:latin typeface="Segoe UI"/>
              </a:rPr>
              <a:t>Low OPEX</a:t>
            </a:r>
          </a:p>
        </p:txBody>
      </p:sp>
      <p:sp>
        <p:nvSpPr>
          <p:cNvPr id="21" name="TextBox 20"/>
          <p:cNvSpPr txBox="1"/>
          <p:nvPr/>
        </p:nvSpPr>
        <p:spPr>
          <a:xfrm>
            <a:off x="6574536" y="3849624"/>
            <a:ext cx="5120640" cy="731520"/>
          </a:xfrm>
          <a:prstGeom prst="rect">
            <a:avLst/>
          </a:prstGeom>
          <a:noFill/>
        </p:spPr>
        <p:txBody>
          <a:bodyPr wrap="square" lIns="0" tIns="0" rIns="0" bIns="0" anchor="t">
            <a:spAutoFit/>
          </a:bodyPr>
          <a:lstStyle/>
          <a:p>
            <a:pPr algn="l">
              <a:lnSpc>
                <a:spcPct val="112000"/>
              </a:lnSpc>
              <a:spcBef>
                <a:spcPts val="0"/>
              </a:spcBef>
              <a:spcAft>
                <a:spcPts val="200"/>
              </a:spcAft>
            </a:pPr>
            <a:r>
              <a:rPr sz="1100" b="0" i="0">
                <a:solidFill>
                  <a:srgbClr val="334155"/>
                </a:solidFill>
                <a:latin typeface="Segoe UI"/>
              </a:rPr>
              <a:t>Automates machine-identity monitoring that no SOC can do by hand at API scale.</a:t>
            </a:r>
          </a:p>
        </p:txBody>
      </p:sp>
      <p:sp>
        <p:nvSpPr>
          <p:cNvPr id="22" name="Rounded Rectangle 21"/>
          <p:cNvSpPr/>
          <p:nvPr/>
        </p:nvSpPr>
        <p:spPr>
          <a:xfrm>
            <a:off x="566928" y="5029200"/>
            <a:ext cx="11073384" cy="96012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5029200"/>
            <a:ext cx="82296" cy="960120"/>
          </a:xfrm>
          <a:prstGeom prst="rect">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5193792"/>
            <a:ext cx="1060704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6EBEB5"/>
                </a:solidFill>
                <a:latin typeface="Segoe UI"/>
              </a:rPr>
              <a:t>FEASIBILITY</a:t>
            </a:r>
          </a:p>
        </p:txBody>
      </p:sp>
      <p:sp>
        <p:nvSpPr>
          <p:cNvPr id="25" name="TextBox 24"/>
          <p:cNvSpPr txBox="1"/>
          <p:nvPr/>
        </p:nvSpPr>
        <p:spPr>
          <a:xfrm>
            <a:off x="841248" y="5477256"/>
            <a:ext cx="10607040" cy="457200"/>
          </a:xfrm>
          <a:prstGeom prst="rect">
            <a:avLst/>
          </a:prstGeom>
          <a:noFill/>
        </p:spPr>
        <p:txBody>
          <a:bodyPr wrap="square" lIns="0" tIns="0" rIns="0" bIns="0" anchor="t">
            <a:spAutoFit/>
          </a:bodyPr>
          <a:lstStyle/>
          <a:p>
            <a:pPr algn="l">
              <a:lnSpc>
                <a:spcPct val="108000"/>
              </a:lnSpc>
              <a:spcBef>
                <a:spcPts val="0"/>
              </a:spcBef>
              <a:spcAft>
                <a:spcPts val="200"/>
              </a:spcAft>
            </a:pPr>
            <a:r>
              <a:rPr sz="1250" b="0" i="0">
                <a:solidFill>
                  <a:srgbClr val="FFFFFF"/>
                </a:solidFill>
                <a:latin typeface="Segoe UI"/>
              </a:rPr>
              <a:t>Synthetic-first, so no data approvals block us - and the baseline already works (ROC-AUC 0.99). Real data upgrades it from credible to proven.</a:t>
            </a:r>
          </a:p>
        </p:txBody>
      </p:sp>
      <p:sp>
        <p:nvSpPr>
          <p:cNvPr id="26" name="TextBox 25"/>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27" name="TextBox 26"/>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65760"/>
            <a:ext cx="10972800" cy="274320"/>
          </a:xfrm>
          <a:prstGeom prst="rect">
            <a:avLst/>
          </a:prstGeom>
          <a:noFill/>
        </p:spPr>
        <p:txBody>
          <a:bodyPr wrap="square" lIns="0" tIns="0" rIns="0" bIns="0" anchor="t">
            <a:spAutoFit/>
          </a:bodyPr>
          <a:lstStyle/>
          <a:p>
            <a:pPr algn="l">
              <a:lnSpc>
                <a:spcPct val="100000"/>
              </a:lnSpc>
              <a:spcBef>
                <a:spcPts val="0"/>
              </a:spcBef>
              <a:spcAft>
                <a:spcPts val="200"/>
              </a:spcAft>
            </a:pPr>
            <a:r>
              <a:rPr sz="1100" b="1" i="0">
                <a:solidFill>
                  <a:srgbClr val="3639CD"/>
                </a:solidFill>
                <a:latin typeface="Segoe UI"/>
              </a:rPr>
              <a:t>ASKS &amp; NEXT STEPS</a:t>
            </a:r>
          </a:p>
        </p:txBody>
      </p:sp>
      <p:sp>
        <p:nvSpPr>
          <p:cNvPr id="4" name="TextBox 3"/>
          <p:cNvSpPr txBox="1"/>
          <p:nvPr/>
        </p:nvSpPr>
        <p:spPr>
          <a:xfrm>
            <a:off x="566928" y="658368"/>
            <a:ext cx="11064240" cy="548640"/>
          </a:xfrm>
          <a:prstGeom prst="rect">
            <a:avLst/>
          </a:prstGeom>
          <a:noFill/>
        </p:spPr>
        <p:txBody>
          <a:bodyPr wrap="square" lIns="0" tIns="0" rIns="0" bIns="0" anchor="t">
            <a:spAutoFit/>
          </a:bodyPr>
          <a:lstStyle/>
          <a:p>
            <a:pPr algn="l">
              <a:lnSpc>
                <a:spcPct val="100000"/>
              </a:lnSpc>
              <a:spcBef>
                <a:spcPts val="0"/>
              </a:spcBef>
              <a:spcAft>
                <a:spcPts val="200"/>
              </a:spcAft>
            </a:pPr>
            <a:r>
              <a:rPr sz="2600" b="1" i="0">
                <a:solidFill>
                  <a:srgbClr val="0F172A"/>
                </a:solidFill>
                <a:latin typeface="Segoe UI"/>
              </a:rPr>
              <a:t>What we need - and where we go next</a:t>
            </a:r>
          </a:p>
        </p:txBody>
      </p:sp>
      <p:sp>
        <p:nvSpPr>
          <p:cNvPr id="5" name="Rounded Rectangle 4"/>
          <p:cNvSpPr/>
          <p:nvPr/>
        </p:nvSpPr>
        <p:spPr>
          <a:xfrm>
            <a:off x="566928" y="1783080"/>
            <a:ext cx="5532120" cy="3840480"/>
          </a:xfrm>
          <a:prstGeom prst="roundRect">
            <a:avLst>
              <a:gd name="adj" fmla="val 5000"/>
            </a:avLst>
          </a:prstGeom>
          <a:solidFill>
            <a:srgbClr val="FD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783080"/>
            <a:ext cx="82296" cy="3840480"/>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2011680"/>
            <a:ext cx="512064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E0A100"/>
                </a:solidFill>
                <a:latin typeface="Segoe UI"/>
              </a:rPr>
              <a:t>STILL OPEN, FOLLOWING UP AFTER 2 SEP</a:t>
            </a:r>
          </a:p>
        </p:txBody>
      </p:sp>
      <p:sp>
        <p:nvSpPr>
          <p:cNvPr id="8" name="TextBox 7"/>
          <p:cNvSpPr txBox="1"/>
          <p:nvPr/>
        </p:nvSpPr>
        <p:spPr>
          <a:xfrm>
            <a:off x="859536" y="2468880"/>
            <a:ext cx="5029200" cy="3017520"/>
          </a:xfrm>
          <a:prstGeom prst="rect">
            <a:avLst/>
          </a:prstGeom>
          <a:noFill/>
        </p:spPr>
        <p:txBody>
          <a:bodyPr wrap="square" lIns="0" tIns="0" rIns="0" bIns="0" anchor="t">
            <a:spAutoFit/>
          </a:bodyPr>
          <a:lstStyle/>
          <a:p>
            <a:pPr algn="l">
              <a:lnSpc>
                <a:spcPct val="114000"/>
              </a:lnSpc>
              <a:spcBef>
                <a:spcPts val="0"/>
              </a:spcBef>
              <a:spcAft>
                <a:spcPts val="900"/>
              </a:spcAft>
            </a:pPr>
            <a:r>
              <a:rPr sz="1150" b="1" i="0">
                <a:solidFill>
                  <a:srgbClr val="E0A100"/>
                </a:solidFill>
                <a:latin typeface="Segoe UI"/>
              </a:rPr>
              <a:t>-  </a:t>
            </a:r>
            <a:r>
              <a:rPr sz="1150" b="0" i="0">
                <a:solidFill>
                  <a:srgbClr val="334155"/>
                </a:solidFill>
                <a:latin typeface="Segoe UI"/>
              </a:rPr>
              <a:t>Real (or anonymised) network traffic to validate against, even a small sample or field distributions.</a:t>
            </a:r>
          </a:p>
          <a:p>
            <a:pPr algn="l">
              <a:lnSpc>
                <a:spcPct val="114000"/>
              </a:lnSpc>
              <a:spcBef>
                <a:spcPts val="0"/>
              </a:spcBef>
              <a:spcAft>
                <a:spcPts val="900"/>
              </a:spcAft>
            </a:pPr>
            <a:r>
              <a:rPr sz="1150" b="1" i="0">
                <a:solidFill>
                  <a:srgbClr val="E0A100"/>
                </a:solidFill>
                <a:latin typeface="Segoe UI"/>
              </a:rPr>
              <a:t>-  </a:t>
            </a:r>
            <a:r>
              <a:rPr sz="1150" b="0" i="0">
                <a:solidFill>
                  <a:srgbClr val="334155"/>
                </a:solidFill>
                <a:latin typeface="Segoe UI"/>
              </a:rPr>
              <a:t>Whether FASTedge exposes a hook to run our check inline, so a BLOCK can actually stop a request, not just flag it.</a:t>
            </a:r>
          </a:p>
          <a:p>
            <a:pPr algn="l">
              <a:lnSpc>
                <a:spcPct val="114000"/>
              </a:lnSpc>
              <a:spcBef>
                <a:spcPts val="0"/>
              </a:spcBef>
              <a:spcAft>
                <a:spcPts val="900"/>
              </a:spcAft>
            </a:pPr>
            <a:r>
              <a:rPr sz="1150" b="1" i="0">
                <a:solidFill>
                  <a:srgbClr val="E0A100"/>
                </a:solidFill>
                <a:latin typeface="Segoe UI"/>
              </a:rPr>
              <a:t>-  </a:t>
            </a:r>
            <a:r>
              <a:rPr sz="1150" b="0" i="0">
                <a:solidFill>
                  <a:srgbClr val="334155"/>
                </a:solidFill>
                <a:latin typeface="Segoe UI"/>
              </a:rPr>
              <a:t>Which agent or automation types (orchestration, OSS jobs, closed-loop, external access) matter most to you, so we prioritise correctly for Gate 2.</a:t>
            </a:r>
          </a:p>
        </p:txBody>
      </p:sp>
      <p:sp>
        <p:nvSpPr>
          <p:cNvPr id="9" name="Rounded Rectangle 8"/>
          <p:cNvSpPr/>
          <p:nvPr/>
        </p:nvSpPr>
        <p:spPr>
          <a:xfrm>
            <a:off x="6309360" y="1783080"/>
            <a:ext cx="5330952" cy="3840480"/>
          </a:xfrm>
          <a:prstGeom prst="roundRect">
            <a:avLst>
              <a:gd name="adj" fmla="val 5000"/>
            </a:avLst>
          </a:prstGeom>
          <a:solidFill>
            <a:srgbClr val="F1F1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783080"/>
            <a:ext cx="82296" cy="3840480"/>
          </a:xfrm>
          <a:prstGeom prst="rect">
            <a:avLst/>
          </a:prstGeom>
          <a:solidFill>
            <a:srgbClr val="363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2011680"/>
            <a:ext cx="4937760" cy="320040"/>
          </a:xfrm>
          <a:prstGeom prst="rect">
            <a:avLst/>
          </a:prstGeom>
          <a:noFill/>
        </p:spPr>
        <p:txBody>
          <a:bodyPr wrap="square" lIns="0" tIns="0" rIns="0" bIns="0" anchor="t">
            <a:spAutoFit/>
          </a:bodyPr>
          <a:lstStyle/>
          <a:p>
            <a:pPr algn="l">
              <a:lnSpc>
                <a:spcPct val="100000"/>
              </a:lnSpc>
              <a:spcBef>
                <a:spcPts val="0"/>
              </a:spcBef>
              <a:spcAft>
                <a:spcPts val="200"/>
              </a:spcAft>
            </a:pPr>
            <a:r>
              <a:rPr sz="1250" b="1" i="0">
                <a:solidFill>
                  <a:srgbClr val="3639CD"/>
                </a:solidFill>
                <a:latin typeface="Segoe UI"/>
              </a:rPr>
              <a:t>ROADMAP TO GATE 2 &amp; 3</a:t>
            </a:r>
          </a:p>
        </p:txBody>
      </p:sp>
      <p:sp>
        <p:nvSpPr>
          <p:cNvPr id="12" name="TextBox 11"/>
          <p:cNvSpPr txBox="1"/>
          <p:nvPr/>
        </p:nvSpPr>
        <p:spPr>
          <a:xfrm>
            <a:off x="6601968" y="2468880"/>
            <a:ext cx="4846320" cy="3017520"/>
          </a:xfrm>
          <a:prstGeom prst="rect">
            <a:avLst/>
          </a:prstGeom>
          <a:noFill/>
        </p:spPr>
        <p:txBody>
          <a:bodyPr wrap="square" lIns="0" tIns="0" rIns="0" bIns="0" anchor="t">
            <a:spAutoFit/>
          </a:bodyPr>
          <a:lstStyle/>
          <a:p>
            <a:pPr algn="l">
              <a:lnSpc>
                <a:spcPct val="114000"/>
              </a:lnSpc>
              <a:spcBef>
                <a:spcPts val="0"/>
              </a:spcBef>
              <a:spcAft>
                <a:spcPts val="800"/>
              </a:spcAft>
            </a:pPr>
            <a:r>
              <a:rPr sz="1150" b="1" i="0">
                <a:solidFill>
                  <a:srgbClr val="3639CD"/>
                </a:solidFill>
                <a:latin typeface="Segoe UI"/>
              </a:rPr>
              <a:t>-  </a:t>
            </a:r>
            <a:r>
              <a:rPr sz="1150" b="0" i="0">
                <a:solidFill>
                  <a:srgbClr val="334155"/>
                </a:solidFill>
                <a:latin typeface="Segoe UI"/>
              </a:rPr>
              <a:t>Gate 2 (22 Sep): full numerical performance analysis + hardened detector (recon, temporal, ROC operating points).</a:t>
            </a:r>
          </a:p>
          <a:p>
            <a:pPr algn="l">
              <a:lnSpc>
                <a:spcPct val="114000"/>
              </a:lnSpc>
              <a:spcBef>
                <a:spcPts val="0"/>
              </a:spcBef>
              <a:spcAft>
                <a:spcPts val="800"/>
              </a:spcAft>
            </a:pPr>
            <a:r>
              <a:rPr sz="1150" b="1" i="0">
                <a:solidFill>
                  <a:srgbClr val="3639CD"/>
                </a:solidFill>
                <a:latin typeface="Segoe UI"/>
              </a:rPr>
              <a:t>-  </a:t>
            </a:r>
            <a:r>
              <a:rPr sz="1150" b="0" i="0">
                <a:solidFill>
                  <a:srgbClr val="334155"/>
                </a:solidFill>
                <a:latin typeface="Segoe UI"/>
              </a:rPr>
              <a:t>Integrate real logs if granted; add more agent profiles &amp; attack variants.</a:t>
            </a:r>
          </a:p>
          <a:p>
            <a:pPr algn="l">
              <a:lnSpc>
                <a:spcPct val="114000"/>
              </a:lnSpc>
              <a:spcBef>
                <a:spcPts val="0"/>
              </a:spcBef>
              <a:spcAft>
                <a:spcPts val="800"/>
              </a:spcAft>
            </a:pPr>
            <a:r>
              <a:rPr sz="1150" b="1" i="0">
                <a:solidFill>
                  <a:srgbClr val="3639CD"/>
                </a:solidFill>
                <a:latin typeface="Segoe UI"/>
              </a:rPr>
              <a:t>-  </a:t>
            </a:r>
            <a:r>
              <a:rPr sz="1150" b="0" i="0">
                <a:solidFill>
                  <a:srgbClr val="334155"/>
                </a:solidFill>
                <a:latin typeface="Segoe UI"/>
              </a:rPr>
              <a:t>Gate 3 (15 Oct): live zero-trust gate dashboard demoing PASS / STEP-UP / BLOCK end-to-end.</a:t>
            </a:r>
          </a:p>
          <a:p>
            <a:pPr algn="l">
              <a:lnSpc>
                <a:spcPct val="114000"/>
              </a:lnSpc>
              <a:spcBef>
                <a:spcPts val="0"/>
              </a:spcBef>
              <a:spcAft>
                <a:spcPts val="800"/>
              </a:spcAft>
            </a:pPr>
            <a:r>
              <a:rPr sz="1150" b="1" i="0">
                <a:solidFill>
                  <a:srgbClr val="3639CD"/>
                </a:solidFill>
                <a:latin typeface="Segoe UI"/>
              </a:rPr>
              <a:t>-  </a:t>
            </a:r>
            <a:r>
              <a:rPr sz="1150" b="0" i="0">
                <a:solidFill>
                  <a:srgbClr val="334155"/>
                </a:solidFill>
                <a:latin typeface="Segoe UI"/>
              </a:rPr>
              <a:t>Parallel: storyboard (24 Sep) → shooting (Oct) → final video (1 Nov).</a:t>
            </a:r>
          </a:p>
        </p:txBody>
      </p:sp>
      <p:sp>
        <p:nvSpPr>
          <p:cNvPr id="13" name="TextBox 12"/>
          <p:cNvSpPr txBox="1"/>
          <p:nvPr/>
        </p:nvSpPr>
        <p:spPr>
          <a:xfrm>
            <a:off x="566928" y="5852160"/>
            <a:ext cx="11064240" cy="365760"/>
          </a:xfrm>
          <a:prstGeom prst="rect">
            <a:avLst/>
          </a:prstGeom>
          <a:noFill/>
        </p:spPr>
        <p:txBody>
          <a:bodyPr wrap="square" lIns="0" tIns="0" rIns="0" bIns="0" anchor="t">
            <a:spAutoFit/>
          </a:bodyPr>
          <a:lstStyle/>
          <a:p>
            <a:pPr algn="ctr">
              <a:lnSpc>
                <a:spcPct val="100000"/>
              </a:lnSpc>
              <a:spcBef>
                <a:spcPts val="0"/>
              </a:spcBef>
              <a:spcAft>
                <a:spcPts val="200"/>
              </a:spcAft>
            </a:pPr>
            <a:r>
              <a:rPr sz="1300" b="1" i="1">
                <a:solidFill>
                  <a:srgbClr val="0F172A"/>
                </a:solidFill>
                <a:latin typeface="Segoe UI"/>
              </a:rPr>
              <a:t>Credentials prove what you have - AEGIS verifies how you behave.</a:t>
            </a:r>
          </a:p>
        </p:txBody>
      </p:sp>
      <p:sp>
        <p:nvSpPr>
          <p:cNvPr id="14" name="TextBox 13"/>
          <p:cNvSpPr txBox="1"/>
          <p:nvPr/>
        </p:nvSpPr>
        <p:spPr>
          <a:xfrm>
            <a:off x="566928" y="6510528"/>
            <a:ext cx="8229600" cy="274320"/>
          </a:xfrm>
          <a:prstGeom prst="rect">
            <a:avLst/>
          </a:prstGeom>
          <a:noFill/>
        </p:spPr>
        <p:txBody>
          <a:bodyPr wrap="square" lIns="0" tIns="0" rIns="0" bIns="0" anchor="t">
            <a:spAutoFit/>
          </a:bodyPr>
          <a:lstStyle/>
          <a:p>
            <a:pPr algn="l">
              <a:lnSpc>
                <a:spcPct val="100000"/>
              </a:lnSpc>
              <a:spcBef>
                <a:spcPts val="0"/>
              </a:spcBef>
              <a:spcAft>
                <a:spcPts val="200"/>
              </a:spcAft>
            </a:pPr>
            <a:r>
              <a:rPr sz="850" b="0" i="0">
                <a:solidFill>
                  <a:srgbClr val="6B7688"/>
                </a:solidFill>
                <a:latin typeface="Segoe UI"/>
              </a:rPr>
              <a:t>AEGIS · Zero-Trust Identity for AI Agents · Team 4</a:t>
            </a:r>
          </a:p>
        </p:txBody>
      </p:sp>
      <p:sp>
        <p:nvSpPr>
          <p:cNvPr id="15" name="TextBox 14"/>
          <p:cNvSpPr txBox="1"/>
          <p:nvPr/>
        </p:nvSpPr>
        <p:spPr>
          <a:xfrm>
            <a:off x="11338560" y="6510528"/>
            <a:ext cx="457200" cy="274320"/>
          </a:xfrm>
          <a:prstGeom prst="rect">
            <a:avLst/>
          </a:prstGeom>
          <a:noFill/>
        </p:spPr>
        <p:txBody>
          <a:bodyPr wrap="square" lIns="0" tIns="0" rIns="0" bIns="0" anchor="t">
            <a:spAutoFit/>
          </a:bodyPr>
          <a:lstStyle/>
          <a:p>
            <a:pPr algn="r">
              <a:lnSpc>
                <a:spcPct val="100000"/>
              </a:lnSpc>
              <a:spcBef>
                <a:spcPts val="0"/>
              </a:spcBef>
              <a:spcAft>
                <a:spcPts val="200"/>
              </a:spcAft>
            </a:pPr>
            <a:r>
              <a:rPr sz="900" b="0" i="0">
                <a:solidFill>
                  <a:srgbClr val="6B7688"/>
                </a:solidFill>
                <a:latin typeface="Segoe U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2750</Words>
  <Application>Microsoft Office PowerPoint</Application>
  <PresentationFormat>Widescreen</PresentationFormat>
  <Paragraphs>187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FAUZAN EJAZ</cp:lastModifiedBy>
  <cp:revision>2</cp:revision>
  <dcterms:created xsi:type="dcterms:W3CDTF">2013-01-27T09:14:16Z</dcterms:created>
  <dcterms:modified xsi:type="dcterms:W3CDTF">2026-09-03T17:14:53Z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2026-09-03T17:14:41Z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18d945a2-2367-4fbc-8a65-b33d5d9fa3d8</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