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8" r:id="rId6"/>
    <p:sldId id="264" r:id="rId7"/>
    <p:sldId id="263" r:id="rId8"/>
    <p:sldId id="265" r:id="rId9"/>
    <p:sldId id="261" r:id="rId10"/>
    <p:sldId id="266" r:id="rId11"/>
    <p:sldId id="260" r:id="rId12"/>
    <p:sldId id="570" r:id="rId13"/>
  </p:sldIdLst>
  <p:sldSz cx="10688638" cy="756285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IULIA GRIECO" initials="GG" lastIdx="1" clrIdx="0">
    <p:extLst>
      <p:ext uri="{19B8F6BF-5375-455C-9EA6-DF929625EA0E}">
        <p15:presenceInfo xmlns:p15="http://schemas.microsoft.com/office/powerpoint/2012/main" userId="S::giulia.grieco@studenti.unina.it::5b354c5b-8914-4630-8986-cc9dd4bd34e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107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commentAuthors" Target="commentAuthors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lagami  Tedi" userId="20ef48d9-6a35-495c-88fc-ccc566c819a3" providerId="ADAL" clId="{25EE7F72-420A-4401-B1E4-84A3C2BC54B5}"/>
    <pc:docChg chg="modSld">
      <pc:chgData name="Llagami  Tedi" userId="20ef48d9-6a35-495c-88fc-ccc566c819a3" providerId="ADAL" clId="{25EE7F72-420A-4401-B1E4-84A3C2BC54B5}" dt="2026-09-25T11:06:19.436" v="1" actId="1036"/>
      <pc:docMkLst>
        <pc:docMk/>
      </pc:docMkLst>
      <pc:sldChg chg="modSp mod">
        <pc:chgData name="Llagami  Tedi" userId="20ef48d9-6a35-495c-88fc-ccc566c819a3" providerId="ADAL" clId="{25EE7F72-420A-4401-B1E4-84A3C2BC54B5}" dt="2026-09-25T11:06:19.436" v="1" actId="1036"/>
        <pc:sldMkLst>
          <pc:docMk/>
          <pc:sldMk cId="1722896570" sldId="256"/>
        </pc:sldMkLst>
        <pc:spChg chg="mod">
          <ac:chgData name="Llagami  Tedi" userId="20ef48d9-6a35-495c-88fc-ccc566c819a3" providerId="ADAL" clId="{25EE7F72-420A-4401-B1E4-84A3C2BC54B5}" dt="2026-09-25T11:06:19.436" v="1" actId="1036"/>
          <ac:spMkLst>
            <pc:docMk/>
            <pc:sldMk cId="1722896570" sldId="256"/>
            <ac:spMk id="6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emf"/><Relationship Id="rId5" Type="http://schemas.openxmlformats.org/officeDocument/2006/relationships/image" Target="../media/image2.png"/><Relationship Id="rId6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648" y="1237717"/>
            <a:ext cx="9085342" cy="2632992"/>
          </a:xfrm>
        </p:spPr>
        <p:txBody>
          <a:bodyPr anchor="b"/>
          <a:lstStyle>
            <a:lvl1pPr algn="ctr">
              <a:defRPr sz="661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080" y="3972247"/>
            <a:ext cx="8016479" cy="1825938"/>
          </a:xfrm>
        </p:spPr>
        <p:txBody>
          <a:bodyPr/>
          <a:lstStyle>
            <a:lvl1pPr marL="0" indent="0" algn="ctr">
              <a:buNone/>
              <a:defRPr sz="2647"/>
            </a:lvl1pPr>
            <a:lvl2pPr marL="504200" indent="0" algn="ctr">
              <a:buNone/>
              <a:defRPr sz="2206"/>
            </a:lvl2pPr>
            <a:lvl3pPr marL="1008400" indent="0" algn="ctr">
              <a:buNone/>
              <a:defRPr sz="1985"/>
            </a:lvl3pPr>
            <a:lvl4pPr marL="1512600" indent="0" algn="ctr">
              <a:buNone/>
              <a:defRPr sz="1764"/>
            </a:lvl4pPr>
            <a:lvl5pPr marL="2016801" indent="0" algn="ctr">
              <a:buNone/>
              <a:defRPr sz="1764"/>
            </a:lvl5pPr>
            <a:lvl6pPr marL="2521001" indent="0" algn="ctr">
              <a:buNone/>
              <a:defRPr sz="1764"/>
            </a:lvl6pPr>
            <a:lvl7pPr marL="3025201" indent="0" algn="ctr">
              <a:buNone/>
              <a:defRPr sz="1764"/>
            </a:lvl7pPr>
            <a:lvl8pPr marL="3529401" indent="0" algn="ctr">
              <a:buNone/>
              <a:defRPr sz="1764"/>
            </a:lvl8pPr>
            <a:lvl9pPr marL="4033601" indent="0" algn="ctr">
              <a:buNone/>
              <a:defRPr sz="1764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898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300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278" y="1885463"/>
            <a:ext cx="9218950" cy="3145935"/>
          </a:xfrm>
        </p:spPr>
        <p:txBody>
          <a:bodyPr anchor="b"/>
          <a:lstStyle>
            <a:lvl1pPr>
              <a:defRPr sz="661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278" y="5061159"/>
            <a:ext cx="9218950" cy="1654373"/>
          </a:xfrm>
        </p:spPr>
        <p:txBody>
          <a:bodyPr/>
          <a:lstStyle>
            <a:lvl1pPr marL="0" indent="0">
              <a:buNone/>
              <a:defRPr sz="2647">
                <a:solidFill>
                  <a:schemeClr val="tx1"/>
                </a:solidFill>
              </a:defRPr>
            </a:lvl1pPr>
            <a:lvl2pPr marL="504200" indent="0">
              <a:buNone/>
              <a:defRPr sz="2206">
                <a:solidFill>
                  <a:schemeClr val="tx1">
                    <a:tint val="75000"/>
                  </a:schemeClr>
                </a:solidFill>
              </a:defRPr>
            </a:lvl2pPr>
            <a:lvl3pPr marL="1008400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2600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6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210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52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94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36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008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4844" y="2013259"/>
            <a:ext cx="4542671" cy="4798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1123" y="2013259"/>
            <a:ext cx="4542671" cy="4798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61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236" y="402654"/>
            <a:ext cx="9218950" cy="14618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237" y="1853949"/>
            <a:ext cx="4521794" cy="908592"/>
          </a:xfrm>
        </p:spPr>
        <p:txBody>
          <a:bodyPr anchor="b"/>
          <a:lstStyle>
            <a:lvl1pPr marL="0" indent="0">
              <a:buNone/>
              <a:defRPr sz="2647" b="1"/>
            </a:lvl1pPr>
            <a:lvl2pPr marL="504200" indent="0">
              <a:buNone/>
              <a:defRPr sz="2206" b="1"/>
            </a:lvl2pPr>
            <a:lvl3pPr marL="1008400" indent="0">
              <a:buNone/>
              <a:defRPr sz="1985" b="1"/>
            </a:lvl3pPr>
            <a:lvl4pPr marL="1512600" indent="0">
              <a:buNone/>
              <a:defRPr sz="1764" b="1"/>
            </a:lvl4pPr>
            <a:lvl5pPr marL="2016801" indent="0">
              <a:buNone/>
              <a:defRPr sz="1764" b="1"/>
            </a:lvl5pPr>
            <a:lvl6pPr marL="2521001" indent="0">
              <a:buNone/>
              <a:defRPr sz="1764" b="1"/>
            </a:lvl6pPr>
            <a:lvl7pPr marL="3025201" indent="0">
              <a:buNone/>
              <a:defRPr sz="1764" b="1"/>
            </a:lvl7pPr>
            <a:lvl8pPr marL="3529401" indent="0">
              <a:buNone/>
              <a:defRPr sz="1764" b="1"/>
            </a:lvl8pPr>
            <a:lvl9pPr marL="4033601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237" y="2762541"/>
            <a:ext cx="4521794" cy="4063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1124" y="1853949"/>
            <a:ext cx="4544063" cy="908592"/>
          </a:xfrm>
        </p:spPr>
        <p:txBody>
          <a:bodyPr anchor="b"/>
          <a:lstStyle>
            <a:lvl1pPr marL="0" indent="0">
              <a:buNone/>
              <a:defRPr sz="2647" b="1"/>
            </a:lvl1pPr>
            <a:lvl2pPr marL="504200" indent="0">
              <a:buNone/>
              <a:defRPr sz="2206" b="1"/>
            </a:lvl2pPr>
            <a:lvl3pPr marL="1008400" indent="0">
              <a:buNone/>
              <a:defRPr sz="1985" b="1"/>
            </a:lvl3pPr>
            <a:lvl4pPr marL="1512600" indent="0">
              <a:buNone/>
              <a:defRPr sz="1764" b="1"/>
            </a:lvl4pPr>
            <a:lvl5pPr marL="2016801" indent="0">
              <a:buNone/>
              <a:defRPr sz="1764" b="1"/>
            </a:lvl5pPr>
            <a:lvl6pPr marL="2521001" indent="0">
              <a:buNone/>
              <a:defRPr sz="1764" b="1"/>
            </a:lvl6pPr>
            <a:lvl7pPr marL="3025201" indent="0">
              <a:buNone/>
              <a:defRPr sz="1764" b="1"/>
            </a:lvl7pPr>
            <a:lvl8pPr marL="3529401" indent="0">
              <a:buNone/>
              <a:defRPr sz="1764" b="1"/>
            </a:lvl8pPr>
            <a:lvl9pPr marL="4033601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1124" y="2762541"/>
            <a:ext cx="4544063" cy="4063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2355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553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81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236" y="504190"/>
            <a:ext cx="3447364" cy="1764665"/>
          </a:xfrm>
        </p:spPr>
        <p:txBody>
          <a:bodyPr anchor="b"/>
          <a:lstStyle>
            <a:lvl1pPr>
              <a:defRPr sz="352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4063" y="1088912"/>
            <a:ext cx="5411123" cy="5374525"/>
          </a:xfrm>
        </p:spPr>
        <p:txBody>
          <a:bodyPr/>
          <a:lstStyle>
            <a:lvl1pPr>
              <a:defRPr sz="3529"/>
            </a:lvl1pPr>
            <a:lvl2pPr>
              <a:defRPr sz="3088"/>
            </a:lvl2pPr>
            <a:lvl3pPr>
              <a:defRPr sz="2647"/>
            </a:lvl3pPr>
            <a:lvl4pPr>
              <a:defRPr sz="2206"/>
            </a:lvl4pPr>
            <a:lvl5pPr>
              <a:defRPr sz="2206"/>
            </a:lvl5pPr>
            <a:lvl6pPr>
              <a:defRPr sz="2206"/>
            </a:lvl6pPr>
            <a:lvl7pPr>
              <a:defRPr sz="2206"/>
            </a:lvl7pPr>
            <a:lvl8pPr>
              <a:defRPr sz="2206"/>
            </a:lvl8pPr>
            <a:lvl9pPr>
              <a:defRPr sz="22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236" y="2268855"/>
            <a:ext cx="3447364" cy="4203335"/>
          </a:xfrm>
        </p:spPr>
        <p:txBody>
          <a:bodyPr/>
          <a:lstStyle>
            <a:lvl1pPr marL="0" indent="0">
              <a:buNone/>
              <a:defRPr sz="1764"/>
            </a:lvl1pPr>
            <a:lvl2pPr marL="504200" indent="0">
              <a:buNone/>
              <a:defRPr sz="1544"/>
            </a:lvl2pPr>
            <a:lvl3pPr marL="1008400" indent="0">
              <a:buNone/>
              <a:defRPr sz="1323"/>
            </a:lvl3pPr>
            <a:lvl4pPr marL="1512600" indent="0">
              <a:buNone/>
              <a:defRPr sz="1103"/>
            </a:lvl4pPr>
            <a:lvl5pPr marL="2016801" indent="0">
              <a:buNone/>
              <a:defRPr sz="1103"/>
            </a:lvl5pPr>
            <a:lvl6pPr marL="2521001" indent="0">
              <a:buNone/>
              <a:defRPr sz="1103"/>
            </a:lvl6pPr>
            <a:lvl7pPr marL="3025201" indent="0">
              <a:buNone/>
              <a:defRPr sz="1103"/>
            </a:lvl7pPr>
            <a:lvl8pPr marL="3529401" indent="0">
              <a:buNone/>
              <a:defRPr sz="1103"/>
            </a:lvl8pPr>
            <a:lvl9pPr marL="4033601" indent="0">
              <a:buNone/>
              <a:defRPr sz="110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896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236" y="504190"/>
            <a:ext cx="3447364" cy="1764665"/>
          </a:xfrm>
        </p:spPr>
        <p:txBody>
          <a:bodyPr anchor="b"/>
          <a:lstStyle>
            <a:lvl1pPr>
              <a:defRPr sz="352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4063" y="1088912"/>
            <a:ext cx="5411123" cy="5374525"/>
          </a:xfrm>
        </p:spPr>
        <p:txBody>
          <a:bodyPr anchor="t"/>
          <a:lstStyle>
            <a:lvl1pPr marL="0" indent="0">
              <a:buNone/>
              <a:defRPr sz="3529"/>
            </a:lvl1pPr>
            <a:lvl2pPr marL="504200" indent="0">
              <a:buNone/>
              <a:defRPr sz="3088"/>
            </a:lvl2pPr>
            <a:lvl3pPr marL="1008400" indent="0">
              <a:buNone/>
              <a:defRPr sz="2647"/>
            </a:lvl3pPr>
            <a:lvl4pPr marL="1512600" indent="0">
              <a:buNone/>
              <a:defRPr sz="2206"/>
            </a:lvl4pPr>
            <a:lvl5pPr marL="2016801" indent="0">
              <a:buNone/>
              <a:defRPr sz="2206"/>
            </a:lvl5pPr>
            <a:lvl6pPr marL="2521001" indent="0">
              <a:buNone/>
              <a:defRPr sz="2206"/>
            </a:lvl6pPr>
            <a:lvl7pPr marL="3025201" indent="0">
              <a:buNone/>
              <a:defRPr sz="2206"/>
            </a:lvl7pPr>
            <a:lvl8pPr marL="3529401" indent="0">
              <a:buNone/>
              <a:defRPr sz="2206"/>
            </a:lvl8pPr>
            <a:lvl9pPr marL="4033601" indent="0">
              <a:buNone/>
              <a:defRPr sz="2206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236" y="2268855"/>
            <a:ext cx="3447364" cy="4203335"/>
          </a:xfrm>
        </p:spPr>
        <p:txBody>
          <a:bodyPr/>
          <a:lstStyle>
            <a:lvl1pPr marL="0" indent="0">
              <a:buNone/>
              <a:defRPr sz="1764"/>
            </a:lvl1pPr>
            <a:lvl2pPr marL="504200" indent="0">
              <a:buNone/>
              <a:defRPr sz="1544"/>
            </a:lvl2pPr>
            <a:lvl3pPr marL="1008400" indent="0">
              <a:buNone/>
              <a:defRPr sz="1323"/>
            </a:lvl3pPr>
            <a:lvl4pPr marL="1512600" indent="0">
              <a:buNone/>
              <a:defRPr sz="1103"/>
            </a:lvl4pPr>
            <a:lvl5pPr marL="2016801" indent="0">
              <a:buNone/>
              <a:defRPr sz="1103"/>
            </a:lvl5pPr>
            <a:lvl6pPr marL="2521001" indent="0">
              <a:buNone/>
              <a:defRPr sz="1103"/>
            </a:lvl6pPr>
            <a:lvl7pPr marL="3025201" indent="0">
              <a:buNone/>
              <a:defRPr sz="1103"/>
            </a:lvl7pPr>
            <a:lvl8pPr marL="3529401" indent="0">
              <a:buNone/>
              <a:defRPr sz="1103"/>
            </a:lvl8pPr>
            <a:lvl9pPr marL="4033601" indent="0">
              <a:buNone/>
              <a:defRPr sz="110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927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950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49057" y="402652"/>
            <a:ext cx="2304738" cy="64091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4844" y="402652"/>
            <a:ext cx="6780605" cy="640916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35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392" y="1752"/>
          <a:ext cx="1391" cy="1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5" name="Object 4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92" y="1752"/>
                        <a:ext cx="1391" cy="1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56" y="0"/>
            <a:ext cx="4861963" cy="1218790"/>
          </a:xfrm>
        </p:spPr>
        <p:txBody>
          <a:bodyPr vert="horz" lIns="0" tIns="180000" rIns="0" bIns="0" rtlCol="0" anchor="t">
            <a:noAutofit/>
          </a:bodyPr>
          <a:lstStyle>
            <a:lvl1pPr>
              <a:defRPr lang="en-GB" dirty="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4" name="Picture 3" descr="Logo&#10;&#10;Description automatically generated">
            <a:extLst>
              <a:ext uri="{FF2B5EF4-FFF2-40B4-BE49-F238E27FC236}">
                <a16:creationId xmlns:a16="http://schemas.microsoft.com/office/drawing/2014/main" id="{FC167F68-3FC3-4701-BAEB-9C33CAC70AE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3297" y="-282930"/>
            <a:ext cx="1265341" cy="1591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2549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4844" y="402654"/>
            <a:ext cx="9218950" cy="1461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4844" y="2013259"/>
            <a:ext cx="9218950" cy="4798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4844" y="7009643"/>
            <a:ext cx="2404944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0612" y="7009643"/>
            <a:ext cx="3607415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48850" y="7009643"/>
            <a:ext cx="2404944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2860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1008400" rtl="0" eaLnBrk="1" latinLnBrk="0" hangingPunct="1">
        <a:lnSpc>
          <a:spcPct val="90000"/>
        </a:lnSpc>
        <a:spcBef>
          <a:spcPct val="0"/>
        </a:spcBef>
        <a:buNone/>
        <a:defRPr sz="485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100" indent="-252100" algn="l" defTabSz="1008400" rtl="0" eaLnBrk="1" latinLnBrk="0" hangingPunct="1">
        <a:lnSpc>
          <a:spcPct val="90000"/>
        </a:lnSpc>
        <a:spcBef>
          <a:spcPts val="1103"/>
        </a:spcBef>
        <a:buFont typeface="Arial" panose="020B0604020202020204" pitchFamily="34" charset="0"/>
        <a:buChar char="•"/>
        <a:defRPr sz="3088" kern="1200">
          <a:solidFill>
            <a:schemeClr val="tx1"/>
          </a:solidFill>
          <a:latin typeface="+mn-lt"/>
          <a:ea typeface="+mn-ea"/>
          <a:cs typeface="+mn-cs"/>
        </a:defRPr>
      </a:lvl1pPr>
      <a:lvl2pPr marL="756300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2pPr>
      <a:lvl3pPr marL="1260500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6" kern="1200">
          <a:solidFill>
            <a:schemeClr val="tx1"/>
          </a:solidFill>
          <a:latin typeface="+mn-lt"/>
          <a:ea typeface="+mn-ea"/>
          <a:cs typeface="+mn-cs"/>
        </a:defRPr>
      </a:lvl3pPr>
      <a:lvl4pPr marL="17647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9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31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73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15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57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2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4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26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8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10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52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94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36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2845754"/>
            <a:ext cx="3177540" cy="233044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7168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2845754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 anchor="t"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744753" y="3452433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921819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350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50165" y="3955279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66940" y="286378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 dirty="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 anchor="t"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</a:t>
            </a:r>
            <a:r>
              <a:rPr lang="en-US" err="1"/>
              <a:t>Introduzione</a:t>
            </a:r>
            <a:r>
              <a:rPr lang="en-US"/>
              <a:t>                                                         20/30 secondi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73342" y="100951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 dirty="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1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8F8FC0D-7B23-751F-2595-A77D31F735AA}"/>
              </a:ext>
            </a:extLst>
          </p:cNvPr>
          <p:cNvSpPr txBox="1"/>
          <p:nvPr/>
        </p:nvSpPr>
        <p:spPr>
          <a:xfrm>
            <a:off x="3318933" y="2868288"/>
            <a:ext cx="1828800" cy="1828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it-IT" dirty="0"/>
          </a:p>
        </p:txBody>
      </p:sp>
      <p:sp>
        <p:nvSpPr>
          <p:cNvPr id="51" name="CasellaDiTesto 50">
            <a:extLst>
              <a:ext uri="{FF2B5EF4-FFF2-40B4-BE49-F238E27FC236}">
                <a16:creationId xmlns:a16="http://schemas.microsoft.com/office/drawing/2014/main" id="{3AE17033-5112-FC9A-3A60-BA0912840F22}"/>
              </a:ext>
            </a:extLst>
          </p:cNvPr>
          <p:cNvSpPr txBox="1"/>
          <p:nvPr/>
        </p:nvSpPr>
        <p:spPr>
          <a:xfrm>
            <a:off x="111052" y="2704803"/>
            <a:ext cx="3401264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/>
            <a:endParaRPr lang="it-IT" dirty="0">
              <a:ea typeface="Calibri"/>
              <a:cs typeface="Calibri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Close-up: ID badge scan at an office door, green light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"A stolen ID badge still opens the door."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live-action B-roll (badge scan)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Door opens, person walks through - ordinary, unremarkable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"The badge is valid."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live-action B-roll (same shot, continued)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Match-cut: laptop screen, 5G network diagram appears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"But is the person behind it really who they claim to be?"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assets/architecture.png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AI/automation agent icon connects into the 5G core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AI agents and automations now call the network directly.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reports/GATE-2/aegis_hook_analogy.png (right panel, "THE NETWORK")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Green checkmark overlay: "credential: valid"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 stolen or misused credential still passes every check.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reports/GATE-2/aegis_hook_analogy.png (checkmark line)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Cut to red alert icon / question mark, AEGIS title reveal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"AEGIS" title card reveal.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3 (hook slide)</a:t>
            </a:r>
          </a:p>
        </p:txBody>
      </p:sp>
      <p:pic>
        <p:nvPicPr>
          <p:cNvPr id="71" name="Picture 70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712" y="696595"/>
            <a:ext cx="1490655" cy="2070100"/>
          </a:xfrm>
          <a:prstGeom prst="rect">
            <a:avLst/>
          </a:prstGeom>
        </p:spPr>
      </p:pic>
      <p:pic>
        <p:nvPicPr>
          <p:cNvPr id="72" name="Picture 71" descr="aegis_hook_analog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490" y="4608217"/>
            <a:ext cx="3187700" cy="723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96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b="1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350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           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2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AEGIS logo settles center frame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"This is AEGIS."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1 (cover)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Quick architecture teaser: 4 icons in a row (no labels yet)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 zero-trust identity gate for AI agents on the network.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assets/architecture.png (cropped/teased)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Team members at laptops / workstation B-roll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Built by Team 4, 5G Academy 2026.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live-action B-roll (team working)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5G Academy + Fastweb + Vodafone logos, brief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In partnership with Fastweb and Vodafone.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1 (branding)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Transition wipe to network operations center visual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Bridge into the problem.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transition graphic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Fade to black / section break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N/A - transition only</a:t>
            </a:r>
          </a:p>
        </p:txBody>
      </p:sp>
      <p:pic>
        <p:nvPicPr>
          <p:cNvPr id="71" name="Picture 70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512" y="696595"/>
            <a:ext cx="1490655" cy="207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412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0665" y="2888821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3622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55549" y="291425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111586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141453" y="696595"/>
            <a:ext cx="919237" cy="218008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141453" y="696594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 dirty="0"/>
              <a:t>         Promo – 5g Academy – Project Vision                </a:t>
            </a:r>
            <a:r>
              <a:rPr lang="en-US" dirty="0" err="1"/>
              <a:t>presentazione</a:t>
            </a:r>
            <a:r>
              <a:rPr lang="en-US" dirty="0"/>
              <a:t> </a:t>
            </a:r>
            <a:r>
              <a:rPr lang="en-US" dirty="0" err="1"/>
              <a:t>problema</a:t>
            </a:r>
            <a:r>
              <a:rPr lang="en-US" dirty="0"/>
              <a:t> / e business   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3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Graphic: orchestration tool calling AMF/SMF/UDM APIs directly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Orchestration and automation tools now call 5G Network Functions directly.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4 (pipeline cards)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Split screen: valid credential vs. abnormal behavior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Authentication proves you have the right key.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reports/GATE-2/aegis_hook_analogy.png (full graphic)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Text overlay, large: "It never asks if you're still you."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It never asks whether you're still behaving like yourself.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6 ("THE GAP" panel text)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NOC/SOC operator looking concerned at a dashboard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 compromised or stolen credential can sit undetected for weeks.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live-action B-roll (operator at screen)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Business-impact graphic: cost/risk of an undetected breach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The business cost of a one-time-only identity check.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graphic - pull from Gate 1 deck's economic/business analysis if available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Transition: question mark resolves into AEGIS logo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"There's a better way."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transition graphic</a:t>
            </a:r>
          </a:p>
        </p:txBody>
      </p:sp>
      <p:pic>
        <p:nvPicPr>
          <p:cNvPr id="71" name="Picture 70" descr="aegis_hook_analo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9990" y="1369717"/>
            <a:ext cx="3187700" cy="723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992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 dirty="0"/>
              <a:t>          Promo – 5g Academy – Project Vision               </a:t>
            </a:r>
            <a:r>
              <a:rPr lang="en-US" dirty="0" err="1"/>
              <a:t>presentazione</a:t>
            </a:r>
            <a:r>
              <a:rPr lang="en-US" dirty="0"/>
              <a:t> </a:t>
            </a:r>
            <a:r>
              <a:rPr lang="en-US" dirty="0" err="1"/>
              <a:t>soluzione</a:t>
            </a:r>
            <a:r>
              <a:rPr lang="en-US" dirty="0"/>
              <a:t> </a:t>
            </a:r>
            <a:r>
              <a:rPr lang="en-US" dirty="0" err="1"/>
              <a:t>futura</a:t>
            </a:r>
            <a:endParaRPr lang="en-US" dirty="0"/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4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AEGIS architecture diagram, full reveal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AEGIS builds a behavioural fingerprint for every agent.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assets/architecture.png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Animated: OBSERVE stage highlighted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OBSERVE - every request is captured: who, what, when, how.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4 (OBSERVE card)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Animated: FINGERPRINT stage highlighted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FINGERPRINT - that stream becomes a behavioural profile.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4 (FINGERPRINT card)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Animated: SCORE stage highlighted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SCORE - live behaviour is compared to that profile, in real time.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8 (Scoring: Rules+ML Fused)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Animated: DECIDE stage highlighted, PASS/STEP-UP/BLOCK gate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DECIDE - pass it, challenge it, or shut it down, instantly.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6 (PASS/STEP-UP/BLOCK pills)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Zero-trust tagline overlay (NIST SP 800-207 callout)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Never trust. Always verify. Continuously.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text card (quote README's zero-trust framing)</a:t>
            </a:r>
          </a:p>
        </p:txBody>
      </p:sp>
      <p:pic>
        <p:nvPicPr>
          <p:cNvPr id="71" name="Picture 70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012" y="696595"/>
            <a:ext cx="1490655" cy="207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33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028802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76115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    </a:t>
            </a:r>
            <a:r>
              <a:rPr lang="en-US" err="1"/>
              <a:t>parte</a:t>
            </a:r>
            <a:r>
              <a:rPr lang="en-US"/>
              <a:t> test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5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Screen capture: AEGIS live dashboard home / topology view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Here it is, live - not a mockup.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live screen recording of aegis5gacademy.streamlit.app, OR slides/GATE-2/AEGIS_Live_Demo.mp4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Click "Launch Live Attack" on the dashboard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Watch what happens when an agent starts behaving like an attacker.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slides/GATE-2/AEGIS_Live_Demo.mp4 (attack-injection segment)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Risk score climbing in real time on screen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Probing endpoints it's never touched, at a rate it's never used.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slides/GATE-2/AEGIS_Live_Demo.mp4 (same segment, continued)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Incident inspector panel: plain-language explanation appears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AEGIS explains exactly why, in language a security analyst can act on.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live screen recording - incident inspector panel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Decision badge flips to BLOCK, red highlight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And shuts it down before real damage is done.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slides/GATE-2/AEGIS_Live_Demo.mp4 (decision moment)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Before/After AEGIS comparison view on screen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This is the difference AEGIS makes.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slides/GATE-2/AEGIS_Live_Demo.mp4 (before/after segment)</a:t>
            </a:r>
          </a:p>
        </p:txBody>
      </p:sp>
      <p:pic>
        <p:nvPicPr>
          <p:cNvPr id="71" name="Picture 70" descr="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868" y="696595"/>
            <a:ext cx="2980944" cy="2070100"/>
          </a:xfrm>
          <a:prstGeom prst="rect">
            <a:avLst/>
          </a:prstGeom>
        </p:spPr>
      </p:pic>
      <p:pic>
        <p:nvPicPr>
          <p:cNvPr id="72" name="Picture 71" descr="aegis_ev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5190" y="4361584"/>
            <a:ext cx="3187700" cy="121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17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350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                     test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6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Terminal footage: Docker containers starting up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We didn't stop at simulation.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 screen recording (docker compose up on open5gs-testbed)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Real 5G core topology diagram (Open5GS: AMF/SMF/UDM/etc.)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We built a real 5G core.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17 (Real M2M/API-gateway diagram)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Screen: a real device registering onto the real core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Connected a real device to it.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 screen recording (docker logs nr_ue - real UE registration)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Real captured network traffic on screen (terminal/Wireshark-style)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And tested AEGIS against real network traffic.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reports/GATE-3/real_sbi_capture.csv (screenshot/graphic)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AEGIS flags the real attack: BLOCK decision, real data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The exact same detection code. No changes. It worked.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graphic from validate_real_traffic_detection.py output (2/2 BLOCK result)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Stat card overlay: ROC-AUC 0.98, recall 91%, FPR 1.1%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Benchmarked, not just claimed.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reports/aegis_eval.png, updated with Gate 3 numbers</a:t>
            </a:r>
          </a:p>
        </p:txBody>
      </p:sp>
      <p:pic>
        <p:nvPicPr>
          <p:cNvPr id="71" name="Picture 70" descr="aegis_e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190" y="4361584"/>
            <a:ext cx="3187700" cy="121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946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028802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21" name="object 21"/>
          <p:cNvSpPr/>
          <p:nvPr/>
        </p:nvSpPr>
        <p:spPr>
          <a:xfrm>
            <a:off x="372872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n-US" sz="120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stacco</a:t>
            </a: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76115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Promo – 5g Academy – Project Vision                </a:t>
            </a:r>
            <a:r>
              <a:rPr lang="en-US" err="1"/>
              <a:t>Filosofia</a:t>
            </a:r>
            <a:r>
              <a:rPr lang="en-US"/>
              <a:t> E regulation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7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71" name="object 21">
            <a:extLst>
              <a:ext uri="{FF2B5EF4-FFF2-40B4-BE49-F238E27FC236}">
                <a16:creationId xmlns:a16="http://schemas.microsoft.com/office/drawing/2014/main" id="{35C15BA1-02F8-4728-8F3F-E46A867076FD}"/>
              </a:ext>
            </a:extLst>
          </p:cNvPr>
          <p:cNvSpPr/>
          <p:nvPr/>
        </p:nvSpPr>
        <p:spPr>
          <a:xfrm>
            <a:off x="3754887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Text card: "Explainable, not a black box"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Every decision AEGIS makes comes with a plain-language reason.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text card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Incident inspector close-up: reasoning text on screen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No guessing at why an alert fired.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live screen recording - incident inspector panel (reuse from scene 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Privacy/GDPR visual: subscriber ID being hashed/anonymised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Subscriber identifiers are protected, never stored raw.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graphic - concept from docs/GATE-3/real-vs-synthetic-dashboard-implications.md (privacy section)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[STACCO - hard cut]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N/A - transition only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Production vision: AEGIS gate sitting at the network edge (FASTedge)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In production, AEGIS runs at the network edge - close to the core, low latency.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graphic - concept from docs/GATE-3/real-vs-synthetic-dashboard-implications.md (production section)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Closing philosophy line, text on screen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Security that explains itself, built to be trusted, not just deployed.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text card</a:t>
            </a:r>
          </a:p>
        </p:txBody>
      </p:sp>
    </p:spTree>
    <p:extLst>
      <p:ext uri="{BB962C8B-B14F-4D97-AF65-F5344CB8AC3E}">
        <p14:creationId xmlns:p14="http://schemas.microsoft.com/office/powerpoint/2010/main" val="41714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028802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 dirty="0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76115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 dirty="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Promo – 5g Academy – Project Vision                finale   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8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Fast montage: badge scan, dashboard, real core, BLOCK decision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Recap montage - the whole story in five seconds.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re-cut of scenes 1, 5, 6 above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Tagline card, large text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"Trust can't be a one-time check."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text card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Tagline continues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"It has to be continuous."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text card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AEGIS logo, GitHub + live dashboard links on screen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aegis5gacademy.streamlit.app - see it live.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19 (Thank You, has GitHub/dashboard links)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5G Academy + Fastweb + Vodafone branding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5G Academy 2026, in partnership with Fastweb and Vodafone.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1 (branding)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Fade to black, thank you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Thank you.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N/A - transition only</a:t>
            </a:r>
          </a:p>
        </p:txBody>
      </p:sp>
    </p:spTree>
    <p:extLst>
      <p:ext uri="{BB962C8B-B14F-4D97-AF65-F5344CB8AC3E}">
        <p14:creationId xmlns:p14="http://schemas.microsoft.com/office/powerpoint/2010/main" val="2771258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749;p69">
            <a:extLst>
              <a:ext uri="{FF2B5EF4-FFF2-40B4-BE49-F238E27FC236}">
                <a16:creationId xmlns:a16="http://schemas.microsoft.com/office/drawing/2014/main" id="{CBD30F07-6871-4503-B70C-03DD4C50FDD9}"/>
              </a:ext>
            </a:extLst>
          </p:cNvPr>
          <p:cNvSpPr/>
          <p:nvPr/>
        </p:nvSpPr>
        <p:spPr>
          <a:xfrm>
            <a:off x="5344319" y="2194328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/>
          </a:p>
        </p:txBody>
      </p:sp>
      <p:sp>
        <p:nvSpPr>
          <p:cNvPr id="27" name="Google Shape;749;p69">
            <a:extLst>
              <a:ext uri="{FF2B5EF4-FFF2-40B4-BE49-F238E27FC236}">
                <a16:creationId xmlns:a16="http://schemas.microsoft.com/office/drawing/2014/main" id="{BCB06B9F-0035-4EAD-B976-4A1DE9730F61}"/>
              </a:ext>
            </a:extLst>
          </p:cNvPr>
          <p:cNvSpPr/>
          <p:nvPr/>
        </p:nvSpPr>
        <p:spPr>
          <a:xfrm>
            <a:off x="1196569" y="2122577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 dirty="0"/>
          </a:p>
        </p:txBody>
      </p:sp>
      <p:sp>
        <p:nvSpPr>
          <p:cNvPr id="24" name="Title 2">
            <a:extLst>
              <a:ext uri="{FF2B5EF4-FFF2-40B4-BE49-F238E27FC236}">
                <a16:creationId xmlns:a16="http://schemas.microsoft.com/office/drawing/2014/main" id="{3DB09636-2D95-462E-A483-C16A14C60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963" y="658858"/>
            <a:ext cx="4861381" cy="968658"/>
          </a:xfrm>
        </p:spPr>
        <p:txBody>
          <a:bodyPr/>
          <a:lstStyle/>
          <a:p>
            <a:r>
              <a:rPr lang="en-US"/>
              <a:t>Team 4 - AEGIS</a:t>
            </a:r>
          </a:p>
        </p:txBody>
      </p:sp>
      <p:sp>
        <p:nvSpPr>
          <p:cNvPr id="25" name="Text Placeholder 1">
            <a:extLst>
              <a:ext uri="{FF2B5EF4-FFF2-40B4-BE49-F238E27FC236}">
                <a16:creationId xmlns:a16="http://schemas.microsoft.com/office/drawing/2014/main" id="{6DE9E673-3DDC-4839-8B8C-31223D9D32A1}"/>
              </a:ext>
            </a:extLst>
          </p:cNvPr>
          <p:cNvSpPr txBox="1">
            <a:spLocks/>
          </p:cNvSpPr>
          <p:nvPr/>
        </p:nvSpPr>
        <p:spPr>
          <a:xfrm>
            <a:off x="482357" y="1412922"/>
            <a:ext cx="9723925" cy="44190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200" kern="1200" spc="-110" baseline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2667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445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223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3"/>
              </a:buClr>
              <a:buFont typeface="Verdana" panose="020B0604030504040204" pitchFamily="34" charset="0"/>
              <a:buChar char="‒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12800" indent="-1905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929" dirty="0"/>
              <a:t>Meet the team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6568" y="3112699"/>
            <a:ext cx="23849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dirty="0">
                <a:solidFill>
                  <a:srgbClr val="020C31"/>
                </a:solidFill>
                <a:latin typeface="Calibri"/>
              </a:rPr>
              <a:t>Fauzan Ejaz (Captain)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607F4C-6C97-4729-0B02-CAFD6CD56FDC}"/>
              </a:ext>
            </a:extLst>
          </p:cNvPr>
          <p:cNvSpPr txBox="1"/>
          <p:nvPr/>
        </p:nvSpPr>
        <p:spPr>
          <a:xfrm>
            <a:off x="5682343" y="3099727"/>
            <a:ext cx="26498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 err="1">
                <a:solidFill>
                  <a:srgbClr val="020C31"/>
                </a:solidFill>
              </a:rPr>
              <a:t>Llagami</a:t>
            </a:r>
            <a:r>
              <a:rPr lang="en-IN" sz="2400" dirty="0">
                <a:solidFill>
                  <a:srgbClr val="020C31"/>
                </a:solidFill>
              </a:rPr>
              <a:t> Tedi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436819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42D7E2E766E274BA85FFEF303FE3B84" ma:contentTypeVersion="11" ma:contentTypeDescription="Create a new document." ma:contentTypeScope="" ma:versionID="161f57f8e4da8c53066cecce20e1cf28">
  <xsd:schema xmlns:xsd="http://www.w3.org/2001/XMLSchema" xmlns:xs="http://www.w3.org/2001/XMLSchema" xmlns:p="http://schemas.microsoft.com/office/2006/metadata/properties" xmlns:ns2="df1bf422-076b-4923-a343-86f92e681c13" xmlns:ns3="17320c4f-b4d7-4a2f-a568-c234bef09358" targetNamespace="http://schemas.microsoft.com/office/2006/metadata/properties" ma:root="true" ma:fieldsID="3f75c0bee81b84287f3a5e0ecbeaea68" ns2:_="" ns3:_="">
    <xsd:import namespace="df1bf422-076b-4923-a343-86f92e681c13"/>
    <xsd:import namespace="17320c4f-b4d7-4a2f-a568-c234bef093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1bf422-076b-4923-a343-86f92e681c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75195dc1-fe89-472b-8717-1a06404882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320c4f-b4d7-4a2f-a568-c234bef09358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0e469e3-2d6b-4f07-ba7f-94947d0b2f8c}" ma:internalName="TaxCatchAll" ma:showField="CatchAllData" ma:web="17320c4f-b4d7-4a2f-a568-c234bef093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f1bf422-076b-4923-a343-86f92e681c13">
      <Terms xmlns="http://schemas.microsoft.com/office/infopath/2007/PartnerControls"/>
    </lcf76f155ced4ddcb4097134ff3c332f>
    <TaxCatchAll xmlns="17320c4f-b4d7-4a2f-a568-c234bef09358" xsi:nil="true"/>
  </documentManagement>
</p:properties>
</file>

<file path=customXml/itemProps1.xml><?xml version="1.0" encoding="utf-8"?>
<ds:datastoreItem xmlns:ds="http://schemas.openxmlformats.org/officeDocument/2006/customXml" ds:itemID="{2AA5AF62-29D7-49C4-96C6-35C102D42BE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E32100-327A-46D5-A299-81E97F5FBF5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f1bf422-076b-4923-a343-86f92e681c13"/>
    <ds:schemaRef ds:uri="17320c4f-b4d7-4a2f-a568-c234bef0935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306C687-16CC-4945-AB09-B890B7CBD535}">
  <ds:schemaRefs>
    <ds:schemaRef ds:uri="http://purl.org/dc/dcmitype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www.w3.org/XML/1998/namespace"/>
    <ds:schemaRef ds:uri="17320c4f-b4d7-4a2f-a568-c234bef09358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df1bf422-076b-4923-a343-86f92e681c13"/>
  </ds:schemaRefs>
</ds:datastoreItem>
</file>

<file path=docMetadata/LabelInfo.xml><?xml version="1.0" encoding="utf-8"?>
<clbl:labelList xmlns:clbl="http://schemas.microsoft.com/office/2020/mipLabelMetadata">
  <clbl:label id="{2ad0b24d-6422-44b0-b3de-abb3a9e8c81a}" enabled="1" method="Standard" siteId="{2fcfe26a-bb62-46b0-b1e3-28f9da0c45f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</TotalTime>
  <Words>2004</Words>
  <Application>Microsoft Office PowerPoint</Application>
  <PresentationFormat>Custom</PresentationFormat>
  <Paragraphs>275</Paragraphs>
  <Slides>9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Team 4 - AEGIS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ahsan ali</dc:creator>
  <cp:lastModifiedBy>FAUZAN EJAZ</cp:lastModifiedBy>
  <cp:revision>118</cp:revision>
  <dcterms:created xsi:type="dcterms:W3CDTF">2018-03-22T01:38:38Z</dcterms:created>
  <dcterms:modified xsi:type="dcterms:W3CDTF">2026-09-25T17:47:54Z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0x010100942D7E2E766E274BA85FFEF303FE3B84</vt:lpwstr>
  </property>
  <property fmtid="{D5CDD505-2E9C-101B-9397-08002B2CF9AE}" pid="3" name="MSIP_Label_2ad0b24d-6422-44b0-b3de-abb3a9e8c81a_Enabled">
    <vt:lpwstr>true</vt:lpwstr>
  </property>
  <property fmtid="{D5CDD505-2E9C-101B-9397-08002B2CF9AE}" pid="4" name="MSIP_Label_2ad0b24d-6422-44b0-b3de-abb3a9e8c81a_SetDate">
    <vt:lpwstr>2025-10-16T08:20:11Z</vt:lpwstr>
  </property>
  <property fmtid="{D5CDD505-2E9C-101B-9397-08002B2CF9AE}" pid="5" name="MSIP_Label_2ad0b24d-6422-44b0-b3de-abb3a9e8c81a_Method">
    <vt:lpwstr>Standard</vt:lpwstr>
  </property>
  <property fmtid="{D5CDD505-2E9C-101B-9397-08002B2CF9AE}" pid="6" name="MSIP_Label_2ad0b24d-6422-44b0-b3de-abb3a9e8c81a_Name">
    <vt:lpwstr>defa4170-0d19-0005-0004-bc88714345d2</vt:lpwstr>
  </property>
  <property fmtid="{D5CDD505-2E9C-101B-9397-08002B2CF9AE}" pid="7" name="MSIP_Label_2ad0b24d-6422-44b0-b3de-abb3a9e8c81a_SiteId">
    <vt:lpwstr>2fcfe26a-bb62-46b0-b1e3-28f9da0c45fd</vt:lpwstr>
  </property>
  <property fmtid="{D5CDD505-2E9C-101B-9397-08002B2CF9AE}" pid="8" name="MSIP_Label_2ad0b24d-6422-44b0-b3de-abb3a9e8c81a_ActionId">
    <vt:lpwstr>77718467-a7b7-4c95-a3ab-bcb31f36da42</vt:lpwstr>
  </property>
  <property fmtid="{D5CDD505-2E9C-101B-9397-08002B2CF9AE}" pid="9" name="MSIP_Label_2ad0b24d-6422-44b0-b3de-abb3a9e8c81a_ContentBits">
    <vt:lpwstr>0</vt:lpwstr>
  </property>
  <property fmtid="{D5CDD505-2E9C-101B-9397-08002B2CF9AE}" pid="10" name="MSIP_Label_2ad0b24d-6422-44b0-b3de-abb3a9e8c81a_Tag">
    <vt:lpwstr>10, 3, 0, 1</vt:lpwstr>
  </property>
  <property fmtid="{D5CDD505-2E9C-101B-9397-08002B2CF9AE}" pid="11" name="MediaServiceImageTags">
    <vt:lpwstr/>
  </property>
</Properties>
</file>